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83d6d464bd437f" /><Relationship Type="http://schemas.openxmlformats.org/officeDocument/2006/relationships/extended-properties" Target="/docProps/app.xml" Id="Rdfb9b97da0314510" /><Relationship Type="http://schemas.openxmlformats.org/officeDocument/2006/relationships/officeDocument" Target="/ppt/presentation.xml" Id="R8c61ab51a6fe43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6ac4007f804c48"/>
  </p:sldMasterIdLst>
  <p:notesMasterIdLst>
    <p:notesMasterId xmlns:r="http://schemas.openxmlformats.org/officeDocument/2006/relationships" r:id="Rad7c8cd4867f4cef"/>
  </p:notesMasterIdLst>
  <p:sldIdLst>
    <p:sldId xmlns:r="http://schemas.openxmlformats.org/officeDocument/2006/relationships" id="256" r:id="R7282ea07fe414348"/>
    <p:sldId xmlns:r="http://schemas.openxmlformats.org/officeDocument/2006/relationships" id="257" r:id="R76a84a62dc9f4543"/>
    <p:sldId xmlns:r="http://schemas.openxmlformats.org/officeDocument/2006/relationships" id="258" r:id="R3bad1984d2d64389"/>
    <p:sldId xmlns:r="http://schemas.openxmlformats.org/officeDocument/2006/relationships" id="259" r:id="R631b961b985c4bc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de38ab4ca84870" /><Relationship Type="http://schemas.openxmlformats.org/officeDocument/2006/relationships/slideMaster" Target="/ppt/slideMasters/slideMaster1.xml" Id="Rdd6ac4007f804c48" /><Relationship Type="http://schemas.openxmlformats.org/officeDocument/2006/relationships/notesMaster" Target="/ppt/notesMasters/notesMaster1.xml" Id="Rad7c8cd4867f4cef" /><Relationship Type="http://schemas.openxmlformats.org/officeDocument/2006/relationships/presProps" Target="/ppt/presProps.xml" Id="Rb103e0f413b74878" /><Relationship Type="http://schemas.openxmlformats.org/officeDocument/2006/relationships/tableStyles" Target="/ppt/tableStyles.xml" Id="Rbf09dd8be30242ff" /><Relationship Type="http://schemas.openxmlformats.org/officeDocument/2006/relationships/slide" Target="/ppt/slides/slide1.xml" Id="R7282ea07fe414348" /><Relationship Type="http://schemas.openxmlformats.org/officeDocument/2006/relationships/slide" Target="/ppt/slides/slide2.xml" Id="R76a84a62dc9f4543" /><Relationship Type="http://schemas.openxmlformats.org/officeDocument/2006/relationships/slide" Target="/ppt/slides/slide3.xml" Id="R3bad1984d2d64389" /><Relationship Type="http://schemas.openxmlformats.org/officeDocument/2006/relationships/slide" Target="/ppt/slides/slide4.xml" Id="R631b961b985c4b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ce4d38d53049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6480e76615406a" /><Relationship Type="http://schemas.openxmlformats.org/officeDocument/2006/relationships/notesMaster" Target="/ppt/notesMasters/notesMaster1.xml" Id="R1b2b7bb73f1241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380de650074aa1" /><Relationship Type="http://schemas.openxmlformats.org/officeDocument/2006/relationships/notesMaster" Target="/ppt/notesMasters/notesMaster1.xml" Id="R616ac455068b4b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acea3ef92e48d8" /><Relationship Type="http://schemas.openxmlformats.org/officeDocument/2006/relationships/notesMaster" Target="/ppt/notesMasters/notesMaster1.xml" Id="Rca00955aece344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d4318133244912" /><Relationship Type="http://schemas.openxmlformats.org/officeDocument/2006/relationships/notesMaster" Target="/ppt/notesMasters/notesMaster1.xml" Id="R8867dd187b2b45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8a1293c32343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01d176ce0d49c4" /><Relationship Type="http://schemas.openxmlformats.org/officeDocument/2006/relationships/slideLayout" Target="/ppt/slideLayouts/slideLayout1.xml" Id="Rba8f5423c8f44b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f5423c8f44b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7907c4bd2481c" /><Relationship Type="http://schemas.openxmlformats.org/officeDocument/2006/relationships/notesSlide" Target="/ppt/notesSlides/notesSlide1.xml" Id="Re8826718651849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b63d96f804313" /><Relationship Type="http://schemas.openxmlformats.org/officeDocument/2006/relationships/notesSlide" Target="/ppt/notesSlides/notesSlide2.xml" Id="Ra35b2a429faf4b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98dbf48184cad" /><Relationship Type="http://schemas.openxmlformats.org/officeDocument/2006/relationships/notesSlide" Target="/ppt/notesSlides/notesSlide3.xml" Id="R2393099f07c645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c1254d5f34cf8" /><Relationship Type="http://schemas.openxmlformats.org/officeDocument/2006/relationships/notesSlide" Target="/ppt/notesSlides/notesSlide4.xml" Id="R526a2f33062a4e5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F317D745-004E-4F8D-813B-E1BFDC7F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3DB5052A-4F59-4D56-9B38-12AA268F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4863C-016E-48EE-AF03-8E722FFC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METHODS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C084E-AC66-4F1D-A164-DEC7895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Longcycler-only is the clean primary denominator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03B05-585D-4717-8022-B0E10148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8BD9B-369C-491E-AC47-C8EAA120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The analysis keeps one assembler for strain, lineage, and VF summaries; the 556-row mixed canonical set remains context.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DFB9B-32CC-42D3-9115-863B03F6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7C7C7-1082-47D0-A0B6-098BBCD8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93AF1-B996-4781-8412-7CE611B9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B5437-0959-4E66-8FA0-AA3E4463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AF946-282C-4424-B208-2ACE5B73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24AE-5046-4113-8139-6B22F93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WHY THIS HELPS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671F0-2986-4497-A96D-3AEA7D9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Single-assembler denominator reduces technical variation from assembly choice.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31F7F-6D94-4EE9-A35D-A5777C2B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1A3F9-4DCF-4287-932C-89967EDE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It avoids defending equivalence between assemblers for small distance thresholds.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EB8E-2250-42E5-8A97-8AA3049A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FAC01-6E25-4E9E-906C-25EFF480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75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E16FE-FA39-43BC-BB2F-B6DD413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WHAT CHANGES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323B0-D38F-4590-B374-FDC3E9CA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Primary genomic denominator becomes 532 Longcycler rows from 161 participants.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638C0-AA51-4309-AF1C-F1810663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9C940-41C3-49B9-BBF9-7091BA1D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The 24 Flye fallback rows are excluded rather than treated as interchangeable.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8314F-885E-454E-959B-0FDBC393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BF99F-EE3C-4C80-9E33-3EC0C81F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8F0CB-CFDC-493B-9DB5-852F6F29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WHAT DOES NOT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50E9A9-BCC0-45D1-B835-B801914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Clinical UTI labels are unchanged and applied independently of assembler choice.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FE5D4-B329-491D-AB2E-42858D1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58818B-00B3-4761-8D81-DB84657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ST remains lineage context; ≤25 SNPs remains the strict same-strain rule.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15320-B426-4BB4-9FC0-30560A9E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47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Discussion framing: conservative methods decision, not a claim that Flye assemblies are unusable.</a:t>
            </a:r>
          </a:p>
        </p:txBody>
      </p:sp>
    </p:spTree>
    <p:extLst>
      <p:ext uri="{BB962C8B-B14F-4D97-AF65-F5344CB8AC3E}">
        <p14:creationId xmlns:p14="http://schemas.microsoft.com/office/powerpoint/2010/main" val="15900514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BF532F0A-1230-4DB4-BEF0-CA6884E0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86CE3B76-4341-424E-972F-A4FA25FC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DFBB6-98EB-4067-AD26-7168B2B8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COUNTS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BC662-8215-4DB2-A22A-4E3EC0E6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The single-assembler analysis retains 532 genome-linked episodes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9563F-DF92-4783-9AEB-761275E7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04764-EA3F-442E-BC05-7504BF55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Counts are reported at the correct unit: clinical row, selected assembly, VF feature, or within-resident transition.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D997F-253B-46A5-A686-F3913E73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C5665-4187-4823-966A-D9A0FDC1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NUMBERED PROCESS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D146B-5A75-4E96-8415-51DCE46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8B8D0-9A6D-45A9-9431-F4E5B1EF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2C4104-0FC7-4DE3-9A28-C8E8438A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B0403-6814-4FB6-BDBB-DAAEE6F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2382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SELECTION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B63E06-1263-4650-91A1-BF6E9DED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441F4-6976-451D-814B-EA5EB008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A106B-106F-4ED2-8337-6E2A1F6B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E0FED2-0359-4CF4-9E52-25DCC20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9775"/>
            <a:ext cx="17716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Raw canonical 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D3AC21-0801-4F58-B6CD-09ABFB9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1526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556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E1BBA-EA63-4932-BF55-38B04EEA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Longcycler-preferred + Flye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E3536-DB4B-4C34-A1AC-9E693D81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2171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current generated canonical analysis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07730C-D9E5-40DE-9201-A6958897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28860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16986-57B7-4DE6-87A1-D113DEAC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8B267-CD48-404B-B7A1-D298EDE9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239210-332F-4F91-AE40-8E5AD3D1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22002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Longcycler-only 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7367F-F10E-4E06-AAB0-1C3B23CB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581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9955E-F485-431E-93C5-BE195CE2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86050"/>
            <a:ext cx="25622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QC-passing selected Longcycler rows; 24 Flye fallback rows excluded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3307E-3DB5-48D1-85E7-9EA282AB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33700"/>
            <a:ext cx="2600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canonical_assembly_selection.csv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DCACA-B55B-4680-8AF0-88A9DA3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628775"/>
            <a:ext cx="1809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EPISODE AND LINEAGE DENOMINATOR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EFFDF8-B313-4004-857E-22481B55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85950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8EB2D-D195-4A34-A2AC-760EB93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F2FE22-C1C3-4741-A4F2-9C536E39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2CD7BA-2709-4876-8318-963EA39C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09775"/>
            <a:ext cx="17716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Participants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3B316-12F5-4FA6-A407-121FD68B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21526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161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3CD5F6-DE58-43E5-A450-E0758706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860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retained Longcycler-linked participants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E028DF-083B-4049-855B-296DAB9A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933700"/>
            <a:ext cx="2171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vf_analysis_ready.csv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C2EDC2-2BB0-4DA0-ABC9-25CFE412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468FAC-8C98-46DF-9B89-74C5425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4D25FA-A084-47A6-BC5D-F1DE114E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B943A8-F2EA-4281-812D-29606078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009775"/>
            <a:ext cx="17145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Clinical status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4D8BA0-FF21-4266-BC2D-BC79675E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33625"/>
            <a:ext cx="20955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16 | 516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BCDCE2-DAE9-4627-8D58-3EF60750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686050"/>
            <a:ext cx="2076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UTI | Not_UTI using primary status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8AC735-F23E-4F9C-A73B-7534FE3A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933700"/>
            <a:ext cx="2114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status joined to Longcycler rows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2063CA-096B-4505-938B-82483A51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356ADC-8747-45E8-83D2-98653907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39052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DOWNSTREAM ANALYSIS UNITS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0902A3-523C-4D27-82A0-65C58B5B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4765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83F14C-8ED3-45A2-805E-B73E5EBF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98E6E0-13C4-4E41-B7DE-0E65D4FC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5A7356-7FF2-4DE4-9E2C-29046961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71925"/>
            <a:ext cx="17907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VF feature space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7334E9-D7E2-4272-9980-44CE6166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95775"/>
            <a:ext cx="21717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227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BC6ED1-B375-4EFD-A866-0119E03C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binary VF gene columns retained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386F1D-A5E8-4B4B-B894-270DF7AC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1907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vf_analysis_ready.csv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27D298-3868-4608-ABE9-6653AC3D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48100"/>
            <a:ext cx="27241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9E2A88-0852-4A7D-B3D2-726F5D33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2EABAF-81F7-426C-9F3A-638791C2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0A19E2-87B1-408E-87FD-C5E52373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71925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MLST lineage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F0D974-100C-44C6-B0BA-FBA17F43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95775"/>
            <a:ext cx="24193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514 | 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52C9AF-DCFE-4ED1-A388-B9A30527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48200"/>
            <a:ext cx="24003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typed rows | distinct STs; lineage context only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6804C14-9638-4CB1-A3BF-B36EC9B2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43525"/>
            <a:ext cx="24384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mlst_provider_preferred.csv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2AC699-B45F-4B50-892F-39EFCA31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5241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DB7C01-2699-4BD2-9E60-8FF4FA8E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27FE1B0-F7BA-46EF-B02D-8A2A2C31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03B176-65E6-41ED-9DE8-FFF9A72E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71925"/>
            <a:ext cx="183832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Longitudinal pairs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5483FD-06BE-440C-B3DE-16FDA961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95775"/>
            <a:ext cx="22193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371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B35DE6-77A4-4EA2-B930-A5EFE832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48200"/>
            <a:ext cx="22002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rebuilt in pipeline time order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from 139 participants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79A9ACC-1300-4FBD-AA78-C40DF95A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43525"/>
            <a:ext cx="22383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vf_longitudinal_transitions.csv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35B1BC-C7B0-4A8C-B30E-EB143B77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48100"/>
            <a:ext cx="26670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445B1E-C215-4B4C-96E1-F06592C8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F846B76-10E4-4C7B-9F6D-631B4412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7529BD-4372-4F9E-A896-CE1DC93D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71925"/>
            <a:ext cx="1981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Strict SNP evidence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5B1235-532F-45DB-8B68-176F1182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295775"/>
            <a:ext cx="23622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116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DE06D14-1BC6-46C1-90D9-DD57E489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648200"/>
            <a:ext cx="2343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≤25 SNP among rebuilt pairs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7/9 Not_UTI -&gt; UTI strict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5866B8-BAC7-4DA9-992A-0B2954B9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343525"/>
            <a:ext cx="23812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pairwise_metrics.csv</a:t>
            </a:r>
          </a:p>
        </p:txBody>
      </p:sp>
    </p:spTree>
    <p:extLst>
      <p:ext uri="{BB962C8B-B14F-4D97-AF65-F5344CB8AC3E}">
        <p14:creationId xmlns:p14="http://schemas.microsoft.com/office/powerpoint/2010/main" val="8209829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F317D745-004E-4F8D-813B-E1BFDC7F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3DB5052A-4F59-4D56-9B38-12AA268F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4863C-016E-48EE-AF03-8E722FFC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METHODS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C084E-AC66-4F1D-A164-DEC7895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Longcycler-only supports reproducible methods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03B05-585D-4717-8022-B0E10148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8BD9B-369C-491E-AC47-C8EAA120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Boundary: reproducibility choices are separate from biological interpretation.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DFB9B-32CC-42D3-9115-863B03F6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7C7C7-1082-47D0-A0B6-098BBCD8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93AF1-B996-4781-8412-7CE611B9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B5437-0959-4E66-8FA0-AA3E4463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AF946-282C-4424-B208-2ACE5B73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24AE-5046-4113-8139-6B22F93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671F0-2986-4497-A96D-3AEA7D9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VF presence/absence, MLST lineage context, core SNP strain context, and longitudinal transitions.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31F7F-6D94-4EE9-A35D-A5777C2B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1A3F9-4DCF-4287-932C-89967EDE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Strict persistence is reported with SNP evidence, not ST agreement alone.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EB8E-2250-42E5-8A97-8AA3049A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FAC01-6E25-4E9E-906C-25EFF480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75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E16FE-FA39-43BC-BB2F-B6DD413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NOT RECALCULATED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323B0-D38F-4590-B374-FDC3E9CA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No antibiotic, demographic, host-factor, or wgMLST allele claims are inferred from proxies.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638C0-AA51-4309-AF1C-F1810663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9C940-41C3-49B9-BBF9-7091BA1D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The summary does not treat SNP and wgMLST distances as interchangeable.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8314F-885E-454E-959B-0FDBC393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BF99F-EE3C-4C80-9E33-3EC0C81F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8F0CB-CFDC-493B-9DB5-852F6F29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SUPERVISOR 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50E9A9-BCC0-45D1-B835-B801914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Use Longcycler-only as the primary defensible methods denominator.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FE5D4-B329-491D-AB2E-42858D1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58818B-00B3-4761-8D81-DB84657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Keep the 556-row mixed canonical analysis only as context or sensitivity, if needed.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15320-B426-4BB4-9FC0-30560A9E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47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Suggested wording: primary genomic analyses were restricted to QC-passing Longcycler assemblies to minimise assembler-induced technical heterogeneity.</a:t>
            </a:r>
          </a:p>
        </p:txBody>
      </p:sp>
    </p:spTree>
    <p:extLst>
      <p:ext uri="{BB962C8B-B14F-4D97-AF65-F5344CB8AC3E}">
        <p14:creationId xmlns:p14="http://schemas.microsoft.com/office/powerpoint/2010/main" val="15900514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F92EF6-DED2-424C-A14A-B5D366D0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ANALYSIS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E2537-7BAB-4221-9991-9EDD8108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580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How the results flow through the Longcycler-only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A3713-AC95-4D29-818B-6BEDD77F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A83383-E3D6-4500-AB64-A971A5E8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716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Clinical and assembly inputs merge into the mixed canonical set; the primary defensible route then restricts to QC-passing Longcycler assemblies.</a:t>
            </a:r>
          </a:p>
        </p:txBody>
      </p:sp>
      <p:sp>
        <p:nvSpPr>
          <p:cNvPr id="5" name="clinical-input">
            <a:extLst xmlns:a="http://schemas.openxmlformats.org/drawingml/2006/main">
              <a:ext uri="{FF2B5EF4-FFF2-40B4-BE49-F238E27FC236}">
                <a16:creationId xmlns:a16="http://schemas.microsoft.com/office/drawing/2014/main" id="{9F7CBA32-FECD-46BC-B539-9ABE3298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619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6" name="clinical-input-accent">
            <a:extLst xmlns:a="http://schemas.openxmlformats.org/drawingml/2006/main">
              <a:ext uri="{FF2B5EF4-FFF2-40B4-BE49-F238E27FC236}">
                <a16:creationId xmlns:a16="http://schemas.microsoft.com/office/drawing/2014/main" id="{E8B631F2-E5C8-4D3D-A420-1EF1123A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A64CB-77CD-4C7B-9BC2-DE7F4AA2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2352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Clinical 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B64B75-BF75-46C5-99B2-C30E892D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583 episodes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1E57E-2203-4352-82AB-49A6F751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166 participants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18 UTI | 565 Not_UTI</a:t>
            </a:r>
          </a:p>
        </p:txBody>
      </p:sp>
      <p:sp>
        <p:nvSpPr>
          <p:cNvPr id="10" name="assembly-input">
            <a:extLst xmlns:a="http://schemas.openxmlformats.org/drawingml/2006/main">
              <a:ext uri="{FF2B5EF4-FFF2-40B4-BE49-F238E27FC236}">
                <a16:creationId xmlns:a16="http://schemas.microsoft.com/office/drawing/2014/main" id="{12905B45-43BD-43F3-B4E8-5DE19D7D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619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11" name="assembly-input-accent">
            <a:extLst xmlns:a="http://schemas.openxmlformats.org/drawingml/2006/main">
              <a:ext uri="{FF2B5EF4-FFF2-40B4-BE49-F238E27FC236}">
                <a16:creationId xmlns:a16="http://schemas.microsoft.com/office/drawing/2014/main" id="{193A1468-4FEF-44F3-B43E-070E42CF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25462E-94DE-4C43-B464-5DF0B8C5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352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Assembly and QC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B4CE4-365C-4959-BF59-B2A08FA9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242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1,291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182C6-3771-475D-AB98-9F12B3EA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67175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Longcycler/Flye alternatives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QC and canonical selection</a:t>
            </a:r>
          </a:p>
        </p:txBody>
      </p:sp>
      <p:sp>
        <p:nvSpPr>
          <p:cNvPr id="15" name="mixed-canonical">
            <a:extLst xmlns:a="http://schemas.openxmlformats.org/drawingml/2006/main">
              <a:ext uri="{FF2B5EF4-FFF2-40B4-BE49-F238E27FC236}">
                <a16:creationId xmlns:a16="http://schemas.microsoft.com/office/drawing/2014/main" id="{B1C10C8E-1BA5-4D58-BFB2-AFDAF953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16" name="mixed-canonical-accent">
            <a:extLst xmlns:a="http://schemas.openxmlformats.org/drawingml/2006/main">
              <a:ext uri="{FF2B5EF4-FFF2-40B4-BE49-F238E27FC236}">
                <a16:creationId xmlns:a16="http://schemas.microsoft.com/office/drawing/2014/main" id="{7F2873BF-29C1-4C90-9AD9-8D16C7CA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4CF9C-34CE-4701-9250-DD02FEAF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71775"/>
            <a:ext cx="2400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Mixed canonical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D5579F-226E-4FFB-BF54-8153FAB2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384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556 WGS/VF rows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F2FF3A-F886-45B1-934C-905185D5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81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162 participants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Longcycler-preferred + 24 Flye fallback</a:t>
            </a:r>
          </a:p>
        </p:txBody>
      </p:sp>
      <p:sp>
        <p:nvSpPr>
          <p:cNvPr id="20" name="longcycler-primary">
            <a:extLst xmlns:a="http://schemas.openxmlformats.org/drawingml/2006/main">
              <a:ext uri="{FF2B5EF4-FFF2-40B4-BE49-F238E27FC236}">
                <a16:creationId xmlns:a16="http://schemas.microsoft.com/office/drawing/2014/main" id="{F9E5093A-92E7-43A5-8B1A-7690C43F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670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47857"/>
            </a:solidFill>
            <a:prstDash val="solid"/>
          </a:ln>
        </p:spPr>
      </p:sp>
      <p:sp>
        <p:nvSpPr>
          <p:cNvPr id="21" name="longcycler-primary-accent">
            <a:extLst xmlns:a="http://schemas.openxmlformats.org/drawingml/2006/main">
              <a:ext uri="{FF2B5EF4-FFF2-40B4-BE49-F238E27FC236}">
                <a16:creationId xmlns:a16="http://schemas.microsoft.com/office/drawing/2014/main" id="{DB5E8F3F-1BB8-4695-AFEA-1D3465E0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67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AFB604-13C9-426A-A057-871F39A6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77177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Primary Longcycler denominator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46854C-8B2C-4ADC-BEEC-7E6B5C77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0384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532 rows | 161 participants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98FAD2-104B-4E24-B320-AE84E0C5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3813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16 UTI | 516 Not_UTI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selected canonical QC-passing Longcycler</a:t>
            </a:r>
          </a:p>
        </p:txBody>
      </p:sp>
      <p:sp>
        <p:nvSpPr>
          <p:cNvPr id="25" name="analysis-layers">
            <a:extLst xmlns:a="http://schemas.openxmlformats.org/drawingml/2006/main">
              <a:ext uri="{FF2B5EF4-FFF2-40B4-BE49-F238E27FC236}">
                <a16:creationId xmlns:a16="http://schemas.microsoft.com/office/drawing/2014/main" id="{5256043D-125B-4C07-9552-1C72950B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0125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26" name="analysis-layers-accent">
            <a:extLst xmlns:a="http://schemas.openxmlformats.org/drawingml/2006/main">
              <a:ext uri="{FF2B5EF4-FFF2-40B4-BE49-F238E27FC236}">
                <a16:creationId xmlns:a16="http://schemas.microsoft.com/office/drawing/2014/main" id="{2E350370-4828-4BD3-9E12-18EB61CC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0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14893F-8F99-4BD8-B642-CD60295F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149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Analysis layers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967417-675A-4275-A2B1-E62BABD8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81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MLST 514 | 80 STs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0505F-FE5E-4DF8-9B11-F8725335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VF matrix: 227 genes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SNP context: ≤25 = strict same strain</a:t>
            </a:r>
          </a:p>
        </p:txBody>
      </p:sp>
      <p:sp>
        <p:nvSpPr>
          <p:cNvPr id="30" name="longitudinal-rebuild">
            <a:extLst xmlns:a="http://schemas.openxmlformats.org/drawingml/2006/main">
              <a:ext uri="{FF2B5EF4-FFF2-40B4-BE49-F238E27FC236}">
                <a16:creationId xmlns:a16="http://schemas.microsoft.com/office/drawing/2014/main" id="{E502B43D-2122-4C09-987D-10389B1B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810125"/>
            <a:ext cx="22383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31" name="longitudinal-rebuild-accent">
            <a:extLst xmlns:a="http://schemas.openxmlformats.org/drawingml/2006/main">
              <a:ext uri="{FF2B5EF4-FFF2-40B4-BE49-F238E27FC236}">
                <a16:creationId xmlns:a16="http://schemas.microsoft.com/office/drawing/2014/main" id="{78FE0A6D-4C18-4E88-992D-70F22CBD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810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BB44E7-6681-4293-B20A-2DB15A6E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914900"/>
            <a:ext cx="1971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Longitudinal rebuild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8CFFC4-06FB-4F06-A416-EF522822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1816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371 transitions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8334CB-37AA-47A5-ADC7-49E5DE96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52450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139 participants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rebuilt in pipeline time order</a:t>
            </a:r>
          </a:p>
        </p:txBody>
      </p:sp>
      <p:sp>
        <p:nvSpPr>
          <p:cNvPr id="35" name="focused-readout">
            <a:extLst xmlns:a="http://schemas.openxmlformats.org/drawingml/2006/main">
              <a:ext uri="{FF2B5EF4-FFF2-40B4-BE49-F238E27FC236}">
                <a16:creationId xmlns:a16="http://schemas.microsoft.com/office/drawing/2014/main" id="{3E2733E1-43CA-4025-94F7-E4E4E26C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47857"/>
            </a:solidFill>
            <a:prstDash val="solid"/>
          </a:ln>
        </p:spPr>
      </p:sp>
      <p:sp>
        <p:nvSpPr>
          <p:cNvPr id="36" name="focused-readout-accent">
            <a:extLst xmlns:a="http://schemas.openxmlformats.org/drawingml/2006/main">
              <a:ext uri="{FF2B5EF4-FFF2-40B4-BE49-F238E27FC236}">
                <a16:creationId xmlns:a16="http://schemas.microsoft.com/office/drawing/2014/main" id="{AE43E8F4-D741-4CAD-8843-63636168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F9465D-C261-426D-ABDF-C700DB56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149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Focused readout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9A1246-0BB5-4802-AF90-4C0B6F13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1816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9 Not_UTI→UTI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3835FA-9270-4466-B1CE-D742F01F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5245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7 strict same-strain</a:t>
            </a:r>
          </a:p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among 116 strict pairs</a:t>
            </a:r>
          </a:p>
        </p:txBody>
      </p:sp>
      <p:cxnSp>
        <p:nvCxnSpPr>
          <p:cNvPr id="89" name=""/>
          <p:cNvCxnSpPr>
            <a:stCxn xmlns:a="http://schemas.openxmlformats.org/drawingml/2006/main" id="5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190875" y="2486025"/>
            <a:ext cx="904875" cy="752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90" name=""/>
          <p:cNvCxnSpPr>
            <a:stCxn xmlns:a="http://schemas.openxmlformats.org/drawingml/2006/main" id="10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3190875" y="3238500"/>
            <a:ext cx="904875" cy="6477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91" name=""/>
          <p:cNvCxnSpPr>
            <a:stCxn xmlns:a="http://schemas.openxmlformats.org/drawingml/2006/main" id="15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762750" y="32385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92" name=""/>
          <p:cNvCxnSpPr>
            <a:stCxn xmlns:a="http://schemas.openxmlformats.org/drawingml/2006/main" id="20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 flipH="1">
            <a:off x="5000625" y="3810000"/>
            <a:ext cx="4286250" cy="1000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93" name=""/>
          <p:cNvCxnSpPr>
            <a:stCxn xmlns:a="http://schemas.openxmlformats.org/drawingml/2006/main" id="25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572250" y="53721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94" name=""/>
          <p:cNvCxnSpPr>
            <a:stCxn xmlns:a="http://schemas.openxmlformats.org/drawingml/2006/main" id="30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9334500" y="53721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2D5419-D153-4E21-8B23-B7C213BB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Primary boundary: 24 Flye fallback rows are excluded from this route; antibiotic, wgMLST, demographic and causal claims are not recalculated here.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94DEB6-8983-4EDE-ACEF-98719ACB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145B55-B6F2-48CA-831E-C0405D44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14A83F-2821-43F2-86EA-2FC65643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116895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2026-07-09T15:45:01.8040000Z</dcterms:created>
  <dcterms:modified xsi:type="dcterms:W3CDTF">2026-07-09T15:45:01.8040000Z</dcterms:modified>
</coreProperties>
</file>