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e89a884e86454a" /><Relationship Type="http://schemas.openxmlformats.org/officeDocument/2006/relationships/extended-properties" Target="/docProps/app.xml" Id="Re8a65e583e454064" /><Relationship Type="http://schemas.openxmlformats.org/officeDocument/2006/relationships/officeDocument" Target="/ppt/presentation.xml" Id="Rb54c0d846ab04f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2fb4b86b0744da"/>
  </p:sldMasterIdLst>
  <p:notesMasterIdLst>
    <p:notesMasterId xmlns:r="http://schemas.openxmlformats.org/officeDocument/2006/relationships" r:id="Rc5932d94b5a44ccf"/>
  </p:notesMasterIdLst>
  <p:sldIdLst>
    <p:sldId xmlns:r="http://schemas.openxmlformats.org/officeDocument/2006/relationships" id="256" r:id="R993eef2731124384"/>
    <p:sldId xmlns:r="http://schemas.openxmlformats.org/officeDocument/2006/relationships" id="257" r:id="Rac838706863048c4"/>
    <p:sldId xmlns:r="http://schemas.openxmlformats.org/officeDocument/2006/relationships" id="258" r:id="R7e64ba3b130644e8"/>
    <p:sldId xmlns:r="http://schemas.openxmlformats.org/officeDocument/2006/relationships" id="259" r:id="R801202e6043d430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4048505da14121" /><Relationship Type="http://schemas.openxmlformats.org/officeDocument/2006/relationships/slideMaster" Target="/ppt/slideMasters/slideMaster1.xml" Id="R502fb4b86b0744da" /><Relationship Type="http://schemas.openxmlformats.org/officeDocument/2006/relationships/notesMaster" Target="/ppt/notesMasters/notesMaster1.xml" Id="Rc5932d94b5a44ccf" /><Relationship Type="http://schemas.openxmlformats.org/officeDocument/2006/relationships/presProps" Target="/ppt/presProps.xml" Id="Rb1e390c8fc9742ec" /><Relationship Type="http://schemas.openxmlformats.org/officeDocument/2006/relationships/tableStyles" Target="/ppt/tableStyles.xml" Id="R69dbb71fc5994070" /><Relationship Type="http://schemas.openxmlformats.org/officeDocument/2006/relationships/slide" Target="/ppt/slides/slide1.xml" Id="R993eef2731124384" /><Relationship Type="http://schemas.openxmlformats.org/officeDocument/2006/relationships/slide" Target="/ppt/slides/slide2.xml" Id="Rac838706863048c4" /><Relationship Type="http://schemas.openxmlformats.org/officeDocument/2006/relationships/slide" Target="/ppt/slides/slide3.xml" Id="R7e64ba3b130644e8" /><Relationship Type="http://schemas.openxmlformats.org/officeDocument/2006/relationships/slide" Target="/ppt/slides/slide4.xml" Id="R801202e6043d43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312b33b04440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9ddbeeb6174279" /><Relationship Type="http://schemas.openxmlformats.org/officeDocument/2006/relationships/notesMaster" Target="/ppt/notesMasters/notesMaster1.xml" Id="R67d26de3e2754f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2da304122d4361" /><Relationship Type="http://schemas.openxmlformats.org/officeDocument/2006/relationships/notesMaster" Target="/ppt/notesMasters/notesMaster1.xml" Id="Ra49322f8d6c44a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45523534f24f98" /><Relationship Type="http://schemas.openxmlformats.org/officeDocument/2006/relationships/notesMaster" Target="/ppt/notesMasters/notesMaster1.xml" Id="R2ad9b4550e2848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d7b348647b43dc" /><Relationship Type="http://schemas.openxmlformats.org/officeDocument/2006/relationships/notesMaster" Target="/ppt/notesMasters/notesMaster1.xml" Id="Rd37939da506c41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the analytical contract is one selected QC-passing Longcycler assembly per episode. Every result now starts from 532 episodes across 161 residents. The clinical phenotype remains operational and is assigned independently.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the unit before the number. Episodes, residents, direct pairs, adjacent transitions, VF features and MLST labels are different denominators. The focused result is 9 Not_UTI-to-UTI transitions, of which 5 are at or below 25 SNPs.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Safe interpretation: direct pair evidence supports cautious continuity descriptions. It does not establish uninterrupted carriage or causation. The casebook is complete at 9/9 linked rows, while 17 near-miss rows remain a separate audit population.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left to right. The 583-episode clinical source is shown only as labelled attrition/QC context. The selected manifest and clinical keys yield the 532-episode analytical cohort. Direct pair, VF, MLST and longitudinal outputs all remain inside that cohort.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16bf4603c14b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09f0439f17450b" /><Relationship Type="http://schemas.openxmlformats.org/officeDocument/2006/relationships/slideLayout" Target="/ppt/slideLayouts/slideLayout1.xml" Id="R30ffea5776db45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ffea5776db45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7c8ea97534f8f" /><Relationship Type="http://schemas.openxmlformats.org/officeDocument/2006/relationships/notesSlide" Target="/ppt/notesSlides/notesSlide1.xml" Id="Rd42968e3d68847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3f279eceb4b2e" /><Relationship Type="http://schemas.openxmlformats.org/officeDocument/2006/relationships/notesSlide" Target="/ppt/notesSlides/notesSlide2.xml" Id="Rce1e6bb49b4246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e9b4ac5a84832" /><Relationship Type="http://schemas.openxmlformats.org/officeDocument/2006/relationships/notesSlide" Target="/ppt/notesSlides/notesSlide3.xml" Id="R2a3df3f8c19b4f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64f514e0f4ce4" /><Relationship Type="http://schemas.openxmlformats.org/officeDocument/2006/relationships/notesSlide" Target="/ppt/notesSlides/notesSlide4.xml" Id="Rfde0e9d73e8a411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F317D745-004E-4F8D-813B-E1BFDC7F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3DB5052A-4F59-4D56-9B38-12AA268F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4863C-016E-48EE-AF03-8E722FFC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METHODS CHOICE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C084E-AC66-4F1D-A164-DEC78950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Longcycler-only is now the sole analytical denominator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03B05-585D-4717-8022-B0E10148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8BD9B-369C-491E-AC47-C8EAA120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Every genomic model, table and figure uses the selected QC-passing Longcycler cohort.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DFB9B-32CC-42D3-9115-863B03F6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7C7C7-1082-47D0-A0B6-098BBCD8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Longcycler-only methods summary  |  RQ01–RQ10  |  15 July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93AF1-B996-4781-8412-7CE611B9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0B5437-0959-4E66-8FA0-AA3E4463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33147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AAF946-282C-4424-B208-2ACE5B73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3314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5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F24AE-5046-4113-8139-6B22F93D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336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85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855B"/>
                </a:solidFill>
                <a:latin typeface="Aptos"/>
                <a:ea typeface="Aptos"/>
                <a:cs typeface="Aptos"/>
              </a:rPr>
              <a:t>WHY THIS HELPS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3671F0-2986-4497-A96D-3AEA7D9B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60985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One selected QC-passing assembly per episode keeps strain, lineage and VF summaries on one reproducible input contract.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231F7F-6D94-4EE9-A35D-A5777C2B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43300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D1A3F9-4DCF-4287-932C-89967EDE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4810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Every downstream join is checked against the same 532 episode keys.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C7EB8E-2250-42E5-8A97-8AA3049A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828800"/>
            <a:ext cx="33147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FAC01-6E25-4E9E-906C-25EFF480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828800"/>
            <a:ext cx="3314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5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AE16FE-FA39-43BC-BB2F-B6DD4136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336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WHAT CHANGES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8323B0-D38F-4590-B374-FDC3E9CA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The analytical cohort is 532 genome-linked episodes from 161 residents.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F638C0-AA51-4309-AF1C-F1810663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43300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39C940-41C3-49B9-BBF9-7091BA1D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4810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All 893 direct pairs and 371 adjacent transitions have Longcycler endpoints.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F8314F-885E-454E-959B-0FDBC393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28800"/>
            <a:ext cx="33147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7BF99F-EE3C-4C80-9E33-3EC0C81F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28800"/>
            <a:ext cx="3314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F8F0CB-CFDC-493B-9DB5-852F6F29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336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777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7772F"/>
                </a:solidFill>
                <a:latin typeface="Aptos"/>
                <a:ea typeface="Aptos"/>
                <a:cs typeface="Aptos"/>
              </a:rPr>
              <a:t>WHAT DOES NOT CHANGE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50E9A9-BCC0-45D1-B835-B8019140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0985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Clinical labels are assigned independently using the versioned operational UTI phenotype.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EFE5D4-B329-491D-AB2E-42858D16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543300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58818B-00B3-4761-8D81-DB846576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4810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The ≤25 SNP boundary remains an operational support rule—not a causal result.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915320-B426-4BB4-9FC0-30560A9E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47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Full clinical source counts appear only as labelled attrition/QC context.</a:t>
            </a:r>
          </a:p>
        </p:txBody>
      </p:sp>
    </p:spTree>
    <p:extLst>
      <p:ext uri="{BB962C8B-B14F-4D97-AF65-F5344CB8AC3E}">
        <p14:creationId xmlns:p14="http://schemas.microsoft.com/office/powerpoint/2010/main" val="15900514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BF532F0A-1230-4DB4-BEF0-CA6884E0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86CE3B76-4341-424E-972F-A4FA25FC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DFBB6-98EB-4067-AD26-7168B2B8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LONGCYCLER-ONLY COUNTS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5BC662-8215-4DB2-A22A-4E3EC0E6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The analysis contains 532 selected genome-linked episodes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59563F-DF92-4783-9AEB-761275E7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404764-EA3F-442E-BC05-7504BF55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    Counts remain paired with their unit, filter and exact Longcycler-only denominator.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D997F-253B-46A5-A686-F3913E73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C5665-4187-4823-966A-D9A0FDC1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52525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NUMBERED PROCESS MAP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D146B-5A75-4E96-8415-51DCE463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8B8D0-9A6D-45A9-9431-F4E5B1EF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Longcycler-only methods summary  |  RQ01–RQ10  |  15 July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2C4104-0FC7-4DE3-9A28-C8E8438A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9B0403-6814-4FB6-BDBB-DAAEE6F1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238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7772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7772F"/>
                </a:solidFill>
                <a:latin typeface="Aptos"/>
                <a:ea typeface="Aptos"/>
                <a:cs typeface="Aptos"/>
              </a:rPr>
              <a:t>SELECTED COHORT CONTRACT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B63E06-1263-4650-91A1-BF6E9DED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2457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E441F4-6976-451D-814B-EA5EB008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3A106B-106F-4ED2-8337-6E2A1F6B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7772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E7772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E0FED2-0359-4CF4-9E52-25DCC208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09775"/>
            <a:ext cx="17716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Analytical episodes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D3AC21-0801-4F58-B6CD-09ABFB96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21526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532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2E1BBA-EA63-4932-BF55-38B04EEA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selected QC-passing Longcycler rows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BE3536-DB4B-4C34-A1AC-9E693D81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21717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analysis clinical cohort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07730C-D9E5-40DE-9201-A6958897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85950"/>
            <a:ext cx="28860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D16986-57B7-4DE6-87A1-D113DEAC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859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C8B267-CD48-404B-B7A1-D298EDE9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97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7772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E7772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239210-332F-4F91-AE40-8E5AD3D1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09775"/>
            <a:ext cx="22002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Residents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37367F-F10E-4E06-AAB0-1C3B23CB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33625"/>
            <a:ext cx="25812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161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29955E-F485-431E-93C5-BE195CE2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86050"/>
            <a:ext cx="25622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unique residents represented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43307E-3DB5-48D1-85E7-9EA282AB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33700"/>
            <a:ext cx="26003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selected assembly manifest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DDCACA-B55B-4680-8AF0-88A9DA3E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6287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2678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678B8"/>
                </a:solidFill>
                <a:latin typeface="Aptos"/>
                <a:ea typeface="Aptos"/>
                <a:cs typeface="Aptos"/>
              </a:rPr>
              <a:t>CLINICAL AND PAIR DENOMINATORS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EFFDF8-B313-4004-857E-22481B55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885950"/>
            <a:ext cx="2457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38EB2D-D195-4A34-A2AC-760EB934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8859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F2FE22-C1C3-4741-A4F2-9C536E39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0097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678B8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678B8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2CD7BA-2709-4876-8318-963EA39C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009775"/>
            <a:ext cx="17716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Operational status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B3B316-12F5-4FA6-A407-121FD68B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333625"/>
            <a:ext cx="21526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16 | 516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3CD5F6-DE58-43E5-A450-E0758706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686050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UTI | Not_UTI on the selected cohort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E028DF-083B-4049-855B-296DAB9A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933700"/>
            <a:ext cx="21717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analysis clinical cohort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C2EDC2-2BB0-4DA0-ABC9-25CFE412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885950"/>
            <a:ext cx="2400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468FAC-8C98-46DF-9B89-74C54252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8859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4D25FA-A084-47A6-BC5D-F1DE114E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0097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678B8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678B8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B943A8-F2EA-4281-812D-29606078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009775"/>
            <a:ext cx="1714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Direct genome pairs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4D8BA0-FF21-4266-BC2D-BC79675E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333625"/>
            <a:ext cx="2095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893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BCDCE2-DAE9-4627-8D58-3EF60750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686050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all unordered within-resident pairs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8AC735-F23E-4F9C-A73B-7534FE3A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933700"/>
            <a:ext cx="21145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pairwise metrics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2063CA-096B-4505-938B-82483A51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356ADC-8747-45E8-83D2-98653907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3905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785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855B"/>
                </a:solidFill>
                <a:latin typeface="Aptos"/>
                <a:ea typeface="Aptos"/>
                <a:cs typeface="Aptos"/>
              </a:rPr>
              <a:t>DOWNSTREAM ANALYSIS UNITS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0902A3-523C-4D27-82A0-65C58B5B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4765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483F14C-8ED3-45A2-805E-B73E5EBF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47625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5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98E6E0-13C4-4E41-B7DE-0E65D4FC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719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855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7855B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5A7356-7FF2-4DE4-9E2C-29046961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71925"/>
            <a:ext cx="17907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VFDB feature space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D7334E9-D7E2-4272-9980-44CE6166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95775"/>
            <a:ext cx="21717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227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BC6ED1-B375-4EFD-A866-0119E03C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binary features on selected episodes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386F1D-A5E8-4B4B-B894-270DF7AC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43525"/>
            <a:ext cx="2190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claim registry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327D298-3868-4608-ABE9-6653AC3D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48100"/>
            <a:ext cx="272415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79E2A88-0852-4A7D-B3D2-726F5D33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48100"/>
            <a:ext cx="47625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5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A2EABAF-81F7-426C-9F3A-638791C2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719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855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7855B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90A19E2-87B1-408E-87FD-C5E52373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971925"/>
            <a:ext cx="20383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MLST lineage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4F0D974-100C-44C6-B0BA-FBA17F43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95775"/>
            <a:ext cx="24193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493 | 76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252C9AF-DCFE-4ED1-A388-B9A30527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648200"/>
            <a:ext cx="24003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typed episodes | distinct ST labels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6804C14-9638-4CB1-A3BF-B36EC9B2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343525"/>
            <a:ext cx="24384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claim registry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92AC699-B45F-4B50-892F-39EFCA31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2524125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4DB7C01-2699-4BD2-9E60-8FF4FA8E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47625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5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27FE1B0-F7BA-46EF-B02D-8A2A2C31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719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855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7855B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703B176-65E6-41ED-9DE8-FFF9A72E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71925"/>
            <a:ext cx="18383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Adjacent transitions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95483FD-06BE-440C-B3DE-16FDA961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95775"/>
            <a:ext cx="22193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371 | 139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3B35DE6-77A4-4EA2-B930-A5EFE832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48200"/>
            <a:ext cx="22002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pairs | residents after full rebuild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79A9ACC-1300-4FBD-AA78-C40DF95A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343525"/>
            <a:ext cx="22383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longcycler transitions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135B1BC-C7B0-4A8C-B30E-EB143B77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848100"/>
            <a:ext cx="26670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7445B1E-C215-4B4C-96E1-F06592C8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848100"/>
            <a:ext cx="47625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5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F846B76-10E4-4C7B-9F6D-631B4412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9719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855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7855B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77529BD-4372-4F9E-A896-CE1DC93D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971925"/>
            <a:ext cx="1981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Focused transitions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D5B1235-532F-45DB-8B68-176F1182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295775"/>
            <a:ext cx="23622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9 | 5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DE06D14-1BC6-46C1-90D9-DD57E489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648200"/>
            <a:ext cx="23431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Not_UTI→UTI | at ≤25 SNPs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A5866B8-BAC7-4DA9-992A-0B2954B9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343525"/>
            <a:ext cx="2381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mechanism casebook</a:t>
            </a:r>
          </a:p>
        </p:txBody>
      </p:sp>
    </p:spTree>
    <p:extLst>
      <p:ext uri="{BB962C8B-B14F-4D97-AF65-F5344CB8AC3E}">
        <p14:creationId xmlns:p14="http://schemas.microsoft.com/office/powerpoint/2010/main" val="8209829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F317D745-004E-4F8D-813B-E1BFDC7F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3DB5052A-4F59-4D56-9B38-12AA268F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4863C-016E-48EE-AF03-8E722FFC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METHODS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C084E-AC66-4F1D-A164-DEC78950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The release supports reproducible, cautious genomic description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03B05-585D-4717-8022-B0E10148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8BD9B-369C-491E-AC47-C8EAA120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Direct evidence, operational definitions and interpretation limits remain separate.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DFB9B-32CC-42D3-9115-863B03F6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7C7C7-1082-47D0-A0B6-098BBCD8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Longcycler-only methods summary  |  RQ01–RQ10  |  15 July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93AF1-B996-4781-8412-7CE611B9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0B5437-0959-4E66-8FA0-AA3E4463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33147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AAF946-282C-4424-B208-2ACE5B73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3314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5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F24AE-5046-4113-8139-6B22F93D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336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85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855B"/>
                </a:solidFill>
                <a:latin typeface="Aptos"/>
                <a:ea typeface="Aptos"/>
                <a:cs typeface="Aptos"/>
              </a:rPr>
              <a:t>SUPPORTED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3671F0-2986-4497-A96D-3AEA7D9B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60985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VF presence/absence, MLST lineage context, direct pair evidence, longitudinal transitions and casebook traceability.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231F7F-6D94-4EE9-A35D-A5777C2B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43300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D1A3F9-4DCF-4287-932C-89967EDE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4810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Continuity is described from direct ≤25 SNP evidence—not ST agreement or graph transitivity alone.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C7EB8E-2250-42E5-8A97-8AA3049A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828800"/>
            <a:ext cx="33147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FAC01-6E25-4E9E-906C-25EFF480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828800"/>
            <a:ext cx="3314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5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AE16FE-FA39-43BC-BB2F-B6DD4136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336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NOT SUPPORTED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8323B0-D38F-4590-B374-FDC3E9CA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No antibiotic, demographic, host-factor, named-mutation or causal mechanism claim is inferred from proxies.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F638C0-AA51-4309-AF1C-F1810663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43300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39C940-41C3-49B9-BBF9-7091BA1D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4810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The operational UTI phenotype is not presented as a reconstruction of the full published protocol.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F8314F-885E-454E-959B-0FDBC393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28800"/>
            <a:ext cx="33147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7BF99F-EE3C-4C80-9E33-3EC0C81F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28800"/>
            <a:ext cx="3314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F8F0CB-CFDC-493B-9DB5-852F6F29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336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777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7772F"/>
                </a:solidFill>
                <a:latin typeface="Aptos"/>
                <a:ea typeface="Aptos"/>
                <a:cs typeface="Aptos"/>
              </a:rPr>
              <a:t>RELEASE CONTRACT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50E9A9-BCC0-45D1-B835-B8019140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0985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RQ01–RQ10 use the same 532-episode analytical cohort.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EFE5D4-B329-491D-AB2E-42858D16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543300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58818B-00B3-4761-8D81-DB846576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4810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9/9 casebook rows are linked; 0 are missing. 17 near-miss rows remain separate.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915320-B426-4BB4-9FC0-30560A9E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47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Suggested wording: genomic analyses were restricted to selected QC-passing Longcycler assemblies, with exploratory non-causal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15900514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F92EF6-DED2-424C-A14A-B5D366D0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ANALYSIS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FE2537-7BAB-4221-9991-9EDD8108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One selected Longcycler cohort feeds every analytical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A3713-AC95-4D29-818B-6BEDD77F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83383-E3D6-4500-AB64-A971A5E8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716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Clinical status and the selected assembly manifest meet by exact episode key before any genomic analysis.</a:t>
            </a:r>
          </a:p>
        </p:txBody>
      </p:sp>
      <p:sp>
        <p:nvSpPr>
          <p:cNvPr id="5" name="clinical-input">
            <a:extLst xmlns:a="http://schemas.openxmlformats.org/drawingml/2006/main">
              <a:ext uri="{FF2B5EF4-FFF2-40B4-BE49-F238E27FC236}">
                <a16:creationId xmlns:a16="http://schemas.microsoft.com/office/drawing/2014/main" id="{9F7CBA32-FECD-46BC-B539-9ABE3298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2619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</p:sp>
      <p:sp>
        <p:nvSpPr>
          <p:cNvPr id="6" name="clinical-input-accent">
            <a:extLst xmlns:a="http://schemas.openxmlformats.org/drawingml/2006/main">
              <a:ext uri="{FF2B5EF4-FFF2-40B4-BE49-F238E27FC236}">
                <a16:creationId xmlns:a16="http://schemas.microsoft.com/office/drawing/2014/main" id="{E8B631F2-E5C8-4D3D-A420-1EF1123A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DA64CB-77CD-4C7B-9BC2-DE7F4AA2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2352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Attrition/QC 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64B75-BF75-46C5-99B2-C30E892D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583 episodes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E1E57E-2203-4352-82AB-49A6F751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166 residents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18 UTI | 565 Not_UTI · context only</a:t>
            </a:r>
          </a:p>
        </p:txBody>
      </p:sp>
      <p:sp>
        <p:nvSpPr>
          <p:cNvPr id="10" name="assembly-input">
            <a:extLst xmlns:a="http://schemas.openxmlformats.org/drawingml/2006/main">
              <a:ext uri="{FF2B5EF4-FFF2-40B4-BE49-F238E27FC236}">
                <a16:creationId xmlns:a16="http://schemas.microsoft.com/office/drawing/2014/main" id="{12905B45-43BD-43F3-B4E8-5DE19D7D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52800"/>
            <a:ext cx="2619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</p:sp>
      <p:sp>
        <p:nvSpPr>
          <p:cNvPr id="11" name="assembly-input-accent">
            <a:extLst xmlns:a="http://schemas.openxmlformats.org/drawingml/2006/main">
              <a:ext uri="{FF2B5EF4-FFF2-40B4-BE49-F238E27FC236}">
                <a16:creationId xmlns:a16="http://schemas.microsoft.com/office/drawing/2014/main" id="{193A1468-4FEF-44F3-B43E-070E42CF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528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25462E-94DE-4C43-B464-5DF0B8C5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2352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Selected assembly + QC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B4CE4-365C-4959-BF59-B2A08FA9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532 rows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F182C6-3771-475D-AB98-9F12B3EA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67175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one selected QC-pass assembly per key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FASTA content hashes verified</a:t>
            </a:r>
          </a:p>
        </p:txBody>
      </p:sp>
      <p:sp>
        <p:nvSpPr>
          <p:cNvPr id="15" name="mixed-canonical">
            <a:extLst xmlns:a="http://schemas.openxmlformats.org/drawingml/2006/main">
              <a:ext uri="{FF2B5EF4-FFF2-40B4-BE49-F238E27FC236}">
                <a16:creationId xmlns:a16="http://schemas.microsoft.com/office/drawing/2014/main" id="{B1C10C8E-1BA5-4D58-BFB2-AFDAF953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2667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</p:sp>
      <p:sp>
        <p:nvSpPr>
          <p:cNvPr id="16" name="mixed-canonical-accent">
            <a:extLst xmlns:a="http://schemas.openxmlformats.org/drawingml/2006/main">
              <a:ext uri="{FF2B5EF4-FFF2-40B4-BE49-F238E27FC236}">
                <a16:creationId xmlns:a16="http://schemas.microsoft.com/office/drawing/2014/main" id="{7F2873BF-29C1-4C90-9AD9-8D16C7CA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F4CF9C-34CE-4701-9250-DD02FEAF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71775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Exact key-linked cohort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D5579F-226E-4FFB-BF54-8153FAB2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384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532 analytical episodes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F2FF3A-F886-45B1-934C-905185D5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813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161 residents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manifest and clinical keys match exactly</a:t>
            </a:r>
          </a:p>
        </p:txBody>
      </p:sp>
      <p:sp>
        <p:nvSpPr>
          <p:cNvPr id="20" name="longcycler-primary">
            <a:extLst xmlns:a="http://schemas.openxmlformats.org/drawingml/2006/main">
              <a:ext uri="{FF2B5EF4-FFF2-40B4-BE49-F238E27FC236}">
                <a16:creationId xmlns:a16="http://schemas.microsoft.com/office/drawing/2014/main" id="{F9E5093A-92E7-43A5-8B1A-7690C43F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3238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19050">
            <a:solidFill>
              <a:srgbClr val="047857"/>
            </a:solidFill>
            <a:prstDash val="solid"/>
          </a:ln>
        </p:spPr>
      </p:sp>
      <p:sp>
        <p:nvSpPr>
          <p:cNvPr id="21" name="longcycler-primary-accent">
            <a:extLst xmlns:a="http://schemas.openxmlformats.org/drawingml/2006/main">
              <a:ext uri="{FF2B5EF4-FFF2-40B4-BE49-F238E27FC236}">
                <a16:creationId xmlns:a16="http://schemas.microsoft.com/office/drawing/2014/main" id="{DB5E8F3F-1BB8-4695-AFEA-1D3465E0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AFB604-13C9-426A-A057-871F39A6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771775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Longcycler analytical cohort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46854C-8B2C-4ADC-BEEC-7E6B5C77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0384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532 rows | 161 residents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98FAD2-104B-4E24-B320-AE84E0C5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3813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16 UTI | 516 Not_UTI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versioned operational phenotype</a:t>
            </a:r>
          </a:p>
        </p:txBody>
      </p:sp>
      <p:sp>
        <p:nvSpPr>
          <p:cNvPr id="25" name="analysis-layers">
            <a:extLst xmlns:a="http://schemas.openxmlformats.org/drawingml/2006/main">
              <a:ext uri="{FF2B5EF4-FFF2-40B4-BE49-F238E27FC236}">
                <a16:creationId xmlns:a16="http://schemas.microsoft.com/office/drawing/2014/main" id="{5256043D-125B-4C07-9552-1C72950B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0125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</p:sp>
      <p:sp>
        <p:nvSpPr>
          <p:cNvPr id="26" name="analysis-layers-accent">
            <a:extLst xmlns:a="http://schemas.openxmlformats.org/drawingml/2006/main">
              <a:ext uri="{FF2B5EF4-FFF2-40B4-BE49-F238E27FC236}">
                <a16:creationId xmlns:a16="http://schemas.microsoft.com/office/drawing/2014/main" id="{2E350370-4828-4BD3-9E12-18EB61CC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012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14893F-8F99-4BD8-B642-CD60295F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1490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Analysis layers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967417-675A-4275-A2B1-E62BABD8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181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893 direct pairs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D0505F-FE5E-4DF8-9B11-F8725335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524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VF: 227 features · MLST: 493 typed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all endpoints remain in the selected cohort</a:t>
            </a:r>
          </a:p>
        </p:txBody>
      </p:sp>
      <p:sp>
        <p:nvSpPr>
          <p:cNvPr id="30" name="longitudinal-rebuild">
            <a:extLst xmlns:a="http://schemas.openxmlformats.org/drawingml/2006/main">
              <a:ext uri="{FF2B5EF4-FFF2-40B4-BE49-F238E27FC236}">
                <a16:creationId xmlns:a16="http://schemas.microsoft.com/office/drawing/2014/main" id="{E502B43D-2122-4C09-987D-10389B1B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10125"/>
            <a:ext cx="22383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</p:sp>
      <p:sp>
        <p:nvSpPr>
          <p:cNvPr id="31" name="longitudinal-rebuild-accent">
            <a:extLst xmlns:a="http://schemas.openxmlformats.org/drawingml/2006/main">
              <a:ext uri="{FF2B5EF4-FFF2-40B4-BE49-F238E27FC236}">
                <a16:creationId xmlns:a16="http://schemas.microsoft.com/office/drawing/2014/main" id="{78FE0A6D-4C18-4E88-992D-70F22CBD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1012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BB44E7-6681-4293-B20A-2DB15A6E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914900"/>
            <a:ext cx="1971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Longitudinal rebuild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8CFFC4-06FB-4F06-A416-EF522822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1816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371 transitions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8334CB-37AA-47A5-ADC7-49E5DE96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52450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139 residents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140 at ≤25 SNPs</a:t>
            </a:r>
          </a:p>
        </p:txBody>
      </p:sp>
      <p:sp>
        <p:nvSpPr>
          <p:cNvPr id="35" name="focused-readout">
            <a:extLst xmlns:a="http://schemas.openxmlformats.org/drawingml/2006/main">
              <a:ext uri="{FF2B5EF4-FFF2-40B4-BE49-F238E27FC236}">
                <a16:creationId xmlns:a16="http://schemas.microsoft.com/office/drawing/2014/main" id="{3E2733E1-43CA-4025-94F7-E4E4E26C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10125"/>
            <a:ext cx="1905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19050">
            <a:solidFill>
              <a:srgbClr val="047857"/>
            </a:solidFill>
            <a:prstDash val="solid"/>
          </a:ln>
        </p:spPr>
      </p:sp>
      <p:sp>
        <p:nvSpPr>
          <p:cNvPr id="36" name="focused-readout-accent">
            <a:extLst xmlns:a="http://schemas.openxmlformats.org/drawingml/2006/main">
              <a:ext uri="{FF2B5EF4-FFF2-40B4-BE49-F238E27FC236}">
                <a16:creationId xmlns:a16="http://schemas.microsoft.com/office/drawing/2014/main" id="{AE43E8F4-D741-4CAD-8843-63636168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1012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F9465D-C261-426D-ABDF-C700DB56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9149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Focused readout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9A1246-0BB5-4802-AF90-4C0B6F13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1816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9 Not_UTI→UTI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3835FA-9270-4466-B1CE-D742F01F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5245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5 at ≤25 SNPs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casebook 9/9 linked</a:t>
            </a:r>
          </a:p>
        </p:txBody>
      </p:sp>
      <p:cxnSp>
        <p:nvCxnSpPr>
          <p:cNvPr id="719" name=""/>
          <p:cNvCxnSpPr>
            <a:stCxn xmlns:a="http://schemas.openxmlformats.org/drawingml/2006/main" id="5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190875" y="2486025"/>
            <a:ext cx="904875" cy="752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11827"/>
            </a:solidFill>
            <a:prstDash val="solid"/>
            <a:tailEnd type="arrow" w="med" len="med"/>
          </a:ln>
        </p:spPr>
      </p:cxnSp>
      <p:cxnSp>
        <p:nvCxnSpPr>
          <p:cNvPr id="720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3190875" y="3238500"/>
            <a:ext cx="904875" cy="647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11827"/>
            </a:solidFill>
            <a:prstDash val="solid"/>
            <a:tailEnd type="arrow" w="med" len="med"/>
          </a:ln>
        </p:spPr>
      </p:cxnSp>
      <p:cxnSp>
        <p:nvCxnSpPr>
          <p:cNvPr id="721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762750" y="323850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  <a:tailEnd type="arrow" w="med" len="med"/>
          </a:ln>
        </p:spPr>
      </p:cxnSp>
      <p:cxnSp>
        <p:nvCxnSpPr>
          <p:cNvPr id="722" name=""/>
          <p:cNvCxnSpPr>
            <a:stCxn xmlns:a="http://schemas.openxmlformats.org/drawingml/2006/main" id="20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5000625" y="3810000"/>
            <a:ext cx="4286250" cy="1000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11827"/>
            </a:solidFill>
            <a:prstDash val="solid"/>
            <a:tailEnd type="arrow" w="med" len="med"/>
          </a:ln>
        </p:spPr>
      </p:cxnSp>
      <p:cxnSp>
        <p:nvCxnSpPr>
          <p:cNvPr id="723" name=""/>
          <p:cNvCxnSpPr>
            <a:stCxn xmlns:a="http://schemas.openxmlformats.org/drawingml/2006/main" id="25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6572250" y="53721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  <a:tailEnd type="arrow" w="med" len="med"/>
          </a:ln>
        </p:spPr>
      </p:cxnSp>
      <p:cxnSp>
        <p:nvCxnSpPr>
          <p:cNvPr id="724" name=""/>
          <p:cNvCxnSpPr>
            <a:stCxn xmlns:a="http://schemas.openxmlformats.org/drawingml/2006/main" id="30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334500" y="53721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  <a:tailEnd type="arrow" w="med" len="me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2D5419-D153-4E21-8B23-B7C213BB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48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Boundary: the 583-episode source is attrition/QC context only; the phenotype is operational and all interpretation is exploratory, not causal.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94DEB6-8983-4EDE-ACEF-98719ACB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5145B55-B6F2-48CA-831E-C0405D44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methods summary  |  RQ01–RQ10  |  15 July 2026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914A83F-2821-43F2-86EA-2FC65643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116895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2026-07-15T07:24:50.1310000Z</dcterms:created>
  <dcterms:modified xsi:type="dcterms:W3CDTF">2026-07-15T07:24:50.1310000Z</dcterms:modified>
</coreProperties>
</file>