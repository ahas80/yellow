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88c3d5b4044ac5" /><Relationship Type="http://schemas.openxmlformats.org/officeDocument/2006/relationships/extended-properties" Target="/docProps/app.xml" Id="R69be2b6d332e41ea" /><Relationship Type="http://schemas.openxmlformats.org/officeDocument/2006/relationships/officeDocument" Target="/ppt/presentation.xml" Id="Raae33c01f67243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52cd6f30fb4f1b"/>
  </p:sldMasterIdLst>
  <p:notesMasterIdLst>
    <p:notesMasterId xmlns:r="http://schemas.openxmlformats.org/officeDocument/2006/relationships" r:id="Ra63f0cfbb3c94484"/>
  </p:notesMasterIdLst>
  <p:sldIdLst>
    <p:sldId xmlns:r="http://schemas.openxmlformats.org/officeDocument/2006/relationships" id="256" r:id="R9985c8fdf88d4698"/>
    <p:sldId xmlns:r="http://schemas.openxmlformats.org/officeDocument/2006/relationships" id="257" r:id="R8d784c953044492c"/>
    <p:sldId xmlns:r="http://schemas.openxmlformats.org/officeDocument/2006/relationships" id="258" r:id="Rf9058cecb4cb40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8d899717cf427d" /><Relationship Type="http://schemas.openxmlformats.org/officeDocument/2006/relationships/slideMaster" Target="/ppt/slideMasters/slideMaster1.xml" Id="Ra252cd6f30fb4f1b" /><Relationship Type="http://schemas.openxmlformats.org/officeDocument/2006/relationships/notesMaster" Target="/ppt/notesMasters/notesMaster1.xml" Id="Ra63f0cfbb3c94484" /><Relationship Type="http://schemas.openxmlformats.org/officeDocument/2006/relationships/presProps" Target="/ppt/presProps.xml" Id="Re1d48bc9064c41a0" /><Relationship Type="http://schemas.openxmlformats.org/officeDocument/2006/relationships/tableStyles" Target="/ppt/tableStyles.xml" Id="R52a36799171f45fe" /><Relationship Type="http://schemas.openxmlformats.org/officeDocument/2006/relationships/slide" Target="/ppt/slides/slide1.xml" Id="R9985c8fdf88d4698" /><Relationship Type="http://schemas.openxmlformats.org/officeDocument/2006/relationships/slide" Target="/ppt/slides/slide2.xml" Id="R8d784c953044492c" /><Relationship Type="http://schemas.openxmlformats.org/officeDocument/2006/relationships/slide" Target="/ppt/slides/slide3.xml" Id="Rf9058cecb4cb40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37f34ebc9548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96ee3999244e5a" /><Relationship Type="http://schemas.openxmlformats.org/officeDocument/2006/relationships/notesMaster" Target="/ppt/notesMasters/notesMaster1.xml" Id="R98658b994d0446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31fa107f48467e" /><Relationship Type="http://schemas.openxmlformats.org/officeDocument/2006/relationships/notesMaster" Target="/ppt/notesMasters/notesMaster1.xml" Id="Rd7dd219ce72345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5acd45078d4969" /><Relationship Type="http://schemas.openxmlformats.org/officeDocument/2006/relationships/notesMaster" Target="/ppt/notesMasters/notesMaster1.xml" Id="R4bbf8c832512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35c2a3d62c43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bd466491754a24" /><Relationship Type="http://schemas.openxmlformats.org/officeDocument/2006/relationships/slideLayout" Target="/ppt/slideLayouts/slideLayout1.xml" Id="R501601d0c9754a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1601d0c9754a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5b4eb936c4614" /><Relationship Type="http://schemas.openxmlformats.org/officeDocument/2006/relationships/notesSlide" Target="/ppt/notesSlides/notesSlide1.xml" Id="R1b985129a14142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0d48078b6465e" /><Relationship Type="http://schemas.openxmlformats.org/officeDocument/2006/relationships/notesSlide" Target="/ppt/notesSlides/notesSlide2.xml" Id="R063fd652555d4c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5146aae474f64" /><Relationship Type="http://schemas.openxmlformats.org/officeDocument/2006/relationships/notesSlide" Target="/ppt/notesSlides/notesSlide3.xml" Id="R6a4e1747b13b4be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F317D745-004E-4F8D-813B-E1BFDC7F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3DB5052A-4F59-4D56-9B38-12AA268F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4863C-016E-48EE-AF03-8E722FFC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METHODS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C084E-AC66-4F1D-A164-DEC7895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Longcycler-only is the clean primary denominator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03B05-585D-4717-8022-B0E10148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8BD9B-369C-491E-AC47-C8EAA120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The analysis keeps one assembler for strain, lineage, and VF summaries; the 556-row mixed canonical set remains context.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DFB9B-32CC-42D3-9115-863B03F6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7C7C7-1082-47D0-A0B6-098BBCD8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93AF1-B996-4781-8412-7CE611B9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B5437-0959-4E66-8FA0-AA3E4463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AF946-282C-4424-B208-2ACE5B73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24AE-5046-4113-8139-6B22F93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WHY THIS HELPS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671F0-2986-4497-A96D-3AEA7D9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Single-assembler denominator reduces technical variation from assembly choice.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31F7F-6D94-4EE9-A35D-A5777C2B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1A3F9-4DCF-4287-932C-89967EDE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It avoids defending equivalence between assemblers for small distance thresholds.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EB8E-2250-42E5-8A97-8AA3049A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FAC01-6E25-4E9E-906C-25EFF480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75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E16FE-FA39-43BC-BB2F-B6DD413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WHAT CHANGES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323B0-D38F-4590-B374-FDC3E9CA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Primary genomic denominator becomes 532 Longcycler rows from 161 participants.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638C0-AA51-4309-AF1C-F1810663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9C940-41C3-49B9-BBF9-7091BA1D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The 24 Flye fallback rows are excluded rather than treated as interchangeable.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8314F-885E-454E-959B-0FDBC393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BF99F-EE3C-4C80-9E33-3EC0C81F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8F0CB-CFDC-493B-9DB5-852F6F29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WHAT DOES NOT 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50E9A9-BCC0-45D1-B835-B801914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Clinical UTI labels are unchanged and applied independently of assembler choice.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FE5D4-B329-491D-AB2E-42858D1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58818B-00B3-4761-8D81-DB84657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ST remains lineage context; ≤25 SNPs remains the strict same-strain rule.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15320-B426-4BB4-9FC0-30560A9E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47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Discussion framing: conservative methods decision, not a claim that Flye assemblies are unusable.</a:t>
            </a:r>
          </a:p>
        </p:txBody>
      </p:sp>
    </p:spTree>
    <p:extLst>
      <p:ext uri="{BB962C8B-B14F-4D97-AF65-F5344CB8AC3E}">
        <p14:creationId xmlns:p14="http://schemas.microsoft.com/office/powerpoint/2010/main" val="159005146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BF532F0A-1230-4DB4-BEF0-CA6884E0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86CE3B76-4341-424E-972F-A4FA25FC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ADFBB6-98EB-4067-AD26-7168B2B8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COUNTS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BC662-8215-4DB2-A22A-4E3EC0E6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The single-assembler analysis retains 532 genome-linked episodes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59563F-DF92-4783-9AEB-761275E7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04764-EA3F-442E-BC05-7504BF55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8096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Counts are reported at the correct unit: clinical row, selected assembly, VF feature, or within-resident transition.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D997F-253B-46A5-A686-F3913E73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143000"/>
            <a:ext cx="2686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2C5665-4187-4823-966A-D9A0FDC1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152525"/>
            <a:ext cx="2495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NUMBERED PROCESS 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D146B-5A75-4E96-8415-51DCE46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8B8D0-9A6D-45A9-9431-F4E5B1EF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2C4104-0FC7-4DE3-9A28-C8E8438A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B0403-6814-4FB6-BDBB-DAAEE6F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2382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SELECTION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B63E06-1263-4650-91A1-BF6E9DED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441F4-6976-451D-814B-EA5EB008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A106B-106F-4ED2-8337-6E2A1F6B3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E0FED2-0359-4CF4-9E52-25DCC20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09775"/>
            <a:ext cx="17716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Raw canonical 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D3AC21-0801-4F58-B6CD-09ABFB96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1526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556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E1BBA-EA63-4932-BF55-38B04EEA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Longcycler-preferred + Flye 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BE3536-DB4B-4C34-A1AC-9E693D81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2171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current generated canonical analysis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07730C-D9E5-40DE-9201-A6958897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28860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16986-57B7-4DE6-87A1-D113DEAC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8B267-CD48-404B-B7A1-D298EDE9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7772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239210-332F-4F91-AE40-8E5AD3D1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09775"/>
            <a:ext cx="22002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Longcycler-only 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37367F-F10E-4E06-AAB0-1C3B23CB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58127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29955E-F485-431E-93C5-BE195CE2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86050"/>
            <a:ext cx="25622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QC-passing selected Longcycler rows; 24 Flye fallback rows excluded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3307E-3DB5-48D1-85E7-9EA282AB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33700"/>
            <a:ext cx="2600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canonical_assembly_selection.csv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DCACA-B55B-4680-8AF0-88A9DA3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628775"/>
            <a:ext cx="18097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678B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678B8"/>
                </a:solidFill>
                <a:latin typeface="Aptos"/>
                <a:ea typeface="Aptos"/>
                <a:cs typeface="Aptos"/>
              </a:rPr>
              <a:t>EPISODE AND LINEAGE DENOMINATOR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EFFDF8-B313-4004-857E-22481B55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85950"/>
            <a:ext cx="2457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38EB2D-D195-4A34-A2AC-760EB934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F2FE22-C1C3-4741-A4F2-9C536E39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2CD7BA-2709-4876-8318-963EA39C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09775"/>
            <a:ext cx="17716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Participants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B3B316-12F5-4FA6-A407-121FD68B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333625"/>
            <a:ext cx="21526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161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3CD5F6-DE58-43E5-A450-E0758706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86050"/>
            <a:ext cx="2133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retained Longcycler-linked participants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E028DF-083B-4049-855B-296DAB9A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933700"/>
            <a:ext cx="2171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vf_analysis_ready.csv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C2EDC2-2BB0-4DA0-ABC9-25CFE412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2400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468FAC-8C98-46DF-9B89-74C54252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885950"/>
            <a:ext cx="476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4D25FA-A084-47A6-BC5D-F1DE114E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00977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2678B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B943A8-F2EA-4281-812D-29606078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2009775"/>
            <a:ext cx="17145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Clinical status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4D8BA0-FF21-4266-BC2D-BC79675E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333625"/>
            <a:ext cx="20955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16 | 516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BCDCE2-DAE9-4627-8D58-3EF60750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686050"/>
            <a:ext cx="2076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UTI | Not_UTI using primary status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8AC735-F23E-4F9C-A73B-7534FE3A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2933700"/>
            <a:ext cx="2114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status joined to Longcycler rows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2063CA-096B-4505-938B-82483A51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5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356ADC-8747-45E8-83D2-98653907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39052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DOWNSTREAM ANALYSIS UNITS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0902A3-523C-4D27-82A0-65C58B5B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4765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83F14C-8ED3-45A2-805E-B73E5EBF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98E6E0-13C4-4E41-B7DE-0E65D4FC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5A7356-7FF2-4DE4-9E2C-29046961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71925"/>
            <a:ext cx="17907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VF feature space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7334E9-D7E2-4272-9980-44CE6166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95775"/>
            <a:ext cx="21717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227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2BC6ED1-B375-4EFD-A866-0119E03C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2152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binary VF gene columns retained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386F1D-A5E8-4B4B-B894-270DF7AC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21907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vf_analysis_ready.csv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327D298-3868-4608-ABE9-6653AC3D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48100"/>
            <a:ext cx="272415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9E2A88-0852-4A7D-B3D2-726F5D33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A2EABAF-81F7-426C-9F3A-638791C2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90A19E2-87B1-408E-87FD-C5E52373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71925"/>
            <a:ext cx="20383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MLST lineage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F0D974-100C-44C6-B0BA-FBA17F43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95775"/>
            <a:ext cx="24193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514 | 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52C9AF-DCFE-4ED1-A388-B9A30527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648200"/>
            <a:ext cx="24003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typed rows | distinct STs; lineage context only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6804C14-9638-4CB1-A3BF-B36EC9B2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43525"/>
            <a:ext cx="24384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mlst_provider_preferred.csv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2AC699-B45F-4B50-892F-39EFCA31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5241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DB7C01-2699-4BD2-9E60-8FF4FA8E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27FE1B0-F7BA-46EF-B02D-8A2A2C31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03B176-65E6-41ED-9DE8-FFF9A72E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71925"/>
            <a:ext cx="183832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Longitudinal pairs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5483FD-06BE-440C-B3DE-16FDA961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95775"/>
            <a:ext cx="2219325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371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B35DE6-77A4-4EA2-B930-A5EFE832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48200"/>
            <a:ext cx="22002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rebuilt in pipeline time order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from 139 participants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79A9ACC-1300-4FBD-AA78-C40DF95A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43525"/>
            <a:ext cx="22383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vf_longitudinal_transitions.csv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35B1BC-C7B0-4A8C-B30E-EB143B77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48100"/>
            <a:ext cx="2667000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445B1E-C215-4B4C-96E1-F06592C8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48100"/>
            <a:ext cx="47625" cy="1704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F846B76-10E4-4C7B-9F6D-631B4412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971925"/>
            <a:ext cx="361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17855B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7529BD-4372-4F9E-A896-CE1DC93D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71925"/>
            <a:ext cx="19812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Strict SNP evidence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5B1235-532F-45DB-8B68-176F1182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295775"/>
            <a:ext cx="23622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116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DE06D14-1BC6-46C1-90D9-DD57E489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648200"/>
            <a:ext cx="23431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≤25 SNP among rebuilt pairs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7/9 Not_UTI -&gt; UTI strict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5866B8-BAC7-4DA9-992A-0B2954B9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5343525"/>
            <a:ext cx="23812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pairwise_metrics.csv</a:t>
            </a:r>
          </a:p>
        </p:txBody>
      </p:sp>
    </p:spTree>
    <p:extLst>
      <p:ext uri="{BB962C8B-B14F-4D97-AF65-F5344CB8AC3E}">
        <p14:creationId xmlns:p14="http://schemas.microsoft.com/office/powerpoint/2010/main" val="8209829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paper">
            <a:extLst xmlns:a="http://schemas.openxmlformats.org/drawingml/2006/main">
              <a:ext uri="{FF2B5EF4-FFF2-40B4-BE49-F238E27FC236}">
                <a16:creationId xmlns:a16="http://schemas.microsoft.com/office/drawing/2014/main" id="{F317D745-004E-4F8D-813B-E1BFDC7F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ail">
            <a:extLst xmlns:a="http://schemas.openxmlformats.org/drawingml/2006/main">
              <a:ext uri="{FF2B5EF4-FFF2-40B4-BE49-F238E27FC236}">
                <a16:creationId xmlns:a16="http://schemas.microsoft.com/office/drawing/2014/main" id="{3DB5052A-4F59-4D56-9B38-12AA268F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4863C-016E-48EE-AF03-8E722FFC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METHODS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1C084E-AC66-4F1D-A164-DEC78950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1057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52533"/>
                </a:solidFill>
                <a:latin typeface="Aptos Display"/>
                <a:ea typeface="Aptos Display"/>
                <a:cs typeface="Aptos Display"/>
              </a:rPr>
              <a:t>Longcycler-only supports reproducible methods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03B05-585D-4717-8022-B0E10148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8BD9B-369C-491E-AC47-C8EAA120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1049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Boundary: reproducibility choices are separate from biological interpretation.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DFB9B-32CC-42D3-9115-863B03F6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47C7C7-1082-47D0-A0B6-098BBCD8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07587"/>
                </a:solidFill>
                <a:latin typeface="Aptos"/>
                <a:ea typeface="Aptos"/>
                <a:cs typeface="Aptos"/>
              </a:rPr>
              <a:t>Longcycler-only methods summary  |  supervisor discussion  |  9 July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93AF1-B996-4781-8412-7CE611B9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651510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607587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0B5437-0959-4E66-8FA0-AA3E4463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5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AF946-282C-4424-B208-2ACE5B73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24AE-5046-4113-8139-6B22F93D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855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855B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671F0-2986-4497-A96D-3AEA7D9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VF presence/absence, MLST lineage context, core SNP strain context, and longitudinal transitions.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31F7F-6D94-4EE9-A35D-A5777C2B7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1A3F9-4DCF-4287-932C-89967EDE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Strict persistence is reported with SNP evidence, not ST agreement alone.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EB8E-2250-42E5-8A97-8AA3049A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FAC01-6E25-4E9E-906C-25EFF480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0758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AE16FE-FA39-43BC-BB2F-B6DD4136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0758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587"/>
                </a:solidFill>
                <a:latin typeface="Aptos"/>
                <a:ea typeface="Aptos"/>
                <a:cs typeface="Aptos"/>
              </a:rPr>
              <a:t>NOT RECALCULATED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8323B0-D38F-4590-B374-FDC3E9CA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No antibiotic, demographic, host-factor, or wgMLST allele claims are inferred from proxies.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638C0-AA51-4309-AF1C-F1810663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9C940-41C3-49B9-BBF9-7091BA1D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The summary does not treat SNP and wgMLST distances as interchangeable.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F8314F-885E-454E-959B-0FDBC393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0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7BF99F-EE3C-4C80-9E33-3EC0C81F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28800"/>
            <a:ext cx="33147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772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F8F0CB-CFDC-493B-9DB5-852F6F29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33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7772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7772F"/>
                </a:solidFill>
                <a:latin typeface="Aptos"/>
                <a:ea typeface="Aptos"/>
                <a:cs typeface="Aptos"/>
              </a:rPr>
              <a:t>SUPERVISOR 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50E9A9-BCC0-45D1-B835-B801914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0985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Use Longcycler-only as the primary defensible methods denominator.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EFE5D4-B329-491D-AB2E-42858D1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433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1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58818B-00B3-4761-8D81-DB846576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48100"/>
            <a:ext cx="2781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2533"/>
                </a:solidFill>
                <a:latin typeface="Aptos"/>
                <a:ea typeface="Aptos"/>
                <a:cs typeface="Aptos"/>
              </a:rPr>
              <a:t>Keep the 556-row mixed canonical analysis only as context or sensitivity, if needed.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15320-B426-4BB4-9FC0-30560A9E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29250"/>
            <a:ext cx="10477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253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2533"/>
                </a:solidFill>
                <a:latin typeface="Aptos"/>
                <a:ea typeface="Aptos"/>
                <a:cs typeface="Aptos"/>
              </a:rPr>
              <a:t>Suggested wording: primary genomic analyses were restricted to QC-passing Longcycler assemblies to minimise assembler-induced technical heterogeneity.</a:t>
            </a:r>
          </a:p>
        </p:txBody>
      </p:sp>
    </p:spTree>
    <p:extLst>
      <p:ext uri="{BB962C8B-B14F-4D97-AF65-F5344CB8AC3E}">
        <p14:creationId xmlns:p14="http://schemas.microsoft.com/office/powerpoint/2010/main" val="1590051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2026-07-09T15:28:27.3540000Z</dcterms:created>
  <dcterms:modified xsi:type="dcterms:W3CDTF">2026-07-09T15:28:27.3540000Z</dcterms:modified>
</coreProperties>
</file>