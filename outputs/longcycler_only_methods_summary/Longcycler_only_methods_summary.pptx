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c7bf7c07039458d" /><Relationship Type="http://schemas.openxmlformats.org/officeDocument/2006/relationships/extended-properties" Target="/docProps/app.xml" Id="R97162005bced44d4" /><Relationship Type="http://schemas.openxmlformats.org/officeDocument/2006/relationships/officeDocument" Target="/ppt/presentation.xml" Id="Rd154981f51e5442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0229518c1ea4ef3"/>
  </p:sldMasterIdLst>
  <p:notesMasterIdLst>
    <p:notesMasterId xmlns:r="http://schemas.openxmlformats.org/officeDocument/2006/relationships" r:id="R5e6fba77dab54cc9"/>
  </p:notesMasterIdLst>
  <p:sldIdLst>
    <p:sldId xmlns:r="http://schemas.openxmlformats.org/officeDocument/2006/relationships" id="256" r:id="Rdf095d7f1f3b4bfb"/>
    <p:sldId xmlns:r="http://schemas.openxmlformats.org/officeDocument/2006/relationships" id="257" r:id="Rc43e06b065cd44cb"/>
    <p:sldId xmlns:r="http://schemas.openxmlformats.org/officeDocument/2006/relationships" id="258" r:id="R8c456c51b2e246b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e6b8a8ff2ef4028" /><Relationship Type="http://schemas.openxmlformats.org/officeDocument/2006/relationships/slideMaster" Target="/ppt/slideMasters/slideMaster1.xml" Id="R90229518c1ea4ef3" /><Relationship Type="http://schemas.openxmlformats.org/officeDocument/2006/relationships/notesMaster" Target="/ppt/notesMasters/notesMaster1.xml" Id="R5e6fba77dab54cc9" /><Relationship Type="http://schemas.openxmlformats.org/officeDocument/2006/relationships/presProps" Target="/ppt/presProps.xml" Id="R1921e2fb8ec742df" /><Relationship Type="http://schemas.openxmlformats.org/officeDocument/2006/relationships/tableStyles" Target="/ppt/tableStyles.xml" Id="R34183c018d9b44fa" /><Relationship Type="http://schemas.openxmlformats.org/officeDocument/2006/relationships/slide" Target="/ppt/slides/slide1.xml" Id="Rdf095d7f1f3b4bfb" /><Relationship Type="http://schemas.openxmlformats.org/officeDocument/2006/relationships/slide" Target="/ppt/slides/slide2.xml" Id="Rc43e06b065cd44cb" /><Relationship Type="http://schemas.openxmlformats.org/officeDocument/2006/relationships/slide" Target="/ppt/slides/slide3.xml" Id="R8c456c51b2e246b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c982e34f3f244d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fe9084628b94e32" /><Relationship Type="http://schemas.openxmlformats.org/officeDocument/2006/relationships/notesMaster" Target="/ppt/notesMasters/notesMaster1.xml" Id="R3ec3083cd9a04af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f803fd9f1ef424b" /><Relationship Type="http://schemas.openxmlformats.org/officeDocument/2006/relationships/notesMaster" Target="/ppt/notesMasters/notesMaster1.xml" Id="Rc1b9edc228b7403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ac0cf5de31a4040" /><Relationship Type="http://schemas.openxmlformats.org/officeDocument/2006/relationships/notesMaster" Target="/ppt/notesMasters/notesMaster1.xml" Id="Rb9670035aa8d4cb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Opening: the analytical contract is one selected QC-passing Longcycler assembly per episode. Every result now starts from 532 episodes across 161 residents. The clinical phenotype remains operational and is assigned independently.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Name the unit before the number. Episodes, residents, direct pairs, adjacent transitions, VF features and MLST labels are different denominators. The focused result is 9 Not_UTI-to-UTI transitions, of which 5 are at or below 25 SNPs.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Safe interpretation: direct pair evidence supports cautious continuity descriptions. It does not establish uninterrupted carriage or causation. The casebook is complete at 9/9 linked rows, while 17 near-miss rows remain a separate audit population.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6e4f316c14481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39b25cf81194a02" /><Relationship Type="http://schemas.openxmlformats.org/officeDocument/2006/relationships/slideLayout" Target="/ppt/slideLayouts/slideLayout1.xml" Id="Rbea1a9cff0074d8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ea1a9cff0074d8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e9e215b1fa47d2" /><Relationship Type="http://schemas.openxmlformats.org/officeDocument/2006/relationships/notesSlide" Target="/ppt/notesSlides/notesSlide1.xml" Id="R9fb1b7c120654a1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f645bbe7854667" /><Relationship Type="http://schemas.openxmlformats.org/officeDocument/2006/relationships/notesSlide" Target="/ppt/notesSlides/notesSlide2.xml" Id="R994a1b87c366444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fe084b581041d6" /><Relationship Type="http://schemas.openxmlformats.org/officeDocument/2006/relationships/notesSlide" Target="/ppt/notesSlides/notesSlide3.xml" Id="Rc4cf99c16482434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per">
            <a:extLst xmlns:a="http://schemas.openxmlformats.org/drawingml/2006/main">
              <a:ext uri="{FF2B5EF4-FFF2-40B4-BE49-F238E27FC236}">
                <a16:creationId xmlns:a16="http://schemas.microsoft.com/office/drawing/2014/main" id="{F317D745-004E-4F8D-813B-E1BFDC7FD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ail">
            <a:extLst xmlns:a="http://schemas.openxmlformats.org/drawingml/2006/main">
              <a:ext uri="{FF2B5EF4-FFF2-40B4-BE49-F238E27FC236}">
                <a16:creationId xmlns:a16="http://schemas.microsoft.com/office/drawing/2014/main" id="{3DB5052A-4F59-4D56-9B38-12AA268FF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5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24863C-016E-48EE-AF03-8E722FFCB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METHODS CHOICE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1C084E-AC66-4F1D-A164-DEC78950B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1057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rPr>
              <a:t>Longcycler-only is now the sole analytical denominator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503B05-585D-4717-8022-B0E10148F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F8BD9B-369C-491E-AC47-C8EAA120D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104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Every genomic model, table and figure uses the selected QC-passing Longcycler cohort.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1DFB9B-32CC-42D3-9115-863B03F6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47C7C7-1082-47D0-A0B6-098BBCD8A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8572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Longcycler-only methods summary  |  RQ01–RQ10  |  15 July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D93AF1-B996-4781-8412-7CE611B9E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51510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07587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07587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0B5437-0959-4E66-8FA0-AA3E44633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28800"/>
            <a:ext cx="33147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5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AAF946-282C-4424-B208-2ACE5B73C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28800"/>
            <a:ext cx="33147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5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DF24AE-5046-4113-8139-6B22F93D2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133600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7855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855B"/>
                </a:solidFill>
                <a:latin typeface="Aptos"/>
                <a:ea typeface="Aptos"/>
                <a:cs typeface="Aptos"/>
              </a:rPr>
              <a:t>WHY THIS HELPS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3671F0-2986-4497-A96D-3AEA7D9B0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609850"/>
            <a:ext cx="2781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52533"/>
                </a:solidFill>
                <a:latin typeface="Aptos"/>
                <a:ea typeface="Aptos"/>
                <a:cs typeface="Aptos"/>
              </a:rPr>
              <a:t>One selected QC-passing assembly per episode keeps strain, lineage and VF summaries on one reproducible input contract.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231F7F-6D94-4EE9-A35D-A5777C2B7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543300"/>
            <a:ext cx="278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D1A3F9-4DCF-4287-932C-89967EDE0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848100"/>
            <a:ext cx="2781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52533"/>
                </a:solidFill>
                <a:latin typeface="Aptos"/>
                <a:ea typeface="Aptos"/>
                <a:cs typeface="Aptos"/>
              </a:rPr>
              <a:t>Every downstream join is checked against the same 532 episode keys.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C7EB8E-2250-42E5-8A97-8AA3049AF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1828800"/>
            <a:ext cx="33147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4FAC01-6E25-4E9E-906C-25EFF4803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1828800"/>
            <a:ext cx="33147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5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AE16FE-FA39-43BC-BB2F-B6DD41360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33600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WHAT CHANGES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8323B0-D38F-4590-B374-FDC3E9CA6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9850"/>
            <a:ext cx="2781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52533"/>
                </a:solidFill>
                <a:latin typeface="Aptos"/>
                <a:ea typeface="Aptos"/>
                <a:cs typeface="Aptos"/>
              </a:rPr>
              <a:t>The analytical cohort is 532 genome-linked episodes from 161 residents.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F638C0-AA51-4309-AF1C-F18106639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543300"/>
            <a:ext cx="278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39C940-41C3-49B9-BBF9-7091BA1D9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848100"/>
            <a:ext cx="2781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52533"/>
                </a:solidFill>
                <a:latin typeface="Aptos"/>
                <a:ea typeface="Aptos"/>
                <a:cs typeface="Aptos"/>
              </a:rPr>
              <a:t>All 893 direct pairs and 371 adjacent transitions have Longcycler endpoints.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F8314F-885E-454E-959B-0FDBC393C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28800"/>
            <a:ext cx="33147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7BF99F-EE3C-4C80-9E33-3EC0C81FA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28800"/>
            <a:ext cx="33147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F8F0CB-CFDC-493B-9DB5-852F6F299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133600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E7772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7772F"/>
                </a:solidFill>
                <a:latin typeface="Aptos"/>
                <a:ea typeface="Aptos"/>
                <a:cs typeface="Aptos"/>
              </a:rPr>
              <a:t>WHAT DOES NOT CHANGE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50E9A9-BCC0-45D1-B835-B8019140A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609850"/>
            <a:ext cx="2781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52533"/>
                </a:solidFill>
                <a:latin typeface="Aptos"/>
                <a:ea typeface="Aptos"/>
                <a:cs typeface="Aptos"/>
              </a:rPr>
              <a:t>Clinical labels are assigned independently using the versioned operational UTI phenotype.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EFE5D4-B329-491D-AB2E-42858D16C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543300"/>
            <a:ext cx="278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58818B-00B3-4761-8D81-DB8465769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848100"/>
            <a:ext cx="2781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52533"/>
                </a:solidFill>
                <a:latin typeface="Aptos"/>
                <a:ea typeface="Aptos"/>
                <a:cs typeface="Aptos"/>
              </a:rPr>
              <a:t>The ≤25 SNP boundary remains an operational support rule—not a causal result.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915320-B426-4BB4-9FC0-30560A9EA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10477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2533"/>
                </a:solidFill>
                <a:latin typeface="Aptos"/>
                <a:ea typeface="Aptos"/>
                <a:cs typeface="Aptos"/>
              </a:rPr>
              <a:t>Full clinical source counts appear only as labelled attrition/QC context.</a:t>
            </a:r>
          </a:p>
        </p:txBody>
      </p:sp>
    </p:spTree>
    <p:extLst>
      <p:ext uri="{BB962C8B-B14F-4D97-AF65-F5344CB8AC3E}">
        <p14:creationId xmlns:p14="http://schemas.microsoft.com/office/powerpoint/2010/main" val="159005146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per">
            <a:extLst xmlns:a="http://schemas.openxmlformats.org/drawingml/2006/main">
              <a:ext uri="{FF2B5EF4-FFF2-40B4-BE49-F238E27FC236}">
                <a16:creationId xmlns:a16="http://schemas.microsoft.com/office/drawing/2014/main" id="{BF532F0A-1230-4DB4-BEF0-CA6884E0B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ail">
            <a:extLst xmlns:a="http://schemas.openxmlformats.org/drawingml/2006/main">
              <a:ext uri="{FF2B5EF4-FFF2-40B4-BE49-F238E27FC236}">
                <a16:creationId xmlns:a16="http://schemas.microsoft.com/office/drawing/2014/main" id="{86CE3B76-4341-424E-972F-A4FA25FCD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5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ADFBB6-98EB-4067-AD26-7168B2B86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LONGCYCLER-ONLY COUNTS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5BC662-8215-4DB2-A22A-4E3EC0E6C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1057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rPr>
              <a:t>The analysis contains 532 selected genome-linked episodes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59563F-DF92-4783-9AEB-761275E79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404764-EA3F-442E-BC05-7504BF555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809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    Counts remain paired with their unit, filter and exact Longcycler-only denominator.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4D997F-253B-46A5-A686-F3913E732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143000"/>
            <a:ext cx="2686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2C5665-4187-4823-966A-D9A0FDC1B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152525"/>
            <a:ext cx="2495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NUMBERED PROCESS MAP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6D146B-5A75-4E96-8415-51DCE4639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18B8D0-9A6D-45A9-9431-F4E5B1EFD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8572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Longcycler-only methods summary  |  RQ01–RQ10  |  15 July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2C4104-0FC7-4DE3-9A28-C8E8438A5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51510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07587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07587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9B0403-6814-4FB6-BDBB-DAAEE6F17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12382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E7772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7772F"/>
                </a:solidFill>
                <a:latin typeface="Aptos"/>
                <a:ea typeface="Aptos"/>
                <a:cs typeface="Aptos"/>
              </a:rPr>
              <a:t>SELECTED COHORT CONTRACT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B63E06-1263-4650-91A1-BF6E9DED5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24574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E441F4-6976-451D-814B-EA5EB0082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3A106B-106F-4ED2-8337-6E2A1F6B3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977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E7772F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E7772F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E0FED2-0359-4CF4-9E52-25DCC2089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09775"/>
            <a:ext cx="17716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2533"/>
                </a:solidFill>
                <a:latin typeface="Aptos"/>
                <a:ea typeface="Aptos"/>
                <a:cs typeface="Aptos"/>
              </a:rPr>
              <a:t>Analytical episodes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D3AC21-0801-4F58-B6CD-09ABFB96E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33625"/>
            <a:ext cx="21526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rPr>
              <a:t>532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2E1BBA-EA63-4932-BF55-38B04EEA6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86050"/>
            <a:ext cx="2133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selected QC-passing Longcycler rows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BE3536-DB4B-4C34-A1AC-9E693D814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33700"/>
            <a:ext cx="21717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07587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07587"/>
                </a:solidFill>
                <a:latin typeface="Aptos Mono"/>
                <a:ea typeface="Aptos Mono"/>
                <a:cs typeface="Aptos Mono"/>
              </a:rPr>
              <a:t>analysis clinical cohort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07730C-D9E5-40DE-9201-A69588974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85950"/>
            <a:ext cx="28860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D16986-57B7-4DE6-87A1-D113DEAC9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85950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C8B267-CD48-404B-B7A1-D298EDE97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0977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E7772F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E7772F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239210-332F-4F91-AE40-8E5AD3D16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009775"/>
            <a:ext cx="22002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2533"/>
                </a:solidFill>
                <a:latin typeface="Aptos"/>
                <a:ea typeface="Aptos"/>
                <a:cs typeface="Aptos"/>
              </a:rPr>
              <a:t>Residents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37367F-F10E-4E06-AAB0-1C3B23CB0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333625"/>
            <a:ext cx="25812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rPr>
              <a:t>161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29955E-F485-431E-93C5-BE195CE2B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686050"/>
            <a:ext cx="25622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unique residents represented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43307E-3DB5-48D1-85E7-9EA282AB2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933700"/>
            <a:ext cx="260032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07587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07587"/>
                </a:solidFill>
                <a:latin typeface="Aptos Mono"/>
                <a:ea typeface="Aptos Mono"/>
                <a:cs typeface="Aptos Mono"/>
              </a:rPr>
              <a:t>selected assembly manifest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DDCACA-B55B-4680-8AF0-88A9DA3E4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1628775"/>
            <a:ext cx="1809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2678B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678B8"/>
                </a:solidFill>
                <a:latin typeface="Aptos"/>
                <a:ea typeface="Aptos"/>
                <a:cs typeface="Aptos"/>
              </a:rPr>
              <a:t>CLINICAL AND PAIR DENOMINATORS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EFFDF8-B313-4004-857E-22481B550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1885950"/>
            <a:ext cx="24574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38EB2D-D195-4A34-A2AC-760EB934A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1885950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8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F2FE22-C1C3-4741-A4F2-9C536E39B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00977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678B8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2678B8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2CD7BA-2709-4876-8318-963EA39C0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009775"/>
            <a:ext cx="17716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2533"/>
                </a:solidFill>
                <a:latin typeface="Aptos"/>
                <a:ea typeface="Aptos"/>
                <a:cs typeface="Aptos"/>
              </a:rPr>
              <a:t>Operational status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8B3B316-12F5-4FA6-A407-121FD68B3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2333625"/>
            <a:ext cx="21526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rPr>
              <a:t>16 | 516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B3CD5F6-DE58-43E5-A450-E07587068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2686050"/>
            <a:ext cx="2133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UTI | Not_UTI on the selected cohort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BE028DF-083B-4049-855B-296DAB9A9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2933700"/>
            <a:ext cx="21717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07587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07587"/>
                </a:solidFill>
                <a:latin typeface="Aptos Mono"/>
                <a:ea typeface="Aptos Mono"/>
                <a:cs typeface="Aptos Mono"/>
              </a:rPr>
              <a:t>analysis clinical cohort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C2EDC2-2BB0-4DA0-ABC9-25CFE4126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885950"/>
            <a:ext cx="24003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B468FAC-8C98-46DF-9B89-74C542525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885950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8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14D25FA-A084-47A6-BC5D-F1DE114E1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00977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678B8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2678B8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CB943A8-F2EA-4281-812D-296060788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2009775"/>
            <a:ext cx="17145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2533"/>
                </a:solidFill>
                <a:latin typeface="Aptos"/>
                <a:ea typeface="Aptos"/>
                <a:cs typeface="Aptos"/>
              </a:rPr>
              <a:t>Direct genome pairs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E4D8BA0-FF21-4266-BC2D-BC79675E7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333625"/>
            <a:ext cx="2095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rPr>
              <a:t>893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6BCDCE2-DAE9-4627-8D58-3EF60750C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686050"/>
            <a:ext cx="2076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all unordered within-resident pairs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E8AC735-F23E-4F9C-A73B-7534FE3A9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933700"/>
            <a:ext cx="21145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07587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07587"/>
                </a:solidFill>
                <a:latin typeface="Aptos Mono"/>
                <a:ea typeface="Aptos Mono"/>
                <a:cs typeface="Aptos Mono"/>
              </a:rPr>
              <a:t>pairwise metrics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02063CA-096B-4505-938B-82483A512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2356ADC-8747-45E8-83D2-986539075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39052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17855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855B"/>
                </a:solidFill>
                <a:latin typeface="Aptos"/>
                <a:ea typeface="Aptos"/>
                <a:cs typeface="Aptos"/>
              </a:rPr>
              <a:t>DOWNSTREAM ANALYSIS UNITS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D0902A3-523C-4D27-82A0-65C58B5B5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2476500" cy="1704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5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483F14C-8ED3-45A2-805E-B73E5EBF7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47625" cy="1704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5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898E6E0-13C4-4E41-B7DE-0E65D4FCF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7192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855B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17855B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55A7356-7FF2-4DE4-9E2C-290469617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71925"/>
            <a:ext cx="17907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2533"/>
                </a:solidFill>
                <a:latin typeface="Aptos"/>
                <a:ea typeface="Aptos"/>
                <a:cs typeface="Aptos"/>
              </a:rPr>
              <a:t>VFDB feature space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D7334E9-D7E2-4272-9980-44CE61668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95775"/>
            <a:ext cx="21717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rPr>
              <a:t>227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2BC6ED1-B375-4EFD-A866-0119E03C6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2152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binary features on selected episodes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E386F1D-A5E8-4B4B-B894-270DF7AC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43525"/>
            <a:ext cx="21907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07587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07587"/>
                </a:solidFill>
                <a:latin typeface="Aptos Mono"/>
                <a:ea typeface="Aptos Mono"/>
                <a:cs typeface="Aptos Mono"/>
              </a:rPr>
              <a:t>claim registry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327D298-3868-4608-ABE9-6653AC3D3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848100"/>
            <a:ext cx="2724150" cy="1704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5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79E2A88-0852-4A7D-B3D2-726F5D339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848100"/>
            <a:ext cx="47625" cy="1704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5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A2EABAF-81F7-426C-9F3A-638791C21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7192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855B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17855B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90A19E2-87B1-408E-87FD-C5E523739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971925"/>
            <a:ext cx="20383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2533"/>
                </a:solidFill>
                <a:latin typeface="Aptos"/>
                <a:ea typeface="Aptos"/>
                <a:cs typeface="Aptos"/>
              </a:rPr>
              <a:t>MLST lineage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4F0D974-100C-44C6-B0BA-FBA17F439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295775"/>
            <a:ext cx="24193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rPr>
              <a:t>493 | 76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252C9AF-DCFE-4ED1-A388-B9A30527E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648200"/>
            <a:ext cx="24003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typed episodes | distinct ST labels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6804C14-9638-4CB1-A3BF-B36EC9B2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343525"/>
            <a:ext cx="24384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07587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07587"/>
                </a:solidFill>
                <a:latin typeface="Aptos Mono"/>
                <a:ea typeface="Aptos Mono"/>
                <a:cs typeface="Aptos Mono"/>
              </a:rPr>
              <a:t>claim registry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92AC699-B45F-4B50-892F-39EFCA31F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48100"/>
            <a:ext cx="2524125" cy="1704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5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4DB7C01-2699-4BD2-9E60-8FF4FA8E6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48100"/>
            <a:ext cx="47625" cy="1704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5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27FE1B0-F7BA-46EF-B02D-8A2A2C312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97192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855B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17855B"/>
                </a:solidFill>
                <a:latin typeface="Aptos Mono"/>
                <a:ea typeface="Aptos Mono"/>
                <a:cs typeface="Aptos Mono"/>
              </a:rPr>
              <a:t>07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703B176-65E6-41ED-9DE8-FFF9A72EB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71925"/>
            <a:ext cx="183832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2533"/>
                </a:solidFill>
                <a:latin typeface="Aptos"/>
                <a:ea typeface="Aptos"/>
                <a:cs typeface="Aptos"/>
              </a:rPr>
              <a:t>Adjacent transitions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95483FD-06BE-440C-B3DE-16FDA961B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295775"/>
            <a:ext cx="22193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rPr>
              <a:t>371 | 139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3B35DE6-77A4-4EA2-B930-A5EFE8329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648200"/>
            <a:ext cx="22002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pairs | residents after full rebuild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79A9ACC-1300-4FBD-AA78-C40DF95AA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343525"/>
            <a:ext cx="22383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07587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07587"/>
                </a:solidFill>
                <a:latin typeface="Aptos Mono"/>
                <a:ea typeface="Aptos Mono"/>
                <a:cs typeface="Aptos Mono"/>
              </a:rPr>
              <a:t>longcycler transitions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135B1BC-C7B0-4A8C-B30E-EB143B776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848100"/>
            <a:ext cx="2667000" cy="1704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5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7445B1E-C215-4B4C-96E1-F06592C84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848100"/>
            <a:ext cx="47625" cy="1704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5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F846B76-10E4-4C7B-9F6D-631B44120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97192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855B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17855B"/>
                </a:solidFill>
                <a:latin typeface="Aptos Mono"/>
                <a:ea typeface="Aptos Mono"/>
                <a:cs typeface="Aptos Mono"/>
              </a:rPr>
              <a:t>08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77529BD-4372-4F9E-A896-CE1DC93DF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971925"/>
            <a:ext cx="19812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2533"/>
                </a:solidFill>
                <a:latin typeface="Aptos"/>
                <a:ea typeface="Aptos"/>
                <a:cs typeface="Aptos"/>
              </a:rPr>
              <a:t>Focused transitions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D5B1235-532F-45DB-8B68-176F1182F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295775"/>
            <a:ext cx="23622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rPr>
              <a:t>9 | 5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DE06D14-1BC6-46C1-90D9-DD57E4891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648200"/>
            <a:ext cx="23431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Not_UTI→UTI | at ≤25 SNPs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A5866B8-BAC7-4DA9-992A-0B2954B92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343525"/>
            <a:ext cx="23812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07587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07587"/>
                </a:solidFill>
                <a:latin typeface="Aptos Mono"/>
                <a:ea typeface="Aptos Mono"/>
                <a:cs typeface="Aptos Mono"/>
              </a:rPr>
              <a:t>mechanism casebook</a:t>
            </a:r>
          </a:p>
        </p:txBody>
      </p:sp>
    </p:spTree>
    <p:extLst>
      <p:ext uri="{BB962C8B-B14F-4D97-AF65-F5344CB8AC3E}">
        <p14:creationId xmlns:p14="http://schemas.microsoft.com/office/powerpoint/2010/main" val="82098290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per">
            <a:extLst xmlns:a="http://schemas.openxmlformats.org/drawingml/2006/main">
              <a:ext uri="{FF2B5EF4-FFF2-40B4-BE49-F238E27FC236}">
                <a16:creationId xmlns:a16="http://schemas.microsoft.com/office/drawing/2014/main" id="{F317D745-004E-4F8D-813B-E1BFDC7FD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ail">
            <a:extLst xmlns:a="http://schemas.openxmlformats.org/drawingml/2006/main">
              <a:ext uri="{FF2B5EF4-FFF2-40B4-BE49-F238E27FC236}">
                <a16:creationId xmlns:a16="http://schemas.microsoft.com/office/drawing/2014/main" id="{3DB5052A-4F59-4D56-9B38-12AA268FF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5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24863C-016E-48EE-AF03-8E722FFCB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METHODS BOUNDARY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1C084E-AC66-4F1D-A164-DEC78950B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1057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rPr>
              <a:t>The release supports reproducible, cautious genomic description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503B05-585D-4717-8022-B0E10148F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F8BD9B-369C-491E-AC47-C8EAA120D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104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Direct evidence, operational definitions and interpretation limits remain separate.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1DFB9B-32CC-42D3-9115-863B03F6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47C7C7-1082-47D0-A0B6-098BBCD8A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8572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Longcycler-only methods summary  |  RQ01–RQ10  |  15 July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D93AF1-B996-4781-8412-7CE611B9E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51510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07587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07587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0B5437-0959-4E66-8FA0-AA3E44633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28800"/>
            <a:ext cx="33147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5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AAF946-282C-4424-B208-2ACE5B73C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28800"/>
            <a:ext cx="33147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5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DF24AE-5046-4113-8139-6B22F93D2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133600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7855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855B"/>
                </a:solidFill>
                <a:latin typeface="Aptos"/>
                <a:ea typeface="Aptos"/>
                <a:cs typeface="Aptos"/>
              </a:rPr>
              <a:t>SUPPORTED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3671F0-2986-4497-A96D-3AEA7D9B0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609850"/>
            <a:ext cx="2781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52533"/>
                </a:solidFill>
                <a:latin typeface="Aptos"/>
                <a:ea typeface="Aptos"/>
                <a:cs typeface="Aptos"/>
              </a:rPr>
              <a:t>VF presence/absence, MLST lineage context, direct pair evidence, longitudinal transitions and casebook traceability.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231F7F-6D94-4EE9-A35D-A5777C2B7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543300"/>
            <a:ext cx="278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D1A3F9-4DCF-4287-932C-89967EDE0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848100"/>
            <a:ext cx="2781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52533"/>
                </a:solidFill>
                <a:latin typeface="Aptos"/>
                <a:ea typeface="Aptos"/>
                <a:cs typeface="Aptos"/>
              </a:rPr>
              <a:t>Continuity is described from direct ≤25 SNP evidence—not ST agreement or graph transitivity alone.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C7EB8E-2250-42E5-8A97-8AA3049AF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1828800"/>
            <a:ext cx="33147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4FAC01-6E25-4E9E-906C-25EFF4803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1828800"/>
            <a:ext cx="33147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5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AE16FE-FA39-43BC-BB2F-B6DD41360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33600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NOT SUPPORTED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8323B0-D38F-4590-B374-FDC3E9CA6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9850"/>
            <a:ext cx="2781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52533"/>
                </a:solidFill>
                <a:latin typeface="Aptos"/>
                <a:ea typeface="Aptos"/>
                <a:cs typeface="Aptos"/>
              </a:rPr>
              <a:t>No antibiotic, demographic, host-factor, named-mutation or causal mechanism claim is inferred from proxies.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F638C0-AA51-4309-AF1C-F18106639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543300"/>
            <a:ext cx="278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39C940-41C3-49B9-BBF9-7091BA1D9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848100"/>
            <a:ext cx="2781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52533"/>
                </a:solidFill>
                <a:latin typeface="Aptos"/>
                <a:ea typeface="Aptos"/>
                <a:cs typeface="Aptos"/>
              </a:rPr>
              <a:t>The operational UTI phenotype is not presented as a reconstruction of the full published protocol.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F8314F-885E-454E-959B-0FDBC393C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28800"/>
            <a:ext cx="33147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7BF99F-EE3C-4C80-9E33-3EC0C81FA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28800"/>
            <a:ext cx="33147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F8F0CB-CFDC-493B-9DB5-852F6F299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133600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E7772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7772F"/>
                </a:solidFill>
                <a:latin typeface="Aptos"/>
                <a:ea typeface="Aptos"/>
                <a:cs typeface="Aptos"/>
              </a:rPr>
              <a:t>RELEASE CONTRACT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50E9A9-BCC0-45D1-B835-B8019140A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609850"/>
            <a:ext cx="2781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52533"/>
                </a:solidFill>
                <a:latin typeface="Aptos"/>
                <a:ea typeface="Aptos"/>
                <a:cs typeface="Aptos"/>
              </a:rPr>
              <a:t>RQ01–RQ10 use the same 532-episode analytical cohort.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EFE5D4-B329-491D-AB2E-42858D16C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543300"/>
            <a:ext cx="278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58818B-00B3-4761-8D81-DB8465769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848100"/>
            <a:ext cx="2781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52533"/>
                </a:solidFill>
                <a:latin typeface="Aptos"/>
                <a:ea typeface="Aptos"/>
                <a:cs typeface="Aptos"/>
              </a:rPr>
              <a:t>9/9 casebook rows are linked; 0 are missing. 17 near-miss rows remain separate.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915320-B426-4BB4-9FC0-30560A9EA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10477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2533"/>
                </a:solidFill>
                <a:latin typeface="Aptos"/>
                <a:ea typeface="Aptos"/>
                <a:cs typeface="Aptos"/>
              </a:rPr>
              <a:t>Suggested wording: genomic analyses were restricted to selected QC-passing Longcycler assemblies, with exploratory non-causal interpretation.</a:t>
            </a:r>
          </a:p>
        </p:txBody>
      </p:sp>
    </p:spTree>
    <p:extLst>
      <p:ext uri="{BB962C8B-B14F-4D97-AF65-F5344CB8AC3E}">
        <p14:creationId xmlns:p14="http://schemas.microsoft.com/office/powerpoint/2010/main" val="15900514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2026-07-15T07:23:42.9580000Z</dcterms:created>
  <dcterms:modified xsi:type="dcterms:W3CDTF">2026-07-15T07:23:42.9580000Z</dcterms:modified>
</coreProperties>
</file>