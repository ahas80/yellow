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5d4390b495401a" /><Relationship Type="http://schemas.openxmlformats.org/officeDocument/2006/relationships/extended-properties" Target="/docProps/app.xml" Id="R32ab5b6d747041ab" /><Relationship Type="http://schemas.openxmlformats.org/officeDocument/2006/relationships/officeDocument" Target="/ppt/presentation.xml" Id="R7a4c67515347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ac9680e1f4563"/>
  </p:sldMasterIdLst>
  <p:notesMasterIdLst>
    <p:notesMasterId xmlns:r="http://schemas.openxmlformats.org/officeDocument/2006/relationships" r:id="Re66f4297f2654f6b"/>
  </p:notesMasterIdLst>
  <p:sldIdLst>
    <p:sldId xmlns:r="http://schemas.openxmlformats.org/officeDocument/2006/relationships" id="256" r:id="R3a56a5d5412846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6fd8a679a64ff5" /><Relationship Type="http://schemas.openxmlformats.org/officeDocument/2006/relationships/slideMaster" Target="/ppt/slideMasters/slideMaster1.xml" Id="R14bac9680e1f4563" /><Relationship Type="http://schemas.openxmlformats.org/officeDocument/2006/relationships/notesMaster" Target="/ppt/notesMasters/notesMaster1.xml" Id="Re66f4297f2654f6b" /><Relationship Type="http://schemas.openxmlformats.org/officeDocument/2006/relationships/presProps" Target="/ppt/presProps.xml" Id="Rb131e474761148d0" /><Relationship Type="http://schemas.openxmlformats.org/officeDocument/2006/relationships/tableStyles" Target="/ppt/tableStyles.xml" Id="R45879b32bddc42f0" /><Relationship Type="http://schemas.openxmlformats.org/officeDocument/2006/relationships/slide" Target="/ppt/slides/slide1.xml" Id="R3a56a5d5412846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6918cfb988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085e018bd846b3" /><Relationship Type="http://schemas.openxmlformats.org/officeDocument/2006/relationships/notesMaster" Target="/ppt/notesMasters/notesMaster1.xml" Id="R444db7b6ff2d4b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1798de2b444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17391b669d4102" /><Relationship Type="http://schemas.openxmlformats.org/officeDocument/2006/relationships/slideLayout" Target="/ppt/slideLayouts/slideLayout1.xml" Id="R77ce8bcbda2e45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ce8bcbda2e45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c1ee26b4d4521" /><Relationship Type="http://schemas.openxmlformats.org/officeDocument/2006/relationships/notesSlide" Target="/ppt/notesSlides/notesSlide1.xml" Id="R0c37fcdf86a744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789191-A7B4-4A19-9ADE-79577409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ANALYSIS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0FEFD-B3A9-4CF7-A923-7F44D54C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the results flow through the Longcycler-only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66EF6-87FF-47E4-A673-5BB8B782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B6C7E-EEA9-453F-8889-5F8AFE41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Clinical and assembly inputs merge into the mixed canonical set; the primary defensible route then restricts to QC-passing Longcycler assemblies.</a:t>
            </a:r>
          </a:p>
        </p:txBody>
      </p:sp>
      <p:sp>
        <p:nvSpPr>
          <p:cNvPr id="5" name="clinical-input">
            <a:extLst xmlns:a="http://schemas.openxmlformats.org/drawingml/2006/main">
              <a:ext uri="{FF2B5EF4-FFF2-40B4-BE49-F238E27FC236}">
                <a16:creationId xmlns:a16="http://schemas.microsoft.com/office/drawing/2014/main" id="{0B5F1A24-3345-4E27-9279-F53B34EC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619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6" name="clinical-input-accent">
            <a:extLst xmlns:a="http://schemas.openxmlformats.org/drawingml/2006/main">
              <a:ext uri="{FF2B5EF4-FFF2-40B4-BE49-F238E27FC236}">
                <a16:creationId xmlns:a16="http://schemas.microsoft.com/office/drawing/2014/main" id="{489C73CD-A00E-4AFD-BAEE-07CE1817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AF210-3605-4277-A995-5FCACF99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35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Clinical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49C50-3674-4182-93A9-EDD932AC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583 episodes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E101A-CB2A-494B-A1BB-D7B556F9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166 participants</a:t>
            </a:r>
          </a:p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18 UTI | 565 Not_UTI</a:t>
            </a:r>
          </a:p>
        </p:txBody>
      </p:sp>
      <p:sp>
        <p:nvSpPr>
          <p:cNvPr id="10" name="assembly-input">
            <a:extLst xmlns:a="http://schemas.openxmlformats.org/drawingml/2006/main">
              <a:ext uri="{FF2B5EF4-FFF2-40B4-BE49-F238E27FC236}">
                <a16:creationId xmlns:a16="http://schemas.microsoft.com/office/drawing/2014/main" id="{B9CF4BA0-EB8C-40B5-B9A1-D4931105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2619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1" name="assembly-input-accent">
            <a:extLst xmlns:a="http://schemas.openxmlformats.org/drawingml/2006/main">
              <a:ext uri="{FF2B5EF4-FFF2-40B4-BE49-F238E27FC236}">
                <a16:creationId xmlns:a16="http://schemas.microsoft.com/office/drawing/2014/main" id="{52538D63-486D-44B0-BE92-75258164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2598D-6F4E-4FA7-BC7C-AC4A9918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35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Assembly and QC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9C989-AE30-4AA3-8239-92418DBA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1,291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8275D-62E0-4104-8160-E9ADFFEB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Longcycler/Flye alternatives</a:t>
            </a:r>
          </a:p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QC and canonical selection</a:t>
            </a:r>
          </a:p>
        </p:txBody>
      </p:sp>
      <p:sp>
        <p:nvSpPr>
          <p:cNvPr id="15" name="mixed-canonical">
            <a:extLst xmlns:a="http://schemas.openxmlformats.org/drawingml/2006/main">
              <a:ext uri="{FF2B5EF4-FFF2-40B4-BE49-F238E27FC236}">
                <a16:creationId xmlns:a16="http://schemas.microsoft.com/office/drawing/2014/main" id="{78EB83A8-935E-40C9-9DC9-4BA0E697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6" name="mixed-canonical-accent">
            <a:extLst xmlns:a="http://schemas.openxmlformats.org/drawingml/2006/main">
              <a:ext uri="{FF2B5EF4-FFF2-40B4-BE49-F238E27FC236}">
                <a16:creationId xmlns:a16="http://schemas.microsoft.com/office/drawing/2014/main" id="{78AE5DB0-6370-407B-9321-E967AD25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A45BC-2710-447B-BBC8-DAF44603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717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Mixed canonical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D0D1A-9B8C-40B3-BB2A-F6F1566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38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556 WGS/VF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292AE-705A-42FF-B460-35CD1DB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81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162 participants</a:t>
            </a:r>
          </a:p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Longcycler-preferred + 24 Flye fallback</a:t>
            </a:r>
          </a:p>
        </p:txBody>
      </p:sp>
      <p:sp>
        <p:nvSpPr>
          <p:cNvPr id="20" name="longcycler-primary">
            <a:extLst xmlns:a="http://schemas.openxmlformats.org/drawingml/2006/main">
              <a:ext uri="{FF2B5EF4-FFF2-40B4-BE49-F238E27FC236}">
                <a16:creationId xmlns:a16="http://schemas.microsoft.com/office/drawing/2014/main" id="{333D50E1-49F5-41F5-8C6B-B58D2B8D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21" name="longcycler-primary-accent">
            <a:extLst xmlns:a="http://schemas.openxmlformats.org/drawingml/2006/main">
              <a:ext uri="{FF2B5EF4-FFF2-40B4-BE49-F238E27FC236}">
                <a16:creationId xmlns:a16="http://schemas.microsoft.com/office/drawing/2014/main" id="{49D943E0-31B9-409C-A31E-654009F8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A53D2-403D-4298-82A0-50FC6DB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717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Primary Longcycler denominator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BDDF5-95B1-400D-8A67-82EB24A8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384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532 rows | 161 participants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07F7A-1A10-4EED-A7AA-0DA86B55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81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16 UTI | 516 Not_UTI</a:t>
            </a:r>
          </a:p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selected canonical QC-passing Longcycler</a:t>
            </a:r>
          </a:p>
        </p:txBody>
      </p:sp>
      <p:sp>
        <p:nvSpPr>
          <p:cNvPr id="25" name="analysis-layers">
            <a:extLst xmlns:a="http://schemas.openxmlformats.org/drawingml/2006/main">
              <a:ext uri="{FF2B5EF4-FFF2-40B4-BE49-F238E27FC236}">
                <a16:creationId xmlns:a16="http://schemas.microsoft.com/office/drawing/2014/main" id="{1423E053-DE8C-4032-81CB-3FDD0005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26" name="analysis-layers-accent">
            <a:extLst xmlns:a="http://schemas.openxmlformats.org/drawingml/2006/main">
              <a:ext uri="{FF2B5EF4-FFF2-40B4-BE49-F238E27FC236}">
                <a16:creationId xmlns:a16="http://schemas.microsoft.com/office/drawing/2014/main" id="{4CBD50E6-1AD6-40DE-A331-D4427304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3F7BA9-BED7-4F72-AA78-44F6E3FF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149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Analysis layers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2347D4-5DAE-4DFE-8FFD-C6A17539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81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MLST 514 | 80 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D6AFDF-CF84-4F55-9AAB-5FC82FA7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24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VF matrix: 227 genes</a:t>
            </a:r>
          </a:p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SNP context: ≤25 = strict same strain</a:t>
            </a:r>
          </a:p>
        </p:txBody>
      </p:sp>
      <p:sp>
        <p:nvSpPr>
          <p:cNvPr id="30" name="longitudinal-rebuild">
            <a:extLst xmlns:a="http://schemas.openxmlformats.org/drawingml/2006/main">
              <a:ext uri="{FF2B5EF4-FFF2-40B4-BE49-F238E27FC236}">
                <a16:creationId xmlns:a16="http://schemas.microsoft.com/office/drawing/2014/main" id="{C1104C58-789E-4A1A-8083-74037479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0125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31" name="longitudinal-rebuild-accent">
            <a:extLst xmlns:a="http://schemas.openxmlformats.org/drawingml/2006/main">
              <a:ext uri="{FF2B5EF4-FFF2-40B4-BE49-F238E27FC236}">
                <a16:creationId xmlns:a16="http://schemas.microsoft.com/office/drawing/2014/main" id="{E410EA49-8388-4DCF-B076-5A0BC303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0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B2A832-72DE-4A4D-9CDF-B8551853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914900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Longitudinal rebuild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D85D9F-1833-4D65-B440-F9C8F411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1816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371 transitions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799A06-E5DB-4BEA-AA3F-4D0158B9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245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139 participants</a:t>
            </a:r>
          </a:p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rebuilt in pipeline time order</a:t>
            </a:r>
          </a:p>
        </p:txBody>
      </p:sp>
      <p:sp>
        <p:nvSpPr>
          <p:cNvPr id="35" name="focused-readout">
            <a:extLst xmlns:a="http://schemas.openxmlformats.org/drawingml/2006/main">
              <a:ext uri="{FF2B5EF4-FFF2-40B4-BE49-F238E27FC236}">
                <a16:creationId xmlns:a16="http://schemas.microsoft.com/office/drawing/2014/main" id="{9659A5EA-A0AD-4380-9B8C-B3E13332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36" name="focused-readout-accent">
            <a:extLst xmlns:a="http://schemas.openxmlformats.org/drawingml/2006/main">
              <a:ext uri="{FF2B5EF4-FFF2-40B4-BE49-F238E27FC236}">
                <a16:creationId xmlns:a16="http://schemas.microsoft.com/office/drawing/2014/main" id="{9933B771-D187-4878-9810-1DF0CC93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A2EEF3-B6C1-47F5-8B67-04056B43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149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Focused readout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0AB30F-405E-44C5-8404-FCC61A06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81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9 Not_UTI→UTI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CA544A-786F-4668-A66F-16B8F55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524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7 strict same-strain</a:t>
            </a:r>
          </a:p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among 116 strict pairs</a:t>
            </a:r>
          </a:p>
        </p:txBody>
      </p:sp>
      <p:cxnSp>
        <p:nvCxnSpPr>
          <p:cNvPr id="89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190875" y="2486025"/>
            <a:ext cx="904875" cy="752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190875" y="3238500"/>
            <a:ext cx="904875" cy="647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9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762750" y="32385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5000625" y="3810000"/>
            <a:ext cx="428625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572250" y="5372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30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334500" y="5372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7FE722-6B23-4804-86C8-B773F46A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Primary boundary: 24 Flye fallback rows are excluded from this route; antibiotic, wgMLST, demographic and causal claims are not recalculated here.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ECAEF4-E7DB-45FA-98A0-4C16ADD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57D16B-7D7C-4077-9667-43F2D664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methods summary  |  supervisor discussion  |  9 July 2026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E68E25-FE04-4168-98D1-793F5C2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7635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2026-07-09T15:45:00.5240000Z</dcterms:created>
  <dcterms:modified xsi:type="dcterms:W3CDTF">2026-07-09T15:45:00.5240000Z</dcterms:modified>
</coreProperties>
</file>