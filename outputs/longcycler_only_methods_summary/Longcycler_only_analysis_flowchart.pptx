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ba8b225bb524762" /><Relationship Type="http://schemas.openxmlformats.org/officeDocument/2006/relationships/extended-properties" Target="/docProps/app.xml" Id="Rb4006a56a51a40ed" /><Relationship Type="http://schemas.openxmlformats.org/officeDocument/2006/relationships/officeDocument" Target="/ppt/presentation.xml" Id="R0ae38966785b47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7b6bc511f94215"/>
  </p:sldMasterIdLst>
  <p:notesMasterIdLst>
    <p:notesMasterId xmlns:r="http://schemas.openxmlformats.org/officeDocument/2006/relationships" r:id="R854f50353938416a"/>
  </p:notesMasterIdLst>
  <p:sldIdLst>
    <p:sldId xmlns:r="http://schemas.openxmlformats.org/officeDocument/2006/relationships" id="256" r:id="R25ff8321115c4cf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de9037506c4be6" /><Relationship Type="http://schemas.openxmlformats.org/officeDocument/2006/relationships/slideMaster" Target="/ppt/slideMasters/slideMaster1.xml" Id="R037b6bc511f94215" /><Relationship Type="http://schemas.openxmlformats.org/officeDocument/2006/relationships/notesMaster" Target="/ppt/notesMasters/notesMaster1.xml" Id="R854f50353938416a" /><Relationship Type="http://schemas.openxmlformats.org/officeDocument/2006/relationships/presProps" Target="/ppt/presProps.xml" Id="R4ff3f541f13d4c8e" /><Relationship Type="http://schemas.openxmlformats.org/officeDocument/2006/relationships/tableStyles" Target="/ppt/tableStyles.xml" Id="R94661f8c12d54454" /><Relationship Type="http://schemas.openxmlformats.org/officeDocument/2006/relationships/slide" Target="/ppt/slides/slide1.xml" Id="R25ff8321115c4cf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90498ba0ec47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cc43a1eb134129" /><Relationship Type="http://schemas.openxmlformats.org/officeDocument/2006/relationships/notesMaster" Target="/ppt/notesMasters/notesMaster1.xml" Id="R624c83c84f3d42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left to right. The 583-episode clinical source is shown only as labelled attrition/QC context. The selected manifest and clinical keys yield the 532-episode analytical cohort. Direct pair, VF, MLST and longitudinal outputs all remain inside that cohort.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45248216fb43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f87eca2ce841c9" /><Relationship Type="http://schemas.openxmlformats.org/officeDocument/2006/relationships/slideLayout" Target="/ppt/slideLayouts/slideLayout1.xml" Id="Re2417b27f85541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417b27f85541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c7ffb817214f2e" /><Relationship Type="http://schemas.openxmlformats.org/officeDocument/2006/relationships/notesSlide" Target="/ppt/notesSlides/notesSlide1.xml" Id="R890e8634a68c401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B789191-A7B4-4A19-9ADE-795774095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ANALYSIS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50FEFD-B3A9-4CF7-A923-7F44D54C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5800"/>
            <a:ext cx="1104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One selected Longcycler cohort feeds every analytical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66EF6-87FF-47E4-A673-5BB8B782B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6C7E-EEA9-453F-8889-5F8AFE41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71600"/>
            <a:ext cx="1066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Clinical status and the selected assembly manifest meet by exact episode key before any genomic analysis.</a:t>
            </a:r>
          </a:p>
        </p:txBody>
      </p:sp>
      <p:sp>
        <p:nvSpPr>
          <p:cNvPr id="5" name="clinical-input">
            <a:extLst xmlns:a="http://schemas.openxmlformats.org/drawingml/2006/main">
              <a:ext uri="{FF2B5EF4-FFF2-40B4-BE49-F238E27FC236}">
                <a16:creationId xmlns:a16="http://schemas.microsoft.com/office/drawing/2014/main" id="{0B5F1A24-3345-4E27-9279-F53B34EC9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619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6" name="clinical-input-accent">
            <a:extLst xmlns:a="http://schemas.openxmlformats.org/drawingml/2006/main">
              <a:ext uri="{FF2B5EF4-FFF2-40B4-BE49-F238E27FC236}">
                <a16:creationId xmlns:a16="http://schemas.microsoft.com/office/drawing/2014/main" id="{489C73CD-A00E-4AFD-BAEE-07CE1817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410C"/>
          </a:solidFill>
          <a:ln xmlns:a="http://schemas.openxmlformats.org/drawingml/2006/main" w="0">
            <a:solidFill>
              <a:srgbClr val="C2410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FAF210-3605-4277-A995-5FCACF99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352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Attrition/QC source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A49C50-3674-4182-93A9-EDD932AC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24100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583 episodes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8E101A-CB2A-494B-A1BB-D7B556F9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67000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166 residents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18 UTI | 565 Not_UTI · context only</a:t>
            </a:r>
          </a:p>
        </p:txBody>
      </p:sp>
      <p:sp>
        <p:nvSpPr>
          <p:cNvPr id="10" name="assembly-input">
            <a:extLst xmlns:a="http://schemas.openxmlformats.org/drawingml/2006/main">
              <a:ext uri="{FF2B5EF4-FFF2-40B4-BE49-F238E27FC236}">
                <a16:creationId xmlns:a16="http://schemas.microsoft.com/office/drawing/2014/main" id="{B9CF4BA0-EB8C-40B5-B9A1-D4931105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2619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11" name="assembly-input-accent">
            <a:extLst xmlns:a="http://schemas.openxmlformats.org/drawingml/2006/main">
              <a:ext uri="{FF2B5EF4-FFF2-40B4-BE49-F238E27FC236}">
                <a16:creationId xmlns:a16="http://schemas.microsoft.com/office/drawing/2014/main" id="{52538D63-486D-44B0-BE92-75258164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52800"/>
            <a:ext cx="76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11182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02598D-6F4E-4FA7-BC7C-AC4A99187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57575"/>
            <a:ext cx="2352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Selected assembly + QC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9C989-AE30-4AA3-8239-92418DBA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24275"/>
            <a:ext cx="2333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532 rows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A8275D-62E0-4104-8160-E9ADFFEB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67175"/>
            <a:ext cx="2333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one selected QC-pass assembly per key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FASTA content hashes verified</a:t>
            </a:r>
          </a:p>
        </p:txBody>
      </p:sp>
      <p:sp>
        <p:nvSpPr>
          <p:cNvPr id="15" name="mixed-canonical">
            <a:extLst xmlns:a="http://schemas.openxmlformats.org/drawingml/2006/main">
              <a:ext uri="{FF2B5EF4-FFF2-40B4-BE49-F238E27FC236}">
                <a16:creationId xmlns:a16="http://schemas.microsoft.com/office/drawing/2014/main" id="{78EB83A8-935E-40C9-9DC9-4BA0E697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F6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16" name="mixed-canonical-accent">
            <a:extLst xmlns:a="http://schemas.openxmlformats.org/drawingml/2006/main">
              <a:ext uri="{FF2B5EF4-FFF2-40B4-BE49-F238E27FC236}">
                <a16:creationId xmlns:a16="http://schemas.microsoft.com/office/drawing/2014/main" id="{78AE5DB0-6370-407B-9321-E967AD25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8A45BC-2710-447B-BBC8-DAF44603A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71775"/>
            <a:ext cx="2400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Exact key-linked cohort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1D0D1A-9B8C-40B3-BB2A-F6F15663B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0384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532 analytical episodes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6292AE-705A-42FF-B460-35CD1DB8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81375"/>
            <a:ext cx="238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161 residents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manifest and clinical keys match exactly</a:t>
            </a:r>
          </a:p>
        </p:txBody>
      </p:sp>
      <p:sp>
        <p:nvSpPr>
          <p:cNvPr id="20" name="longcycler-primary">
            <a:extLst xmlns:a="http://schemas.openxmlformats.org/drawingml/2006/main">
              <a:ext uri="{FF2B5EF4-FFF2-40B4-BE49-F238E27FC236}">
                <a16:creationId xmlns:a16="http://schemas.microsoft.com/office/drawing/2014/main" id="{333D50E1-49F5-41F5-8C6B-B58D2B8D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67000"/>
            <a:ext cx="32385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47857"/>
            </a:solidFill>
            <a:prstDash val="solid"/>
          </a:ln>
        </p:spPr>
      </p:sp>
      <p:sp>
        <p:nvSpPr>
          <p:cNvPr id="21" name="longcycler-primary-accent">
            <a:extLst xmlns:a="http://schemas.openxmlformats.org/drawingml/2006/main">
              <a:ext uri="{FF2B5EF4-FFF2-40B4-BE49-F238E27FC236}">
                <a16:creationId xmlns:a16="http://schemas.microsoft.com/office/drawing/2014/main" id="{49D943E0-31B9-409C-A31E-654009F8A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67000"/>
            <a:ext cx="762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A53D2-403D-4298-82A0-50FC6DBA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2771775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Longcycler analytical cohort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FFBDDF5-95B1-400D-8A67-82EB24A8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0384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532 rows | 161 residents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07F7A-1A10-4EED-A7AA-0DA86B55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3381375"/>
            <a:ext cx="295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16 UTI | 516 Not_UTI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versioned operational phenotype</a:t>
            </a:r>
          </a:p>
        </p:txBody>
      </p:sp>
      <p:sp>
        <p:nvSpPr>
          <p:cNvPr id="25" name="analysis-layers">
            <a:extLst xmlns:a="http://schemas.openxmlformats.org/drawingml/2006/main">
              <a:ext uri="{FF2B5EF4-FFF2-40B4-BE49-F238E27FC236}">
                <a16:creationId xmlns:a16="http://schemas.microsoft.com/office/drawing/2014/main" id="{1423E053-DE8C-4032-81CB-3FDD0005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0125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26" name="analysis-layers-accent">
            <a:extLst xmlns:a="http://schemas.openxmlformats.org/drawingml/2006/main">
              <a:ext uri="{FF2B5EF4-FFF2-40B4-BE49-F238E27FC236}">
                <a16:creationId xmlns:a16="http://schemas.microsoft.com/office/drawing/2014/main" id="{4CBD50E6-1AD6-40DE-A331-D44273049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3F7BA9-BED7-4F72-AA78-44F6E3FF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14900"/>
            <a:ext cx="2876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Analysis layers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2347D4-5DAE-4DFE-8FFD-C6A17539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1816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D4ED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4ED8"/>
                </a:solidFill>
                <a:latin typeface="Aptos"/>
                <a:ea typeface="Aptos"/>
                <a:cs typeface="Aptos"/>
              </a:rPr>
              <a:t>893 direct pairs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D6AFDF-CF84-4F55-9AAB-5FC82FA78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55245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VF: 227 features · MLST: 493 typed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all endpoints remain in the selected cohort</a:t>
            </a:r>
          </a:p>
        </p:txBody>
      </p:sp>
      <p:sp>
        <p:nvSpPr>
          <p:cNvPr id="30" name="longitudinal-rebuild">
            <a:extLst xmlns:a="http://schemas.openxmlformats.org/drawingml/2006/main">
              <a:ext uri="{FF2B5EF4-FFF2-40B4-BE49-F238E27FC236}">
                <a16:creationId xmlns:a16="http://schemas.microsoft.com/office/drawing/2014/main" id="{C1104C58-789E-4A1A-8083-740374796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10125"/>
            <a:ext cx="2238375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11827"/>
            </a:solidFill>
            <a:prstDash val="solid"/>
          </a:ln>
        </p:spPr>
      </p:sp>
      <p:sp>
        <p:nvSpPr>
          <p:cNvPr id="31" name="longitudinal-rebuild-accent">
            <a:extLst xmlns:a="http://schemas.openxmlformats.org/drawingml/2006/main">
              <a:ext uri="{FF2B5EF4-FFF2-40B4-BE49-F238E27FC236}">
                <a16:creationId xmlns:a16="http://schemas.microsoft.com/office/drawing/2014/main" id="{E410EA49-8388-4DCF-B076-5A0BC303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EB2A832-72DE-4A4D-9CDF-B8551853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914900"/>
            <a:ext cx="19716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Longitudinal rebuild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D85D9F-1833-4D65-B440-F9C8F411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1816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371 transitions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5799A06-E5DB-4BEA-AA3F-4D0158B9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552450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139 residents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140 at ≤25 SNPs</a:t>
            </a:r>
          </a:p>
        </p:txBody>
      </p:sp>
      <p:sp>
        <p:nvSpPr>
          <p:cNvPr id="35" name="focused-readout">
            <a:extLst xmlns:a="http://schemas.openxmlformats.org/drawingml/2006/main">
              <a:ext uri="{FF2B5EF4-FFF2-40B4-BE49-F238E27FC236}">
                <a16:creationId xmlns:a16="http://schemas.microsoft.com/office/drawing/2014/main" id="{9659A5EA-A0AD-4380-9B8C-B3E13332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19050">
            <a:solidFill>
              <a:srgbClr val="047857"/>
            </a:solidFill>
            <a:prstDash val="solid"/>
          </a:ln>
        </p:spPr>
      </p:sp>
      <p:sp>
        <p:nvSpPr>
          <p:cNvPr id="36" name="focused-readout-accent">
            <a:extLst xmlns:a="http://schemas.openxmlformats.org/drawingml/2006/main">
              <a:ext uri="{FF2B5EF4-FFF2-40B4-BE49-F238E27FC236}">
                <a16:creationId xmlns:a16="http://schemas.microsoft.com/office/drawing/2014/main" id="{9933B771-D187-4878-9810-1DF0CC93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762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0">
            <a:solidFill>
              <a:srgbClr val="04785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1A2EEF3-B6C1-47F5-8B67-04056B43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14900"/>
            <a:ext cx="163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Focused readout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0AB30F-405E-44C5-8404-FCC61A06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18160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9 Not_UTI→UTI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DCA544A-786F-4668-A66F-16B8F554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524500"/>
            <a:ext cx="161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5 at ≤25 SNPs</a:t>
            </a:r>
          </a:p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casebook 9/9 linked</a:t>
            </a:r>
          </a:p>
        </p:txBody>
      </p:sp>
      <p:cxnSp>
        <p:nvCxnSpPr>
          <p:cNvPr id="719" name=""/>
          <p:cNvCxnSpPr>
            <a:stCxn xmlns:a="http://schemas.openxmlformats.org/drawingml/2006/main" id="5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190875" y="2486025"/>
            <a:ext cx="904875" cy="752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720" name=""/>
          <p:cNvCxnSpPr>
            <a:stCxn xmlns:a="http://schemas.openxmlformats.org/drawingml/2006/main" id="10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190875" y="3238500"/>
            <a:ext cx="904875" cy="6477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721" name=""/>
          <p:cNvCxnSpPr>
            <a:stCxn xmlns:a="http://schemas.openxmlformats.org/drawingml/2006/main" id="15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6762750" y="3238500"/>
            <a:ext cx="904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722" name=""/>
          <p:cNvCxnSpPr>
            <a:stCxn xmlns:a="http://schemas.openxmlformats.org/drawingml/2006/main" id="20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 flipH="1">
            <a:off x="5000625" y="3810000"/>
            <a:ext cx="4286250" cy="10001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723" name=""/>
          <p:cNvCxnSpPr>
            <a:stCxn xmlns:a="http://schemas.openxmlformats.org/drawingml/2006/main" id="25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572250" y="537210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cxnSp>
        <p:nvCxnSpPr>
          <p:cNvPr id="724" name=""/>
          <p:cNvCxnSpPr>
            <a:stCxn xmlns:a="http://schemas.openxmlformats.org/drawingml/2006/main" id="30" idx="3"/>
            <a:endCxn xmlns:a="http://schemas.openxmlformats.org/drawingml/2006/main" id="35" idx="1"/>
          </p:cNvCxnSpPr>
          <p:nvPr/>
        </p:nvCxnSpPr>
        <p:spPr>
          <a:xfrm xmlns:a="http://schemas.openxmlformats.org/drawingml/2006/main">
            <a:off x="9334500" y="5372100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11827"/>
            </a:solidFill>
            <a:prstDash val="solid"/>
            <a:tailEnd type="arrow" w="med" len="med"/>
          </a:ln>
        </p:spPr>
      </p:cxn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A7FE722-6B23-4804-86C8-B773F46A4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057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Boundary: the 583-episode source is attrition/QC context only; the phenotype is operational and all interpretation is exploratory, not causal.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8ECAEF4-E7DB-45FA-98A0-4C16ADD0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00800"/>
            <a:ext cx="11049000" cy="0"/>
          </a:xfrm>
          <a:prstGeom xmlns:a="http://schemas.openxmlformats.org/drawingml/2006/main" prst="line">
            <a:avLst/>
          </a:prstGeom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657D16B-7D7C-4077-9667-43F2D664D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7225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Longcycler-only methods summary  |  RQ01–RQ10  |  15 July 2026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E68E25-FE04-4168-98D1-793F5C2F1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532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876353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2026-07-15T07:24:16.3530000Z</dcterms:created>
  <dcterms:modified xsi:type="dcterms:W3CDTF">2026-07-15T07:24:16.3530000Z</dcterms:modified>
</coreProperties>
</file>