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1" r:id="rId6"/>
    <p:sldId id="264" r:id="rId7"/>
    <p:sldId id="265" r:id="rId8"/>
    <p:sldId id="268"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2059"/>
  </p:normalViewPr>
  <p:slideViewPr>
    <p:cSldViewPr snapToGrid="0">
      <p:cViewPr varScale="1">
        <p:scale>
          <a:sx n="148" d="100"/>
          <a:sy n="148" d="100"/>
        </p:scale>
        <p:origin x="2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Simple explanation: the analysis first decides what each clinical episode means, then chooses one genome to represent that episode. The 556-genome mixed set is the executed analysis; the 532-genome </a:t>
            </a:r>
            <a:r>
              <a:rPr dirty="0" err="1"/>
              <a:t>Longcycler</a:t>
            </a:r>
            <a:r>
              <a:rPr dirty="0"/>
              <a:t> set is a comparison route.</a:t>
            </a:r>
          </a:p>
          <a:p>
            <a:endParaRPr dirty="0"/>
          </a:p>
          <a:p>
            <a:r>
              <a:rPr dirty="0"/>
              <a:t>Technical detail: the executed set contains 532 selected </a:t>
            </a:r>
            <a:r>
              <a:rPr dirty="0" err="1"/>
              <a:t>Longcycler</a:t>
            </a:r>
            <a:r>
              <a:rPr dirty="0"/>
              <a:t> assemblies and 24 selected </a:t>
            </a:r>
            <a:r>
              <a:rPr dirty="0" err="1"/>
              <a:t>Flye</a:t>
            </a:r>
            <a:r>
              <a:rPr dirty="0"/>
              <a:t> fallbacks. </a:t>
            </a:r>
            <a:r>
              <a:rPr dirty="0" err="1"/>
              <a:t>Longcycler</a:t>
            </a:r>
            <a:r>
              <a:rPr dirty="0"/>
              <a:t>-only is rebuilt after restriction and must not be </a:t>
            </a:r>
            <a:r>
              <a:rPr dirty="0" err="1"/>
              <a:t>relabelled</a:t>
            </a:r>
            <a:r>
              <a:rPr dirty="0"/>
              <a:t> as the original primary pipeline.</a:t>
            </a:r>
          </a:p>
          <a:p>
            <a:endParaRPr dirty="0"/>
          </a:p>
          <a:p>
            <a:r>
              <a:rPr dirty="0"/>
              <a:t>Safe wording: 'The </a:t>
            </a:r>
            <a:r>
              <a:rPr dirty="0" err="1"/>
              <a:t>Longcycler</a:t>
            </a:r>
            <a:r>
              <a:rPr dirty="0"/>
              <a:t> restriction tests sensitivity to assembler mixing; it does not prove that </a:t>
            </a:r>
            <a:r>
              <a:rPr dirty="0" err="1"/>
              <a:t>Longcycler</a:t>
            </a:r>
            <a:r>
              <a:rPr dirty="0"/>
              <a:t> is universally superior.'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Simple explanation: these numbers count different objects, so they are not one shrinking queue.</a:t>
            </a:r>
          </a:p>
          <a:p>
            <a:endParaRPr/>
          </a:p>
          <a:p>
            <a:r>
              <a:t>Technical detail: a participant may contribute multiple episodes; an episode may have multiple candidate assemblies but only one selected genome; 227 is a number of feature columns; 963 is every unordered within-participant genome pair; 394 counts adjacent retained-episode transitions.</a:t>
            </a:r>
          </a:p>
          <a:p>
            <a:endParaRPr/>
          </a:p>
          <a:p>
            <a:r>
              <a:t>Likely question: 'Why can 963 pairs come from 556 genomes?' Answer: participants with several genomes contribute every within-person pair, not only neighbouring visits.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Simple explanation: a UTI label needs both bacterial-growth evidence and compatible symptoms.</a:t>
            </a:r>
          </a:p>
          <a:p>
            <a:endParaRPr dirty="0"/>
          </a:p>
          <a:p>
            <a:r>
              <a:rPr dirty="0"/>
              <a:t>Technical detail: the culture rule uses a &gt;=10^3 CFU/mL lower bound from recorded CFU, with </a:t>
            </a:r>
            <a:r>
              <a:rPr dirty="0" err="1"/>
              <a:t>Beoord</a:t>
            </a:r>
            <a:r>
              <a:rPr dirty="0"/>
              <a:t>-category lower bounds when CFU is absent. Non-indwelling episodes qualify through a local urinary symptom or flank pain plus a systemic symptom; indwelling-catheter episodes require systemic symptoms. Unknown or incomplete evidence is </a:t>
            </a:r>
            <a:r>
              <a:rPr dirty="0" err="1"/>
              <a:t>Not_UTI</a:t>
            </a:r>
            <a:r>
              <a:rPr dirty="0"/>
              <a:t> with an indeterminate subgroup. Counts use </a:t>
            </a:r>
            <a:r>
              <a:rPr dirty="0" err="1"/>
              <a:t>UTI_Status</a:t>
            </a:r>
            <a:r>
              <a:rPr dirty="0"/>
              <a:t>: 585 records, 583 primary-included episodes, 166 participants, 18 UTI and 565 </a:t>
            </a:r>
            <a:r>
              <a:rPr dirty="0" err="1"/>
              <a:t>Not_UTI</a:t>
            </a:r>
            <a:r>
              <a:rPr dirty="0"/>
              <a:t>.</a:t>
            </a:r>
          </a:p>
          <a:p>
            <a:endParaRPr dirty="0"/>
          </a:p>
          <a:p>
            <a:r>
              <a:rPr dirty="0"/>
              <a:t>Safe wording: </a:t>
            </a:r>
            <a:r>
              <a:rPr dirty="0" err="1"/>
              <a:t>Not_UTI</a:t>
            </a:r>
            <a:r>
              <a:rPr dirty="0"/>
              <a:t> is not a healthy or bacteria-free control.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Simple explanation: this is two tracks, not one shrinking funnel. Clinical labels are made independently. In parallel, several assembly files can represent one episode until QC and canonical selection leave one genome. The tracks meet only at the participant-timepoint join.</a:t>
            </a:r>
          </a:p>
          <a:p>
            <a:endParaRPr dirty="0"/>
          </a:p>
          <a:p>
            <a:r>
              <a:rPr dirty="0"/>
              <a:t>Technical detail: 1,303 candidate FASTAs reconcile to 1,299 metadata rows (1,295 matched files plus four expected/no-FASTA audit rows), then 1,291 primary candidate assembly records across 579 episode keys. Implemented QC leaves 1,211 passing assembly records across 556 episode keys. Canonical selection keeps one genome per key: 532 </a:t>
            </a:r>
            <a:r>
              <a:rPr dirty="0" err="1"/>
              <a:t>Longcycler</a:t>
            </a:r>
            <a:r>
              <a:rPr dirty="0"/>
              <a:t> plus 24 </a:t>
            </a:r>
            <a:r>
              <a:rPr dirty="0" err="1"/>
              <a:t>Flye</a:t>
            </a:r>
            <a:r>
              <a:rPr dirty="0"/>
              <a:t>. Linking to clinical status yields 556 mixed rows; 27 of 583 clinical episodes have no selected WGS.</a:t>
            </a:r>
          </a:p>
          <a:p>
            <a:endParaRPr dirty="0"/>
          </a:p>
          <a:p>
            <a:r>
              <a:rPr dirty="0"/>
              <a:t>QC boundary: readability, 4-6 Mb, &lt;=200 contigs and N50 &gt;=20 kb. Completeness, contamination and read coverage are not applied here.</a:t>
            </a:r>
          </a:p>
          <a:p>
            <a:endParaRPr dirty="0"/>
          </a:p>
          <a:p>
            <a:r>
              <a:rPr dirty="0"/>
              <a:t>Likely question: 'Why is 1,303 to 1,299 not simple attrition?' Answer: unmatched FASTAs are removed while four audit-only expected rows without FASTAs are present in metadata.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Simple explanation: the same selected genomes are examined through several different lenses. One lens does not manufacture the output of another.</a:t>
            </a:r>
          </a:p>
          <a:p>
            <a:endParaRPr/>
          </a:p>
          <a:p>
            <a:r>
              <a:t>Technical detail: script 02 creates the selected-canonical ABRicate/VFDB matrix; script 06 provides preferred MLST lineage context; script 22 performs the episode-level clinical/VF/MLST/assembly join. Script 11 and its helper provide hash-verified dnadiff and Mash comparisons. Scripts 12b and 12c provide separate Parsnp core-genome and Prokka/Panaroo pangenome context.</a:t>
            </a:r>
          </a:p>
          <a:p>
            <a:endParaRPr/>
          </a:p>
          <a:p>
            <a:r>
              <a:t>Safe wording: ST is lineage context, VF is detected presence/absence and dnadiff is assembly-to-assembly. None alone explains why UTI occurred.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when a denominator is challenged. State source, filter, unit and formula before interpreting a change. Clinical records, candidate assemblies, selected genomes, participants and transitions are not interchangeable. The mixed selected row count is 556 from 162 participants with 17 UTI and 539 Not_UTI; the Longcycler sensitivity has 532 rows from 161 participants with 16 UTI and 516 Not_UTI.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criteria and tools that directly support presented claims. The implemented assembly screen is readability, 4-6 Mb, &lt;=200 contigs and N50 &gt;=20 kb. Completeness, contamination and read coverage are not implemented by 12a and must not be reported as if they were. The &lt;=25 dnadiff boundary is operational and uncalibrated. Versions, commands and database releases still need to be frozen.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claim traceability, not a list of every R file. Read each card as 'claim or dataset -&gt; script that creates it'. The core chain is 00a/00b, 00_make, 12a, 02, 06, 22, 11 plus its helper, 24 and the Longcycler rebuild. Parsnp/Panaroo and script 14 are mentioned on their dedicated slides because they clarify population context or statistical limits. The comprehensive register remains an audit reference, not presentation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99F21B9-543F-4548-97E3-D02A7DE7EB0C}"/>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A8122CE9-4D0C-47BF-867F-0C8CA5057F24}"/>
              </a:ext>
            </a:extLst>
          </p:cNvPr>
          <p:cNvSpPr>
            <a:spLocks noGrp="1"/>
          </p:cNvSpPr>
          <p:nvPr/>
        </p:nvSpPr>
        <p:spPr>
          <a:xfrm>
            <a:off x="0" y="0"/>
            <a:ext cx="146304"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5" name="Text 3">
            <a:extLst>
              <a:ext uri="{FF2B5EF4-FFF2-40B4-BE49-F238E27FC236}">
                <a16:creationId xmlns:a16="http://schemas.microsoft.com/office/drawing/2014/main" id="{5CA4A486-AAA0-4565-871C-06BA3F96A8ED}"/>
              </a:ext>
            </a:extLst>
          </p:cNvPr>
          <p:cNvSpPr>
            <a:spLocks noGrp="1"/>
          </p:cNvSpPr>
          <p:nvPr/>
        </p:nvSpPr>
        <p:spPr>
          <a:xfrm>
            <a:off x="566928" y="914400"/>
            <a:ext cx="9692640" cy="786384"/>
          </a:xfrm>
          <a:prstGeom prst="rect">
            <a:avLst/>
          </a:prstGeom>
          <a:noFill/>
        </p:spPr>
        <p:txBody>
          <a:bodyPr wrap="square" lIns="508" tIns="508" rIns="508" bIns="508" anchor="t">
            <a:normAutofit/>
          </a:bodyPr>
          <a:lstStyle/>
          <a:p>
            <a:pPr marL="0" indent="0" algn="l">
              <a:buNone/>
            </a:pPr>
            <a:r>
              <a:rPr lang="en-GB" sz="3100" b="1" dirty="0">
                <a:solidFill>
                  <a:srgbClr val="111827"/>
                </a:solidFill>
                <a:latin typeface="Aptos Display"/>
                <a:ea typeface="Aptos Display"/>
                <a:cs typeface="Aptos Display"/>
              </a:rPr>
              <a:t>Current methodology</a:t>
            </a:r>
            <a:endParaRPr sz="3100" b="1" dirty="0">
              <a:solidFill>
                <a:srgbClr val="111827"/>
              </a:solidFill>
              <a:latin typeface="Aptos Display"/>
              <a:ea typeface="Aptos Display"/>
              <a:cs typeface="Aptos Display"/>
            </a:endParaRPr>
          </a:p>
        </p:txBody>
      </p:sp>
      <p:sp>
        <p:nvSpPr>
          <p:cNvPr id="6" name="Text 4">
            <a:extLst>
              <a:ext uri="{FF2B5EF4-FFF2-40B4-BE49-F238E27FC236}">
                <a16:creationId xmlns:a16="http://schemas.microsoft.com/office/drawing/2014/main" id="{8386D56E-85AD-4223-8C48-2F6883FB8A6C}"/>
              </a:ext>
            </a:extLst>
          </p:cNvPr>
          <p:cNvSpPr>
            <a:spLocks noGrp="1"/>
          </p:cNvSpPr>
          <p:nvPr/>
        </p:nvSpPr>
        <p:spPr>
          <a:xfrm>
            <a:off x="585216" y="1737360"/>
            <a:ext cx="9326880" cy="310896"/>
          </a:xfrm>
          <a:prstGeom prst="rect">
            <a:avLst/>
          </a:prstGeom>
          <a:noFill/>
        </p:spPr>
        <p:txBody>
          <a:bodyPr wrap="square" lIns="508" tIns="508" rIns="508" bIns="508" anchor="t">
            <a:normAutofit/>
          </a:bodyPr>
          <a:lstStyle/>
          <a:p>
            <a:pPr marL="0" indent="0" algn="l">
              <a:buNone/>
            </a:pPr>
            <a:r>
              <a:rPr sz="1300" dirty="0">
                <a:solidFill>
                  <a:srgbClr val="64748B"/>
                </a:solidFill>
                <a:latin typeface="Aptos"/>
                <a:ea typeface="Aptos"/>
                <a:cs typeface="Aptos"/>
              </a:rPr>
              <a:t>One clinical definition, one selected genome per episode, and a separate </a:t>
            </a:r>
            <a:r>
              <a:rPr sz="1300" dirty="0" err="1">
                <a:solidFill>
                  <a:srgbClr val="64748B"/>
                </a:solidFill>
                <a:latin typeface="Aptos"/>
                <a:ea typeface="Aptos"/>
                <a:cs typeface="Aptos"/>
              </a:rPr>
              <a:t>Longcycler</a:t>
            </a:r>
            <a:r>
              <a:rPr sz="1300" dirty="0">
                <a:solidFill>
                  <a:srgbClr val="64748B"/>
                </a:solidFill>
                <a:latin typeface="Aptos"/>
                <a:ea typeface="Aptos"/>
                <a:cs typeface="Aptos"/>
              </a:rPr>
              <a:t>-only sensitivity analysis</a:t>
            </a:r>
          </a:p>
        </p:txBody>
      </p:sp>
      <p:sp>
        <p:nvSpPr>
          <p:cNvPr id="7" name="Shape 5">
            <a:extLst>
              <a:ext uri="{FF2B5EF4-FFF2-40B4-BE49-F238E27FC236}">
                <a16:creationId xmlns:a16="http://schemas.microsoft.com/office/drawing/2014/main" id="{B745878F-058D-40BB-A868-31145F68734C}"/>
              </a:ext>
            </a:extLst>
          </p:cNvPr>
          <p:cNvSpPr>
            <a:spLocks noGrp="1"/>
          </p:cNvSpPr>
          <p:nvPr/>
        </p:nvSpPr>
        <p:spPr>
          <a:xfrm>
            <a:off x="585216" y="2706624"/>
            <a:ext cx="3072384" cy="1243584"/>
          </a:xfrm>
          <a:prstGeom prst="roundRect">
            <a:avLst/>
          </a:prstGeom>
          <a:solidFill>
            <a:srgbClr val="E8F1FA"/>
          </a:solidFill>
          <a:ln w="10160">
            <a:solidFill>
              <a:srgbClr val="B9D5F0"/>
            </a:solidFill>
            <a:prstDash val="solid"/>
          </a:ln>
        </p:spPr>
        <p:txBody>
          <a:bodyPr/>
          <a:lstStyle/>
          <a:p>
            <a:endParaRPr lang="en-US"/>
          </a:p>
        </p:txBody>
      </p:sp>
      <p:sp>
        <p:nvSpPr>
          <p:cNvPr id="8" name="Text 6">
            <a:extLst>
              <a:ext uri="{FF2B5EF4-FFF2-40B4-BE49-F238E27FC236}">
                <a16:creationId xmlns:a16="http://schemas.microsoft.com/office/drawing/2014/main" id="{CF3F5CEF-18D6-4001-9A97-7AEDE5FCD3AB}"/>
              </a:ext>
            </a:extLst>
          </p:cNvPr>
          <p:cNvSpPr>
            <a:spLocks noGrp="1"/>
          </p:cNvSpPr>
          <p:nvPr/>
        </p:nvSpPr>
        <p:spPr>
          <a:xfrm>
            <a:off x="749808" y="2834640"/>
            <a:ext cx="2743200" cy="164592"/>
          </a:xfrm>
          <a:prstGeom prst="rect">
            <a:avLst/>
          </a:prstGeom>
          <a:noFill/>
        </p:spPr>
        <p:txBody>
          <a:bodyPr wrap="square" lIns="508" tIns="508" rIns="508" bIns="508" anchor="t">
            <a:normAutofit/>
          </a:bodyPr>
          <a:lstStyle/>
          <a:p>
            <a:pPr marL="0" indent="0" algn="l">
              <a:buNone/>
            </a:pPr>
            <a:r>
              <a:rPr sz="760" b="1">
                <a:solidFill>
                  <a:srgbClr val="2B6CB0"/>
                </a:solidFill>
                <a:latin typeface="Aptos"/>
                <a:ea typeface="Aptos"/>
                <a:cs typeface="Aptos"/>
              </a:rPr>
              <a:t>Clinical definition</a:t>
            </a:r>
          </a:p>
        </p:txBody>
      </p:sp>
      <p:sp>
        <p:nvSpPr>
          <p:cNvPr id="9" name="Text 7">
            <a:extLst>
              <a:ext uri="{FF2B5EF4-FFF2-40B4-BE49-F238E27FC236}">
                <a16:creationId xmlns:a16="http://schemas.microsoft.com/office/drawing/2014/main" id="{6C8CC8C6-6569-4BA0-AE5E-5E78EDEB6201}"/>
              </a:ext>
            </a:extLst>
          </p:cNvPr>
          <p:cNvSpPr>
            <a:spLocks noGrp="1"/>
          </p:cNvSpPr>
          <p:nvPr/>
        </p:nvSpPr>
        <p:spPr>
          <a:xfrm>
            <a:off x="749808" y="3054096"/>
            <a:ext cx="2743200" cy="329184"/>
          </a:xfrm>
          <a:prstGeom prst="rect">
            <a:avLst/>
          </a:prstGeom>
          <a:noFill/>
        </p:spPr>
        <p:txBody>
          <a:bodyPr wrap="square" lIns="508" tIns="508" rIns="508" bIns="508" anchor="t">
            <a:normAutofit fontScale="91214"/>
          </a:bodyPr>
          <a:lstStyle/>
          <a:p>
            <a:pPr marL="0" indent="0" algn="l">
              <a:buNone/>
            </a:pPr>
            <a:r>
              <a:rPr sz="1300" b="1">
                <a:solidFill>
                  <a:srgbClr val="111827"/>
                </a:solidFill>
                <a:latin typeface="Aptos"/>
                <a:ea typeface="Aptos"/>
                <a:cs typeface="Aptos"/>
              </a:rPr>
              <a:t>583 episodes classified before genomics</a:t>
            </a:r>
          </a:p>
        </p:txBody>
      </p:sp>
      <p:sp>
        <p:nvSpPr>
          <p:cNvPr id="10" name="Text 8">
            <a:extLst>
              <a:ext uri="{FF2B5EF4-FFF2-40B4-BE49-F238E27FC236}">
                <a16:creationId xmlns:a16="http://schemas.microsoft.com/office/drawing/2014/main" id="{30A6FF67-F7BD-4CCB-8968-DF21824579EC}"/>
              </a:ext>
            </a:extLst>
          </p:cNvPr>
          <p:cNvSpPr>
            <a:spLocks noGrp="1"/>
          </p:cNvSpPr>
          <p:nvPr/>
        </p:nvSpPr>
        <p:spPr>
          <a:xfrm>
            <a:off x="749808" y="3401568"/>
            <a:ext cx="2743200" cy="713232"/>
          </a:xfrm>
          <a:prstGeom prst="rect">
            <a:avLst/>
          </a:prstGeom>
          <a:noFill/>
        </p:spPr>
        <p:txBody>
          <a:bodyPr wrap="square" lIns="508" tIns="508" rIns="508" bIns="508" anchor="t">
            <a:normAutofit/>
          </a:bodyPr>
          <a:lstStyle/>
          <a:p>
            <a:pPr marL="0" indent="0" algn="l">
              <a:buNone/>
            </a:pPr>
            <a:r>
              <a:rPr sz="940">
                <a:solidFill>
                  <a:srgbClr val="64748B"/>
                </a:solidFill>
                <a:latin typeface="Aptos"/>
                <a:ea typeface="Aptos"/>
                <a:cs typeface="Aptos"/>
              </a:rPr>
              <a:t>UTI requires culture support plus compatible catheter-aware symptoms.</a:t>
            </a:r>
          </a:p>
        </p:txBody>
      </p:sp>
      <p:sp>
        <p:nvSpPr>
          <p:cNvPr id="11" name="Shape 9">
            <a:extLst>
              <a:ext uri="{FF2B5EF4-FFF2-40B4-BE49-F238E27FC236}">
                <a16:creationId xmlns:a16="http://schemas.microsoft.com/office/drawing/2014/main" id="{F518DE8C-C358-48BC-9BE3-5EB6887DD608}"/>
              </a:ext>
            </a:extLst>
          </p:cNvPr>
          <p:cNvSpPr>
            <a:spLocks noGrp="1"/>
          </p:cNvSpPr>
          <p:nvPr/>
        </p:nvSpPr>
        <p:spPr>
          <a:xfrm>
            <a:off x="4023360" y="2706624"/>
            <a:ext cx="3072384" cy="1243584"/>
          </a:xfrm>
          <a:prstGeom prst="roundRect">
            <a:avLst/>
          </a:prstGeom>
          <a:solidFill>
            <a:srgbClr val="EAF7EF"/>
          </a:solidFill>
          <a:ln w="10160">
            <a:solidFill>
              <a:srgbClr val="BCE4C9"/>
            </a:solidFill>
            <a:prstDash val="solid"/>
          </a:ln>
        </p:spPr>
        <p:txBody>
          <a:bodyPr/>
          <a:lstStyle/>
          <a:p>
            <a:endParaRPr lang="en-US"/>
          </a:p>
        </p:txBody>
      </p:sp>
      <p:sp>
        <p:nvSpPr>
          <p:cNvPr id="13" name="Text 11">
            <a:extLst>
              <a:ext uri="{FF2B5EF4-FFF2-40B4-BE49-F238E27FC236}">
                <a16:creationId xmlns:a16="http://schemas.microsoft.com/office/drawing/2014/main" id="{4E8D1E3E-636B-449F-B771-8AEC927244E6}"/>
              </a:ext>
            </a:extLst>
          </p:cNvPr>
          <p:cNvSpPr>
            <a:spLocks noGrp="1"/>
          </p:cNvSpPr>
          <p:nvPr/>
        </p:nvSpPr>
        <p:spPr>
          <a:xfrm>
            <a:off x="4187952" y="3054096"/>
            <a:ext cx="2743200" cy="329184"/>
          </a:xfrm>
          <a:prstGeom prst="rect">
            <a:avLst/>
          </a:prstGeom>
          <a:noFill/>
        </p:spPr>
        <p:txBody>
          <a:bodyPr wrap="square" lIns="508" tIns="508" rIns="508" bIns="508" anchor="t">
            <a:normAutofit/>
          </a:bodyPr>
          <a:lstStyle/>
          <a:p>
            <a:pPr marL="0" indent="0" algn="l">
              <a:buNone/>
            </a:pPr>
            <a:r>
              <a:rPr sz="1300" b="1">
                <a:solidFill>
                  <a:srgbClr val="111827"/>
                </a:solidFill>
                <a:latin typeface="Aptos"/>
                <a:ea typeface="Aptos"/>
                <a:cs typeface="Aptos"/>
              </a:rPr>
              <a:t>556 mixed-canonical genomes</a:t>
            </a:r>
          </a:p>
        </p:txBody>
      </p:sp>
      <p:sp>
        <p:nvSpPr>
          <p:cNvPr id="14" name="Text 12">
            <a:extLst>
              <a:ext uri="{FF2B5EF4-FFF2-40B4-BE49-F238E27FC236}">
                <a16:creationId xmlns:a16="http://schemas.microsoft.com/office/drawing/2014/main" id="{D037815C-84B5-4F9D-96CF-5E0D20A7FCCE}"/>
              </a:ext>
            </a:extLst>
          </p:cNvPr>
          <p:cNvSpPr>
            <a:spLocks noGrp="1"/>
          </p:cNvSpPr>
          <p:nvPr/>
        </p:nvSpPr>
        <p:spPr>
          <a:xfrm>
            <a:off x="4187952" y="3401568"/>
            <a:ext cx="2743200" cy="713232"/>
          </a:xfrm>
          <a:prstGeom prst="rect">
            <a:avLst/>
          </a:prstGeom>
          <a:noFill/>
        </p:spPr>
        <p:txBody>
          <a:bodyPr wrap="square" lIns="508" tIns="508" rIns="508" bIns="508" anchor="t">
            <a:normAutofit/>
          </a:bodyPr>
          <a:lstStyle/>
          <a:p>
            <a:pPr marL="0" indent="0" algn="l">
              <a:buNone/>
            </a:pPr>
            <a:r>
              <a:rPr sz="940">
                <a:solidFill>
                  <a:srgbClr val="64748B"/>
                </a:solidFill>
                <a:latin typeface="Aptos"/>
                <a:ea typeface="Aptos"/>
                <a:cs typeface="Aptos"/>
              </a:rPr>
              <a:t>The selected set contains 532 Longcycler assemblies and 24 Flye fallbacks.</a:t>
            </a:r>
          </a:p>
        </p:txBody>
      </p:sp>
      <p:sp>
        <p:nvSpPr>
          <p:cNvPr id="15" name="Shape 13">
            <a:extLst>
              <a:ext uri="{FF2B5EF4-FFF2-40B4-BE49-F238E27FC236}">
                <a16:creationId xmlns:a16="http://schemas.microsoft.com/office/drawing/2014/main" id="{1ED4555D-44A5-441F-A963-3D76ECFB22D8}"/>
              </a:ext>
            </a:extLst>
          </p:cNvPr>
          <p:cNvSpPr>
            <a:spLocks noGrp="1"/>
          </p:cNvSpPr>
          <p:nvPr/>
        </p:nvSpPr>
        <p:spPr>
          <a:xfrm>
            <a:off x="7461504" y="2706624"/>
            <a:ext cx="3072384" cy="1243584"/>
          </a:xfrm>
          <a:prstGeom prst="roundRect">
            <a:avLst/>
          </a:prstGeom>
          <a:solidFill>
            <a:srgbClr val="FFF4E6"/>
          </a:solidFill>
          <a:ln w="10160">
            <a:solidFill>
              <a:srgbClr val="F4C98A"/>
            </a:solidFill>
            <a:prstDash val="solid"/>
          </a:ln>
        </p:spPr>
        <p:txBody>
          <a:bodyPr/>
          <a:lstStyle/>
          <a:p>
            <a:endParaRPr lang="en-US"/>
          </a:p>
        </p:txBody>
      </p:sp>
      <p:sp>
        <p:nvSpPr>
          <p:cNvPr id="16" name="Text 14">
            <a:extLst>
              <a:ext uri="{FF2B5EF4-FFF2-40B4-BE49-F238E27FC236}">
                <a16:creationId xmlns:a16="http://schemas.microsoft.com/office/drawing/2014/main" id="{E9515B4C-E549-4F52-804C-C3960DA2F8BD}"/>
              </a:ext>
            </a:extLst>
          </p:cNvPr>
          <p:cNvSpPr>
            <a:spLocks noGrp="1"/>
          </p:cNvSpPr>
          <p:nvPr/>
        </p:nvSpPr>
        <p:spPr>
          <a:xfrm>
            <a:off x="7626096" y="2834640"/>
            <a:ext cx="2743200" cy="164592"/>
          </a:xfrm>
          <a:prstGeom prst="rect">
            <a:avLst/>
          </a:prstGeom>
          <a:noFill/>
        </p:spPr>
        <p:txBody>
          <a:bodyPr wrap="square" lIns="508" tIns="508" rIns="508" bIns="508" anchor="t">
            <a:normAutofit/>
          </a:bodyPr>
          <a:lstStyle/>
          <a:p>
            <a:pPr marL="0" indent="0" algn="l">
              <a:buNone/>
            </a:pPr>
            <a:r>
              <a:rPr sz="760" b="1" dirty="0">
                <a:solidFill>
                  <a:srgbClr val="D97706"/>
                </a:solidFill>
                <a:latin typeface="Aptos"/>
                <a:ea typeface="Aptos"/>
                <a:cs typeface="Aptos"/>
              </a:rPr>
              <a:t>Sensitivity analysis</a:t>
            </a:r>
          </a:p>
        </p:txBody>
      </p:sp>
      <p:sp>
        <p:nvSpPr>
          <p:cNvPr id="17" name="Text 15">
            <a:extLst>
              <a:ext uri="{FF2B5EF4-FFF2-40B4-BE49-F238E27FC236}">
                <a16:creationId xmlns:a16="http://schemas.microsoft.com/office/drawing/2014/main" id="{0F42203D-CECE-4ED5-BBB3-6CFB9C8AA5E5}"/>
              </a:ext>
            </a:extLst>
          </p:cNvPr>
          <p:cNvSpPr>
            <a:spLocks noGrp="1"/>
          </p:cNvSpPr>
          <p:nvPr/>
        </p:nvSpPr>
        <p:spPr>
          <a:xfrm>
            <a:off x="7626096" y="3054096"/>
            <a:ext cx="2743200" cy="329184"/>
          </a:xfrm>
          <a:prstGeom prst="rect">
            <a:avLst/>
          </a:prstGeom>
          <a:noFill/>
        </p:spPr>
        <p:txBody>
          <a:bodyPr wrap="square" lIns="508" tIns="508" rIns="508" bIns="508" anchor="t">
            <a:normAutofit/>
          </a:bodyPr>
          <a:lstStyle/>
          <a:p>
            <a:pPr marL="0" indent="0" algn="l">
              <a:buNone/>
            </a:pPr>
            <a:r>
              <a:rPr sz="1300" b="1">
                <a:solidFill>
                  <a:srgbClr val="111827"/>
                </a:solidFill>
                <a:latin typeface="Aptos"/>
                <a:ea typeface="Aptos"/>
                <a:cs typeface="Aptos"/>
              </a:rPr>
              <a:t>532 Longcycler-selected genomes</a:t>
            </a:r>
          </a:p>
        </p:txBody>
      </p:sp>
      <p:sp>
        <p:nvSpPr>
          <p:cNvPr id="18" name="Text 16">
            <a:extLst>
              <a:ext uri="{FF2B5EF4-FFF2-40B4-BE49-F238E27FC236}">
                <a16:creationId xmlns:a16="http://schemas.microsoft.com/office/drawing/2014/main" id="{75B2117E-499D-46AA-B6A6-7A22D813F19E}"/>
              </a:ext>
            </a:extLst>
          </p:cNvPr>
          <p:cNvSpPr>
            <a:spLocks noGrp="1"/>
          </p:cNvSpPr>
          <p:nvPr/>
        </p:nvSpPr>
        <p:spPr>
          <a:xfrm>
            <a:off x="7626096" y="3401568"/>
            <a:ext cx="2743200" cy="713232"/>
          </a:xfrm>
          <a:prstGeom prst="rect">
            <a:avLst/>
          </a:prstGeom>
          <a:noFill/>
        </p:spPr>
        <p:txBody>
          <a:bodyPr wrap="square" lIns="508" tIns="508" rIns="508" bIns="508" anchor="t">
            <a:normAutofit/>
          </a:bodyPr>
          <a:lstStyle/>
          <a:p>
            <a:pPr marL="0" indent="0" algn="l">
              <a:buNone/>
            </a:pPr>
            <a:r>
              <a:rPr sz="940">
                <a:solidFill>
                  <a:srgbClr val="64748B"/>
                </a:solidFill>
                <a:latin typeface="Aptos"/>
                <a:ea typeface="Aptos"/>
                <a:cs typeface="Aptos"/>
              </a:rPr>
              <a:t>This route is rebuilt separately and compared with—not substituted for—the executed mixed analysis.</a:t>
            </a:r>
          </a:p>
        </p:txBody>
      </p:sp>
      <p:sp>
        <p:nvSpPr>
          <p:cNvPr id="31" name="Text 29">
            <a:extLst>
              <a:ext uri="{FF2B5EF4-FFF2-40B4-BE49-F238E27FC236}">
                <a16:creationId xmlns:a16="http://schemas.microsoft.com/office/drawing/2014/main" id="{FCC3691F-67F8-4B76-BDDB-99B2BB811C97}"/>
              </a:ext>
            </a:extLst>
          </p:cNvPr>
          <p:cNvSpPr>
            <a:spLocks noGrp="1"/>
          </p:cNvSpPr>
          <p:nvPr/>
        </p:nvSpPr>
        <p:spPr>
          <a:xfrm>
            <a:off x="566928" y="6510528"/>
            <a:ext cx="7315200" cy="164592"/>
          </a:xfrm>
          <a:prstGeom prst="rect">
            <a:avLst/>
          </a:prstGeom>
          <a:noFill/>
        </p:spPr>
        <p:txBody>
          <a:bodyPr wrap="square" lIns="508" tIns="508" rIns="508" bIns="508" anchor="t">
            <a:normAutofit/>
          </a:bodyPr>
          <a:lstStyle/>
          <a:p>
            <a:pPr marL="0" indent="0" algn="l">
              <a:buNone/>
            </a:pPr>
            <a:r>
              <a:rPr sz="800">
                <a:solidFill>
                  <a:srgbClr val="64748B"/>
                </a:solidFill>
                <a:latin typeface="Aptos"/>
                <a:ea typeface="Aptos"/>
                <a:cs typeface="Aptos"/>
              </a:rPr>
              <a:t>Internal scientific audit | regenerated 10 July 2026 | interpretation remains non-causal</a:t>
            </a:r>
          </a:p>
        </p:txBody>
      </p:sp>
    </p:spTree>
    <p:extLst>
      <p:ext uri="{BB962C8B-B14F-4D97-AF65-F5344CB8AC3E}">
        <p14:creationId xmlns:p14="http://schemas.microsoft.com/office/powerpoint/2010/main" val="118244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9955A6-C3AB-4BA1-A368-7F3ACEFF20E8}"/>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43DF70BF-7148-4A5C-91AB-E32A5B3AD6D4}"/>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80454350-DAFD-43D6-9CFC-ADA573C15264}"/>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PROJECT ORIENTATION</a:t>
            </a:r>
          </a:p>
        </p:txBody>
      </p:sp>
      <p:sp>
        <p:nvSpPr>
          <p:cNvPr id="5" name="Text 3">
            <a:extLst>
              <a:ext uri="{FF2B5EF4-FFF2-40B4-BE49-F238E27FC236}">
                <a16:creationId xmlns:a16="http://schemas.microsoft.com/office/drawing/2014/main" id="{3832311F-12DD-4C3D-84C6-53A299B675A0}"/>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Different numbers count different things</a:t>
            </a:r>
          </a:p>
        </p:txBody>
      </p:sp>
      <p:sp>
        <p:nvSpPr>
          <p:cNvPr id="6" name="Text 4">
            <a:extLst>
              <a:ext uri="{FF2B5EF4-FFF2-40B4-BE49-F238E27FC236}">
                <a16:creationId xmlns:a16="http://schemas.microsoft.com/office/drawing/2014/main" id="{425D999B-F757-4FD8-B795-AC603A1796F6}"/>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Before interpreting a result, name the unit, filter and denominator.</a:t>
            </a:r>
          </a:p>
        </p:txBody>
      </p:sp>
      <p:sp>
        <p:nvSpPr>
          <p:cNvPr id="7" name="Shape 5">
            <a:extLst>
              <a:ext uri="{FF2B5EF4-FFF2-40B4-BE49-F238E27FC236}">
                <a16:creationId xmlns:a16="http://schemas.microsoft.com/office/drawing/2014/main" id="{8D7CB531-BF2C-4F69-85DD-FBC739AD851F}"/>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A2A01C5D-0D4D-4986-9126-FCDE5D15FD47}"/>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485E0601-0FD8-4348-B015-A19DD568368F}"/>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Sources: status map, canonical assembly selection, VF matrix and fresh pairwise outputs</a:t>
            </a:r>
          </a:p>
        </p:txBody>
      </p:sp>
      <p:sp>
        <p:nvSpPr>
          <p:cNvPr id="10" name="Text 8">
            <a:extLst>
              <a:ext uri="{FF2B5EF4-FFF2-40B4-BE49-F238E27FC236}">
                <a16:creationId xmlns:a16="http://schemas.microsoft.com/office/drawing/2014/main" id="{0E54DB99-1E61-47E6-949E-A6F71C3FE920}"/>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02</a:t>
            </a:r>
          </a:p>
        </p:txBody>
      </p:sp>
      <p:sp>
        <p:nvSpPr>
          <p:cNvPr id="11" name="Shape 9">
            <a:extLst>
              <a:ext uri="{FF2B5EF4-FFF2-40B4-BE49-F238E27FC236}">
                <a16:creationId xmlns:a16="http://schemas.microsoft.com/office/drawing/2014/main" id="{1CD67638-3D17-473D-9C6F-9D0EC9B262DF}"/>
              </a:ext>
            </a:extLst>
          </p:cNvPr>
          <p:cNvSpPr>
            <a:spLocks noGrp="1"/>
          </p:cNvSpPr>
          <p:nvPr/>
        </p:nvSpPr>
        <p:spPr>
          <a:xfrm>
            <a:off x="694944" y="1645920"/>
            <a:ext cx="10808208" cy="694944"/>
          </a:xfrm>
          <a:prstGeom prst="roundRect">
            <a:avLst/>
          </a:prstGeom>
          <a:solidFill>
            <a:srgbClr val="FFFFFF"/>
          </a:solidFill>
          <a:ln w="10160">
            <a:solidFill>
              <a:srgbClr val="CBD5E1"/>
            </a:solidFill>
            <a:prstDash val="solid"/>
          </a:ln>
        </p:spPr>
        <p:txBody>
          <a:bodyPr/>
          <a:lstStyle/>
          <a:p>
            <a:endParaRPr lang="en-US"/>
          </a:p>
        </p:txBody>
      </p:sp>
      <p:sp>
        <p:nvSpPr>
          <p:cNvPr id="12" name="Text 10">
            <a:extLst>
              <a:ext uri="{FF2B5EF4-FFF2-40B4-BE49-F238E27FC236}">
                <a16:creationId xmlns:a16="http://schemas.microsoft.com/office/drawing/2014/main" id="{8837578C-4EBF-4A0E-BFA9-6F4DACFAC9AF}"/>
              </a:ext>
            </a:extLst>
          </p:cNvPr>
          <p:cNvSpPr>
            <a:spLocks noGrp="1"/>
          </p:cNvSpPr>
          <p:nvPr/>
        </p:nvSpPr>
        <p:spPr>
          <a:xfrm>
            <a:off x="859536" y="1792224"/>
            <a:ext cx="10479024" cy="329184"/>
          </a:xfrm>
          <a:prstGeom prst="rect">
            <a:avLst/>
          </a:prstGeom>
          <a:noFill/>
        </p:spPr>
        <p:txBody>
          <a:bodyPr wrap="square" lIns="508" tIns="508" rIns="508" bIns="508" anchor="t">
            <a:normAutofit/>
          </a:bodyPr>
          <a:lstStyle/>
          <a:p>
            <a:pPr marL="0" indent="0" algn="l">
              <a:buNone/>
            </a:pPr>
            <a:r>
              <a:rPr sz="1240" b="1">
                <a:solidFill>
                  <a:srgbClr val="111827"/>
                </a:solidFill>
                <a:latin typeface="Aptos"/>
                <a:ea typeface="Aptos"/>
                <a:cs typeface="Aptos"/>
              </a:rPr>
              <a:t>Research question and unit rule</a:t>
            </a:r>
          </a:p>
        </p:txBody>
      </p:sp>
      <p:sp>
        <p:nvSpPr>
          <p:cNvPr id="13" name="Text 11">
            <a:extLst>
              <a:ext uri="{FF2B5EF4-FFF2-40B4-BE49-F238E27FC236}">
                <a16:creationId xmlns:a16="http://schemas.microsoft.com/office/drawing/2014/main" id="{7A75609F-5CBF-449C-AFF9-26EEDB49B880}"/>
              </a:ext>
            </a:extLst>
          </p:cNvPr>
          <p:cNvSpPr>
            <a:spLocks noGrp="1"/>
          </p:cNvSpPr>
          <p:nvPr/>
        </p:nvSpPr>
        <p:spPr>
          <a:xfrm>
            <a:off x="859536" y="1965960"/>
            <a:ext cx="10479024" cy="374904"/>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Do closely related urinary E. coli genomes persist across a resident's sampled episodes? Every answer must name the unit, retained rows, filter and denominator.</a:t>
            </a:r>
          </a:p>
        </p:txBody>
      </p:sp>
      <p:sp>
        <p:nvSpPr>
          <p:cNvPr id="14" name="Shape 12">
            <a:extLst>
              <a:ext uri="{FF2B5EF4-FFF2-40B4-BE49-F238E27FC236}">
                <a16:creationId xmlns:a16="http://schemas.microsoft.com/office/drawing/2014/main" id="{E403A6CA-C3A9-4F27-8EFA-BA1B072CCA96}"/>
              </a:ext>
            </a:extLst>
          </p:cNvPr>
          <p:cNvSpPr>
            <a:spLocks noGrp="1"/>
          </p:cNvSpPr>
          <p:nvPr/>
        </p:nvSpPr>
        <p:spPr>
          <a:xfrm>
            <a:off x="969264" y="2761488"/>
            <a:ext cx="2377440" cy="384048"/>
          </a:xfrm>
          <a:prstGeom prst="roundRect">
            <a:avLst/>
          </a:prstGeom>
          <a:solidFill>
            <a:srgbClr val="FFF4E6"/>
          </a:solidFill>
          <a:ln w="10160">
            <a:solidFill>
              <a:srgbClr val="D97706"/>
            </a:solidFill>
            <a:prstDash val="solid"/>
          </a:ln>
        </p:spPr>
        <p:txBody>
          <a:bodyPr/>
          <a:lstStyle/>
          <a:p>
            <a:endParaRPr lang="en-US"/>
          </a:p>
        </p:txBody>
      </p:sp>
      <p:sp>
        <p:nvSpPr>
          <p:cNvPr id="15" name="Text 13">
            <a:extLst>
              <a:ext uri="{FF2B5EF4-FFF2-40B4-BE49-F238E27FC236}">
                <a16:creationId xmlns:a16="http://schemas.microsoft.com/office/drawing/2014/main" id="{396780F1-1EDF-46D4-9028-6170455FF44C}"/>
              </a:ext>
            </a:extLst>
          </p:cNvPr>
          <p:cNvSpPr>
            <a:spLocks noGrp="1"/>
          </p:cNvSpPr>
          <p:nvPr/>
        </p:nvSpPr>
        <p:spPr>
          <a:xfrm>
            <a:off x="1133856" y="2907792"/>
            <a:ext cx="2048256" cy="182880"/>
          </a:xfrm>
          <a:prstGeom prst="rect">
            <a:avLst/>
          </a:prstGeom>
          <a:noFill/>
        </p:spPr>
        <p:txBody>
          <a:bodyPr wrap="square" lIns="508" tIns="508" rIns="508" bIns="508" anchor="t">
            <a:normAutofit/>
          </a:bodyPr>
          <a:lstStyle/>
          <a:p>
            <a:pPr marL="0" indent="0" algn="l">
              <a:buNone/>
            </a:pPr>
            <a:r>
              <a:rPr sz="1080" b="1">
                <a:solidFill>
                  <a:srgbClr val="D97706"/>
                </a:solidFill>
                <a:latin typeface="Aptos"/>
                <a:ea typeface="Aptos"/>
                <a:cs typeface="Aptos"/>
              </a:rPr>
              <a:t>Clinical episodes</a:t>
            </a:r>
          </a:p>
        </p:txBody>
      </p:sp>
      <p:sp>
        <p:nvSpPr>
          <p:cNvPr id="16" name="Text 14">
            <a:extLst>
              <a:ext uri="{FF2B5EF4-FFF2-40B4-BE49-F238E27FC236}">
                <a16:creationId xmlns:a16="http://schemas.microsoft.com/office/drawing/2014/main" id="{6E3CE15B-C68B-44BE-B7D3-636A864EF66B}"/>
              </a:ext>
            </a:extLst>
          </p:cNvPr>
          <p:cNvSpPr>
            <a:spLocks noGrp="1"/>
          </p:cNvSpPr>
          <p:nvPr/>
        </p:nvSpPr>
        <p:spPr>
          <a:xfrm>
            <a:off x="3858768" y="2743200"/>
            <a:ext cx="1463040" cy="329184"/>
          </a:xfrm>
          <a:prstGeom prst="rect">
            <a:avLst/>
          </a:prstGeom>
          <a:noFill/>
        </p:spPr>
        <p:txBody>
          <a:bodyPr wrap="square" lIns="508" tIns="508" rIns="508" bIns="508" anchor="t">
            <a:normAutofit/>
          </a:bodyPr>
          <a:lstStyle/>
          <a:p>
            <a:pPr marL="0" indent="0" algn="l">
              <a:buNone/>
            </a:pPr>
            <a:r>
              <a:rPr sz="1800" b="1">
                <a:solidFill>
                  <a:srgbClr val="D97706"/>
                </a:solidFill>
                <a:latin typeface="Aptos"/>
                <a:ea typeface="Aptos"/>
                <a:cs typeface="Aptos"/>
              </a:rPr>
              <a:t>583</a:t>
            </a:r>
          </a:p>
        </p:txBody>
      </p:sp>
      <p:sp>
        <p:nvSpPr>
          <p:cNvPr id="17" name="Text 15">
            <a:extLst>
              <a:ext uri="{FF2B5EF4-FFF2-40B4-BE49-F238E27FC236}">
                <a16:creationId xmlns:a16="http://schemas.microsoft.com/office/drawing/2014/main" id="{60A25FA4-5505-49F9-BEC6-230E0A3500AF}"/>
              </a:ext>
            </a:extLst>
          </p:cNvPr>
          <p:cNvSpPr>
            <a:spLocks noGrp="1"/>
          </p:cNvSpPr>
          <p:nvPr/>
        </p:nvSpPr>
        <p:spPr>
          <a:xfrm>
            <a:off x="5376672" y="2807208"/>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included visits or events with a primary UTI label</a:t>
            </a:r>
          </a:p>
        </p:txBody>
      </p:sp>
      <p:sp>
        <p:nvSpPr>
          <p:cNvPr id="18" name="Shape 16">
            <a:extLst>
              <a:ext uri="{FF2B5EF4-FFF2-40B4-BE49-F238E27FC236}">
                <a16:creationId xmlns:a16="http://schemas.microsoft.com/office/drawing/2014/main" id="{9635EC3D-BD6F-4EEC-BC48-913246ABE61D}"/>
              </a:ext>
            </a:extLst>
          </p:cNvPr>
          <p:cNvSpPr>
            <a:spLocks noGrp="1"/>
          </p:cNvSpPr>
          <p:nvPr/>
        </p:nvSpPr>
        <p:spPr>
          <a:xfrm>
            <a:off x="969264" y="3328416"/>
            <a:ext cx="2377440" cy="384048"/>
          </a:xfrm>
          <a:prstGeom prst="roundRect">
            <a:avLst/>
          </a:prstGeom>
          <a:solidFill>
            <a:srgbClr val="E8F1FA"/>
          </a:solidFill>
          <a:ln w="10160">
            <a:solidFill>
              <a:srgbClr val="2B6CB0"/>
            </a:solidFill>
            <a:prstDash val="solid"/>
          </a:ln>
        </p:spPr>
        <p:txBody>
          <a:bodyPr/>
          <a:lstStyle/>
          <a:p>
            <a:endParaRPr lang="en-US"/>
          </a:p>
        </p:txBody>
      </p:sp>
      <p:sp>
        <p:nvSpPr>
          <p:cNvPr id="19" name="Text 17">
            <a:extLst>
              <a:ext uri="{FF2B5EF4-FFF2-40B4-BE49-F238E27FC236}">
                <a16:creationId xmlns:a16="http://schemas.microsoft.com/office/drawing/2014/main" id="{9178FA62-E413-4107-9683-8778DAACFCC4}"/>
              </a:ext>
            </a:extLst>
          </p:cNvPr>
          <p:cNvSpPr>
            <a:spLocks noGrp="1"/>
          </p:cNvSpPr>
          <p:nvPr/>
        </p:nvSpPr>
        <p:spPr>
          <a:xfrm>
            <a:off x="1133856" y="3474720"/>
            <a:ext cx="2048256" cy="182880"/>
          </a:xfrm>
          <a:prstGeom prst="rect">
            <a:avLst/>
          </a:prstGeom>
          <a:noFill/>
        </p:spPr>
        <p:txBody>
          <a:bodyPr wrap="square" lIns="508" tIns="508" rIns="508" bIns="508" anchor="t">
            <a:normAutofit/>
          </a:bodyPr>
          <a:lstStyle/>
          <a:p>
            <a:pPr marL="0" indent="0" algn="l">
              <a:buNone/>
            </a:pPr>
            <a:r>
              <a:rPr sz="1080" b="1">
                <a:solidFill>
                  <a:srgbClr val="2B6CB0"/>
                </a:solidFill>
                <a:latin typeface="Aptos"/>
                <a:ea typeface="Aptos"/>
                <a:cs typeface="Aptos"/>
              </a:rPr>
              <a:t>Selected genome rows</a:t>
            </a:r>
          </a:p>
        </p:txBody>
      </p:sp>
      <p:sp>
        <p:nvSpPr>
          <p:cNvPr id="20" name="Text 18">
            <a:extLst>
              <a:ext uri="{FF2B5EF4-FFF2-40B4-BE49-F238E27FC236}">
                <a16:creationId xmlns:a16="http://schemas.microsoft.com/office/drawing/2014/main" id="{BAFC7860-0F4C-4464-BCC5-C264A472E485}"/>
              </a:ext>
            </a:extLst>
          </p:cNvPr>
          <p:cNvSpPr>
            <a:spLocks noGrp="1"/>
          </p:cNvSpPr>
          <p:nvPr/>
        </p:nvSpPr>
        <p:spPr>
          <a:xfrm>
            <a:off x="3858768" y="3310128"/>
            <a:ext cx="1463040" cy="329184"/>
          </a:xfrm>
          <a:prstGeom prst="rect">
            <a:avLst/>
          </a:prstGeom>
          <a:noFill/>
        </p:spPr>
        <p:txBody>
          <a:bodyPr wrap="square" lIns="508" tIns="508" rIns="508" bIns="508" anchor="t">
            <a:normAutofit/>
          </a:bodyPr>
          <a:lstStyle/>
          <a:p>
            <a:pPr marL="0" indent="0" algn="l">
              <a:buNone/>
            </a:pPr>
            <a:r>
              <a:rPr sz="1800" b="1">
                <a:solidFill>
                  <a:srgbClr val="2B6CB0"/>
                </a:solidFill>
                <a:latin typeface="Aptos"/>
                <a:ea typeface="Aptos"/>
                <a:cs typeface="Aptos"/>
              </a:rPr>
              <a:t>556</a:t>
            </a:r>
          </a:p>
        </p:txBody>
      </p:sp>
      <p:sp>
        <p:nvSpPr>
          <p:cNvPr id="21" name="Text 19">
            <a:extLst>
              <a:ext uri="{FF2B5EF4-FFF2-40B4-BE49-F238E27FC236}">
                <a16:creationId xmlns:a16="http://schemas.microsoft.com/office/drawing/2014/main" id="{E21268A3-C1E5-4F26-8AB7-E384D28C219E}"/>
              </a:ext>
            </a:extLst>
          </p:cNvPr>
          <p:cNvSpPr>
            <a:spLocks noGrp="1"/>
          </p:cNvSpPr>
          <p:nvPr/>
        </p:nvSpPr>
        <p:spPr>
          <a:xfrm>
            <a:off x="5376672" y="3374136"/>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one QC-passing canonical assembly per retained genomic episode</a:t>
            </a:r>
          </a:p>
        </p:txBody>
      </p:sp>
      <p:sp>
        <p:nvSpPr>
          <p:cNvPr id="22" name="Shape 20">
            <a:extLst>
              <a:ext uri="{FF2B5EF4-FFF2-40B4-BE49-F238E27FC236}">
                <a16:creationId xmlns:a16="http://schemas.microsoft.com/office/drawing/2014/main" id="{905806E7-02E7-4931-99A4-18E248894E8C}"/>
              </a:ext>
            </a:extLst>
          </p:cNvPr>
          <p:cNvSpPr>
            <a:spLocks noGrp="1"/>
          </p:cNvSpPr>
          <p:nvPr/>
        </p:nvSpPr>
        <p:spPr>
          <a:xfrm>
            <a:off x="969264" y="3895344"/>
            <a:ext cx="2377440" cy="384048"/>
          </a:xfrm>
          <a:prstGeom prst="roundRect">
            <a:avLst/>
          </a:prstGeom>
          <a:solidFill>
            <a:srgbClr val="EAF7EF"/>
          </a:solidFill>
          <a:ln w="10160">
            <a:solidFill>
              <a:srgbClr val="2F855A"/>
            </a:solidFill>
            <a:prstDash val="solid"/>
          </a:ln>
        </p:spPr>
        <p:txBody>
          <a:bodyPr/>
          <a:lstStyle/>
          <a:p>
            <a:endParaRPr lang="en-US"/>
          </a:p>
        </p:txBody>
      </p:sp>
      <p:sp>
        <p:nvSpPr>
          <p:cNvPr id="23" name="Text 21">
            <a:extLst>
              <a:ext uri="{FF2B5EF4-FFF2-40B4-BE49-F238E27FC236}">
                <a16:creationId xmlns:a16="http://schemas.microsoft.com/office/drawing/2014/main" id="{69B10159-693B-4974-B224-9A117D3CE493}"/>
              </a:ext>
            </a:extLst>
          </p:cNvPr>
          <p:cNvSpPr>
            <a:spLocks noGrp="1"/>
          </p:cNvSpPr>
          <p:nvPr/>
        </p:nvSpPr>
        <p:spPr>
          <a:xfrm>
            <a:off x="1133856" y="4041648"/>
            <a:ext cx="2048256" cy="182880"/>
          </a:xfrm>
          <a:prstGeom prst="rect">
            <a:avLst/>
          </a:prstGeom>
          <a:noFill/>
        </p:spPr>
        <p:txBody>
          <a:bodyPr wrap="square" lIns="508" tIns="508" rIns="508" bIns="508" anchor="t">
            <a:normAutofit/>
          </a:bodyPr>
          <a:lstStyle/>
          <a:p>
            <a:pPr marL="0" indent="0" algn="l">
              <a:buNone/>
            </a:pPr>
            <a:r>
              <a:rPr sz="1080" b="1">
                <a:solidFill>
                  <a:srgbClr val="2F855A"/>
                </a:solidFill>
                <a:latin typeface="Aptos"/>
                <a:ea typeface="Aptos"/>
                <a:cs typeface="Aptos"/>
              </a:rPr>
              <a:t>VFDB feature space</a:t>
            </a:r>
          </a:p>
        </p:txBody>
      </p:sp>
      <p:sp>
        <p:nvSpPr>
          <p:cNvPr id="24" name="Text 22">
            <a:extLst>
              <a:ext uri="{FF2B5EF4-FFF2-40B4-BE49-F238E27FC236}">
                <a16:creationId xmlns:a16="http://schemas.microsoft.com/office/drawing/2014/main" id="{1E08B694-CEB9-4AB4-AF04-5CE36168BD7E}"/>
              </a:ext>
            </a:extLst>
          </p:cNvPr>
          <p:cNvSpPr>
            <a:spLocks noGrp="1"/>
          </p:cNvSpPr>
          <p:nvPr/>
        </p:nvSpPr>
        <p:spPr>
          <a:xfrm>
            <a:off x="3858768" y="3877056"/>
            <a:ext cx="1463040" cy="329184"/>
          </a:xfrm>
          <a:prstGeom prst="rect">
            <a:avLst/>
          </a:prstGeom>
          <a:noFill/>
        </p:spPr>
        <p:txBody>
          <a:bodyPr wrap="square" lIns="508" tIns="508" rIns="508" bIns="508" anchor="t">
            <a:normAutofit/>
          </a:bodyPr>
          <a:lstStyle/>
          <a:p>
            <a:pPr marL="0" indent="0" algn="l">
              <a:buNone/>
            </a:pPr>
            <a:r>
              <a:rPr sz="1800" b="1">
                <a:solidFill>
                  <a:srgbClr val="2F855A"/>
                </a:solidFill>
                <a:latin typeface="Aptos"/>
                <a:ea typeface="Aptos"/>
                <a:cs typeface="Aptos"/>
              </a:rPr>
              <a:t>227</a:t>
            </a:r>
          </a:p>
        </p:txBody>
      </p:sp>
      <p:sp>
        <p:nvSpPr>
          <p:cNvPr id="25" name="Text 23">
            <a:extLst>
              <a:ext uri="{FF2B5EF4-FFF2-40B4-BE49-F238E27FC236}">
                <a16:creationId xmlns:a16="http://schemas.microsoft.com/office/drawing/2014/main" id="{90643745-886F-4E56-9739-E722E68C8FB3}"/>
              </a:ext>
            </a:extLst>
          </p:cNvPr>
          <p:cNvSpPr>
            <a:spLocks noGrp="1"/>
          </p:cNvSpPr>
          <p:nvPr/>
        </p:nvSpPr>
        <p:spPr>
          <a:xfrm>
            <a:off x="5376672" y="3941064"/>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binary detected gene features measured across selected genomes</a:t>
            </a:r>
          </a:p>
        </p:txBody>
      </p:sp>
      <p:sp>
        <p:nvSpPr>
          <p:cNvPr id="26" name="Shape 24">
            <a:extLst>
              <a:ext uri="{FF2B5EF4-FFF2-40B4-BE49-F238E27FC236}">
                <a16:creationId xmlns:a16="http://schemas.microsoft.com/office/drawing/2014/main" id="{7BAB2256-19A6-457B-B691-CFBC9CCADBDB}"/>
              </a:ext>
            </a:extLst>
          </p:cNvPr>
          <p:cNvSpPr>
            <a:spLocks noGrp="1"/>
          </p:cNvSpPr>
          <p:nvPr/>
        </p:nvSpPr>
        <p:spPr>
          <a:xfrm>
            <a:off x="969264" y="4462272"/>
            <a:ext cx="2377440" cy="384048"/>
          </a:xfrm>
          <a:prstGeom prst="roundRect">
            <a:avLst/>
          </a:prstGeom>
          <a:solidFill>
            <a:srgbClr val="EAF7EF"/>
          </a:solidFill>
          <a:ln w="10160">
            <a:solidFill>
              <a:srgbClr val="2F855A"/>
            </a:solidFill>
            <a:prstDash val="solid"/>
          </a:ln>
        </p:spPr>
        <p:txBody>
          <a:bodyPr/>
          <a:lstStyle/>
          <a:p>
            <a:endParaRPr lang="en-US"/>
          </a:p>
        </p:txBody>
      </p:sp>
      <p:sp>
        <p:nvSpPr>
          <p:cNvPr id="27" name="Text 25">
            <a:extLst>
              <a:ext uri="{FF2B5EF4-FFF2-40B4-BE49-F238E27FC236}">
                <a16:creationId xmlns:a16="http://schemas.microsoft.com/office/drawing/2014/main" id="{A9D82AA5-A928-47C5-BE52-7D0698254240}"/>
              </a:ext>
            </a:extLst>
          </p:cNvPr>
          <p:cNvSpPr>
            <a:spLocks noGrp="1"/>
          </p:cNvSpPr>
          <p:nvPr/>
        </p:nvSpPr>
        <p:spPr>
          <a:xfrm>
            <a:off x="1133856" y="4608576"/>
            <a:ext cx="2048256" cy="182880"/>
          </a:xfrm>
          <a:prstGeom prst="rect">
            <a:avLst/>
          </a:prstGeom>
          <a:noFill/>
        </p:spPr>
        <p:txBody>
          <a:bodyPr wrap="square" lIns="508" tIns="508" rIns="508" bIns="508" anchor="t">
            <a:normAutofit/>
          </a:bodyPr>
          <a:lstStyle/>
          <a:p>
            <a:pPr marL="0" indent="0" algn="l">
              <a:buNone/>
            </a:pPr>
            <a:r>
              <a:rPr sz="1080" b="1">
                <a:solidFill>
                  <a:srgbClr val="2F855A"/>
                </a:solidFill>
                <a:latin typeface="Aptos"/>
                <a:ea typeface="Aptos"/>
                <a:cs typeface="Aptos"/>
              </a:rPr>
              <a:t>Adjacent transitions</a:t>
            </a:r>
          </a:p>
        </p:txBody>
      </p:sp>
      <p:sp>
        <p:nvSpPr>
          <p:cNvPr id="28" name="Text 26">
            <a:extLst>
              <a:ext uri="{FF2B5EF4-FFF2-40B4-BE49-F238E27FC236}">
                <a16:creationId xmlns:a16="http://schemas.microsoft.com/office/drawing/2014/main" id="{E83629F6-391D-4C18-8EC4-C44724EC4234}"/>
              </a:ext>
            </a:extLst>
          </p:cNvPr>
          <p:cNvSpPr>
            <a:spLocks noGrp="1"/>
          </p:cNvSpPr>
          <p:nvPr/>
        </p:nvSpPr>
        <p:spPr>
          <a:xfrm>
            <a:off x="3858768" y="4443984"/>
            <a:ext cx="1463040" cy="329184"/>
          </a:xfrm>
          <a:prstGeom prst="rect">
            <a:avLst/>
          </a:prstGeom>
          <a:noFill/>
        </p:spPr>
        <p:txBody>
          <a:bodyPr wrap="square" lIns="508" tIns="508" rIns="508" bIns="508" anchor="t">
            <a:normAutofit/>
          </a:bodyPr>
          <a:lstStyle/>
          <a:p>
            <a:pPr marL="0" indent="0" algn="l">
              <a:buNone/>
            </a:pPr>
            <a:r>
              <a:rPr sz="1800" b="1">
                <a:solidFill>
                  <a:srgbClr val="2F855A"/>
                </a:solidFill>
                <a:latin typeface="Aptos"/>
                <a:ea typeface="Aptos"/>
                <a:cs typeface="Aptos"/>
              </a:rPr>
              <a:t>394</a:t>
            </a:r>
          </a:p>
        </p:txBody>
      </p:sp>
      <p:sp>
        <p:nvSpPr>
          <p:cNvPr id="29" name="Text 27">
            <a:extLst>
              <a:ext uri="{FF2B5EF4-FFF2-40B4-BE49-F238E27FC236}">
                <a16:creationId xmlns:a16="http://schemas.microsoft.com/office/drawing/2014/main" id="{C8D0D0AC-BF1A-4F52-A539-5AB13661CE28}"/>
              </a:ext>
            </a:extLst>
          </p:cNvPr>
          <p:cNvSpPr>
            <a:spLocks noGrp="1"/>
          </p:cNvSpPr>
          <p:nvPr/>
        </p:nvSpPr>
        <p:spPr>
          <a:xfrm>
            <a:off x="5376672" y="4507992"/>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mixed-pipeline comparisons between adjacent retained episodes</a:t>
            </a:r>
          </a:p>
        </p:txBody>
      </p:sp>
      <p:sp>
        <p:nvSpPr>
          <p:cNvPr id="30" name="Shape 28">
            <a:extLst>
              <a:ext uri="{FF2B5EF4-FFF2-40B4-BE49-F238E27FC236}">
                <a16:creationId xmlns:a16="http://schemas.microsoft.com/office/drawing/2014/main" id="{118DE96E-95C1-414B-913E-31AEC3E637AF}"/>
              </a:ext>
            </a:extLst>
          </p:cNvPr>
          <p:cNvSpPr>
            <a:spLocks noGrp="1"/>
          </p:cNvSpPr>
          <p:nvPr/>
        </p:nvSpPr>
        <p:spPr>
          <a:xfrm>
            <a:off x="969264" y="5029200"/>
            <a:ext cx="2377440" cy="384048"/>
          </a:xfrm>
          <a:prstGeom prst="roundRect">
            <a:avLst/>
          </a:prstGeom>
          <a:solidFill>
            <a:srgbClr val="EEF3F8"/>
          </a:solidFill>
          <a:ln w="10160">
            <a:solidFill>
              <a:srgbClr val="111827"/>
            </a:solidFill>
            <a:prstDash val="solid"/>
          </a:ln>
        </p:spPr>
        <p:txBody>
          <a:bodyPr/>
          <a:lstStyle/>
          <a:p>
            <a:endParaRPr lang="en-US"/>
          </a:p>
        </p:txBody>
      </p:sp>
      <p:sp>
        <p:nvSpPr>
          <p:cNvPr id="31" name="Text 29">
            <a:extLst>
              <a:ext uri="{FF2B5EF4-FFF2-40B4-BE49-F238E27FC236}">
                <a16:creationId xmlns:a16="http://schemas.microsoft.com/office/drawing/2014/main" id="{6ACF8E14-750F-4227-A019-3933CA7348C0}"/>
              </a:ext>
            </a:extLst>
          </p:cNvPr>
          <p:cNvSpPr>
            <a:spLocks noGrp="1"/>
          </p:cNvSpPr>
          <p:nvPr/>
        </p:nvSpPr>
        <p:spPr>
          <a:xfrm>
            <a:off x="1133856" y="5175504"/>
            <a:ext cx="2048256" cy="182880"/>
          </a:xfrm>
          <a:prstGeom prst="rect">
            <a:avLst/>
          </a:prstGeom>
          <a:noFill/>
        </p:spPr>
        <p:txBody>
          <a:bodyPr wrap="square" lIns="508" tIns="508" rIns="508" bIns="508" anchor="t">
            <a:normAutofit/>
          </a:bodyPr>
          <a:lstStyle/>
          <a:p>
            <a:pPr marL="0" indent="0" algn="l">
              <a:buNone/>
            </a:pPr>
            <a:r>
              <a:rPr sz="1080" b="1">
                <a:solidFill>
                  <a:srgbClr val="111827"/>
                </a:solidFill>
                <a:latin typeface="Aptos"/>
                <a:ea typeface="Aptos"/>
                <a:cs typeface="Aptos"/>
              </a:rPr>
              <a:t>Genome pairs</a:t>
            </a:r>
          </a:p>
        </p:txBody>
      </p:sp>
      <p:sp>
        <p:nvSpPr>
          <p:cNvPr id="32" name="Text 30">
            <a:extLst>
              <a:ext uri="{FF2B5EF4-FFF2-40B4-BE49-F238E27FC236}">
                <a16:creationId xmlns:a16="http://schemas.microsoft.com/office/drawing/2014/main" id="{EA10586D-9AFB-4470-B9AF-F5225A8E956E}"/>
              </a:ext>
            </a:extLst>
          </p:cNvPr>
          <p:cNvSpPr>
            <a:spLocks noGrp="1"/>
          </p:cNvSpPr>
          <p:nvPr/>
        </p:nvSpPr>
        <p:spPr>
          <a:xfrm>
            <a:off x="3858768" y="5010912"/>
            <a:ext cx="1463040" cy="329184"/>
          </a:xfrm>
          <a:prstGeom prst="rect">
            <a:avLst/>
          </a:prstGeom>
          <a:noFill/>
        </p:spPr>
        <p:txBody>
          <a:bodyPr wrap="square" lIns="508" tIns="508" rIns="508" bIns="508" anchor="t">
            <a:normAutofit/>
          </a:bodyPr>
          <a:lstStyle/>
          <a:p>
            <a:pPr marL="0" indent="0" algn="l">
              <a:buNone/>
            </a:pPr>
            <a:r>
              <a:rPr sz="1800" b="1">
                <a:solidFill>
                  <a:srgbClr val="111827"/>
                </a:solidFill>
                <a:latin typeface="Aptos"/>
                <a:ea typeface="Aptos"/>
                <a:cs typeface="Aptos"/>
              </a:rPr>
              <a:t>963</a:t>
            </a:r>
          </a:p>
        </p:txBody>
      </p:sp>
      <p:sp>
        <p:nvSpPr>
          <p:cNvPr id="33" name="Text 31">
            <a:extLst>
              <a:ext uri="{FF2B5EF4-FFF2-40B4-BE49-F238E27FC236}">
                <a16:creationId xmlns:a16="http://schemas.microsoft.com/office/drawing/2014/main" id="{0137B930-90DD-4230-A4E5-5BA06FA9AC8A}"/>
              </a:ext>
            </a:extLst>
          </p:cNvPr>
          <p:cNvSpPr>
            <a:spLocks noGrp="1"/>
          </p:cNvSpPr>
          <p:nvPr/>
        </p:nvSpPr>
        <p:spPr>
          <a:xfrm>
            <a:off x="5376672" y="5074920"/>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all unordered within-participant canonical genome comparisons</a:t>
            </a:r>
          </a:p>
        </p:txBody>
      </p:sp>
      <p:sp>
        <p:nvSpPr>
          <p:cNvPr id="34" name="Shape 32">
            <a:extLst>
              <a:ext uri="{FF2B5EF4-FFF2-40B4-BE49-F238E27FC236}">
                <a16:creationId xmlns:a16="http://schemas.microsoft.com/office/drawing/2014/main" id="{C970E390-D33A-4BF3-AFD8-6BF6ADDD577A}"/>
              </a:ext>
            </a:extLst>
          </p:cNvPr>
          <p:cNvSpPr>
            <a:spLocks noGrp="1"/>
          </p:cNvSpPr>
          <p:nvPr/>
        </p:nvSpPr>
        <p:spPr>
          <a:xfrm>
            <a:off x="7571232" y="5705856"/>
            <a:ext cx="2651760" cy="256032"/>
          </a:xfrm>
          <a:prstGeom prst="roundRect">
            <a:avLst/>
          </a:prstGeom>
          <a:solidFill>
            <a:srgbClr val="EEF3F8"/>
          </a:solidFill>
          <a:ln w="12700">
            <a:solidFill>
              <a:srgbClr val="FFFFFF">
                <a:alpha val="0"/>
              </a:srgbClr>
            </a:solidFill>
            <a:prstDash val="solid"/>
          </a:ln>
        </p:spPr>
        <p:txBody>
          <a:bodyPr/>
          <a:lstStyle/>
          <a:p>
            <a:endParaRPr lang="en-US"/>
          </a:p>
        </p:txBody>
      </p:sp>
      <p:sp>
        <p:nvSpPr>
          <p:cNvPr id="35" name="Text 33">
            <a:extLst>
              <a:ext uri="{FF2B5EF4-FFF2-40B4-BE49-F238E27FC236}">
                <a16:creationId xmlns:a16="http://schemas.microsoft.com/office/drawing/2014/main" id="{B9EF6E9A-1CFB-40C3-91EB-187FDDC9B533}"/>
              </a:ext>
            </a:extLst>
          </p:cNvPr>
          <p:cNvSpPr>
            <a:spLocks noGrp="1"/>
          </p:cNvSpPr>
          <p:nvPr/>
        </p:nvSpPr>
        <p:spPr>
          <a:xfrm>
            <a:off x="7626096" y="5760720"/>
            <a:ext cx="2542032" cy="128016"/>
          </a:xfrm>
          <a:prstGeom prst="rect">
            <a:avLst/>
          </a:prstGeom>
          <a:noFill/>
        </p:spPr>
        <p:txBody>
          <a:bodyPr wrap="square" lIns="508" tIns="508" rIns="508" bIns="508" anchor="t">
            <a:normAutofit fontScale="75805"/>
          </a:bodyPr>
          <a:lstStyle/>
          <a:p>
            <a:pPr marL="0" indent="0" algn="ctr">
              <a:buNone/>
            </a:pPr>
            <a:r>
              <a:rPr sz="750" b="1">
                <a:solidFill>
                  <a:srgbClr val="64748B"/>
                </a:solidFill>
                <a:latin typeface="Aptos"/>
                <a:ea typeface="Aptos"/>
                <a:cs typeface="Aptos"/>
              </a:rPr>
              <a:t>One participant can contribute several episodes, genome pairs and transitions.</a:t>
            </a:r>
          </a:p>
        </p:txBody>
      </p:sp>
    </p:spTree>
    <p:extLst>
      <p:ext uri="{BB962C8B-B14F-4D97-AF65-F5344CB8AC3E}">
        <p14:creationId xmlns:p14="http://schemas.microsoft.com/office/powerpoint/2010/main" val="879595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F0CEE3D-41B1-421E-BA15-1D4C6A0C34D7}"/>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74F9BA63-11AC-43C7-BAD4-078F4A1FF304}"/>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177D2801-C753-4F7D-9207-AC1B72A991CC}"/>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CLINICAL CLASSIFICATION</a:t>
            </a:r>
          </a:p>
        </p:txBody>
      </p:sp>
      <p:sp>
        <p:nvSpPr>
          <p:cNvPr id="5" name="Text 3">
            <a:extLst>
              <a:ext uri="{FF2B5EF4-FFF2-40B4-BE49-F238E27FC236}">
                <a16:creationId xmlns:a16="http://schemas.microsoft.com/office/drawing/2014/main" id="{0FE2EC20-FE0B-42EA-AB11-0FABFA8C6B70}"/>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UTI requires culture support plus compatible symptoms</a:t>
            </a:r>
          </a:p>
        </p:txBody>
      </p:sp>
      <p:sp>
        <p:nvSpPr>
          <p:cNvPr id="6" name="Text 4">
            <a:extLst>
              <a:ext uri="{FF2B5EF4-FFF2-40B4-BE49-F238E27FC236}">
                <a16:creationId xmlns:a16="http://schemas.microsoft.com/office/drawing/2014/main" id="{AD246E74-A437-40F4-BBF0-3BB36E3B25A9}"/>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The clinical label is constructed independently of assembler choice.</a:t>
            </a:r>
          </a:p>
        </p:txBody>
      </p:sp>
      <p:sp>
        <p:nvSpPr>
          <p:cNvPr id="7" name="Shape 5">
            <a:extLst>
              <a:ext uri="{FF2B5EF4-FFF2-40B4-BE49-F238E27FC236}">
                <a16:creationId xmlns:a16="http://schemas.microsoft.com/office/drawing/2014/main" id="{76AB11E1-591C-4DA9-845A-70498F8FC8B6}"/>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ADB0B151-85E2-4B0E-BCCD-D26B9A4E217B}"/>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6AF32953-9BEA-437D-94BD-F47F771EFBE6}"/>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      Source: results/clinical/status_map.csv | primary catheter-adjusted definition</a:t>
            </a:r>
          </a:p>
        </p:txBody>
      </p:sp>
      <p:sp>
        <p:nvSpPr>
          <p:cNvPr id="10" name="Text 8">
            <a:extLst>
              <a:ext uri="{FF2B5EF4-FFF2-40B4-BE49-F238E27FC236}">
                <a16:creationId xmlns:a16="http://schemas.microsoft.com/office/drawing/2014/main" id="{ED186583-2488-4D69-A2E3-69D7506B12D7}"/>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03</a:t>
            </a:r>
          </a:p>
        </p:txBody>
      </p:sp>
      <p:sp>
        <p:nvSpPr>
          <p:cNvPr id="11" name="Shape 9">
            <a:extLst>
              <a:ext uri="{FF2B5EF4-FFF2-40B4-BE49-F238E27FC236}">
                <a16:creationId xmlns:a16="http://schemas.microsoft.com/office/drawing/2014/main" id="{56A70D00-5ADD-422B-BC68-01B60536C33C}"/>
              </a:ext>
            </a:extLst>
          </p:cNvPr>
          <p:cNvSpPr>
            <a:spLocks noGrp="1"/>
          </p:cNvSpPr>
          <p:nvPr/>
        </p:nvSpPr>
        <p:spPr>
          <a:xfrm>
            <a:off x="786384" y="1737360"/>
            <a:ext cx="2889504" cy="1426464"/>
          </a:xfrm>
          <a:prstGeom prst="roundRect">
            <a:avLst/>
          </a:prstGeom>
          <a:solidFill>
            <a:srgbClr val="E8F1FA"/>
          </a:solidFill>
          <a:ln w="10160">
            <a:solidFill>
              <a:srgbClr val="B9D5F0"/>
            </a:solidFill>
            <a:prstDash val="solid"/>
          </a:ln>
        </p:spPr>
        <p:txBody>
          <a:bodyPr/>
          <a:lstStyle/>
          <a:p>
            <a:endParaRPr lang="en-US"/>
          </a:p>
        </p:txBody>
      </p:sp>
      <p:sp>
        <p:nvSpPr>
          <p:cNvPr id="12" name="Text 10">
            <a:extLst>
              <a:ext uri="{FF2B5EF4-FFF2-40B4-BE49-F238E27FC236}">
                <a16:creationId xmlns:a16="http://schemas.microsoft.com/office/drawing/2014/main" id="{93C854A9-80C0-4601-9126-31C279FE2A22}"/>
              </a:ext>
            </a:extLst>
          </p:cNvPr>
          <p:cNvSpPr>
            <a:spLocks noGrp="1"/>
          </p:cNvSpPr>
          <p:nvPr/>
        </p:nvSpPr>
        <p:spPr>
          <a:xfrm>
            <a:off x="950976" y="1883664"/>
            <a:ext cx="2560320" cy="329184"/>
          </a:xfrm>
          <a:prstGeom prst="rect">
            <a:avLst/>
          </a:prstGeom>
          <a:noFill/>
        </p:spPr>
        <p:txBody>
          <a:bodyPr wrap="square" lIns="508" tIns="508" rIns="508" bIns="508" anchor="t">
            <a:normAutofit/>
          </a:bodyPr>
          <a:lstStyle/>
          <a:p>
            <a:pPr marL="0" indent="0" algn="l">
              <a:buNone/>
            </a:pPr>
            <a:r>
              <a:rPr sz="1300" b="1">
                <a:solidFill>
                  <a:srgbClr val="2B6CB0"/>
                </a:solidFill>
                <a:latin typeface="Aptos"/>
                <a:ea typeface="Aptos"/>
                <a:cs typeface="Aptos"/>
              </a:rPr>
              <a:t>1. Culture support</a:t>
            </a:r>
          </a:p>
        </p:txBody>
      </p:sp>
      <p:sp>
        <p:nvSpPr>
          <p:cNvPr id="13" name="Text 11">
            <a:extLst>
              <a:ext uri="{FF2B5EF4-FFF2-40B4-BE49-F238E27FC236}">
                <a16:creationId xmlns:a16="http://schemas.microsoft.com/office/drawing/2014/main" id="{F67369C7-263A-485F-8E76-EE6C5C9DE287}"/>
              </a:ext>
            </a:extLst>
          </p:cNvPr>
          <p:cNvSpPr>
            <a:spLocks noGrp="1"/>
          </p:cNvSpPr>
          <p:nvPr/>
        </p:nvSpPr>
        <p:spPr>
          <a:xfrm>
            <a:off x="950976" y="2231136"/>
            <a:ext cx="2560320" cy="896112"/>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Recorded CFU is used where available; a documented Beoord-category lower bound is used when CFU is absent.</a:t>
            </a:r>
          </a:p>
        </p:txBody>
      </p:sp>
      <p:sp>
        <p:nvSpPr>
          <p:cNvPr id="14" name="Text 12">
            <a:extLst>
              <a:ext uri="{FF2B5EF4-FFF2-40B4-BE49-F238E27FC236}">
                <a16:creationId xmlns:a16="http://schemas.microsoft.com/office/drawing/2014/main" id="{7E906B0C-738D-4D2F-A0BD-5AD73E26E934}"/>
              </a:ext>
            </a:extLst>
          </p:cNvPr>
          <p:cNvSpPr>
            <a:spLocks noGrp="1"/>
          </p:cNvSpPr>
          <p:nvPr/>
        </p:nvSpPr>
        <p:spPr>
          <a:xfrm>
            <a:off x="950976" y="2779776"/>
            <a:ext cx="2514600" cy="182880"/>
          </a:xfrm>
          <a:prstGeom prst="rect">
            <a:avLst/>
          </a:prstGeom>
          <a:noFill/>
        </p:spPr>
        <p:txBody>
          <a:bodyPr wrap="square" lIns="508" tIns="508" rIns="508" bIns="508" anchor="t">
            <a:normAutofit/>
          </a:bodyPr>
          <a:lstStyle/>
          <a:p>
            <a:pPr marL="0" indent="0" algn="ctr">
              <a:buNone/>
            </a:pPr>
            <a:r>
              <a:rPr sz="820" b="1">
                <a:solidFill>
                  <a:srgbClr val="2B6CB0"/>
                </a:solidFill>
                <a:latin typeface="Aptos"/>
                <a:ea typeface="Aptos"/>
                <a:cs typeface="Aptos"/>
              </a:rPr>
              <a:t>&gt;=10^3 CFU/mL lower-bound rule</a:t>
            </a:r>
          </a:p>
        </p:txBody>
      </p:sp>
      <p:sp>
        <p:nvSpPr>
          <p:cNvPr id="16" name="Text 14">
            <a:extLst>
              <a:ext uri="{FF2B5EF4-FFF2-40B4-BE49-F238E27FC236}">
                <a16:creationId xmlns:a16="http://schemas.microsoft.com/office/drawing/2014/main" id="{63390EC2-D860-4D9D-82CE-B3D0ECD68EF1}"/>
              </a:ext>
            </a:extLst>
          </p:cNvPr>
          <p:cNvSpPr>
            <a:spLocks noGrp="1"/>
          </p:cNvSpPr>
          <p:nvPr/>
        </p:nvSpPr>
        <p:spPr>
          <a:xfrm>
            <a:off x="4160520" y="2331720"/>
            <a:ext cx="256032" cy="182880"/>
          </a:xfrm>
          <a:prstGeom prst="rect">
            <a:avLst/>
          </a:prstGeom>
          <a:noFill/>
        </p:spPr>
        <p:txBody>
          <a:bodyPr wrap="square" lIns="508" tIns="508" rIns="508" bIns="508" anchor="t">
            <a:normAutofit fontScale="70196"/>
          </a:bodyPr>
          <a:lstStyle/>
          <a:p>
            <a:pPr marL="0" indent="0" algn="ctr">
              <a:buNone/>
            </a:pPr>
            <a:r>
              <a:rPr sz="1700" b="1">
                <a:solidFill>
                  <a:srgbClr val="111827"/>
                </a:solidFill>
                <a:latin typeface="Aptos"/>
                <a:ea typeface="Aptos"/>
                <a:cs typeface="Aptos"/>
              </a:rPr>
              <a:t>+</a:t>
            </a:r>
          </a:p>
        </p:txBody>
      </p:sp>
      <p:sp>
        <p:nvSpPr>
          <p:cNvPr id="17" name="Shape 15">
            <a:extLst>
              <a:ext uri="{FF2B5EF4-FFF2-40B4-BE49-F238E27FC236}">
                <a16:creationId xmlns:a16="http://schemas.microsoft.com/office/drawing/2014/main" id="{9FF916AD-2237-4F59-9AB1-9574D225598A}"/>
              </a:ext>
            </a:extLst>
          </p:cNvPr>
          <p:cNvSpPr>
            <a:spLocks noGrp="1"/>
          </p:cNvSpPr>
          <p:nvPr/>
        </p:nvSpPr>
        <p:spPr>
          <a:xfrm>
            <a:off x="4828032" y="1737360"/>
            <a:ext cx="2889504" cy="1426464"/>
          </a:xfrm>
          <a:prstGeom prst="roundRect">
            <a:avLst/>
          </a:prstGeom>
          <a:solidFill>
            <a:srgbClr val="EAF7EF"/>
          </a:solidFill>
          <a:ln w="10160">
            <a:solidFill>
              <a:srgbClr val="BCE4C9"/>
            </a:solidFill>
            <a:prstDash val="solid"/>
          </a:ln>
        </p:spPr>
        <p:txBody>
          <a:bodyPr/>
          <a:lstStyle/>
          <a:p>
            <a:endParaRPr lang="en-US"/>
          </a:p>
        </p:txBody>
      </p:sp>
      <p:sp>
        <p:nvSpPr>
          <p:cNvPr id="18" name="Text 16">
            <a:extLst>
              <a:ext uri="{FF2B5EF4-FFF2-40B4-BE49-F238E27FC236}">
                <a16:creationId xmlns:a16="http://schemas.microsoft.com/office/drawing/2014/main" id="{52DFC210-8ADA-4651-8619-33ADB155017B}"/>
              </a:ext>
            </a:extLst>
          </p:cNvPr>
          <p:cNvSpPr>
            <a:spLocks noGrp="1"/>
          </p:cNvSpPr>
          <p:nvPr/>
        </p:nvSpPr>
        <p:spPr>
          <a:xfrm>
            <a:off x="4992624" y="1883664"/>
            <a:ext cx="2560320" cy="329184"/>
          </a:xfrm>
          <a:prstGeom prst="rect">
            <a:avLst/>
          </a:prstGeom>
          <a:noFill/>
        </p:spPr>
        <p:txBody>
          <a:bodyPr wrap="square" lIns="508" tIns="508" rIns="508" bIns="508" anchor="t">
            <a:normAutofit/>
          </a:bodyPr>
          <a:lstStyle/>
          <a:p>
            <a:pPr marL="0" indent="0" algn="l">
              <a:buNone/>
            </a:pPr>
            <a:r>
              <a:rPr sz="1300" b="1">
                <a:solidFill>
                  <a:srgbClr val="2F855A"/>
                </a:solidFill>
                <a:latin typeface="Aptos"/>
                <a:ea typeface="Aptos"/>
                <a:cs typeface="Aptos"/>
              </a:rPr>
              <a:t>2. Symptom rule</a:t>
            </a:r>
          </a:p>
        </p:txBody>
      </p:sp>
      <p:sp>
        <p:nvSpPr>
          <p:cNvPr id="19" name="Text 17">
            <a:extLst>
              <a:ext uri="{FF2B5EF4-FFF2-40B4-BE49-F238E27FC236}">
                <a16:creationId xmlns:a16="http://schemas.microsoft.com/office/drawing/2014/main" id="{8306F60E-CBB6-4295-84BA-ABA8DAE9922E}"/>
              </a:ext>
            </a:extLst>
          </p:cNvPr>
          <p:cNvSpPr>
            <a:spLocks noGrp="1"/>
          </p:cNvSpPr>
          <p:nvPr/>
        </p:nvSpPr>
        <p:spPr>
          <a:xfrm>
            <a:off x="4992624" y="2231136"/>
            <a:ext cx="2560320" cy="896112"/>
          </a:xfrm>
          <a:prstGeom prst="rect">
            <a:avLst/>
          </a:prstGeom>
          <a:noFill/>
        </p:spPr>
        <p:txBody>
          <a:bodyPr wrap="square" lIns="508" tIns="508" rIns="508" bIns="508" anchor="t">
            <a:normAutofit/>
          </a:bodyPr>
          <a:lstStyle/>
          <a:p>
            <a:pPr marL="0" indent="0" algn="l">
              <a:buNone/>
            </a:pPr>
            <a:r>
              <a:rPr sz="970" dirty="0">
                <a:solidFill>
                  <a:srgbClr val="64748B"/>
                </a:solidFill>
                <a:latin typeface="Aptos"/>
                <a:ea typeface="Aptos"/>
                <a:cs typeface="Aptos"/>
              </a:rPr>
              <a:t>Non-catheter: local symptoms, or flank pain plus systemic symptoms. Catheter: systemic symptoms.</a:t>
            </a:r>
          </a:p>
        </p:txBody>
      </p:sp>
      <p:sp>
        <p:nvSpPr>
          <p:cNvPr id="20" name="Text 18">
            <a:extLst>
              <a:ext uri="{FF2B5EF4-FFF2-40B4-BE49-F238E27FC236}">
                <a16:creationId xmlns:a16="http://schemas.microsoft.com/office/drawing/2014/main" id="{29510ED3-05D6-4D02-9B34-BD8AE7588593}"/>
              </a:ext>
            </a:extLst>
          </p:cNvPr>
          <p:cNvSpPr>
            <a:spLocks noGrp="1"/>
          </p:cNvSpPr>
          <p:nvPr/>
        </p:nvSpPr>
        <p:spPr>
          <a:xfrm>
            <a:off x="5212080" y="2779776"/>
            <a:ext cx="2103120" cy="182880"/>
          </a:xfrm>
          <a:prstGeom prst="rect">
            <a:avLst/>
          </a:prstGeom>
          <a:noFill/>
        </p:spPr>
        <p:txBody>
          <a:bodyPr wrap="square" lIns="508" tIns="508" rIns="508" bIns="508" anchor="t">
            <a:normAutofit/>
          </a:bodyPr>
          <a:lstStyle/>
          <a:p>
            <a:pPr marL="0" indent="0" algn="ctr">
              <a:buNone/>
            </a:pPr>
            <a:r>
              <a:rPr sz="820" b="1">
                <a:solidFill>
                  <a:srgbClr val="2F855A"/>
                </a:solidFill>
                <a:latin typeface="Aptos"/>
                <a:ea typeface="Aptos"/>
                <a:cs typeface="Aptos"/>
              </a:rPr>
              <a:t>catheter-aware symptom rule</a:t>
            </a:r>
          </a:p>
        </p:txBody>
      </p:sp>
      <p:sp>
        <p:nvSpPr>
          <p:cNvPr id="21" name="Shape 19">
            <a:extLst>
              <a:ext uri="{FF2B5EF4-FFF2-40B4-BE49-F238E27FC236}">
                <a16:creationId xmlns:a16="http://schemas.microsoft.com/office/drawing/2014/main" id="{FC716151-5CBE-4BCB-AA2E-AFBD2EBD2AC1}"/>
              </a:ext>
            </a:extLst>
          </p:cNvPr>
          <p:cNvSpPr>
            <a:spLocks noGrp="1"/>
          </p:cNvSpPr>
          <p:nvPr/>
        </p:nvSpPr>
        <p:spPr>
          <a:xfrm>
            <a:off x="7882128" y="2468880"/>
            <a:ext cx="768096" cy="0"/>
          </a:xfrm>
          <a:prstGeom prst="line">
            <a:avLst/>
          </a:prstGeom>
          <a:noFill/>
          <a:ln w="20320">
            <a:solidFill>
              <a:srgbClr val="94A3B8"/>
            </a:solidFill>
            <a:prstDash val="solid"/>
            <a:tailEnd type="triangle"/>
          </a:ln>
        </p:spPr>
        <p:txBody>
          <a:bodyPr/>
          <a:lstStyle/>
          <a:p>
            <a:endParaRPr lang="en-US"/>
          </a:p>
        </p:txBody>
      </p:sp>
      <p:sp>
        <p:nvSpPr>
          <p:cNvPr id="22" name="Shape 20">
            <a:extLst>
              <a:ext uri="{FF2B5EF4-FFF2-40B4-BE49-F238E27FC236}">
                <a16:creationId xmlns:a16="http://schemas.microsoft.com/office/drawing/2014/main" id="{A9BA0B1E-9E32-4548-B236-A5C068D2E596}"/>
              </a:ext>
            </a:extLst>
          </p:cNvPr>
          <p:cNvSpPr>
            <a:spLocks noGrp="1"/>
          </p:cNvSpPr>
          <p:nvPr/>
        </p:nvSpPr>
        <p:spPr>
          <a:xfrm>
            <a:off x="8851392" y="1938528"/>
            <a:ext cx="2231136" cy="1005840"/>
          </a:xfrm>
          <a:prstGeom prst="roundRect">
            <a:avLst/>
          </a:prstGeom>
          <a:solidFill>
            <a:srgbClr val="FFF4E6"/>
          </a:solidFill>
          <a:ln w="10160">
            <a:solidFill>
              <a:srgbClr val="F4B15F"/>
            </a:solidFill>
            <a:prstDash val="solid"/>
          </a:ln>
        </p:spPr>
        <p:txBody>
          <a:bodyPr/>
          <a:lstStyle/>
          <a:p>
            <a:endParaRPr lang="en-US"/>
          </a:p>
        </p:txBody>
      </p:sp>
      <p:sp>
        <p:nvSpPr>
          <p:cNvPr id="23" name="Text 21">
            <a:extLst>
              <a:ext uri="{FF2B5EF4-FFF2-40B4-BE49-F238E27FC236}">
                <a16:creationId xmlns:a16="http://schemas.microsoft.com/office/drawing/2014/main" id="{2BD2BD67-7038-4FF8-8D1C-624F8A6FCC30}"/>
              </a:ext>
            </a:extLst>
          </p:cNvPr>
          <p:cNvSpPr>
            <a:spLocks noGrp="1"/>
          </p:cNvSpPr>
          <p:nvPr/>
        </p:nvSpPr>
        <p:spPr>
          <a:xfrm>
            <a:off x="9015984" y="2084832"/>
            <a:ext cx="1901952" cy="329184"/>
          </a:xfrm>
          <a:prstGeom prst="rect">
            <a:avLst/>
          </a:prstGeom>
          <a:noFill/>
        </p:spPr>
        <p:txBody>
          <a:bodyPr wrap="square" lIns="508" tIns="508" rIns="508" bIns="508" anchor="t">
            <a:normAutofit/>
          </a:bodyPr>
          <a:lstStyle/>
          <a:p>
            <a:pPr marL="0" indent="0" algn="l">
              <a:buNone/>
            </a:pPr>
            <a:r>
              <a:rPr sz="1900" b="1">
                <a:solidFill>
                  <a:srgbClr val="D97706"/>
                </a:solidFill>
                <a:latin typeface="Aptos"/>
                <a:ea typeface="Aptos"/>
                <a:cs typeface="Aptos"/>
              </a:rPr>
              <a:t>UTI</a:t>
            </a:r>
          </a:p>
        </p:txBody>
      </p:sp>
      <p:sp>
        <p:nvSpPr>
          <p:cNvPr id="24" name="Text 22">
            <a:extLst>
              <a:ext uri="{FF2B5EF4-FFF2-40B4-BE49-F238E27FC236}">
                <a16:creationId xmlns:a16="http://schemas.microsoft.com/office/drawing/2014/main" id="{1D50D3D9-B3B4-4D30-8F89-99DAC9721D23}"/>
              </a:ext>
            </a:extLst>
          </p:cNvPr>
          <p:cNvSpPr>
            <a:spLocks noGrp="1"/>
          </p:cNvSpPr>
          <p:nvPr/>
        </p:nvSpPr>
        <p:spPr>
          <a:xfrm>
            <a:off x="9015984" y="2432304"/>
            <a:ext cx="1901952" cy="475488"/>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Both components met</a:t>
            </a:r>
          </a:p>
        </p:txBody>
      </p:sp>
      <p:sp>
        <p:nvSpPr>
          <p:cNvPr id="25" name="Shape 23">
            <a:extLst>
              <a:ext uri="{FF2B5EF4-FFF2-40B4-BE49-F238E27FC236}">
                <a16:creationId xmlns:a16="http://schemas.microsoft.com/office/drawing/2014/main" id="{62599841-4364-43D1-80C7-7BF30900E59B}"/>
              </a:ext>
            </a:extLst>
          </p:cNvPr>
          <p:cNvSpPr>
            <a:spLocks noGrp="1"/>
          </p:cNvSpPr>
          <p:nvPr/>
        </p:nvSpPr>
        <p:spPr>
          <a:xfrm>
            <a:off x="932688" y="3986784"/>
            <a:ext cx="4736592" cy="950976"/>
          </a:xfrm>
          <a:prstGeom prst="roundRect">
            <a:avLst/>
          </a:prstGeom>
          <a:solidFill>
            <a:srgbClr val="FFF4E6"/>
          </a:solidFill>
          <a:ln w="10160">
            <a:solidFill>
              <a:srgbClr val="F4B15F"/>
            </a:solidFill>
            <a:prstDash val="solid"/>
          </a:ln>
        </p:spPr>
        <p:txBody>
          <a:bodyPr/>
          <a:lstStyle/>
          <a:p>
            <a:endParaRPr lang="en-US"/>
          </a:p>
        </p:txBody>
      </p:sp>
      <p:sp>
        <p:nvSpPr>
          <p:cNvPr id="26" name="Text 24">
            <a:extLst>
              <a:ext uri="{FF2B5EF4-FFF2-40B4-BE49-F238E27FC236}">
                <a16:creationId xmlns:a16="http://schemas.microsoft.com/office/drawing/2014/main" id="{B2A6C6F2-1BEE-4168-ADAF-49329D88FC4E}"/>
              </a:ext>
            </a:extLst>
          </p:cNvPr>
          <p:cNvSpPr>
            <a:spLocks noGrp="1"/>
          </p:cNvSpPr>
          <p:nvPr/>
        </p:nvSpPr>
        <p:spPr>
          <a:xfrm>
            <a:off x="1097280" y="4133088"/>
            <a:ext cx="4407408" cy="329184"/>
          </a:xfrm>
          <a:prstGeom prst="rect">
            <a:avLst/>
          </a:prstGeom>
          <a:noFill/>
        </p:spPr>
        <p:txBody>
          <a:bodyPr wrap="square" lIns="508" tIns="508" rIns="508" bIns="508" anchor="t">
            <a:normAutofit/>
          </a:bodyPr>
          <a:lstStyle/>
          <a:p>
            <a:pPr marL="0" indent="0" algn="l">
              <a:buNone/>
            </a:pPr>
            <a:r>
              <a:rPr sz="1250" b="1">
                <a:solidFill>
                  <a:srgbClr val="D97706"/>
                </a:solidFill>
                <a:latin typeface="Aptos"/>
                <a:ea typeface="Aptos"/>
                <a:cs typeface="Aptos"/>
              </a:rPr>
              <a:t>Primary clinical denominator</a:t>
            </a:r>
          </a:p>
        </p:txBody>
      </p:sp>
      <p:sp>
        <p:nvSpPr>
          <p:cNvPr id="27" name="Text 25">
            <a:extLst>
              <a:ext uri="{FF2B5EF4-FFF2-40B4-BE49-F238E27FC236}">
                <a16:creationId xmlns:a16="http://schemas.microsoft.com/office/drawing/2014/main" id="{5CBFFAD9-C130-4A14-B0AE-EB5613217C24}"/>
              </a:ext>
            </a:extLst>
          </p:cNvPr>
          <p:cNvSpPr>
            <a:spLocks noGrp="1"/>
          </p:cNvSpPr>
          <p:nvPr/>
        </p:nvSpPr>
        <p:spPr>
          <a:xfrm>
            <a:off x="1097280" y="4480560"/>
            <a:ext cx="4407408" cy="420624"/>
          </a:xfrm>
          <a:prstGeom prst="rect">
            <a:avLst/>
          </a:prstGeom>
          <a:noFill/>
        </p:spPr>
        <p:txBody>
          <a:bodyPr wrap="square" lIns="508" tIns="508" rIns="508" bIns="508" anchor="t">
            <a:normAutofit/>
          </a:bodyPr>
          <a:lstStyle/>
          <a:p>
            <a:pPr marL="0" indent="0" algn="l">
              <a:buNone/>
            </a:pPr>
            <a:r>
              <a:rPr sz="1230">
                <a:solidFill>
                  <a:srgbClr val="111827"/>
                </a:solidFill>
                <a:latin typeface="Aptos"/>
                <a:ea typeface="Aptos"/>
                <a:cs typeface="Aptos"/>
              </a:rPr>
              <a:t>585 records -&gt; 583 included from 166 participants: 18 UTI and 565 Not_UTI</a:t>
            </a:r>
          </a:p>
        </p:txBody>
      </p:sp>
      <p:sp>
        <p:nvSpPr>
          <p:cNvPr id="28" name="Shape 26">
            <a:extLst>
              <a:ext uri="{FF2B5EF4-FFF2-40B4-BE49-F238E27FC236}">
                <a16:creationId xmlns:a16="http://schemas.microsoft.com/office/drawing/2014/main" id="{6BC270C7-6885-4387-9A27-C00076D7CE28}"/>
              </a:ext>
            </a:extLst>
          </p:cNvPr>
          <p:cNvSpPr>
            <a:spLocks noGrp="1"/>
          </p:cNvSpPr>
          <p:nvPr/>
        </p:nvSpPr>
        <p:spPr>
          <a:xfrm>
            <a:off x="6400800" y="3986784"/>
            <a:ext cx="4736592" cy="950976"/>
          </a:xfrm>
          <a:prstGeom prst="roundRect">
            <a:avLst/>
          </a:prstGeom>
          <a:solidFill>
            <a:srgbClr val="EEF3F8"/>
          </a:solidFill>
          <a:ln w="10160">
            <a:solidFill>
              <a:srgbClr val="CBD5E1"/>
            </a:solidFill>
            <a:prstDash val="solid"/>
          </a:ln>
        </p:spPr>
        <p:txBody>
          <a:bodyPr/>
          <a:lstStyle/>
          <a:p>
            <a:endParaRPr lang="en-US"/>
          </a:p>
        </p:txBody>
      </p:sp>
      <p:sp>
        <p:nvSpPr>
          <p:cNvPr id="29" name="Text 27">
            <a:extLst>
              <a:ext uri="{FF2B5EF4-FFF2-40B4-BE49-F238E27FC236}">
                <a16:creationId xmlns:a16="http://schemas.microsoft.com/office/drawing/2014/main" id="{83CC7A9C-1999-4E2F-BE47-783FCE9C2D50}"/>
              </a:ext>
            </a:extLst>
          </p:cNvPr>
          <p:cNvSpPr>
            <a:spLocks noGrp="1"/>
          </p:cNvSpPr>
          <p:nvPr/>
        </p:nvSpPr>
        <p:spPr>
          <a:xfrm>
            <a:off x="6565392" y="4133088"/>
            <a:ext cx="4407408" cy="329184"/>
          </a:xfrm>
          <a:prstGeom prst="rect">
            <a:avLst/>
          </a:prstGeom>
          <a:noFill/>
        </p:spPr>
        <p:txBody>
          <a:bodyPr wrap="square" lIns="508" tIns="508" rIns="508" bIns="508" anchor="t">
            <a:normAutofit/>
          </a:bodyPr>
          <a:lstStyle/>
          <a:p>
            <a:pPr marL="0" indent="0" algn="l">
              <a:buNone/>
            </a:pPr>
            <a:r>
              <a:rPr sz="1250" b="1">
                <a:solidFill>
                  <a:srgbClr val="111827"/>
                </a:solidFill>
                <a:latin typeface="Aptos"/>
                <a:ea typeface="Aptos"/>
                <a:cs typeface="Aptos"/>
              </a:rPr>
              <a:t>Not_UTI is not a healthy control</a:t>
            </a:r>
          </a:p>
        </p:txBody>
      </p:sp>
      <p:sp>
        <p:nvSpPr>
          <p:cNvPr id="30" name="Text 28">
            <a:extLst>
              <a:ext uri="{FF2B5EF4-FFF2-40B4-BE49-F238E27FC236}">
                <a16:creationId xmlns:a16="http://schemas.microsoft.com/office/drawing/2014/main" id="{B5CE9CA4-F9FA-4F7D-95FA-99641ADDFBEC}"/>
              </a:ext>
            </a:extLst>
          </p:cNvPr>
          <p:cNvSpPr>
            <a:spLocks noGrp="1"/>
          </p:cNvSpPr>
          <p:nvPr/>
        </p:nvSpPr>
        <p:spPr>
          <a:xfrm>
            <a:off x="6565392" y="4480560"/>
            <a:ext cx="4407408" cy="420624"/>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It includes episodes below threshold or with indeterminate evidence; it must not be treated as a healthy comparator.</a:t>
            </a:r>
          </a:p>
        </p:txBody>
      </p:sp>
    </p:spTree>
    <p:extLst>
      <p:ext uri="{BB962C8B-B14F-4D97-AF65-F5344CB8AC3E}">
        <p14:creationId xmlns:p14="http://schemas.microsoft.com/office/powerpoint/2010/main" val="11516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0BD7F2B-897A-44BF-BFA0-42F266D0BC2F}"/>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E0E2526A-E171-4686-B610-7F3CCB8E016F}"/>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788900E8-EF69-448F-8C0A-2AD7187D1625}"/>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ASSEMBLY SELECTION / DETAILED FLOW</a:t>
            </a:r>
          </a:p>
        </p:txBody>
      </p:sp>
      <p:sp>
        <p:nvSpPr>
          <p:cNvPr id="5" name="Text 3">
            <a:extLst>
              <a:ext uri="{FF2B5EF4-FFF2-40B4-BE49-F238E27FC236}">
                <a16:creationId xmlns:a16="http://schemas.microsoft.com/office/drawing/2014/main" id="{1F0C91C1-4746-476F-BC7A-687B368A4D55}"/>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Two evidence tracks converge into one episode-level genomic dataset</a:t>
            </a:r>
          </a:p>
        </p:txBody>
      </p:sp>
      <p:sp>
        <p:nvSpPr>
          <p:cNvPr id="6" name="Text 4">
            <a:extLst>
              <a:ext uri="{FF2B5EF4-FFF2-40B4-BE49-F238E27FC236}">
                <a16:creationId xmlns:a16="http://schemas.microsoft.com/office/drawing/2014/main" id="{7797EF10-CBB1-466B-9A6E-FAEA8DFCF134}"/>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Clinical status is assigned independently; assembly alternatives are QC-screened before one genome is selected per participant-timepoint.</a:t>
            </a:r>
          </a:p>
        </p:txBody>
      </p:sp>
      <p:sp>
        <p:nvSpPr>
          <p:cNvPr id="7" name="Shape 5">
            <a:extLst>
              <a:ext uri="{FF2B5EF4-FFF2-40B4-BE49-F238E27FC236}">
                <a16:creationId xmlns:a16="http://schemas.microsoft.com/office/drawing/2014/main" id="{60195517-F54A-4781-B91B-D9CE2B986E90}"/>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E9B6A799-4C33-4DC6-B11B-C15CFC894D70}"/>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9A140570-425D-4521-BB24-74B11498B727}"/>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Sources: metadata_fasta_discovery_manifest.csv; assembly_metadata.csv; canonical_assembly_selection.csv; status_map.csv</a:t>
            </a:r>
          </a:p>
        </p:txBody>
      </p:sp>
      <p:sp>
        <p:nvSpPr>
          <p:cNvPr id="10" name="Text 8">
            <a:extLst>
              <a:ext uri="{FF2B5EF4-FFF2-40B4-BE49-F238E27FC236}">
                <a16:creationId xmlns:a16="http://schemas.microsoft.com/office/drawing/2014/main" id="{63244E99-6289-403D-BF58-0829324DE59C}"/>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04</a:t>
            </a:r>
          </a:p>
        </p:txBody>
      </p:sp>
      <p:sp>
        <p:nvSpPr>
          <p:cNvPr id="11" name="Shape 9">
            <a:extLst>
              <a:ext uri="{FF2B5EF4-FFF2-40B4-BE49-F238E27FC236}">
                <a16:creationId xmlns:a16="http://schemas.microsoft.com/office/drawing/2014/main" id="{315C5E80-1F02-4033-8F39-CAEFFBAF6547}"/>
              </a:ext>
            </a:extLst>
          </p:cNvPr>
          <p:cNvSpPr>
            <a:spLocks noGrp="1"/>
          </p:cNvSpPr>
          <p:nvPr/>
        </p:nvSpPr>
        <p:spPr>
          <a:xfrm>
            <a:off x="676656" y="1627632"/>
            <a:ext cx="3218688" cy="987552"/>
          </a:xfrm>
          <a:prstGeom prst="roundRect">
            <a:avLst/>
          </a:prstGeom>
          <a:solidFill>
            <a:srgbClr val="FFF4E6"/>
          </a:solidFill>
          <a:ln w="10160">
            <a:solidFill>
              <a:srgbClr val="D8DEE8"/>
            </a:solidFill>
            <a:prstDash val="solid"/>
          </a:ln>
        </p:spPr>
        <p:txBody>
          <a:bodyPr/>
          <a:lstStyle/>
          <a:p>
            <a:endParaRPr lang="en-US"/>
          </a:p>
        </p:txBody>
      </p:sp>
      <p:sp>
        <p:nvSpPr>
          <p:cNvPr id="12" name="Text 10">
            <a:extLst>
              <a:ext uri="{FF2B5EF4-FFF2-40B4-BE49-F238E27FC236}">
                <a16:creationId xmlns:a16="http://schemas.microsoft.com/office/drawing/2014/main" id="{05E7ADD1-A1B3-4BDB-A3A2-604CF76A15E9}"/>
              </a:ext>
            </a:extLst>
          </p:cNvPr>
          <p:cNvSpPr>
            <a:spLocks noGrp="1"/>
          </p:cNvSpPr>
          <p:nvPr/>
        </p:nvSpPr>
        <p:spPr>
          <a:xfrm>
            <a:off x="1203198"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1,303 FASTAs</a:t>
            </a:r>
          </a:p>
        </p:txBody>
      </p:sp>
      <p:sp>
        <p:nvSpPr>
          <p:cNvPr id="13" name="Text 11">
            <a:extLst>
              <a:ext uri="{FF2B5EF4-FFF2-40B4-BE49-F238E27FC236}">
                <a16:creationId xmlns:a16="http://schemas.microsoft.com/office/drawing/2014/main" id="{D6B8AED5-6F8A-4AE8-ABFD-B444A4C3463D}"/>
              </a:ext>
            </a:extLst>
          </p:cNvPr>
          <p:cNvSpPr>
            <a:spLocks noGrp="1"/>
          </p:cNvSpPr>
          <p:nvPr/>
        </p:nvSpPr>
        <p:spPr>
          <a:xfrm>
            <a:off x="841248" y="2194560"/>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Candidate files discovered on disk</a:t>
            </a:r>
          </a:p>
        </p:txBody>
      </p:sp>
      <p:sp>
        <p:nvSpPr>
          <p:cNvPr id="14" name="Shape 12">
            <a:extLst>
              <a:ext uri="{FF2B5EF4-FFF2-40B4-BE49-F238E27FC236}">
                <a16:creationId xmlns:a16="http://schemas.microsoft.com/office/drawing/2014/main" id="{34D8E0AE-9458-45FD-8F39-3E62D5ADC378}"/>
              </a:ext>
            </a:extLst>
          </p:cNvPr>
          <p:cNvSpPr>
            <a:spLocks noGrp="1"/>
          </p:cNvSpPr>
          <p:nvPr/>
        </p:nvSpPr>
        <p:spPr>
          <a:xfrm>
            <a:off x="786384"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15" name="Text 13">
            <a:extLst>
              <a:ext uri="{FF2B5EF4-FFF2-40B4-BE49-F238E27FC236}">
                <a16:creationId xmlns:a16="http://schemas.microsoft.com/office/drawing/2014/main" id="{79F71501-2462-4944-933F-F0C56766FE5E}"/>
              </a:ext>
            </a:extLst>
          </p:cNvPr>
          <p:cNvSpPr>
            <a:spLocks noGrp="1"/>
          </p:cNvSpPr>
          <p:nvPr/>
        </p:nvSpPr>
        <p:spPr>
          <a:xfrm>
            <a:off x="786384"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1</a:t>
            </a:r>
          </a:p>
        </p:txBody>
      </p:sp>
      <p:sp>
        <p:nvSpPr>
          <p:cNvPr id="16" name="Text 14">
            <a:extLst>
              <a:ext uri="{FF2B5EF4-FFF2-40B4-BE49-F238E27FC236}">
                <a16:creationId xmlns:a16="http://schemas.microsoft.com/office/drawing/2014/main" id="{E061708A-A56C-4C83-A389-FE1EB0C8D35C}"/>
              </a:ext>
            </a:extLst>
          </p:cNvPr>
          <p:cNvSpPr>
            <a:spLocks noGrp="1"/>
          </p:cNvSpPr>
          <p:nvPr/>
        </p:nvSpPr>
        <p:spPr>
          <a:xfrm>
            <a:off x="1152144"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discovery manifest</a:t>
            </a:r>
          </a:p>
        </p:txBody>
      </p:sp>
      <p:sp>
        <p:nvSpPr>
          <p:cNvPr id="18" name="Shape 16">
            <a:extLst>
              <a:ext uri="{FF2B5EF4-FFF2-40B4-BE49-F238E27FC236}">
                <a16:creationId xmlns:a16="http://schemas.microsoft.com/office/drawing/2014/main" id="{9F3622A0-9863-41B4-BD14-C09B98B06092}"/>
              </a:ext>
            </a:extLst>
          </p:cNvPr>
          <p:cNvSpPr>
            <a:spLocks noGrp="1"/>
          </p:cNvSpPr>
          <p:nvPr/>
        </p:nvSpPr>
        <p:spPr>
          <a:xfrm>
            <a:off x="4389120" y="1627632"/>
            <a:ext cx="3218688" cy="987552"/>
          </a:xfrm>
          <a:prstGeom prst="roundRect">
            <a:avLst/>
          </a:prstGeom>
          <a:solidFill>
            <a:srgbClr val="FFF4E6"/>
          </a:solidFill>
          <a:ln w="10160">
            <a:solidFill>
              <a:srgbClr val="D8DEE8"/>
            </a:solidFill>
            <a:prstDash val="solid"/>
          </a:ln>
        </p:spPr>
        <p:txBody>
          <a:bodyPr/>
          <a:lstStyle/>
          <a:p>
            <a:endParaRPr lang="en-US"/>
          </a:p>
        </p:txBody>
      </p:sp>
      <p:sp>
        <p:nvSpPr>
          <p:cNvPr id="19" name="Text 17">
            <a:extLst>
              <a:ext uri="{FF2B5EF4-FFF2-40B4-BE49-F238E27FC236}">
                <a16:creationId xmlns:a16="http://schemas.microsoft.com/office/drawing/2014/main" id="{D164459E-2AF7-47A7-B083-853CD2135E1B}"/>
              </a:ext>
            </a:extLst>
          </p:cNvPr>
          <p:cNvSpPr>
            <a:spLocks noGrp="1"/>
          </p:cNvSpPr>
          <p:nvPr/>
        </p:nvSpPr>
        <p:spPr>
          <a:xfrm>
            <a:off x="4915662"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1,299 metadata rows</a:t>
            </a:r>
          </a:p>
        </p:txBody>
      </p:sp>
      <p:sp>
        <p:nvSpPr>
          <p:cNvPr id="20" name="Text 18">
            <a:extLst>
              <a:ext uri="{FF2B5EF4-FFF2-40B4-BE49-F238E27FC236}">
                <a16:creationId xmlns:a16="http://schemas.microsoft.com/office/drawing/2014/main" id="{687A05AC-A04A-4572-AF2E-085E6E216F05}"/>
              </a:ext>
            </a:extLst>
          </p:cNvPr>
          <p:cNvSpPr>
            <a:spLocks noGrp="1"/>
          </p:cNvSpPr>
          <p:nvPr/>
        </p:nvSpPr>
        <p:spPr>
          <a:xfrm>
            <a:off x="4553712" y="2194560"/>
            <a:ext cx="2889504" cy="420624"/>
          </a:xfrm>
          <a:prstGeom prst="rect">
            <a:avLst/>
          </a:prstGeom>
          <a:noFill/>
        </p:spPr>
        <p:txBody>
          <a:bodyPr wrap="square" lIns="508" tIns="508" rIns="508" bIns="508" anchor="t">
            <a:normAutofit/>
          </a:bodyPr>
          <a:lstStyle/>
          <a:p>
            <a:pPr marL="0" indent="0" algn="l">
              <a:buNone/>
            </a:pPr>
            <a:r>
              <a:rPr sz="810" dirty="0">
                <a:solidFill>
                  <a:srgbClr val="64748B"/>
                </a:solidFill>
                <a:latin typeface="Aptos"/>
                <a:ea typeface="Aptos"/>
                <a:cs typeface="Aptos"/>
              </a:rPr>
              <a:t>1,295 matched + 4 audit-only; 8 discovered FASTAs absent</a:t>
            </a:r>
          </a:p>
        </p:txBody>
      </p:sp>
      <p:sp>
        <p:nvSpPr>
          <p:cNvPr id="21" name="Shape 19">
            <a:extLst>
              <a:ext uri="{FF2B5EF4-FFF2-40B4-BE49-F238E27FC236}">
                <a16:creationId xmlns:a16="http://schemas.microsoft.com/office/drawing/2014/main" id="{847DDD59-6611-41CA-A745-84B37FB77E30}"/>
              </a:ext>
            </a:extLst>
          </p:cNvPr>
          <p:cNvSpPr>
            <a:spLocks noGrp="1"/>
          </p:cNvSpPr>
          <p:nvPr/>
        </p:nvSpPr>
        <p:spPr>
          <a:xfrm>
            <a:off x="4498848"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22" name="Text 20">
            <a:extLst>
              <a:ext uri="{FF2B5EF4-FFF2-40B4-BE49-F238E27FC236}">
                <a16:creationId xmlns:a16="http://schemas.microsoft.com/office/drawing/2014/main" id="{77839384-9C62-4342-B2A7-29EB4AAAE4E8}"/>
              </a:ext>
            </a:extLst>
          </p:cNvPr>
          <p:cNvSpPr>
            <a:spLocks noGrp="1"/>
          </p:cNvSpPr>
          <p:nvPr/>
        </p:nvSpPr>
        <p:spPr>
          <a:xfrm>
            <a:off x="4498848"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2</a:t>
            </a:r>
          </a:p>
        </p:txBody>
      </p:sp>
      <p:sp>
        <p:nvSpPr>
          <p:cNvPr id="23" name="Text 21">
            <a:extLst>
              <a:ext uri="{FF2B5EF4-FFF2-40B4-BE49-F238E27FC236}">
                <a16:creationId xmlns:a16="http://schemas.microsoft.com/office/drawing/2014/main" id="{9CC50919-F3A1-4620-8E37-994432282E7C}"/>
              </a:ext>
            </a:extLst>
          </p:cNvPr>
          <p:cNvSpPr>
            <a:spLocks noGrp="1"/>
          </p:cNvSpPr>
          <p:nvPr/>
        </p:nvSpPr>
        <p:spPr>
          <a:xfrm>
            <a:off x="4864608"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00_make reconciliation</a:t>
            </a:r>
          </a:p>
        </p:txBody>
      </p:sp>
      <p:sp>
        <p:nvSpPr>
          <p:cNvPr id="25" name="Shape 23">
            <a:extLst>
              <a:ext uri="{FF2B5EF4-FFF2-40B4-BE49-F238E27FC236}">
                <a16:creationId xmlns:a16="http://schemas.microsoft.com/office/drawing/2014/main" id="{C90DDA0E-AA6D-4A5B-A459-9A608DBD47AD}"/>
              </a:ext>
            </a:extLst>
          </p:cNvPr>
          <p:cNvSpPr>
            <a:spLocks noGrp="1"/>
          </p:cNvSpPr>
          <p:nvPr/>
        </p:nvSpPr>
        <p:spPr>
          <a:xfrm>
            <a:off x="8101584" y="1627632"/>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26" name="Text 24">
            <a:extLst>
              <a:ext uri="{FF2B5EF4-FFF2-40B4-BE49-F238E27FC236}">
                <a16:creationId xmlns:a16="http://schemas.microsoft.com/office/drawing/2014/main" id="{8F40DCDD-4EAA-4A65-A8E4-C0DC697F300A}"/>
              </a:ext>
            </a:extLst>
          </p:cNvPr>
          <p:cNvSpPr>
            <a:spLocks noGrp="1"/>
          </p:cNvSpPr>
          <p:nvPr/>
        </p:nvSpPr>
        <p:spPr>
          <a:xfrm>
            <a:off x="8628126"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1,291 candidates</a:t>
            </a:r>
          </a:p>
        </p:txBody>
      </p:sp>
      <p:sp>
        <p:nvSpPr>
          <p:cNvPr id="27" name="Text 25">
            <a:extLst>
              <a:ext uri="{FF2B5EF4-FFF2-40B4-BE49-F238E27FC236}">
                <a16:creationId xmlns:a16="http://schemas.microsoft.com/office/drawing/2014/main" id="{607FF2C3-7A66-4C91-8C13-32ADDB4EB7DE}"/>
              </a:ext>
            </a:extLst>
          </p:cNvPr>
          <p:cNvSpPr>
            <a:spLocks noGrp="1"/>
          </p:cNvSpPr>
          <p:nvPr/>
        </p:nvSpPr>
        <p:spPr>
          <a:xfrm>
            <a:off x="8266176" y="2194560"/>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Eight rows outside primary/genomics curation; 579 episode keys</a:t>
            </a:r>
          </a:p>
        </p:txBody>
      </p:sp>
      <p:sp>
        <p:nvSpPr>
          <p:cNvPr id="28" name="Shape 26">
            <a:extLst>
              <a:ext uri="{FF2B5EF4-FFF2-40B4-BE49-F238E27FC236}">
                <a16:creationId xmlns:a16="http://schemas.microsoft.com/office/drawing/2014/main" id="{FC66E052-F211-48C0-8ABE-22C7B452BB05}"/>
              </a:ext>
            </a:extLst>
          </p:cNvPr>
          <p:cNvSpPr>
            <a:spLocks noGrp="1"/>
          </p:cNvSpPr>
          <p:nvPr/>
        </p:nvSpPr>
        <p:spPr>
          <a:xfrm>
            <a:off x="8211312"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29" name="Text 27">
            <a:extLst>
              <a:ext uri="{FF2B5EF4-FFF2-40B4-BE49-F238E27FC236}">
                <a16:creationId xmlns:a16="http://schemas.microsoft.com/office/drawing/2014/main" id="{56676914-C4B3-4FE9-99BF-16400EFF528D}"/>
              </a:ext>
            </a:extLst>
          </p:cNvPr>
          <p:cNvSpPr>
            <a:spLocks noGrp="1"/>
          </p:cNvSpPr>
          <p:nvPr/>
        </p:nvSpPr>
        <p:spPr>
          <a:xfrm>
            <a:off x="8211312"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3</a:t>
            </a:r>
          </a:p>
        </p:txBody>
      </p:sp>
      <p:sp>
        <p:nvSpPr>
          <p:cNvPr id="30" name="Text 28">
            <a:extLst>
              <a:ext uri="{FF2B5EF4-FFF2-40B4-BE49-F238E27FC236}">
                <a16:creationId xmlns:a16="http://schemas.microsoft.com/office/drawing/2014/main" id="{524F11CA-C7DA-439A-848D-E41B38039FE9}"/>
              </a:ext>
            </a:extLst>
          </p:cNvPr>
          <p:cNvSpPr>
            <a:spLocks noGrp="1"/>
          </p:cNvSpPr>
          <p:nvPr/>
        </p:nvSpPr>
        <p:spPr>
          <a:xfrm>
            <a:off x="8577072"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Longcycler/Flye alternatives</a:t>
            </a:r>
          </a:p>
        </p:txBody>
      </p:sp>
      <p:sp>
        <p:nvSpPr>
          <p:cNvPr id="31" name="Shape 29">
            <a:extLst>
              <a:ext uri="{FF2B5EF4-FFF2-40B4-BE49-F238E27FC236}">
                <a16:creationId xmlns:a16="http://schemas.microsoft.com/office/drawing/2014/main" id="{A033C278-6560-4D60-8BA4-1242BA42256B}"/>
              </a:ext>
            </a:extLst>
          </p:cNvPr>
          <p:cNvSpPr>
            <a:spLocks noGrp="1"/>
          </p:cNvSpPr>
          <p:nvPr/>
        </p:nvSpPr>
        <p:spPr>
          <a:xfrm>
            <a:off x="676656"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32" name="Text 30">
            <a:extLst>
              <a:ext uri="{FF2B5EF4-FFF2-40B4-BE49-F238E27FC236}">
                <a16:creationId xmlns:a16="http://schemas.microsoft.com/office/drawing/2014/main" id="{1CC0D0D1-6119-4CE1-A25D-E542A0D90D7B}"/>
              </a:ext>
            </a:extLst>
          </p:cNvPr>
          <p:cNvSpPr>
            <a:spLocks noGrp="1"/>
          </p:cNvSpPr>
          <p:nvPr/>
        </p:nvSpPr>
        <p:spPr>
          <a:xfrm>
            <a:off x="1203198"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1,211 QC pass</a:t>
            </a:r>
          </a:p>
        </p:txBody>
      </p:sp>
      <p:sp>
        <p:nvSpPr>
          <p:cNvPr id="33" name="Text 31">
            <a:extLst>
              <a:ext uri="{FF2B5EF4-FFF2-40B4-BE49-F238E27FC236}">
                <a16:creationId xmlns:a16="http://schemas.microsoft.com/office/drawing/2014/main" id="{B22E6314-6EA2-4153-ADFA-72165589952F}"/>
              </a:ext>
            </a:extLst>
          </p:cNvPr>
          <p:cNvSpPr>
            <a:spLocks noGrp="1"/>
          </p:cNvSpPr>
          <p:nvPr/>
        </p:nvSpPr>
        <p:spPr>
          <a:xfrm>
            <a:off x="841248"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Eighty fail implemented QC; 556 episode keys remain</a:t>
            </a:r>
          </a:p>
        </p:txBody>
      </p:sp>
      <p:sp>
        <p:nvSpPr>
          <p:cNvPr id="34" name="Shape 32">
            <a:extLst>
              <a:ext uri="{FF2B5EF4-FFF2-40B4-BE49-F238E27FC236}">
                <a16:creationId xmlns:a16="http://schemas.microsoft.com/office/drawing/2014/main" id="{0690991E-297F-4B60-B4F3-06E6A5911908}"/>
              </a:ext>
            </a:extLst>
          </p:cNvPr>
          <p:cNvSpPr>
            <a:spLocks noGrp="1"/>
          </p:cNvSpPr>
          <p:nvPr/>
        </p:nvSpPr>
        <p:spPr>
          <a:xfrm>
            <a:off x="786384"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35" name="Text 33">
            <a:extLst>
              <a:ext uri="{FF2B5EF4-FFF2-40B4-BE49-F238E27FC236}">
                <a16:creationId xmlns:a16="http://schemas.microsoft.com/office/drawing/2014/main" id="{C29268DB-52C6-443F-BB64-ACCE654C753B}"/>
              </a:ext>
            </a:extLst>
          </p:cNvPr>
          <p:cNvSpPr>
            <a:spLocks noGrp="1"/>
          </p:cNvSpPr>
          <p:nvPr/>
        </p:nvSpPr>
        <p:spPr>
          <a:xfrm>
            <a:off x="786384"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4</a:t>
            </a:r>
          </a:p>
        </p:txBody>
      </p:sp>
      <p:sp>
        <p:nvSpPr>
          <p:cNvPr id="36" name="Text 34">
            <a:extLst>
              <a:ext uri="{FF2B5EF4-FFF2-40B4-BE49-F238E27FC236}">
                <a16:creationId xmlns:a16="http://schemas.microsoft.com/office/drawing/2014/main" id="{D2F588AA-950F-48CC-A227-ECE9BFA68917}"/>
              </a:ext>
            </a:extLst>
          </p:cNvPr>
          <p:cNvSpPr>
            <a:spLocks noGrp="1"/>
          </p:cNvSpPr>
          <p:nvPr/>
        </p:nvSpPr>
        <p:spPr>
          <a:xfrm>
            <a:off x="1152144"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12a_wgs_qc.R</a:t>
            </a:r>
          </a:p>
        </p:txBody>
      </p:sp>
      <p:sp>
        <p:nvSpPr>
          <p:cNvPr id="38" name="Shape 36">
            <a:extLst>
              <a:ext uri="{FF2B5EF4-FFF2-40B4-BE49-F238E27FC236}">
                <a16:creationId xmlns:a16="http://schemas.microsoft.com/office/drawing/2014/main" id="{4F0AEE18-FC67-4A52-A8CB-E55FD607125E}"/>
              </a:ext>
            </a:extLst>
          </p:cNvPr>
          <p:cNvSpPr>
            <a:spLocks noGrp="1"/>
          </p:cNvSpPr>
          <p:nvPr/>
        </p:nvSpPr>
        <p:spPr>
          <a:xfrm>
            <a:off x="4389120"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39" name="Text 37">
            <a:extLst>
              <a:ext uri="{FF2B5EF4-FFF2-40B4-BE49-F238E27FC236}">
                <a16:creationId xmlns:a16="http://schemas.microsoft.com/office/drawing/2014/main" id="{729680AB-70E3-48D4-9357-06AD1B67DE04}"/>
              </a:ext>
            </a:extLst>
          </p:cNvPr>
          <p:cNvSpPr>
            <a:spLocks noGrp="1"/>
          </p:cNvSpPr>
          <p:nvPr/>
        </p:nvSpPr>
        <p:spPr>
          <a:xfrm>
            <a:off x="4915662"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556 selected genomes</a:t>
            </a:r>
          </a:p>
        </p:txBody>
      </p:sp>
      <p:sp>
        <p:nvSpPr>
          <p:cNvPr id="40" name="Text 38">
            <a:extLst>
              <a:ext uri="{FF2B5EF4-FFF2-40B4-BE49-F238E27FC236}">
                <a16:creationId xmlns:a16="http://schemas.microsoft.com/office/drawing/2014/main" id="{2A7FDD3D-ADDB-4B76-9786-83ADF68D52CF}"/>
              </a:ext>
            </a:extLst>
          </p:cNvPr>
          <p:cNvSpPr>
            <a:spLocks noGrp="1"/>
          </p:cNvSpPr>
          <p:nvPr/>
        </p:nvSpPr>
        <p:spPr>
          <a:xfrm>
            <a:off x="4553712"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One QC-pass genome per key; 655 passing alternatives not selected</a:t>
            </a:r>
          </a:p>
        </p:txBody>
      </p:sp>
      <p:sp>
        <p:nvSpPr>
          <p:cNvPr id="41" name="Shape 39">
            <a:extLst>
              <a:ext uri="{FF2B5EF4-FFF2-40B4-BE49-F238E27FC236}">
                <a16:creationId xmlns:a16="http://schemas.microsoft.com/office/drawing/2014/main" id="{CA7E285C-440C-4ED3-BF80-8646B25A3261}"/>
              </a:ext>
            </a:extLst>
          </p:cNvPr>
          <p:cNvSpPr>
            <a:spLocks noGrp="1"/>
          </p:cNvSpPr>
          <p:nvPr/>
        </p:nvSpPr>
        <p:spPr>
          <a:xfrm>
            <a:off x="4498848"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42" name="Text 40">
            <a:extLst>
              <a:ext uri="{FF2B5EF4-FFF2-40B4-BE49-F238E27FC236}">
                <a16:creationId xmlns:a16="http://schemas.microsoft.com/office/drawing/2014/main" id="{E67CE7E8-17D9-47BA-9E36-154492E223AD}"/>
              </a:ext>
            </a:extLst>
          </p:cNvPr>
          <p:cNvSpPr>
            <a:spLocks noGrp="1"/>
          </p:cNvSpPr>
          <p:nvPr/>
        </p:nvSpPr>
        <p:spPr>
          <a:xfrm>
            <a:off x="4498848"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5</a:t>
            </a:r>
          </a:p>
        </p:txBody>
      </p:sp>
      <p:sp>
        <p:nvSpPr>
          <p:cNvPr id="43" name="Text 41">
            <a:extLst>
              <a:ext uri="{FF2B5EF4-FFF2-40B4-BE49-F238E27FC236}">
                <a16:creationId xmlns:a16="http://schemas.microsoft.com/office/drawing/2014/main" id="{ECDE17D5-394D-4A30-984E-2A95CF13493D}"/>
              </a:ext>
            </a:extLst>
          </p:cNvPr>
          <p:cNvSpPr>
            <a:spLocks noGrp="1"/>
          </p:cNvSpPr>
          <p:nvPr/>
        </p:nvSpPr>
        <p:spPr>
          <a:xfrm>
            <a:off x="4864608"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canonical selection</a:t>
            </a:r>
          </a:p>
        </p:txBody>
      </p:sp>
      <p:sp>
        <p:nvSpPr>
          <p:cNvPr id="45" name="Shape 43">
            <a:extLst>
              <a:ext uri="{FF2B5EF4-FFF2-40B4-BE49-F238E27FC236}">
                <a16:creationId xmlns:a16="http://schemas.microsoft.com/office/drawing/2014/main" id="{163FAFF7-78F9-4865-A686-2A211CDFACEE}"/>
              </a:ext>
            </a:extLst>
          </p:cNvPr>
          <p:cNvSpPr>
            <a:spLocks noGrp="1"/>
          </p:cNvSpPr>
          <p:nvPr/>
        </p:nvSpPr>
        <p:spPr>
          <a:xfrm>
            <a:off x="8101584"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46" name="Text 44">
            <a:extLst>
              <a:ext uri="{FF2B5EF4-FFF2-40B4-BE49-F238E27FC236}">
                <a16:creationId xmlns:a16="http://schemas.microsoft.com/office/drawing/2014/main" id="{EA3FB5DD-C9F0-4FFB-8B83-CD8E172871E1}"/>
              </a:ext>
            </a:extLst>
          </p:cNvPr>
          <p:cNvSpPr>
            <a:spLocks noGrp="1"/>
          </p:cNvSpPr>
          <p:nvPr/>
        </p:nvSpPr>
        <p:spPr>
          <a:xfrm>
            <a:off x="8628126"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Clinically linked set</a:t>
            </a:r>
          </a:p>
        </p:txBody>
      </p:sp>
      <p:sp>
        <p:nvSpPr>
          <p:cNvPr id="47" name="Text 45">
            <a:extLst>
              <a:ext uri="{FF2B5EF4-FFF2-40B4-BE49-F238E27FC236}">
                <a16:creationId xmlns:a16="http://schemas.microsoft.com/office/drawing/2014/main" id="{31D05D0D-F768-4D16-A77A-950C140AFBA6}"/>
              </a:ext>
            </a:extLst>
          </p:cNvPr>
          <p:cNvSpPr>
            <a:spLocks noGrp="1"/>
          </p:cNvSpPr>
          <p:nvPr/>
        </p:nvSpPr>
        <p:spPr>
          <a:xfrm>
            <a:off x="8266176"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556 rows · 162 participants · 17 UTI · 539 Not_UTI; 532 Longcycler + 24 Flye</a:t>
            </a:r>
          </a:p>
        </p:txBody>
      </p:sp>
      <p:sp>
        <p:nvSpPr>
          <p:cNvPr id="48" name="Shape 46">
            <a:extLst>
              <a:ext uri="{FF2B5EF4-FFF2-40B4-BE49-F238E27FC236}">
                <a16:creationId xmlns:a16="http://schemas.microsoft.com/office/drawing/2014/main" id="{C270A081-0943-4F66-AA75-7835B162A4F5}"/>
              </a:ext>
            </a:extLst>
          </p:cNvPr>
          <p:cNvSpPr>
            <a:spLocks noGrp="1"/>
          </p:cNvSpPr>
          <p:nvPr/>
        </p:nvSpPr>
        <p:spPr>
          <a:xfrm>
            <a:off x="8211312"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49" name="Text 47">
            <a:extLst>
              <a:ext uri="{FF2B5EF4-FFF2-40B4-BE49-F238E27FC236}">
                <a16:creationId xmlns:a16="http://schemas.microsoft.com/office/drawing/2014/main" id="{624433C6-8CB7-4D54-AD7A-BB7DF87CA631}"/>
              </a:ext>
            </a:extLst>
          </p:cNvPr>
          <p:cNvSpPr>
            <a:spLocks noGrp="1"/>
          </p:cNvSpPr>
          <p:nvPr/>
        </p:nvSpPr>
        <p:spPr>
          <a:xfrm>
            <a:off x="8211312"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6</a:t>
            </a:r>
          </a:p>
        </p:txBody>
      </p:sp>
      <p:sp>
        <p:nvSpPr>
          <p:cNvPr id="50" name="Text 48">
            <a:extLst>
              <a:ext uri="{FF2B5EF4-FFF2-40B4-BE49-F238E27FC236}">
                <a16:creationId xmlns:a16="http://schemas.microsoft.com/office/drawing/2014/main" id="{95D58DE0-6135-4085-A3E4-B137BE8C49F6}"/>
              </a:ext>
            </a:extLst>
          </p:cNvPr>
          <p:cNvSpPr>
            <a:spLocks noGrp="1"/>
          </p:cNvSpPr>
          <p:nvPr/>
        </p:nvSpPr>
        <p:spPr>
          <a:xfrm>
            <a:off x="8577072"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22 joins participant + timepoint</a:t>
            </a:r>
          </a:p>
        </p:txBody>
      </p:sp>
      <p:sp>
        <p:nvSpPr>
          <p:cNvPr id="51" name="Shape 49">
            <a:extLst>
              <a:ext uri="{FF2B5EF4-FFF2-40B4-BE49-F238E27FC236}">
                <a16:creationId xmlns:a16="http://schemas.microsoft.com/office/drawing/2014/main" id="{171F7D42-D644-465C-917A-3A40B8EA468C}"/>
              </a:ext>
            </a:extLst>
          </p:cNvPr>
          <p:cNvSpPr>
            <a:spLocks noGrp="1"/>
          </p:cNvSpPr>
          <p:nvPr/>
        </p:nvSpPr>
        <p:spPr>
          <a:xfrm>
            <a:off x="676656" y="4443984"/>
            <a:ext cx="3218688" cy="987552"/>
          </a:xfrm>
          <a:prstGeom prst="roundRect">
            <a:avLst/>
          </a:prstGeom>
          <a:solidFill>
            <a:srgbClr val="EEF3F8"/>
          </a:solidFill>
          <a:ln w="10160">
            <a:solidFill>
              <a:srgbClr val="D8DEE8"/>
            </a:solidFill>
            <a:prstDash val="solid"/>
          </a:ln>
        </p:spPr>
        <p:txBody>
          <a:bodyPr/>
          <a:lstStyle/>
          <a:p>
            <a:endParaRPr lang="en-US"/>
          </a:p>
        </p:txBody>
      </p:sp>
      <p:sp>
        <p:nvSpPr>
          <p:cNvPr id="52" name="Text 50">
            <a:extLst>
              <a:ext uri="{FF2B5EF4-FFF2-40B4-BE49-F238E27FC236}">
                <a16:creationId xmlns:a16="http://schemas.microsoft.com/office/drawing/2014/main" id="{7EAA5F6A-4C47-4999-B612-D60AF88524B1}"/>
              </a:ext>
            </a:extLst>
          </p:cNvPr>
          <p:cNvSpPr>
            <a:spLocks noGrp="1"/>
          </p:cNvSpPr>
          <p:nvPr/>
        </p:nvSpPr>
        <p:spPr>
          <a:xfrm>
            <a:off x="1203198"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Independent clinical track</a:t>
            </a:r>
          </a:p>
        </p:txBody>
      </p:sp>
      <p:sp>
        <p:nvSpPr>
          <p:cNvPr id="53" name="Text 51">
            <a:extLst>
              <a:ext uri="{FF2B5EF4-FFF2-40B4-BE49-F238E27FC236}">
                <a16:creationId xmlns:a16="http://schemas.microsoft.com/office/drawing/2014/main" id="{4905C803-EC85-4E8D-8640-A179792B6D01}"/>
              </a:ext>
            </a:extLst>
          </p:cNvPr>
          <p:cNvSpPr>
            <a:spLocks noGrp="1"/>
          </p:cNvSpPr>
          <p:nvPr/>
        </p:nvSpPr>
        <p:spPr>
          <a:xfrm>
            <a:off x="841248"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583 episodes · 166 participants · 18 UTI · 565 Not_UTI; 27 lack selected WGS (4 + 23)</a:t>
            </a:r>
          </a:p>
        </p:txBody>
      </p:sp>
      <p:sp>
        <p:nvSpPr>
          <p:cNvPr id="54" name="Shape 52">
            <a:extLst>
              <a:ext uri="{FF2B5EF4-FFF2-40B4-BE49-F238E27FC236}">
                <a16:creationId xmlns:a16="http://schemas.microsoft.com/office/drawing/2014/main" id="{2BA912E8-48CA-48D8-9A54-F2A18CCE0574}"/>
              </a:ext>
            </a:extLst>
          </p:cNvPr>
          <p:cNvSpPr>
            <a:spLocks noGrp="1"/>
          </p:cNvSpPr>
          <p:nvPr/>
        </p:nvSpPr>
        <p:spPr>
          <a:xfrm>
            <a:off x="786384"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55" name="Text 53">
            <a:extLst>
              <a:ext uri="{FF2B5EF4-FFF2-40B4-BE49-F238E27FC236}">
                <a16:creationId xmlns:a16="http://schemas.microsoft.com/office/drawing/2014/main" id="{85598882-BD26-4358-9D4C-DF7B503DC17A}"/>
              </a:ext>
            </a:extLst>
          </p:cNvPr>
          <p:cNvSpPr>
            <a:spLocks noGrp="1"/>
          </p:cNvSpPr>
          <p:nvPr/>
        </p:nvSpPr>
        <p:spPr>
          <a:xfrm>
            <a:off x="786384"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7</a:t>
            </a:r>
          </a:p>
        </p:txBody>
      </p:sp>
      <p:sp>
        <p:nvSpPr>
          <p:cNvPr id="56" name="Text 54">
            <a:extLst>
              <a:ext uri="{FF2B5EF4-FFF2-40B4-BE49-F238E27FC236}">
                <a16:creationId xmlns:a16="http://schemas.microsoft.com/office/drawing/2014/main" id="{7E3DAFF9-5BD6-41F6-8C41-4485A9FD21F1}"/>
              </a:ext>
            </a:extLst>
          </p:cNvPr>
          <p:cNvSpPr>
            <a:spLocks noGrp="1"/>
          </p:cNvSpPr>
          <p:nvPr/>
        </p:nvSpPr>
        <p:spPr>
          <a:xfrm>
            <a:off x="1152144"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00a + 00b · UTI_Status</a:t>
            </a:r>
          </a:p>
        </p:txBody>
      </p:sp>
      <p:sp>
        <p:nvSpPr>
          <p:cNvPr id="58" name="Shape 56">
            <a:extLst>
              <a:ext uri="{FF2B5EF4-FFF2-40B4-BE49-F238E27FC236}">
                <a16:creationId xmlns:a16="http://schemas.microsoft.com/office/drawing/2014/main" id="{1B5857EA-51ED-4884-9452-D54056950740}"/>
              </a:ext>
            </a:extLst>
          </p:cNvPr>
          <p:cNvSpPr>
            <a:spLocks noGrp="1"/>
          </p:cNvSpPr>
          <p:nvPr/>
        </p:nvSpPr>
        <p:spPr>
          <a:xfrm>
            <a:off x="4389120" y="4443984"/>
            <a:ext cx="3218688" cy="987552"/>
          </a:xfrm>
          <a:prstGeom prst="roundRect">
            <a:avLst/>
          </a:prstGeom>
          <a:solidFill>
            <a:srgbClr val="EAF7EF"/>
          </a:solidFill>
          <a:ln w="10160">
            <a:solidFill>
              <a:srgbClr val="D8DEE8"/>
            </a:solidFill>
            <a:prstDash val="solid"/>
          </a:ln>
        </p:spPr>
        <p:txBody>
          <a:bodyPr/>
          <a:lstStyle/>
          <a:p>
            <a:endParaRPr lang="en-US"/>
          </a:p>
        </p:txBody>
      </p:sp>
      <p:sp>
        <p:nvSpPr>
          <p:cNvPr id="59" name="Text 57">
            <a:extLst>
              <a:ext uri="{FF2B5EF4-FFF2-40B4-BE49-F238E27FC236}">
                <a16:creationId xmlns:a16="http://schemas.microsoft.com/office/drawing/2014/main" id="{476557F8-1D37-48EF-8AD0-8C0F783BDF10}"/>
              </a:ext>
            </a:extLst>
          </p:cNvPr>
          <p:cNvSpPr>
            <a:spLocks noGrp="1"/>
          </p:cNvSpPr>
          <p:nvPr/>
        </p:nvSpPr>
        <p:spPr>
          <a:xfrm>
            <a:off x="4915662"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Executed mixed route</a:t>
            </a:r>
          </a:p>
        </p:txBody>
      </p:sp>
      <p:sp>
        <p:nvSpPr>
          <p:cNvPr id="60" name="Text 58">
            <a:extLst>
              <a:ext uri="{FF2B5EF4-FFF2-40B4-BE49-F238E27FC236}">
                <a16:creationId xmlns:a16="http://schemas.microsoft.com/office/drawing/2014/main" id="{9EE15394-836E-49B1-9FCE-E79DF1A66218}"/>
              </a:ext>
            </a:extLst>
          </p:cNvPr>
          <p:cNvSpPr>
            <a:spLocks noGrp="1"/>
          </p:cNvSpPr>
          <p:nvPr/>
        </p:nvSpPr>
        <p:spPr>
          <a:xfrm>
            <a:off x="4553712"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Keep all 556 selected genomes; build 394 adjacent transitions</a:t>
            </a:r>
          </a:p>
        </p:txBody>
      </p:sp>
      <p:sp>
        <p:nvSpPr>
          <p:cNvPr id="61" name="Shape 59">
            <a:extLst>
              <a:ext uri="{FF2B5EF4-FFF2-40B4-BE49-F238E27FC236}">
                <a16:creationId xmlns:a16="http://schemas.microsoft.com/office/drawing/2014/main" id="{30724F39-F1D2-47E2-A093-448C81CBC445}"/>
              </a:ext>
            </a:extLst>
          </p:cNvPr>
          <p:cNvSpPr>
            <a:spLocks noGrp="1"/>
          </p:cNvSpPr>
          <p:nvPr/>
        </p:nvSpPr>
        <p:spPr>
          <a:xfrm>
            <a:off x="4498848"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62" name="Text 60">
            <a:extLst>
              <a:ext uri="{FF2B5EF4-FFF2-40B4-BE49-F238E27FC236}">
                <a16:creationId xmlns:a16="http://schemas.microsoft.com/office/drawing/2014/main" id="{E07C2357-1ECA-4EED-9FE1-CCD31AAAEE66}"/>
              </a:ext>
            </a:extLst>
          </p:cNvPr>
          <p:cNvSpPr>
            <a:spLocks noGrp="1"/>
          </p:cNvSpPr>
          <p:nvPr/>
        </p:nvSpPr>
        <p:spPr>
          <a:xfrm>
            <a:off x="4498848"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8</a:t>
            </a:r>
          </a:p>
        </p:txBody>
      </p:sp>
      <p:sp>
        <p:nvSpPr>
          <p:cNvPr id="63" name="Text 61">
            <a:extLst>
              <a:ext uri="{FF2B5EF4-FFF2-40B4-BE49-F238E27FC236}">
                <a16:creationId xmlns:a16="http://schemas.microsoft.com/office/drawing/2014/main" id="{48D49311-021A-499B-AD1D-5674633DEEAC}"/>
              </a:ext>
            </a:extLst>
          </p:cNvPr>
          <p:cNvSpPr>
            <a:spLocks noGrp="1"/>
          </p:cNvSpPr>
          <p:nvPr/>
        </p:nvSpPr>
        <p:spPr>
          <a:xfrm>
            <a:off x="4864608"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main analysis</a:t>
            </a:r>
          </a:p>
        </p:txBody>
      </p:sp>
      <p:sp>
        <p:nvSpPr>
          <p:cNvPr id="65" name="Shape 63">
            <a:extLst>
              <a:ext uri="{FF2B5EF4-FFF2-40B4-BE49-F238E27FC236}">
                <a16:creationId xmlns:a16="http://schemas.microsoft.com/office/drawing/2014/main" id="{83A4A405-BE7D-4694-AA4F-86437321EEB4}"/>
              </a:ext>
            </a:extLst>
          </p:cNvPr>
          <p:cNvSpPr>
            <a:spLocks noGrp="1"/>
          </p:cNvSpPr>
          <p:nvPr/>
        </p:nvSpPr>
        <p:spPr>
          <a:xfrm>
            <a:off x="8101584" y="4443984"/>
            <a:ext cx="3218688" cy="987552"/>
          </a:xfrm>
          <a:prstGeom prst="roundRect">
            <a:avLst/>
          </a:prstGeom>
          <a:solidFill>
            <a:srgbClr val="EEF3F8"/>
          </a:solidFill>
          <a:ln w="10160">
            <a:solidFill>
              <a:srgbClr val="D8DEE8"/>
            </a:solidFill>
            <a:prstDash val="solid"/>
          </a:ln>
        </p:spPr>
        <p:txBody>
          <a:bodyPr/>
          <a:lstStyle/>
          <a:p>
            <a:endParaRPr lang="en-US"/>
          </a:p>
        </p:txBody>
      </p:sp>
      <p:sp>
        <p:nvSpPr>
          <p:cNvPr id="66" name="Text 64">
            <a:extLst>
              <a:ext uri="{FF2B5EF4-FFF2-40B4-BE49-F238E27FC236}">
                <a16:creationId xmlns:a16="http://schemas.microsoft.com/office/drawing/2014/main" id="{1C49F921-535C-4113-8208-41222E8DF1C3}"/>
              </a:ext>
            </a:extLst>
          </p:cNvPr>
          <p:cNvSpPr>
            <a:spLocks noGrp="1"/>
          </p:cNvSpPr>
          <p:nvPr/>
        </p:nvSpPr>
        <p:spPr>
          <a:xfrm>
            <a:off x="8628126"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Longcycler sensitivity</a:t>
            </a:r>
          </a:p>
        </p:txBody>
      </p:sp>
      <p:sp>
        <p:nvSpPr>
          <p:cNvPr id="67" name="Text 65">
            <a:extLst>
              <a:ext uri="{FF2B5EF4-FFF2-40B4-BE49-F238E27FC236}">
                <a16:creationId xmlns:a16="http://schemas.microsoft.com/office/drawing/2014/main" id="{6BC5CE90-F652-4E58-82C2-44FBB31D1D33}"/>
              </a:ext>
            </a:extLst>
          </p:cNvPr>
          <p:cNvSpPr>
            <a:spLocks noGrp="1"/>
          </p:cNvSpPr>
          <p:nvPr/>
        </p:nvSpPr>
        <p:spPr>
          <a:xfrm>
            <a:off x="8266176"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Retain 532; exclude 24 Flye; rebuild 371 transitions with 9 new adjacencies</a:t>
            </a:r>
          </a:p>
        </p:txBody>
      </p:sp>
      <p:sp>
        <p:nvSpPr>
          <p:cNvPr id="68" name="Shape 66">
            <a:extLst>
              <a:ext uri="{FF2B5EF4-FFF2-40B4-BE49-F238E27FC236}">
                <a16:creationId xmlns:a16="http://schemas.microsoft.com/office/drawing/2014/main" id="{2C722DE7-788B-41D3-9295-FA50EAD4E7A3}"/>
              </a:ext>
            </a:extLst>
          </p:cNvPr>
          <p:cNvSpPr>
            <a:spLocks noGrp="1"/>
          </p:cNvSpPr>
          <p:nvPr/>
        </p:nvSpPr>
        <p:spPr>
          <a:xfrm>
            <a:off x="8211312"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69" name="Text 67">
            <a:extLst>
              <a:ext uri="{FF2B5EF4-FFF2-40B4-BE49-F238E27FC236}">
                <a16:creationId xmlns:a16="http://schemas.microsoft.com/office/drawing/2014/main" id="{CF22FF9E-AF6E-4BF5-BFA7-768279C2070E}"/>
              </a:ext>
            </a:extLst>
          </p:cNvPr>
          <p:cNvSpPr>
            <a:spLocks noGrp="1"/>
          </p:cNvSpPr>
          <p:nvPr/>
        </p:nvSpPr>
        <p:spPr>
          <a:xfrm>
            <a:off x="8211312"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9</a:t>
            </a:r>
          </a:p>
        </p:txBody>
      </p:sp>
      <p:sp>
        <p:nvSpPr>
          <p:cNvPr id="70" name="Text 68">
            <a:extLst>
              <a:ext uri="{FF2B5EF4-FFF2-40B4-BE49-F238E27FC236}">
                <a16:creationId xmlns:a16="http://schemas.microsoft.com/office/drawing/2014/main" id="{AB095B07-059E-4247-A72D-DA582D5592EE}"/>
              </a:ext>
            </a:extLst>
          </p:cNvPr>
          <p:cNvSpPr>
            <a:spLocks noGrp="1"/>
          </p:cNvSpPr>
          <p:nvPr/>
        </p:nvSpPr>
        <p:spPr>
          <a:xfrm>
            <a:off x="8577072"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separate sensitivity route</a:t>
            </a:r>
          </a:p>
        </p:txBody>
      </p:sp>
      <p:sp>
        <p:nvSpPr>
          <p:cNvPr id="71" name="Rectangle 70">
            <a:extLst>
              <a:ext uri="{FF2B5EF4-FFF2-40B4-BE49-F238E27FC236}">
                <a16:creationId xmlns:a16="http://schemas.microsoft.com/office/drawing/2014/main" id="{B37326E9-9F2A-481B-BB58-7ACDFD289824}"/>
              </a:ext>
            </a:extLst>
          </p:cNvPr>
          <p:cNvSpPr>
            <a:spLocks noGrp="1"/>
          </p:cNvSpPr>
          <p:nvPr/>
        </p:nvSpPr>
        <p:spPr>
          <a:xfrm>
            <a:off x="666750" y="1390650"/>
            <a:ext cx="2476500" cy="171450"/>
          </a:xfrm>
          <a:prstGeom prst="rect">
            <a:avLst/>
          </a:prstGeom>
        </p:spPr>
        <p:txBody>
          <a:bodyPr anchor="ctr"/>
          <a:lstStyle/>
          <a:p>
            <a:pPr algn="l">
              <a:defRPr sz="863" b="1">
                <a:solidFill>
                  <a:srgbClr val="2B6CB0"/>
                </a:solidFill>
              </a:defRPr>
            </a:pPr>
            <a:r>
              <a:rPr sz="863" b="1">
                <a:solidFill>
                  <a:srgbClr val="2B6CB0"/>
                </a:solidFill>
              </a:rPr>
              <a:t>ASSEMBLY / QC TRACK</a:t>
            </a:r>
          </a:p>
        </p:txBody>
      </p:sp>
      <p:cxnSp>
        <p:nvCxnSpPr>
          <p:cNvPr id="144" name="Straight Arrow Connector 143"/>
          <p:cNvCxnSpPr>
            <a:stCxn id="11" idx="3"/>
            <a:endCxn id="18" idx="1"/>
          </p:cNvCxnSpPr>
          <p:nvPr/>
        </p:nvCxnSpPr>
        <p:spPr>
          <a:xfrm>
            <a:off x="3895344" y="2121408"/>
            <a:ext cx="493776" cy="0"/>
          </a:xfrm>
          <a:prstGeom prst="straightConnector1">
            <a:avLst/>
          </a:prstGeom>
          <a:ln w="14288">
            <a:solidFill>
              <a:srgbClr val="94A3B8"/>
            </a:solidFill>
            <a:prstDash val="solid"/>
            <a:tailEnd type="triangle" w="sm" len="sm"/>
          </a:ln>
        </p:spPr>
      </p:cxnSp>
      <p:cxnSp>
        <p:nvCxnSpPr>
          <p:cNvPr id="145" name="Straight Arrow Connector 144"/>
          <p:cNvCxnSpPr>
            <a:stCxn id="18" idx="3"/>
            <a:endCxn id="25" idx="1"/>
          </p:cNvCxnSpPr>
          <p:nvPr/>
        </p:nvCxnSpPr>
        <p:spPr>
          <a:xfrm>
            <a:off x="7607808" y="2121408"/>
            <a:ext cx="493776" cy="0"/>
          </a:xfrm>
          <a:prstGeom prst="straightConnector1">
            <a:avLst/>
          </a:prstGeom>
          <a:ln w="14288">
            <a:solidFill>
              <a:srgbClr val="94A3B8"/>
            </a:solidFill>
            <a:prstDash val="solid"/>
            <a:tailEnd type="triangle" w="sm" len="sm"/>
          </a:ln>
        </p:spPr>
      </p:cxnSp>
      <p:cxnSp>
        <p:nvCxnSpPr>
          <p:cNvPr id="146" name="Straight Arrow Connector 145"/>
          <p:cNvCxnSpPr>
            <a:stCxn id="25" idx="2"/>
            <a:endCxn id="31" idx="0"/>
          </p:cNvCxnSpPr>
          <p:nvPr/>
        </p:nvCxnSpPr>
        <p:spPr>
          <a:xfrm flipH="1">
            <a:off x="2286000" y="2615184"/>
            <a:ext cx="7424928" cy="420624"/>
          </a:xfrm>
          <a:prstGeom prst="straightConnector1">
            <a:avLst/>
          </a:prstGeom>
          <a:ln w="14288">
            <a:solidFill>
              <a:srgbClr val="94A3B8"/>
            </a:solidFill>
            <a:prstDash val="solid"/>
            <a:tailEnd type="triangle" w="sm" len="sm"/>
          </a:ln>
        </p:spPr>
      </p:cxnSp>
      <p:cxnSp>
        <p:nvCxnSpPr>
          <p:cNvPr id="147" name="Straight Arrow Connector 146"/>
          <p:cNvCxnSpPr>
            <a:stCxn id="31" idx="3"/>
            <a:endCxn id="38" idx="1"/>
          </p:cNvCxnSpPr>
          <p:nvPr/>
        </p:nvCxnSpPr>
        <p:spPr>
          <a:xfrm>
            <a:off x="3895344" y="3529584"/>
            <a:ext cx="493776" cy="0"/>
          </a:xfrm>
          <a:prstGeom prst="straightConnector1">
            <a:avLst/>
          </a:prstGeom>
          <a:ln w="14288">
            <a:solidFill>
              <a:srgbClr val="94A3B8"/>
            </a:solidFill>
            <a:prstDash val="solid"/>
            <a:tailEnd type="triangle" w="sm" len="sm"/>
          </a:ln>
        </p:spPr>
      </p:cxnSp>
      <p:cxnSp>
        <p:nvCxnSpPr>
          <p:cNvPr id="148" name="Straight Arrow Connector 147"/>
          <p:cNvCxnSpPr>
            <a:stCxn id="38" idx="3"/>
            <a:endCxn id="45" idx="1"/>
          </p:cNvCxnSpPr>
          <p:nvPr/>
        </p:nvCxnSpPr>
        <p:spPr>
          <a:xfrm>
            <a:off x="7607808" y="3529584"/>
            <a:ext cx="493776" cy="0"/>
          </a:xfrm>
          <a:prstGeom prst="straightConnector1">
            <a:avLst/>
          </a:prstGeom>
          <a:ln w="14288">
            <a:solidFill>
              <a:srgbClr val="94A3B8"/>
            </a:solidFill>
            <a:prstDash val="solid"/>
            <a:tailEnd type="triangle" w="sm" len="sm"/>
          </a:ln>
        </p:spPr>
      </p:cxnSp>
      <p:cxnSp>
        <p:nvCxnSpPr>
          <p:cNvPr id="149" name="Straight Arrow Connector 148"/>
          <p:cNvCxnSpPr>
            <a:stCxn id="51" idx="0"/>
            <a:endCxn id="45" idx="2"/>
          </p:cNvCxnSpPr>
          <p:nvPr/>
        </p:nvCxnSpPr>
        <p:spPr>
          <a:xfrm flipV="1">
            <a:off x="2286000" y="4023360"/>
            <a:ext cx="7424928" cy="420624"/>
          </a:xfrm>
          <a:prstGeom prst="straightConnector1">
            <a:avLst/>
          </a:prstGeom>
          <a:ln w="16193">
            <a:solidFill>
              <a:srgbClr val="D97706"/>
            </a:solidFill>
            <a:prstDash val="solid"/>
            <a:tailEnd type="triangle" w="sm" len="sm"/>
          </a:ln>
        </p:spPr>
      </p:cxnSp>
      <p:cxnSp>
        <p:nvCxnSpPr>
          <p:cNvPr id="150" name="Elbow Connector 149"/>
          <p:cNvCxnSpPr>
            <a:stCxn id="45" idx="2"/>
            <a:endCxn id="58" idx="0"/>
          </p:cNvCxnSpPr>
          <p:nvPr/>
        </p:nvCxnSpPr>
        <p:spPr>
          <a:xfrm flipH="1">
            <a:off x="5998464" y="4023360"/>
            <a:ext cx="3712464" cy="420624"/>
          </a:xfrm>
          <a:prstGeom prst="bentConnector4">
            <a:avLst>
              <a:gd name="adj1" fmla="val 0"/>
              <a:gd name="adj2" fmla="val 50000"/>
            </a:avLst>
          </a:prstGeom>
          <a:ln w="14288">
            <a:solidFill>
              <a:srgbClr val="2B6CB0"/>
            </a:solidFill>
            <a:prstDash val="solid"/>
            <a:tailEnd type="triangle" w="sm" len="sm"/>
          </a:ln>
        </p:spPr>
      </p:cxnSp>
      <p:cxnSp>
        <p:nvCxnSpPr>
          <p:cNvPr id="151" name="Straight Arrow Connector 150"/>
          <p:cNvCxnSpPr>
            <a:stCxn id="45" idx="2"/>
            <a:endCxn id="65" idx="0"/>
          </p:cNvCxnSpPr>
          <p:nvPr/>
        </p:nvCxnSpPr>
        <p:spPr>
          <a:xfrm>
            <a:off x="9710928" y="4023360"/>
            <a:ext cx="0" cy="420624"/>
          </a:xfrm>
          <a:prstGeom prst="straightConnector1">
            <a:avLst/>
          </a:prstGeom>
          <a:ln w="14288">
            <a:solidFill>
              <a:srgbClr val="D97706"/>
            </a:solidFill>
            <a:prstDash val="dash"/>
            <a:tailEnd type="triangle" w="sm" len="sm"/>
          </a:ln>
        </p:spPr>
      </p:cxnSp>
    </p:spTree>
    <p:extLst>
      <p:ext uri="{BB962C8B-B14F-4D97-AF65-F5344CB8AC3E}">
        <p14:creationId xmlns:p14="http://schemas.microsoft.com/office/powerpoint/2010/main" val="130100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862C6DD-C698-4709-9ACA-5790C7121067}"/>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929C7113-5485-44EC-807E-86EE34C2713D}"/>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DC52AF90-C604-4024-BED2-29BDD4781F11}"/>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GENOMIC ANALYSES</a:t>
            </a:r>
          </a:p>
        </p:txBody>
      </p:sp>
      <p:sp>
        <p:nvSpPr>
          <p:cNvPr id="5" name="Text 3">
            <a:extLst>
              <a:ext uri="{FF2B5EF4-FFF2-40B4-BE49-F238E27FC236}">
                <a16:creationId xmlns:a16="http://schemas.microsoft.com/office/drawing/2014/main" id="{104CE044-6D56-4648-A1DB-E251543231AC}"/>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Selected genomes feed parallel analysis branches</a:t>
            </a:r>
          </a:p>
        </p:txBody>
      </p:sp>
      <p:sp>
        <p:nvSpPr>
          <p:cNvPr id="6" name="Text 4">
            <a:extLst>
              <a:ext uri="{FF2B5EF4-FFF2-40B4-BE49-F238E27FC236}">
                <a16:creationId xmlns:a16="http://schemas.microsoft.com/office/drawing/2014/main" id="{78DDAB49-8392-46C7-BFA5-A8621F9505DA}"/>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Each branch answers a different question; the branches are integrated only where the analysis explicitly joins them.</a:t>
            </a:r>
          </a:p>
        </p:txBody>
      </p:sp>
      <p:sp>
        <p:nvSpPr>
          <p:cNvPr id="7" name="Shape 5">
            <a:extLst>
              <a:ext uri="{FF2B5EF4-FFF2-40B4-BE49-F238E27FC236}">
                <a16:creationId xmlns:a16="http://schemas.microsoft.com/office/drawing/2014/main" id="{23A2B6A1-6057-4DB1-93E9-8223C7839928}"/>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2769754E-07D7-4AA2-A45D-96240CF1C8F1}"/>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5E76A611-8ED8-42A6-B1DD-F5615BEFAAD6}"/>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  Sources: scripts 02, 06, 11, 12b, 12c and 22</a:t>
            </a:r>
          </a:p>
        </p:txBody>
      </p:sp>
      <p:sp>
        <p:nvSpPr>
          <p:cNvPr id="10" name="Text 8">
            <a:extLst>
              <a:ext uri="{FF2B5EF4-FFF2-40B4-BE49-F238E27FC236}">
                <a16:creationId xmlns:a16="http://schemas.microsoft.com/office/drawing/2014/main" id="{D37774AF-515E-479E-8485-489F99C4FDE1}"/>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06</a:t>
            </a:r>
          </a:p>
        </p:txBody>
      </p:sp>
      <p:sp>
        <p:nvSpPr>
          <p:cNvPr id="11" name="Shape 9">
            <a:extLst>
              <a:ext uri="{FF2B5EF4-FFF2-40B4-BE49-F238E27FC236}">
                <a16:creationId xmlns:a16="http://schemas.microsoft.com/office/drawing/2014/main" id="{55B262C0-F00F-4B9B-8B76-C340627BD7E7}"/>
              </a:ext>
            </a:extLst>
          </p:cNvPr>
          <p:cNvSpPr>
            <a:spLocks noGrp="1"/>
          </p:cNvSpPr>
          <p:nvPr/>
        </p:nvSpPr>
        <p:spPr>
          <a:xfrm>
            <a:off x="749808" y="1755648"/>
            <a:ext cx="2651760" cy="1225296"/>
          </a:xfrm>
          <a:prstGeom prst="roundRect">
            <a:avLst/>
          </a:prstGeom>
          <a:solidFill>
            <a:srgbClr val="E8F1FA"/>
          </a:solidFill>
          <a:ln w="10160">
            <a:solidFill>
              <a:srgbClr val="B9D5F0"/>
            </a:solidFill>
            <a:prstDash val="solid"/>
          </a:ln>
        </p:spPr>
        <p:txBody>
          <a:bodyPr/>
          <a:lstStyle/>
          <a:p>
            <a:endParaRPr lang="en-US"/>
          </a:p>
        </p:txBody>
      </p:sp>
      <p:sp>
        <p:nvSpPr>
          <p:cNvPr id="12" name="Text 10">
            <a:extLst>
              <a:ext uri="{FF2B5EF4-FFF2-40B4-BE49-F238E27FC236}">
                <a16:creationId xmlns:a16="http://schemas.microsoft.com/office/drawing/2014/main" id="{1A37E871-9E36-485B-81CD-84D80AC87F1E}"/>
              </a:ext>
            </a:extLst>
          </p:cNvPr>
          <p:cNvSpPr>
            <a:spLocks noGrp="1"/>
          </p:cNvSpPr>
          <p:nvPr/>
        </p:nvSpPr>
        <p:spPr>
          <a:xfrm>
            <a:off x="914400" y="1901952"/>
            <a:ext cx="2322576" cy="329184"/>
          </a:xfrm>
          <a:prstGeom prst="rect">
            <a:avLst/>
          </a:prstGeom>
          <a:noFill/>
        </p:spPr>
        <p:txBody>
          <a:bodyPr wrap="square" lIns="508" tIns="508" rIns="508" bIns="508" anchor="t">
            <a:normAutofit/>
          </a:bodyPr>
          <a:lstStyle/>
          <a:p>
            <a:pPr marL="0" indent="0" algn="l">
              <a:buNone/>
            </a:pPr>
            <a:r>
              <a:rPr sz="1300" b="1">
                <a:solidFill>
                  <a:srgbClr val="2B6CB0"/>
                </a:solidFill>
                <a:latin typeface="Aptos"/>
                <a:ea typeface="Aptos"/>
                <a:cs typeface="Aptos"/>
              </a:rPr>
              <a:t>VFDB screening</a:t>
            </a:r>
          </a:p>
        </p:txBody>
      </p:sp>
      <p:sp>
        <p:nvSpPr>
          <p:cNvPr id="13" name="Text 11">
            <a:extLst>
              <a:ext uri="{FF2B5EF4-FFF2-40B4-BE49-F238E27FC236}">
                <a16:creationId xmlns:a16="http://schemas.microsoft.com/office/drawing/2014/main" id="{51248964-EA77-403F-8412-135A7AFD58F8}"/>
              </a:ext>
            </a:extLst>
          </p:cNvPr>
          <p:cNvSpPr>
            <a:spLocks noGrp="1"/>
          </p:cNvSpPr>
          <p:nvPr/>
        </p:nvSpPr>
        <p:spPr>
          <a:xfrm>
            <a:off x="914400" y="2249424"/>
            <a:ext cx="2322576" cy="694944"/>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Script 02: ABRicate at &gt;=80% identity and &gt;=80% coverage yields 227 binary detected features.</a:t>
            </a:r>
          </a:p>
        </p:txBody>
      </p:sp>
      <p:sp>
        <p:nvSpPr>
          <p:cNvPr id="14" name="Shape 12">
            <a:extLst>
              <a:ext uri="{FF2B5EF4-FFF2-40B4-BE49-F238E27FC236}">
                <a16:creationId xmlns:a16="http://schemas.microsoft.com/office/drawing/2014/main" id="{16EE7C69-AC27-4370-AC22-C6FA84B8517A}"/>
              </a:ext>
            </a:extLst>
          </p:cNvPr>
          <p:cNvSpPr>
            <a:spLocks noGrp="1"/>
          </p:cNvSpPr>
          <p:nvPr/>
        </p:nvSpPr>
        <p:spPr>
          <a:xfrm>
            <a:off x="4773168" y="1755648"/>
            <a:ext cx="2651760" cy="1225296"/>
          </a:xfrm>
          <a:prstGeom prst="roundRect">
            <a:avLst/>
          </a:prstGeom>
          <a:solidFill>
            <a:srgbClr val="EAF7EF"/>
          </a:solidFill>
          <a:ln w="10160">
            <a:solidFill>
              <a:srgbClr val="BCE4C9"/>
            </a:solidFill>
            <a:prstDash val="solid"/>
          </a:ln>
        </p:spPr>
        <p:txBody>
          <a:bodyPr/>
          <a:lstStyle/>
          <a:p>
            <a:endParaRPr lang="en-US"/>
          </a:p>
        </p:txBody>
      </p:sp>
      <p:sp>
        <p:nvSpPr>
          <p:cNvPr id="15" name="Text 13">
            <a:extLst>
              <a:ext uri="{FF2B5EF4-FFF2-40B4-BE49-F238E27FC236}">
                <a16:creationId xmlns:a16="http://schemas.microsoft.com/office/drawing/2014/main" id="{7DB18C83-E448-4445-B1E5-F1BD39AD0BC3}"/>
              </a:ext>
            </a:extLst>
          </p:cNvPr>
          <p:cNvSpPr>
            <a:spLocks noGrp="1"/>
          </p:cNvSpPr>
          <p:nvPr/>
        </p:nvSpPr>
        <p:spPr>
          <a:xfrm>
            <a:off x="4937760" y="1901952"/>
            <a:ext cx="2322576" cy="329184"/>
          </a:xfrm>
          <a:prstGeom prst="rect">
            <a:avLst/>
          </a:prstGeom>
          <a:noFill/>
        </p:spPr>
        <p:txBody>
          <a:bodyPr wrap="square" lIns="508" tIns="508" rIns="508" bIns="508" anchor="t">
            <a:normAutofit/>
          </a:bodyPr>
          <a:lstStyle/>
          <a:p>
            <a:pPr marL="0" indent="0" algn="l">
              <a:buNone/>
            </a:pPr>
            <a:r>
              <a:rPr sz="1300" b="1">
                <a:solidFill>
                  <a:srgbClr val="2F855A"/>
                </a:solidFill>
                <a:latin typeface="Aptos"/>
                <a:ea typeface="Aptos"/>
                <a:cs typeface="Aptos"/>
              </a:rPr>
              <a:t>MLST and integration</a:t>
            </a:r>
          </a:p>
        </p:txBody>
      </p:sp>
      <p:sp>
        <p:nvSpPr>
          <p:cNvPr id="16" name="Text 14">
            <a:extLst>
              <a:ext uri="{FF2B5EF4-FFF2-40B4-BE49-F238E27FC236}">
                <a16:creationId xmlns:a16="http://schemas.microsoft.com/office/drawing/2014/main" id="{708388AC-9119-4F46-8763-517B0275AF2B}"/>
              </a:ext>
            </a:extLst>
          </p:cNvPr>
          <p:cNvSpPr>
            <a:spLocks noGrp="1"/>
          </p:cNvSpPr>
          <p:nvPr/>
        </p:nvSpPr>
        <p:spPr>
          <a:xfrm>
            <a:off x="4937760" y="2249424"/>
            <a:ext cx="2322576" cy="694944"/>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Script 06 supplies preferred ST context; script 22 joins clinical status, VF, MLST and selected-assembly metadata.</a:t>
            </a:r>
          </a:p>
        </p:txBody>
      </p:sp>
      <p:sp>
        <p:nvSpPr>
          <p:cNvPr id="17" name="Shape 15">
            <a:extLst>
              <a:ext uri="{FF2B5EF4-FFF2-40B4-BE49-F238E27FC236}">
                <a16:creationId xmlns:a16="http://schemas.microsoft.com/office/drawing/2014/main" id="{20AE8DDB-0F82-4577-BA86-9E1ACAD5382B}"/>
              </a:ext>
            </a:extLst>
          </p:cNvPr>
          <p:cNvSpPr>
            <a:spLocks noGrp="1"/>
          </p:cNvSpPr>
          <p:nvPr/>
        </p:nvSpPr>
        <p:spPr>
          <a:xfrm>
            <a:off x="8796528" y="1755648"/>
            <a:ext cx="2651760" cy="1225296"/>
          </a:xfrm>
          <a:prstGeom prst="roundRect">
            <a:avLst/>
          </a:prstGeom>
          <a:solidFill>
            <a:srgbClr val="FFF4E6"/>
          </a:solidFill>
          <a:ln w="10160">
            <a:solidFill>
              <a:srgbClr val="F4C98A"/>
            </a:solidFill>
            <a:prstDash val="solid"/>
          </a:ln>
        </p:spPr>
        <p:txBody>
          <a:bodyPr/>
          <a:lstStyle/>
          <a:p>
            <a:endParaRPr lang="en-US"/>
          </a:p>
        </p:txBody>
      </p:sp>
      <p:sp>
        <p:nvSpPr>
          <p:cNvPr id="18" name="Text 16">
            <a:extLst>
              <a:ext uri="{FF2B5EF4-FFF2-40B4-BE49-F238E27FC236}">
                <a16:creationId xmlns:a16="http://schemas.microsoft.com/office/drawing/2014/main" id="{EF648BDF-9378-404C-9412-1AB941C30147}"/>
              </a:ext>
            </a:extLst>
          </p:cNvPr>
          <p:cNvSpPr>
            <a:spLocks noGrp="1"/>
          </p:cNvSpPr>
          <p:nvPr/>
        </p:nvSpPr>
        <p:spPr>
          <a:xfrm>
            <a:off x="8961120" y="1901952"/>
            <a:ext cx="2322576" cy="329184"/>
          </a:xfrm>
          <a:prstGeom prst="rect">
            <a:avLst/>
          </a:prstGeom>
          <a:noFill/>
        </p:spPr>
        <p:txBody>
          <a:bodyPr wrap="square" lIns="508" tIns="508" rIns="508" bIns="508" anchor="t">
            <a:normAutofit fontScale="93949"/>
          </a:bodyPr>
          <a:lstStyle/>
          <a:p>
            <a:pPr marL="0" indent="0" algn="l">
              <a:buNone/>
            </a:pPr>
            <a:r>
              <a:rPr sz="1300" b="1">
                <a:solidFill>
                  <a:srgbClr val="D97706"/>
                </a:solidFill>
                <a:latin typeface="Aptos"/>
                <a:ea typeface="Aptos"/>
                <a:cs typeface="Aptos"/>
              </a:rPr>
              <a:t>Genome comparison and context</a:t>
            </a:r>
          </a:p>
        </p:txBody>
      </p:sp>
      <p:sp>
        <p:nvSpPr>
          <p:cNvPr id="19" name="Text 17">
            <a:extLst>
              <a:ext uri="{FF2B5EF4-FFF2-40B4-BE49-F238E27FC236}">
                <a16:creationId xmlns:a16="http://schemas.microsoft.com/office/drawing/2014/main" id="{6D14CF4B-E913-4C09-A026-B444F2CDC538}"/>
              </a:ext>
            </a:extLst>
          </p:cNvPr>
          <p:cNvSpPr>
            <a:spLocks noGrp="1"/>
          </p:cNvSpPr>
          <p:nvPr/>
        </p:nvSpPr>
        <p:spPr>
          <a:xfrm>
            <a:off x="8961120" y="2249424"/>
            <a:ext cx="2322576" cy="694944"/>
          </a:xfrm>
          <a:prstGeom prst="rect">
            <a:avLst/>
          </a:prstGeom>
          <a:noFill/>
        </p:spPr>
        <p:txBody>
          <a:bodyPr wrap="square" lIns="508" tIns="508" rIns="508" bIns="508" anchor="t">
            <a:normAutofit/>
          </a:bodyPr>
          <a:lstStyle/>
          <a:p>
            <a:pPr marL="0" indent="0" algn="l">
              <a:buNone/>
            </a:pPr>
            <a:r>
              <a:rPr sz="950">
                <a:solidFill>
                  <a:srgbClr val="64748B"/>
                </a:solidFill>
                <a:latin typeface="Aptos"/>
                <a:ea typeface="Aptos"/>
                <a:cs typeface="Aptos"/>
              </a:rPr>
              <a:t>Script 11: dnadiff + Mash. Separate population branches: Parsnp/snp-dists (12b) and Prokka/Panaroo (12c).</a:t>
            </a:r>
          </a:p>
        </p:txBody>
      </p:sp>
      <p:sp>
        <p:nvSpPr>
          <p:cNvPr id="22" name="Shape 20">
            <a:extLst>
              <a:ext uri="{FF2B5EF4-FFF2-40B4-BE49-F238E27FC236}">
                <a16:creationId xmlns:a16="http://schemas.microsoft.com/office/drawing/2014/main" id="{7D262ABE-CB09-4291-AF7B-6589F5AA62E0}"/>
              </a:ext>
            </a:extLst>
          </p:cNvPr>
          <p:cNvSpPr>
            <a:spLocks noGrp="1"/>
          </p:cNvSpPr>
          <p:nvPr/>
        </p:nvSpPr>
        <p:spPr>
          <a:xfrm>
            <a:off x="969264" y="382219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23" name="Shape 21">
            <a:extLst>
              <a:ext uri="{FF2B5EF4-FFF2-40B4-BE49-F238E27FC236}">
                <a16:creationId xmlns:a16="http://schemas.microsoft.com/office/drawing/2014/main" id="{9BD7349B-6C08-48C2-AC3C-2C4B8A98C272}"/>
              </a:ext>
            </a:extLst>
          </p:cNvPr>
          <p:cNvSpPr>
            <a:spLocks noGrp="1"/>
          </p:cNvSpPr>
          <p:nvPr/>
        </p:nvSpPr>
        <p:spPr>
          <a:xfrm>
            <a:off x="1143000"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24" name="Shape 22">
            <a:extLst>
              <a:ext uri="{FF2B5EF4-FFF2-40B4-BE49-F238E27FC236}">
                <a16:creationId xmlns:a16="http://schemas.microsoft.com/office/drawing/2014/main" id="{D6AB5A6E-42E8-4D6A-B6AD-22FED3B0F0F8}"/>
              </a:ext>
            </a:extLst>
          </p:cNvPr>
          <p:cNvSpPr>
            <a:spLocks noGrp="1"/>
          </p:cNvSpPr>
          <p:nvPr/>
        </p:nvSpPr>
        <p:spPr>
          <a:xfrm>
            <a:off x="1316736"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25" name="Shape 23">
            <a:extLst>
              <a:ext uri="{FF2B5EF4-FFF2-40B4-BE49-F238E27FC236}">
                <a16:creationId xmlns:a16="http://schemas.microsoft.com/office/drawing/2014/main" id="{DBE442B1-8076-4174-9AAC-0D4C76F9FB22}"/>
              </a:ext>
            </a:extLst>
          </p:cNvPr>
          <p:cNvSpPr>
            <a:spLocks noGrp="1"/>
          </p:cNvSpPr>
          <p:nvPr/>
        </p:nvSpPr>
        <p:spPr>
          <a:xfrm>
            <a:off x="1490472" y="382219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26" name="Shape 24">
            <a:extLst>
              <a:ext uri="{FF2B5EF4-FFF2-40B4-BE49-F238E27FC236}">
                <a16:creationId xmlns:a16="http://schemas.microsoft.com/office/drawing/2014/main" id="{1F43CC20-4C29-4B4B-BA62-9854DA4B25E2}"/>
              </a:ext>
            </a:extLst>
          </p:cNvPr>
          <p:cNvSpPr>
            <a:spLocks noGrp="1"/>
          </p:cNvSpPr>
          <p:nvPr/>
        </p:nvSpPr>
        <p:spPr>
          <a:xfrm>
            <a:off x="1664208"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27" name="Shape 25">
            <a:extLst>
              <a:ext uri="{FF2B5EF4-FFF2-40B4-BE49-F238E27FC236}">
                <a16:creationId xmlns:a16="http://schemas.microsoft.com/office/drawing/2014/main" id="{48D6ABF5-267B-4559-A30E-5AB449C273B2}"/>
              </a:ext>
            </a:extLst>
          </p:cNvPr>
          <p:cNvSpPr>
            <a:spLocks noGrp="1"/>
          </p:cNvSpPr>
          <p:nvPr/>
        </p:nvSpPr>
        <p:spPr>
          <a:xfrm>
            <a:off x="1837944"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28" name="Shape 26">
            <a:extLst>
              <a:ext uri="{FF2B5EF4-FFF2-40B4-BE49-F238E27FC236}">
                <a16:creationId xmlns:a16="http://schemas.microsoft.com/office/drawing/2014/main" id="{1A2FB612-5999-4C0C-A778-1F81D109CD41}"/>
              </a:ext>
            </a:extLst>
          </p:cNvPr>
          <p:cNvSpPr>
            <a:spLocks noGrp="1"/>
          </p:cNvSpPr>
          <p:nvPr/>
        </p:nvSpPr>
        <p:spPr>
          <a:xfrm>
            <a:off x="2011680" y="382219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29" name="Shape 27">
            <a:extLst>
              <a:ext uri="{FF2B5EF4-FFF2-40B4-BE49-F238E27FC236}">
                <a16:creationId xmlns:a16="http://schemas.microsoft.com/office/drawing/2014/main" id="{984D3733-CAF1-485F-B1D3-8E4D53623642}"/>
              </a:ext>
            </a:extLst>
          </p:cNvPr>
          <p:cNvSpPr>
            <a:spLocks noGrp="1"/>
          </p:cNvSpPr>
          <p:nvPr/>
        </p:nvSpPr>
        <p:spPr>
          <a:xfrm>
            <a:off x="2185416"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0" name="Shape 28">
            <a:extLst>
              <a:ext uri="{FF2B5EF4-FFF2-40B4-BE49-F238E27FC236}">
                <a16:creationId xmlns:a16="http://schemas.microsoft.com/office/drawing/2014/main" id="{82E51E38-EDC1-4A66-BB31-D911AB83426E}"/>
              </a:ext>
            </a:extLst>
          </p:cNvPr>
          <p:cNvSpPr>
            <a:spLocks noGrp="1"/>
          </p:cNvSpPr>
          <p:nvPr/>
        </p:nvSpPr>
        <p:spPr>
          <a:xfrm>
            <a:off x="2359152" y="382219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1" name="Shape 29">
            <a:extLst>
              <a:ext uri="{FF2B5EF4-FFF2-40B4-BE49-F238E27FC236}">
                <a16:creationId xmlns:a16="http://schemas.microsoft.com/office/drawing/2014/main" id="{C64B05C7-174F-4C65-B294-96058C4C1C53}"/>
              </a:ext>
            </a:extLst>
          </p:cNvPr>
          <p:cNvSpPr>
            <a:spLocks noGrp="1"/>
          </p:cNvSpPr>
          <p:nvPr/>
        </p:nvSpPr>
        <p:spPr>
          <a:xfrm>
            <a:off x="2532888" y="382219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32" name="Shape 30">
            <a:extLst>
              <a:ext uri="{FF2B5EF4-FFF2-40B4-BE49-F238E27FC236}">
                <a16:creationId xmlns:a16="http://schemas.microsoft.com/office/drawing/2014/main" id="{E53A8EDA-AF70-45B1-8115-C4458940A4AC}"/>
              </a:ext>
            </a:extLst>
          </p:cNvPr>
          <p:cNvSpPr>
            <a:spLocks noGrp="1"/>
          </p:cNvSpPr>
          <p:nvPr/>
        </p:nvSpPr>
        <p:spPr>
          <a:xfrm>
            <a:off x="969264"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3" name="Shape 31">
            <a:extLst>
              <a:ext uri="{FF2B5EF4-FFF2-40B4-BE49-F238E27FC236}">
                <a16:creationId xmlns:a16="http://schemas.microsoft.com/office/drawing/2014/main" id="{F485BAE9-1C45-4804-B976-95F7DB3DC2E8}"/>
              </a:ext>
            </a:extLst>
          </p:cNvPr>
          <p:cNvSpPr>
            <a:spLocks noGrp="1"/>
          </p:cNvSpPr>
          <p:nvPr/>
        </p:nvSpPr>
        <p:spPr>
          <a:xfrm>
            <a:off x="1143000" y="3977640"/>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34" name="Shape 32">
            <a:extLst>
              <a:ext uri="{FF2B5EF4-FFF2-40B4-BE49-F238E27FC236}">
                <a16:creationId xmlns:a16="http://schemas.microsoft.com/office/drawing/2014/main" id="{A212A174-2B98-48CB-B1D9-3EA2909006C0}"/>
              </a:ext>
            </a:extLst>
          </p:cNvPr>
          <p:cNvSpPr>
            <a:spLocks noGrp="1"/>
          </p:cNvSpPr>
          <p:nvPr/>
        </p:nvSpPr>
        <p:spPr>
          <a:xfrm>
            <a:off x="1316736"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5" name="Shape 33">
            <a:extLst>
              <a:ext uri="{FF2B5EF4-FFF2-40B4-BE49-F238E27FC236}">
                <a16:creationId xmlns:a16="http://schemas.microsoft.com/office/drawing/2014/main" id="{E5352568-F10D-450C-898A-D26B7080828C}"/>
              </a:ext>
            </a:extLst>
          </p:cNvPr>
          <p:cNvSpPr>
            <a:spLocks noGrp="1"/>
          </p:cNvSpPr>
          <p:nvPr/>
        </p:nvSpPr>
        <p:spPr>
          <a:xfrm>
            <a:off x="1490472"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6" name="Shape 34">
            <a:extLst>
              <a:ext uri="{FF2B5EF4-FFF2-40B4-BE49-F238E27FC236}">
                <a16:creationId xmlns:a16="http://schemas.microsoft.com/office/drawing/2014/main" id="{13823223-8D83-4A75-87AF-8D7ADA106A03}"/>
              </a:ext>
            </a:extLst>
          </p:cNvPr>
          <p:cNvSpPr>
            <a:spLocks noGrp="1"/>
          </p:cNvSpPr>
          <p:nvPr/>
        </p:nvSpPr>
        <p:spPr>
          <a:xfrm>
            <a:off x="1664208" y="3977640"/>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37" name="Shape 35">
            <a:extLst>
              <a:ext uri="{FF2B5EF4-FFF2-40B4-BE49-F238E27FC236}">
                <a16:creationId xmlns:a16="http://schemas.microsoft.com/office/drawing/2014/main" id="{BB753A07-AF55-4825-B526-25921F77FE71}"/>
              </a:ext>
            </a:extLst>
          </p:cNvPr>
          <p:cNvSpPr>
            <a:spLocks noGrp="1"/>
          </p:cNvSpPr>
          <p:nvPr/>
        </p:nvSpPr>
        <p:spPr>
          <a:xfrm>
            <a:off x="1837944"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8" name="Shape 36">
            <a:extLst>
              <a:ext uri="{FF2B5EF4-FFF2-40B4-BE49-F238E27FC236}">
                <a16:creationId xmlns:a16="http://schemas.microsoft.com/office/drawing/2014/main" id="{B29D9225-809F-4A81-9EF0-48BD7E04B32F}"/>
              </a:ext>
            </a:extLst>
          </p:cNvPr>
          <p:cNvSpPr>
            <a:spLocks noGrp="1"/>
          </p:cNvSpPr>
          <p:nvPr/>
        </p:nvSpPr>
        <p:spPr>
          <a:xfrm>
            <a:off x="2011680"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39" name="Shape 37">
            <a:extLst>
              <a:ext uri="{FF2B5EF4-FFF2-40B4-BE49-F238E27FC236}">
                <a16:creationId xmlns:a16="http://schemas.microsoft.com/office/drawing/2014/main" id="{6598F1D5-F81A-425A-95BD-6B1F32C5C962}"/>
              </a:ext>
            </a:extLst>
          </p:cNvPr>
          <p:cNvSpPr>
            <a:spLocks noGrp="1"/>
          </p:cNvSpPr>
          <p:nvPr/>
        </p:nvSpPr>
        <p:spPr>
          <a:xfrm>
            <a:off x="2185416" y="3977640"/>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40" name="Shape 38">
            <a:extLst>
              <a:ext uri="{FF2B5EF4-FFF2-40B4-BE49-F238E27FC236}">
                <a16:creationId xmlns:a16="http://schemas.microsoft.com/office/drawing/2014/main" id="{DBECA33B-7C90-4D71-8407-8BF580902381}"/>
              </a:ext>
            </a:extLst>
          </p:cNvPr>
          <p:cNvSpPr>
            <a:spLocks noGrp="1"/>
          </p:cNvSpPr>
          <p:nvPr/>
        </p:nvSpPr>
        <p:spPr>
          <a:xfrm>
            <a:off x="2359152"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1" name="Shape 39">
            <a:extLst>
              <a:ext uri="{FF2B5EF4-FFF2-40B4-BE49-F238E27FC236}">
                <a16:creationId xmlns:a16="http://schemas.microsoft.com/office/drawing/2014/main" id="{C9DCE143-0CAB-4BC0-9978-3D8582526F3C}"/>
              </a:ext>
            </a:extLst>
          </p:cNvPr>
          <p:cNvSpPr>
            <a:spLocks noGrp="1"/>
          </p:cNvSpPr>
          <p:nvPr/>
        </p:nvSpPr>
        <p:spPr>
          <a:xfrm>
            <a:off x="2532888" y="3977640"/>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2" name="Shape 40">
            <a:extLst>
              <a:ext uri="{FF2B5EF4-FFF2-40B4-BE49-F238E27FC236}">
                <a16:creationId xmlns:a16="http://schemas.microsoft.com/office/drawing/2014/main" id="{07E0EA1A-E8DC-4A54-8722-4D058224E6A4}"/>
              </a:ext>
            </a:extLst>
          </p:cNvPr>
          <p:cNvSpPr>
            <a:spLocks noGrp="1"/>
          </p:cNvSpPr>
          <p:nvPr/>
        </p:nvSpPr>
        <p:spPr>
          <a:xfrm>
            <a:off x="969264"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3" name="Shape 41">
            <a:extLst>
              <a:ext uri="{FF2B5EF4-FFF2-40B4-BE49-F238E27FC236}">
                <a16:creationId xmlns:a16="http://schemas.microsoft.com/office/drawing/2014/main" id="{8DCF87E2-0754-4BD0-A8D0-753919B9F0AF}"/>
              </a:ext>
            </a:extLst>
          </p:cNvPr>
          <p:cNvSpPr>
            <a:spLocks noGrp="1"/>
          </p:cNvSpPr>
          <p:nvPr/>
        </p:nvSpPr>
        <p:spPr>
          <a:xfrm>
            <a:off x="1143000"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4" name="Shape 42">
            <a:extLst>
              <a:ext uri="{FF2B5EF4-FFF2-40B4-BE49-F238E27FC236}">
                <a16:creationId xmlns:a16="http://schemas.microsoft.com/office/drawing/2014/main" id="{D01665B8-0859-4552-A789-B1A7892BEC0B}"/>
              </a:ext>
            </a:extLst>
          </p:cNvPr>
          <p:cNvSpPr>
            <a:spLocks noGrp="1"/>
          </p:cNvSpPr>
          <p:nvPr/>
        </p:nvSpPr>
        <p:spPr>
          <a:xfrm>
            <a:off x="1316736" y="4133088"/>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45" name="Shape 43">
            <a:extLst>
              <a:ext uri="{FF2B5EF4-FFF2-40B4-BE49-F238E27FC236}">
                <a16:creationId xmlns:a16="http://schemas.microsoft.com/office/drawing/2014/main" id="{25D1FEA3-02C6-4AAA-B6EA-F845271B171F}"/>
              </a:ext>
            </a:extLst>
          </p:cNvPr>
          <p:cNvSpPr>
            <a:spLocks noGrp="1"/>
          </p:cNvSpPr>
          <p:nvPr/>
        </p:nvSpPr>
        <p:spPr>
          <a:xfrm>
            <a:off x="1490472"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6" name="Shape 44">
            <a:extLst>
              <a:ext uri="{FF2B5EF4-FFF2-40B4-BE49-F238E27FC236}">
                <a16:creationId xmlns:a16="http://schemas.microsoft.com/office/drawing/2014/main" id="{B22A8AC5-F36D-461E-A850-690D6C0BCDDC}"/>
              </a:ext>
            </a:extLst>
          </p:cNvPr>
          <p:cNvSpPr>
            <a:spLocks noGrp="1"/>
          </p:cNvSpPr>
          <p:nvPr/>
        </p:nvSpPr>
        <p:spPr>
          <a:xfrm>
            <a:off x="1664208"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7" name="Shape 45">
            <a:extLst>
              <a:ext uri="{FF2B5EF4-FFF2-40B4-BE49-F238E27FC236}">
                <a16:creationId xmlns:a16="http://schemas.microsoft.com/office/drawing/2014/main" id="{96BF759D-49C4-4BCE-BCA9-BF65939A13E8}"/>
              </a:ext>
            </a:extLst>
          </p:cNvPr>
          <p:cNvSpPr>
            <a:spLocks noGrp="1"/>
          </p:cNvSpPr>
          <p:nvPr/>
        </p:nvSpPr>
        <p:spPr>
          <a:xfrm>
            <a:off x="1837944" y="4133088"/>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48" name="Shape 46">
            <a:extLst>
              <a:ext uri="{FF2B5EF4-FFF2-40B4-BE49-F238E27FC236}">
                <a16:creationId xmlns:a16="http://schemas.microsoft.com/office/drawing/2014/main" id="{099BF356-DFEF-4E64-8F6A-08C1B572A86D}"/>
              </a:ext>
            </a:extLst>
          </p:cNvPr>
          <p:cNvSpPr>
            <a:spLocks noGrp="1"/>
          </p:cNvSpPr>
          <p:nvPr/>
        </p:nvSpPr>
        <p:spPr>
          <a:xfrm>
            <a:off x="2011680"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49" name="Shape 47">
            <a:extLst>
              <a:ext uri="{FF2B5EF4-FFF2-40B4-BE49-F238E27FC236}">
                <a16:creationId xmlns:a16="http://schemas.microsoft.com/office/drawing/2014/main" id="{8C4DCFB7-7559-4EB3-9F3D-EF3BF0BE92CC}"/>
              </a:ext>
            </a:extLst>
          </p:cNvPr>
          <p:cNvSpPr>
            <a:spLocks noGrp="1"/>
          </p:cNvSpPr>
          <p:nvPr/>
        </p:nvSpPr>
        <p:spPr>
          <a:xfrm>
            <a:off x="2185416"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0" name="Shape 48">
            <a:extLst>
              <a:ext uri="{FF2B5EF4-FFF2-40B4-BE49-F238E27FC236}">
                <a16:creationId xmlns:a16="http://schemas.microsoft.com/office/drawing/2014/main" id="{9FC0C23A-4B0A-4D20-B2E6-94818282D789}"/>
              </a:ext>
            </a:extLst>
          </p:cNvPr>
          <p:cNvSpPr>
            <a:spLocks noGrp="1"/>
          </p:cNvSpPr>
          <p:nvPr/>
        </p:nvSpPr>
        <p:spPr>
          <a:xfrm>
            <a:off x="2359152" y="4133088"/>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51" name="Shape 49">
            <a:extLst>
              <a:ext uri="{FF2B5EF4-FFF2-40B4-BE49-F238E27FC236}">
                <a16:creationId xmlns:a16="http://schemas.microsoft.com/office/drawing/2014/main" id="{564C578F-3CFA-459A-BFE3-3CA4E878D491}"/>
              </a:ext>
            </a:extLst>
          </p:cNvPr>
          <p:cNvSpPr>
            <a:spLocks noGrp="1"/>
          </p:cNvSpPr>
          <p:nvPr/>
        </p:nvSpPr>
        <p:spPr>
          <a:xfrm>
            <a:off x="2532888" y="4133088"/>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2" name="Shape 50">
            <a:extLst>
              <a:ext uri="{FF2B5EF4-FFF2-40B4-BE49-F238E27FC236}">
                <a16:creationId xmlns:a16="http://schemas.microsoft.com/office/drawing/2014/main" id="{DD0B82FA-9A86-4439-82E1-8A16C930704A}"/>
              </a:ext>
            </a:extLst>
          </p:cNvPr>
          <p:cNvSpPr>
            <a:spLocks noGrp="1"/>
          </p:cNvSpPr>
          <p:nvPr/>
        </p:nvSpPr>
        <p:spPr>
          <a:xfrm>
            <a:off x="969264" y="4288536"/>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53" name="Shape 51">
            <a:extLst>
              <a:ext uri="{FF2B5EF4-FFF2-40B4-BE49-F238E27FC236}">
                <a16:creationId xmlns:a16="http://schemas.microsoft.com/office/drawing/2014/main" id="{722EC1F6-1CF6-48D3-8933-93F628D7C7E2}"/>
              </a:ext>
            </a:extLst>
          </p:cNvPr>
          <p:cNvSpPr>
            <a:spLocks noGrp="1"/>
          </p:cNvSpPr>
          <p:nvPr/>
        </p:nvSpPr>
        <p:spPr>
          <a:xfrm>
            <a:off x="1143000"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4" name="Shape 52">
            <a:extLst>
              <a:ext uri="{FF2B5EF4-FFF2-40B4-BE49-F238E27FC236}">
                <a16:creationId xmlns:a16="http://schemas.microsoft.com/office/drawing/2014/main" id="{ADE909EF-EDD4-419A-913C-45DF35B21526}"/>
              </a:ext>
            </a:extLst>
          </p:cNvPr>
          <p:cNvSpPr>
            <a:spLocks noGrp="1"/>
          </p:cNvSpPr>
          <p:nvPr/>
        </p:nvSpPr>
        <p:spPr>
          <a:xfrm>
            <a:off x="1316736"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5" name="Shape 53">
            <a:extLst>
              <a:ext uri="{FF2B5EF4-FFF2-40B4-BE49-F238E27FC236}">
                <a16:creationId xmlns:a16="http://schemas.microsoft.com/office/drawing/2014/main" id="{0AE0879F-C3FD-43A1-A8CF-8701FB739656}"/>
              </a:ext>
            </a:extLst>
          </p:cNvPr>
          <p:cNvSpPr>
            <a:spLocks noGrp="1"/>
          </p:cNvSpPr>
          <p:nvPr/>
        </p:nvSpPr>
        <p:spPr>
          <a:xfrm>
            <a:off x="1490472" y="4288536"/>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56" name="Shape 54">
            <a:extLst>
              <a:ext uri="{FF2B5EF4-FFF2-40B4-BE49-F238E27FC236}">
                <a16:creationId xmlns:a16="http://schemas.microsoft.com/office/drawing/2014/main" id="{BD4E955B-4ACD-4012-BE2D-AFD5991EB7EB}"/>
              </a:ext>
            </a:extLst>
          </p:cNvPr>
          <p:cNvSpPr>
            <a:spLocks noGrp="1"/>
          </p:cNvSpPr>
          <p:nvPr/>
        </p:nvSpPr>
        <p:spPr>
          <a:xfrm>
            <a:off x="1664208"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7" name="Shape 55">
            <a:extLst>
              <a:ext uri="{FF2B5EF4-FFF2-40B4-BE49-F238E27FC236}">
                <a16:creationId xmlns:a16="http://schemas.microsoft.com/office/drawing/2014/main" id="{F4927638-BBD3-4022-8526-383755BAFFFC}"/>
              </a:ext>
            </a:extLst>
          </p:cNvPr>
          <p:cNvSpPr>
            <a:spLocks noGrp="1"/>
          </p:cNvSpPr>
          <p:nvPr/>
        </p:nvSpPr>
        <p:spPr>
          <a:xfrm>
            <a:off x="1837944"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58" name="Shape 56">
            <a:extLst>
              <a:ext uri="{FF2B5EF4-FFF2-40B4-BE49-F238E27FC236}">
                <a16:creationId xmlns:a16="http://schemas.microsoft.com/office/drawing/2014/main" id="{DDBAB5C0-F44F-4ACB-B7B3-267C0B33CD46}"/>
              </a:ext>
            </a:extLst>
          </p:cNvPr>
          <p:cNvSpPr>
            <a:spLocks noGrp="1"/>
          </p:cNvSpPr>
          <p:nvPr/>
        </p:nvSpPr>
        <p:spPr>
          <a:xfrm>
            <a:off x="2011680" y="4288536"/>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59" name="Shape 57">
            <a:extLst>
              <a:ext uri="{FF2B5EF4-FFF2-40B4-BE49-F238E27FC236}">
                <a16:creationId xmlns:a16="http://schemas.microsoft.com/office/drawing/2014/main" id="{3EB43A8D-850F-4F3A-90C7-70B6DE2D8E42}"/>
              </a:ext>
            </a:extLst>
          </p:cNvPr>
          <p:cNvSpPr>
            <a:spLocks noGrp="1"/>
          </p:cNvSpPr>
          <p:nvPr/>
        </p:nvSpPr>
        <p:spPr>
          <a:xfrm>
            <a:off x="2185416"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0" name="Shape 58">
            <a:extLst>
              <a:ext uri="{FF2B5EF4-FFF2-40B4-BE49-F238E27FC236}">
                <a16:creationId xmlns:a16="http://schemas.microsoft.com/office/drawing/2014/main" id="{10758AF0-6D7C-452F-A141-B6499903F180}"/>
              </a:ext>
            </a:extLst>
          </p:cNvPr>
          <p:cNvSpPr>
            <a:spLocks noGrp="1"/>
          </p:cNvSpPr>
          <p:nvPr/>
        </p:nvSpPr>
        <p:spPr>
          <a:xfrm>
            <a:off x="2359152" y="4288536"/>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1" name="Shape 59">
            <a:extLst>
              <a:ext uri="{FF2B5EF4-FFF2-40B4-BE49-F238E27FC236}">
                <a16:creationId xmlns:a16="http://schemas.microsoft.com/office/drawing/2014/main" id="{AC5DE8A6-CC57-4D76-9997-B7196F5FAAFA}"/>
              </a:ext>
            </a:extLst>
          </p:cNvPr>
          <p:cNvSpPr>
            <a:spLocks noGrp="1"/>
          </p:cNvSpPr>
          <p:nvPr/>
        </p:nvSpPr>
        <p:spPr>
          <a:xfrm>
            <a:off x="2532888" y="4288536"/>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62" name="Shape 60">
            <a:extLst>
              <a:ext uri="{FF2B5EF4-FFF2-40B4-BE49-F238E27FC236}">
                <a16:creationId xmlns:a16="http://schemas.microsoft.com/office/drawing/2014/main" id="{A0E919F4-28FB-4E74-8F9A-FFC3BF2C91E9}"/>
              </a:ext>
            </a:extLst>
          </p:cNvPr>
          <p:cNvSpPr>
            <a:spLocks noGrp="1"/>
          </p:cNvSpPr>
          <p:nvPr/>
        </p:nvSpPr>
        <p:spPr>
          <a:xfrm>
            <a:off x="969264"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3" name="Shape 61">
            <a:extLst>
              <a:ext uri="{FF2B5EF4-FFF2-40B4-BE49-F238E27FC236}">
                <a16:creationId xmlns:a16="http://schemas.microsoft.com/office/drawing/2014/main" id="{7750A05E-9C5D-49EF-8BB1-5289E4E82D17}"/>
              </a:ext>
            </a:extLst>
          </p:cNvPr>
          <p:cNvSpPr>
            <a:spLocks noGrp="1"/>
          </p:cNvSpPr>
          <p:nvPr/>
        </p:nvSpPr>
        <p:spPr>
          <a:xfrm>
            <a:off x="1143000" y="4443984"/>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64" name="Shape 62">
            <a:extLst>
              <a:ext uri="{FF2B5EF4-FFF2-40B4-BE49-F238E27FC236}">
                <a16:creationId xmlns:a16="http://schemas.microsoft.com/office/drawing/2014/main" id="{22090FED-40A9-4930-B592-4801ABCE0324}"/>
              </a:ext>
            </a:extLst>
          </p:cNvPr>
          <p:cNvSpPr>
            <a:spLocks noGrp="1"/>
          </p:cNvSpPr>
          <p:nvPr/>
        </p:nvSpPr>
        <p:spPr>
          <a:xfrm>
            <a:off x="1316736"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5" name="Shape 63">
            <a:extLst>
              <a:ext uri="{FF2B5EF4-FFF2-40B4-BE49-F238E27FC236}">
                <a16:creationId xmlns:a16="http://schemas.microsoft.com/office/drawing/2014/main" id="{4BBDFDE3-FD7C-4196-A1C4-9B4DA1494B21}"/>
              </a:ext>
            </a:extLst>
          </p:cNvPr>
          <p:cNvSpPr>
            <a:spLocks noGrp="1"/>
          </p:cNvSpPr>
          <p:nvPr/>
        </p:nvSpPr>
        <p:spPr>
          <a:xfrm>
            <a:off x="1490472"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6" name="Shape 64">
            <a:extLst>
              <a:ext uri="{FF2B5EF4-FFF2-40B4-BE49-F238E27FC236}">
                <a16:creationId xmlns:a16="http://schemas.microsoft.com/office/drawing/2014/main" id="{9B16D56A-1886-49B4-A1EE-B16AD3E38F86}"/>
              </a:ext>
            </a:extLst>
          </p:cNvPr>
          <p:cNvSpPr>
            <a:spLocks noGrp="1"/>
          </p:cNvSpPr>
          <p:nvPr/>
        </p:nvSpPr>
        <p:spPr>
          <a:xfrm>
            <a:off x="1664208" y="4443984"/>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67" name="Shape 65">
            <a:extLst>
              <a:ext uri="{FF2B5EF4-FFF2-40B4-BE49-F238E27FC236}">
                <a16:creationId xmlns:a16="http://schemas.microsoft.com/office/drawing/2014/main" id="{F99B8303-9B80-4184-92E2-501D64A54ADD}"/>
              </a:ext>
            </a:extLst>
          </p:cNvPr>
          <p:cNvSpPr>
            <a:spLocks noGrp="1"/>
          </p:cNvSpPr>
          <p:nvPr/>
        </p:nvSpPr>
        <p:spPr>
          <a:xfrm>
            <a:off x="1837944"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8" name="Shape 66">
            <a:extLst>
              <a:ext uri="{FF2B5EF4-FFF2-40B4-BE49-F238E27FC236}">
                <a16:creationId xmlns:a16="http://schemas.microsoft.com/office/drawing/2014/main" id="{AE58D90A-93CF-41EF-8416-2CAE360D95CF}"/>
              </a:ext>
            </a:extLst>
          </p:cNvPr>
          <p:cNvSpPr>
            <a:spLocks noGrp="1"/>
          </p:cNvSpPr>
          <p:nvPr/>
        </p:nvSpPr>
        <p:spPr>
          <a:xfrm>
            <a:off x="2011680"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69" name="Shape 67">
            <a:extLst>
              <a:ext uri="{FF2B5EF4-FFF2-40B4-BE49-F238E27FC236}">
                <a16:creationId xmlns:a16="http://schemas.microsoft.com/office/drawing/2014/main" id="{4CAFFEE2-0656-40AE-A62C-563D5CF32B74}"/>
              </a:ext>
            </a:extLst>
          </p:cNvPr>
          <p:cNvSpPr>
            <a:spLocks noGrp="1"/>
          </p:cNvSpPr>
          <p:nvPr/>
        </p:nvSpPr>
        <p:spPr>
          <a:xfrm>
            <a:off x="2185416" y="4443984"/>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70" name="Shape 68">
            <a:extLst>
              <a:ext uri="{FF2B5EF4-FFF2-40B4-BE49-F238E27FC236}">
                <a16:creationId xmlns:a16="http://schemas.microsoft.com/office/drawing/2014/main" id="{B170CBAC-9AC7-4083-AD81-9DA53DA3E097}"/>
              </a:ext>
            </a:extLst>
          </p:cNvPr>
          <p:cNvSpPr>
            <a:spLocks noGrp="1"/>
          </p:cNvSpPr>
          <p:nvPr/>
        </p:nvSpPr>
        <p:spPr>
          <a:xfrm>
            <a:off x="2359152"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1" name="Shape 69">
            <a:extLst>
              <a:ext uri="{FF2B5EF4-FFF2-40B4-BE49-F238E27FC236}">
                <a16:creationId xmlns:a16="http://schemas.microsoft.com/office/drawing/2014/main" id="{17B76022-6223-4E54-A89D-D94F79297DF9}"/>
              </a:ext>
            </a:extLst>
          </p:cNvPr>
          <p:cNvSpPr>
            <a:spLocks noGrp="1"/>
          </p:cNvSpPr>
          <p:nvPr/>
        </p:nvSpPr>
        <p:spPr>
          <a:xfrm>
            <a:off x="2532888" y="4443984"/>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2" name="Shape 70">
            <a:extLst>
              <a:ext uri="{FF2B5EF4-FFF2-40B4-BE49-F238E27FC236}">
                <a16:creationId xmlns:a16="http://schemas.microsoft.com/office/drawing/2014/main" id="{78C7DC28-7FAE-4D8F-9934-3364679CBFEA}"/>
              </a:ext>
            </a:extLst>
          </p:cNvPr>
          <p:cNvSpPr>
            <a:spLocks noGrp="1"/>
          </p:cNvSpPr>
          <p:nvPr/>
        </p:nvSpPr>
        <p:spPr>
          <a:xfrm>
            <a:off x="969264"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3" name="Shape 71">
            <a:extLst>
              <a:ext uri="{FF2B5EF4-FFF2-40B4-BE49-F238E27FC236}">
                <a16:creationId xmlns:a16="http://schemas.microsoft.com/office/drawing/2014/main" id="{BD2CEC18-56B1-4F31-BC91-AA34A2335E27}"/>
              </a:ext>
            </a:extLst>
          </p:cNvPr>
          <p:cNvSpPr>
            <a:spLocks noGrp="1"/>
          </p:cNvSpPr>
          <p:nvPr/>
        </p:nvSpPr>
        <p:spPr>
          <a:xfrm>
            <a:off x="1143000"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4" name="Shape 72">
            <a:extLst>
              <a:ext uri="{FF2B5EF4-FFF2-40B4-BE49-F238E27FC236}">
                <a16:creationId xmlns:a16="http://schemas.microsoft.com/office/drawing/2014/main" id="{9237A250-5EFB-431B-A4C8-ACDF1BA1613A}"/>
              </a:ext>
            </a:extLst>
          </p:cNvPr>
          <p:cNvSpPr>
            <a:spLocks noGrp="1"/>
          </p:cNvSpPr>
          <p:nvPr/>
        </p:nvSpPr>
        <p:spPr>
          <a:xfrm>
            <a:off x="1316736" y="459943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75" name="Shape 73">
            <a:extLst>
              <a:ext uri="{FF2B5EF4-FFF2-40B4-BE49-F238E27FC236}">
                <a16:creationId xmlns:a16="http://schemas.microsoft.com/office/drawing/2014/main" id="{EA6EF018-123D-4AEA-B663-CDDD249728D2}"/>
              </a:ext>
            </a:extLst>
          </p:cNvPr>
          <p:cNvSpPr>
            <a:spLocks noGrp="1"/>
          </p:cNvSpPr>
          <p:nvPr/>
        </p:nvSpPr>
        <p:spPr>
          <a:xfrm>
            <a:off x="1490472"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6" name="Shape 74">
            <a:extLst>
              <a:ext uri="{FF2B5EF4-FFF2-40B4-BE49-F238E27FC236}">
                <a16:creationId xmlns:a16="http://schemas.microsoft.com/office/drawing/2014/main" id="{1267EDAE-02BB-4C4D-9427-50FAF8C0F97A}"/>
              </a:ext>
            </a:extLst>
          </p:cNvPr>
          <p:cNvSpPr>
            <a:spLocks noGrp="1"/>
          </p:cNvSpPr>
          <p:nvPr/>
        </p:nvSpPr>
        <p:spPr>
          <a:xfrm>
            <a:off x="1664208"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7" name="Shape 75">
            <a:extLst>
              <a:ext uri="{FF2B5EF4-FFF2-40B4-BE49-F238E27FC236}">
                <a16:creationId xmlns:a16="http://schemas.microsoft.com/office/drawing/2014/main" id="{5BFE232C-D550-4EDE-AC5C-5B93EA5CA6DB}"/>
              </a:ext>
            </a:extLst>
          </p:cNvPr>
          <p:cNvSpPr>
            <a:spLocks noGrp="1"/>
          </p:cNvSpPr>
          <p:nvPr/>
        </p:nvSpPr>
        <p:spPr>
          <a:xfrm>
            <a:off x="1837944" y="459943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78" name="Shape 76">
            <a:extLst>
              <a:ext uri="{FF2B5EF4-FFF2-40B4-BE49-F238E27FC236}">
                <a16:creationId xmlns:a16="http://schemas.microsoft.com/office/drawing/2014/main" id="{3706E080-FB4C-470D-BD20-34E183F6EC02}"/>
              </a:ext>
            </a:extLst>
          </p:cNvPr>
          <p:cNvSpPr>
            <a:spLocks noGrp="1"/>
          </p:cNvSpPr>
          <p:nvPr/>
        </p:nvSpPr>
        <p:spPr>
          <a:xfrm>
            <a:off x="2011680"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79" name="Shape 77">
            <a:extLst>
              <a:ext uri="{FF2B5EF4-FFF2-40B4-BE49-F238E27FC236}">
                <a16:creationId xmlns:a16="http://schemas.microsoft.com/office/drawing/2014/main" id="{AB285EE0-6C88-4285-B757-1212B406DD88}"/>
              </a:ext>
            </a:extLst>
          </p:cNvPr>
          <p:cNvSpPr>
            <a:spLocks noGrp="1"/>
          </p:cNvSpPr>
          <p:nvPr/>
        </p:nvSpPr>
        <p:spPr>
          <a:xfrm>
            <a:off x="2185416"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80" name="Shape 78">
            <a:extLst>
              <a:ext uri="{FF2B5EF4-FFF2-40B4-BE49-F238E27FC236}">
                <a16:creationId xmlns:a16="http://schemas.microsoft.com/office/drawing/2014/main" id="{73473F3E-D9AB-4B07-A317-6F4ED7325726}"/>
              </a:ext>
            </a:extLst>
          </p:cNvPr>
          <p:cNvSpPr>
            <a:spLocks noGrp="1"/>
          </p:cNvSpPr>
          <p:nvPr/>
        </p:nvSpPr>
        <p:spPr>
          <a:xfrm>
            <a:off x="2359152" y="4599432"/>
            <a:ext cx="128016" cy="109728"/>
          </a:xfrm>
          <a:prstGeom prst="rect">
            <a:avLst/>
          </a:prstGeom>
          <a:solidFill>
            <a:srgbClr val="E2E8F0"/>
          </a:solidFill>
          <a:ln w="12700">
            <a:solidFill>
              <a:srgbClr val="FFFFFF">
                <a:alpha val="0"/>
              </a:srgbClr>
            </a:solidFill>
            <a:prstDash val="solid"/>
          </a:ln>
        </p:spPr>
        <p:txBody>
          <a:bodyPr/>
          <a:lstStyle/>
          <a:p>
            <a:endParaRPr lang="en-US"/>
          </a:p>
        </p:txBody>
      </p:sp>
      <p:sp>
        <p:nvSpPr>
          <p:cNvPr id="81" name="Shape 79">
            <a:extLst>
              <a:ext uri="{FF2B5EF4-FFF2-40B4-BE49-F238E27FC236}">
                <a16:creationId xmlns:a16="http://schemas.microsoft.com/office/drawing/2014/main" id="{8F0052DA-D01F-49D4-A249-B507622A0C6E}"/>
              </a:ext>
            </a:extLst>
          </p:cNvPr>
          <p:cNvSpPr>
            <a:spLocks noGrp="1"/>
          </p:cNvSpPr>
          <p:nvPr/>
        </p:nvSpPr>
        <p:spPr>
          <a:xfrm>
            <a:off x="2532888" y="4599432"/>
            <a:ext cx="128016" cy="109728"/>
          </a:xfrm>
          <a:prstGeom prst="rect">
            <a:avLst/>
          </a:prstGeom>
          <a:solidFill>
            <a:srgbClr val="2B6CB0"/>
          </a:solidFill>
          <a:ln w="12700">
            <a:solidFill>
              <a:srgbClr val="FFFFFF">
                <a:alpha val="0"/>
              </a:srgbClr>
            </a:solidFill>
            <a:prstDash val="solid"/>
          </a:ln>
        </p:spPr>
        <p:txBody>
          <a:bodyPr/>
          <a:lstStyle/>
          <a:p>
            <a:endParaRPr lang="en-US"/>
          </a:p>
        </p:txBody>
      </p:sp>
      <p:sp>
        <p:nvSpPr>
          <p:cNvPr id="82" name="Text 80">
            <a:extLst>
              <a:ext uri="{FF2B5EF4-FFF2-40B4-BE49-F238E27FC236}">
                <a16:creationId xmlns:a16="http://schemas.microsoft.com/office/drawing/2014/main" id="{0855525E-8838-4680-A9A7-26A197810F33}"/>
              </a:ext>
            </a:extLst>
          </p:cNvPr>
          <p:cNvSpPr>
            <a:spLocks noGrp="1"/>
          </p:cNvSpPr>
          <p:nvPr/>
        </p:nvSpPr>
        <p:spPr>
          <a:xfrm>
            <a:off x="749808" y="4956048"/>
            <a:ext cx="2743200" cy="347472"/>
          </a:xfrm>
          <a:prstGeom prst="rect">
            <a:avLst/>
          </a:prstGeom>
          <a:noFill/>
        </p:spPr>
        <p:txBody>
          <a:bodyPr wrap="square" lIns="508" tIns="508" rIns="508" bIns="508" anchor="t">
            <a:normAutofit fontScale="95808"/>
          </a:bodyPr>
          <a:lstStyle/>
          <a:p>
            <a:pPr marL="0" indent="0" algn="l">
              <a:buNone/>
            </a:pPr>
            <a:r>
              <a:rPr sz="880">
                <a:solidFill>
                  <a:srgbClr val="64748B"/>
                </a:solidFill>
                <a:latin typeface="Aptos"/>
                <a:ea typeface="Aptos"/>
                <a:cs typeface="Aptos"/>
              </a:rPr>
              <a:t>All branches start from the selected canonical set; arrows between methods would incorrectly imply a sequence.</a:t>
            </a:r>
          </a:p>
        </p:txBody>
      </p:sp>
      <p:sp>
        <p:nvSpPr>
          <p:cNvPr id="83" name="Shape 81">
            <a:extLst>
              <a:ext uri="{FF2B5EF4-FFF2-40B4-BE49-F238E27FC236}">
                <a16:creationId xmlns:a16="http://schemas.microsoft.com/office/drawing/2014/main" id="{1A025A27-7040-47A1-9734-B4FBA484661D}"/>
              </a:ext>
            </a:extLst>
          </p:cNvPr>
          <p:cNvSpPr>
            <a:spLocks noGrp="1"/>
          </p:cNvSpPr>
          <p:nvPr/>
        </p:nvSpPr>
        <p:spPr>
          <a:xfrm>
            <a:off x="4809744" y="3694176"/>
            <a:ext cx="1152144" cy="256032"/>
          </a:xfrm>
          <a:prstGeom prst="roundRect">
            <a:avLst/>
          </a:prstGeom>
          <a:solidFill>
            <a:srgbClr val="EAF7EF"/>
          </a:solidFill>
          <a:ln w="12700">
            <a:solidFill>
              <a:srgbClr val="FFFFFF">
                <a:alpha val="0"/>
              </a:srgbClr>
            </a:solidFill>
            <a:prstDash val="solid"/>
          </a:ln>
        </p:spPr>
        <p:txBody>
          <a:bodyPr/>
          <a:lstStyle/>
          <a:p>
            <a:endParaRPr lang="en-US"/>
          </a:p>
        </p:txBody>
      </p:sp>
      <p:sp>
        <p:nvSpPr>
          <p:cNvPr id="84" name="Text 82">
            <a:extLst>
              <a:ext uri="{FF2B5EF4-FFF2-40B4-BE49-F238E27FC236}">
                <a16:creationId xmlns:a16="http://schemas.microsoft.com/office/drawing/2014/main" id="{1E86F905-39AD-4D7D-9545-9850D52B1784}"/>
              </a:ext>
            </a:extLst>
          </p:cNvPr>
          <p:cNvSpPr>
            <a:spLocks noGrp="1"/>
          </p:cNvSpPr>
          <p:nvPr/>
        </p:nvSpPr>
        <p:spPr>
          <a:xfrm>
            <a:off x="4864608" y="3749040"/>
            <a:ext cx="1042416" cy="128016"/>
          </a:xfrm>
          <a:prstGeom prst="rect">
            <a:avLst/>
          </a:prstGeom>
          <a:noFill/>
        </p:spPr>
        <p:txBody>
          <a:bodyPr wrap="square" lIns="508" tIns="508" rIns="508" bIns="508" anchor="t">
            <a:normAutofit/>
          </a:bodyPr>
          <a:lstStyle/>
          <a:p>
            <a:pPr marL="0" indent="0" algn="ctr">
              <a:buNone/>
            </a:pPr>
            <a:r>
              <a:rPr sz="750" b="1">
                <a:solidFill>
                  <a:srgbClr val="2F855A"/>
                </a:solidFill>
                <a:latin typeface="Aptos"/>
                <a:ea typeface="Aptos"/>
                <a:cs typeface="Aptos"/>
              </a:rPr>
              <a:t>VFDB / 02</a:t>
            </a:r>
          </a:p>
        </p:txBody>
      </p:sp>
      <p:sp>
        <p:nvSpPr>
          <p:cNvPr id="85" name="Shape 83">
            <a:extLst>
              <a:ext uri="{FF2B5EF4-FFF2-40B4-BE49-F238E27FC236}">
                <a16:creationId xmlns:a16="http://schemas.microsoft.com/office/drawing/2014/main" id="{C8332B74-92C6-4F2F-AF32-348D472DE3BE}"/>
              </a:ext>
            </a:extLst>
          </p:cNvPr>
          <p:cNvSpPr>
            <a:spLocks noGrp="1"/>
          </p:cNvSpPr>
          <p:nvPr/>
        </p:nvSpPr>
        <p:spPr>
          <a:xfrm>
            <a:off x="6181344" y="3694176"/>
            <a:ext cx="1152144" cy="256032"/>
          </a:xfrm>
          <a:prstGeom prst="roundRect">
            <a:avLst/>
          </a:prstGeom>
          <a:solidFill>
            <a:srgbClr val="EAF7EF"/>
          </a:solidFill>
          <a:ln w="12700">
            <a:solidFill>
              <a:srgbClr val="FFFFFF">
                <a:alpha val="0"/>
              </a:srgbClr>
            </a:solidFill>
            <a:prstDash val="solid"/>
          </a:ln>
        </p:spPr>
        <p:txBody>
          <a:bodyPr/>
          <a:lstStyle/>
          <a:p>
            <a:endParaRPr lang="en-US"/>
          </a:p>
        </p:txBody>
      </p:sp>
      <p:sp>
        <p:nvSpPr>
          <p:cNvPr id="86" name="Text 84">
            <a:extLst>
              <a:ext uri="{FF2B5EF4-FFF2-40B4-BE49-F238E27FC236}">
                <a16:creationId xmlns:a16="http://schemas.microsoft.com/office/drawing/2014/main" id="{88757E3B-A258-487E-9F53-4CAA1BE86A3A}"/>
              </a:ext>
            </a:extLst>
          </p:cNvPr>
          <p:cNvSpPr>
            <a:spLocks noGrp="1"/>
          </p:cNvSpPr>
          <p:nvPr/>
        </p:nvSpPr>
        <p:spPr>
          <a:xfrm>
            <a:off x="6236208" y="3749040"/>
            <a:ext cx="1042416" cy="128016"/>
          </a:xfrm>
          <a:prstGeom prst="rect">
            <a:avLst/>
          </a:prstGeom>
          <a:noFill/>
        </p:spPr>
        <p:txBody>
          <a:bodyPr wrap="square" lIns="508" tIns="508" rIns="508" bIns="508" anchor="t">
            <a:normAutofit/>
          </a:bodyPr>
          <a:lstStyle/>
          <a:p>
            <a:pPr marL="0" indent="0" algn="ctr">
              <a:buNone/>
            </a:pPr>
            <a:r>
              <a:rPr sz="750" b="1">
                <a:solidFill>
                  <a:srgbClr val="2F855A"/>
                </a:solidFill>
                <a:latin typeface="Aptos"/>
                <a:ea typeface="Aptos"/>
                <a:cs typeface="Aptos"/>
              </a:rPr>
              <a:t>MLST / 06</a:t>
            </a:r>
          </a:p>
        </p:txBody>
      </p:sp>
      <p:sp>
        <p:nvSpPr>
          <p:cNvPr id="87" name="Shape 85">
            <a:extLst>
              <a:ext uri="{FF2B5EF4-FFF2-40B4-BE49-F238E27FC236}">
                <a16:creationId xmlns:a16="http://schemas.microsoft.com/office/drawing/2014/main" id="{0A315A64-730E-4387-9F2B-F02D1E077D4C}"/>
              </a:ext>
            </a:extLst>
          </p:cNvPr>
          <p:cNvSpPr>
            <a:spLocks noGrp="1"/>
          </p:cNvSpPr>
          <p:nvPr/>
        </p:nvSpPr>
        <p:spPr>
          <a:xfrm>
            <a:off x="4809744" y="4133088"/>
            <a:ext cx="1152144" cy="256032"/>
          </a:xfrm>
          <a:prstGeom prst="roundRect">
            <a:avLst/>
          </a:prstGeom>
          <a:solidFill>
            <a:srgbClr val="EAF7EF"/>
          </a:solidFill>
          <a:ln w="12700">
            <a:solidFill>
              <a:srgbClr val="FFFFFF">
                <a:alpha val="0"/>
              </a:srgbClr>
            </a:solidFill>
            <a:prstDash val="solid"/>
          </a:ln>
        </p:spPr>
        <p:txBody>
          <a:bodyPr/>
          <a:lstStyle/>
          <a:p>
            <a:endParaRPr lang="en-US"/>
          </a:p>
        </p:txBody>
      </p:sp>
      <p:sp>
        <p:nvSpPr>
          <p:cNvPr id="88" name="Text 86">
            <a:extLst>
              <a:ext uri="{FF2B5EF4-FFF2-40B4-BE49-F238E27FC236}">
                <a16:creationId xmlns:a16="http://schemas.microsoft.com/office/drawing/2014/main" id="{1ABD0E7F-0309-4E67-993F-51FE91C60949}"/>
              </a:ext>
            </a:extLst>
          </p:cNvPr>
          <p:cNvSpPr>
            <a:spLocks noGrp="1"/>
          </p:cNvSpPr>
          <p:nvPr/>
        </p:nvSpPr>
        <p:spPr>
          <a:xfrm>
            <a:off x="4864608" y="4187952"/>
            <a:ext cx="1042416" cy="128016"/>
          </a:xfrm>
          <a:prstGeom prst="rect">
            <a:avLst/>
          </a:prstGeom>
          <a:noFill/>
        </p:spPr>
        <p:txBody>
          <a:bodyPr wrap="square" lIns="508" tIns="508" rIns="508" bIns="508" anchor="t">
            <a:normAutofit/>
          </a:bodyPr>
          <a:lstStyle/>
          <a:p>
            <a:pPr marL="0" indent="0" algn="ctr">
              <a:buNone/>
            </a:pPr>
            <a:r>
              <a:rPr sz="750" b="1">
                <a:solidFill>
                  <a:srgbClr val="2F855A"/>
                </a:solidFill>
                <a:latin typeface="Aptos"/>
                <a:ea typeface="Aptos"/>
                <a:cs typeface="Aptos"/>
              </a:rPr>
              <a:t>join / 22</a:t>
            </a:r>
          </a:p>
        </p:txBody>
      </p:sp>
      <p:sp>
        <p:nvSpPr>
          <p:cNvPr id="89" name="Shape 87">
            <a:extLst>
              <a:ext uri="{FF2B5EF4-FFF2-40B4-BE49-F238E27FC236}">
                <a16:creationId xmlns:a16="http://schemas.microsoft.com/office/drawing/2014/main" id="{E750915F-4EBF-48E9-8783-572328D0F539}"/>
              </a:ext>
            </a:extLst>
          </p:cNvPr>
          <p:cNvSpPr>
            <a:spLocks noGrp="1"/>
          </p:cNvSpPr>
          <p:nvPr/>
        </p:nvSpPr>
        <p:spPr>
          <a:xfrm>
            <a:off x="6181344" y="4133088"/>
            <a:ext cx="1152144" cy="256032"/>
          </a:xfrm>
          <a:prstGeom prst="roundRect">
            <a:avLst/>
          </a:prstGeom>
          <a:solidFill>
            <a:srgbClr val="EAF7EF"/>
          </a:solidFill>
          <a:ln w="12700">
            <a:solidFill>
              <a:srgbClr val="FFFFFF">
                <a:alpha val="0"/>
              </a:srgbClr>
            </a:solidFill>
            <a:prstDash val="solid"/>
          </a:ln>
        </p:spPr>
        <p:txBody>
          <a:bodyPr/>
          <a:lstStyle/>
          <a:p>
            <a:endParaRPr lang="en-US"/>
          </a:p>
        </p:txBody>
      </p:sp>
      <p:sp>
        <p:nvSpPr>
          <p:cNvPr id="90" name="Text 88">
            <a:extLst>
              <a:ext uri="{FF2B5EF4-FFF2-40B4-BE49-F238E27FC236}">
                <a16:creationId xmlns:a16="http://schemas.microsoft.com/office/drawing/2014/main" id="{7C3F7419-2FA1-4EB2-8E96-84453D30557D}"/>
              </a:ext>
            </a:extLst>
          </p:cNvPr>
          <p:cNvSpPr>
            <a:spLocks noGrp="1"/>
          </p:cNvSpPr>
          <p:nvPr/>
        </p:nvSpPr>
        <p:spPr>
          <a:xfrm>
            <a:off x="6236208" y="4187952"/>
            <a:ext cx="1042416" cy="128016"/>
          </a:xfrm>
          <a:prstGeom prst="rect">
            <a:avLst/>
          </a:prstGeom>
          <a:noFill/>
        </p:spPr>
        <p:txBody>
          <a:bodyPr wrap="square" lIns="508" tIns="508" rIns="508" bIns="508" anchor="t">
            <a:normAutofit/>
          </a:bodyPr>
          <a:lstStyle/>
          <a:p>
            <a:pPr marL="0" indent="0" algn="ctr">
              <a:buNone/>
            </a:pPr>
            <a:r>
              <a:rPr sz="750" b="1">
                <a:solidFill>
                  <a:srgbClr val="2F855A"/>
                </a:solidFill>
                <a:latin typeface="Aptos"/>
                <a:ea typeface="Aptos"/>
                <a:cs typeface="Aptos"/>
              </a:rPr>
              <a:t>dnadiff / 11</a:t>
            </a:r>
          </a:p>
        </p:txBody>
      </p:sp>
      <p:sp>
        <p:nvSpPr>
          <p:cNvPr id="91" name="Shape 89">
            <a:extLst>
              <a:ext uri="{FF2B5EF4-FFF2-40B4-BE49-F238E27FC236}">
                <a16:creationId xmlns:a16="http://schemas.microsoft.com/office/drawing/2014/main" id="{A4BCB844-6CB9-46C6-A048-B8D4F5E9AAB5}"/>
              </a:ext>
            </a:extLst>
          </p:cNvPr>
          <p:cNvSpPr>
            <a:spLocks noGrp="1"/>
          </p:cNvSpPr>
          <p:nvPr/>
        </p:nvSpPr>
        <p:spPr>
          <a:xfrm>
            <a:off x="4809744" y="4572000"/>
            <a:ext cx="1152144" cy="256032"/>
          </a:xfrm>
          <a:prstGeom prst="roundRect">
            <a:avLst/>
          </a:prstGeom>
          <a:solidFill>
            <a:srgbClr val="EAF7EF"/>
          </a:solidFill>
          <a:ln w="12700">
            <a:solidFill>
              <a:srgbClr val="FFFFFF">
                <a:alpha val="0"/>
              </a:srgbClr>
            </a:solidFill>
            <a:prstDash val="solid"/>
          </a:ln>
        </p:spPr>
        <p:txBody>
          <a:bodyPr/>
          <a:lstStyle/>
          <a:p>
            <a:endParaRPr lang="en-US"/>
          </a:p>
        </p:txBody>
      </p:sp>
      <p:sp>
        <p:nvSpPr>
          <p:cNvPr id="92" name="Text 90">
            <a:extLst>
              <a:ext uri="{FF2B5EF4-FFF2-40B4-BE49-F238E27FC236}">
                <a16:creationId xmlns:a16="http://schemas.microsoft.com/office/drawing/2014/main" id="{B5E83F9C-4E0F-4BF6-8770-7657F2E65BAA}"/>
              </a:ext>
            </a:extLst>
          </p:cNvPr>
          <p:cNvSpPr>
            <a:spLocks noGrp="1"/>
          </p:cNvSpPr>
          <p:nvPr/>
        </p:nvSpPr>
        <p:spPr>
          <a:xfrm>
            <a:off x="4864608" y="4626864"/>
            <a:ext cx="1042416" cy="128016"/>
          </a:xfrm>
          <a:prstGeom prst="rect">
            <a:avLst/>
          </a:prstGeom>
          <a:noFill/>
        </p:spPr>
        <p:txBody>
          <a:bodyPr wrap="square" lIns="508" tIns="508" rIns="508" bIns="508" anchor="t">
            <a:normAutofit/>
          </a:bodyPr>
          <a:lstStyle/>
          <a:p>
            <a:pPr marL="0" indent="0" algn="ctr">
              <a:buNone/>
            </a:pPr>
            <a:r>
              <a:rPr sz="750" b="1">
                <a:solidFill>
                  <a:srgbClr val="2F855A"/>
                </a:solidFill>
                <a:latin typeface="Aptos"/>
                <a:ea typeface="Aptos"/>
                <a:cs typeface="Aptos"/>
              </a:rPr>
              <a:t>Parsnp / 12b</a:t>
            </a:r>
          </a:p>
        </p:txBody>
      </p:sp>
      <p:sp>
        <p:nvSpPr>
          <p:cNvPr id="93" name="Shape 91">
            <a:extLst>
              <a:ext uri="{FF2B5EF4-FFF2-40B4-BE49-F238E27FC236}">
                <a16:creationId xmlns:a16="http://schemas.microsoft.com/office/drawing/2014/main" id="{7182E5F6-78EE-471C-B466-613B5B61021A}"/>
              </a:ext>
            </a:extLst>
          </p:cNvPr>
          <p:cNvSpPr>
            <a:spLocks noGrp="1"/>
          </p:cNvSpPr>
          <p:nvPr/>
        </p:nvSpPr>
        <p:spPr>
          <a:xfrm>
            <a:off x="6181344" y="4572000"/>
            <a:ext cx="1152144" cy="256032"/>
          </a:xfrm>
          <a:prstGeom prst="roundRect">
            <a:avLst/>
          </a:prstGeom>
          <a:solidFill>
            <a:srgbClr val="EEF3F8"/>
          </a:solidFill>
          <a:ln w="12700">
            <a:solidFill>
              <a:srgbClr val="FFFFFF">
                <a:alpha val="0"/>
              </a:srgbClr>
            </a:solidFill>
            <a:prstDash val="solid"/>
          </a:ln>
        </p:spPr>
        <p:txBody>
          <a:bodyPr/>
          <a:lstStyle/>
          <a:p>
            <a:endParaRPr lang="en-US"/>
          </a:p>
        </p:txBody>
      </p:sp>
      <p:sp>
        <p:nvSpPr>
          <p:cNvPr id="94" name="Text 92">
            <a:extLst>
              <a:ext uri="{FF2B5EF4-FFF2-40B4-BE49-F238E27FC236}">
                <a16:creationId xmlns:a16="http://schemas.microsoft.com/office/drawing/2014/main" id="{FD381F1E-B4D2-4FCF-B9B6-DAF2F89609BE}"/>
              </a:ext>
            </a:extLst>
          </p:cNvPr>
          <p:cNvSpPr>
            <a:spLocks noGrp="1"/>
          </p:cNvSpPr>
          <p:nvPr/>
        </p:nvSpPr>
        <p:spPr>
          <a:xfrm>
            <a:off x="6236208" y="4626864"/>
            <a:ext cx="1042416" cy="128016"/>
          </a:xfrm>
          <a:prstGeom prst="rect">
            <a:avLst/>
          </a:prstGeom>
          <a:noFill/>
        </p:spPr>
        <p:txBody>
          <a:bodyPr wrap="square" lIns="508" tIns="508" rIns="508" bIns="508" anchor="t">
            <a:normAutofit/>
          </a:bodyPr>
          <a:lstStyle/>
          <a:p>
            <a:pPr marL="0" indent="0" algn="ctr">
              <a:buNone/>
            </a:pPr>
            <a:r>
              <a:rPr sz="750" b="1">
                <a:solidFill>
                  <a:srgbClr val="64748B"/>
                </a:solidFill>
                <a:latin typeface="Aptos"/>
                <a:ea typeface="Aptos"/>
                <a:cs typeface="Aptos"/>
              </a:rPr>
              <a:t>Panaroo / 12c</a:t>
            </a:r>
          </a:p>
        </p:txBody>
      </p:sp>
      <p:sp>
        <p:nvSpPr>
          <p:cNvPr id="95" name="Shape 93">
            <a:extLst>
              <a:ext uri="{FF2B5EF4-FFF2-40B4-BE49-F238E27FC236}">
                <a16:creationId xmlns:a16="http://schemas.microsoft.com/office/drawing/2014/main" id="{44E8A8C2-05D4-409B-BD0C-89B391577D3F}"/>
              </a:ext>
            </a:extLst>
          </p:cNvPr>
          <p:cNvSpPr>
            <a:spLocks noGrp="1"/>
          </p:cNvSpPr>
          <p:nvPr/>
        </p:nvSpPr>
        <p:spPr>
          <a:xfrm>
            <a:off x="8577072" y="3621024"/>
            <a:ext cx="2761488" cy="1225296"/>
          </a:xfrm>
          <a:prstGeom prst="roundRect">
            <a:avLst/>
          </a:prstGeom>
          <a:solidFill>
            <a:srgbClr val="FFF7ED"/>
          </a:solidFill>
          <a:ln w="10160">
            <a:solidFill>
              <a:srgbClr val="FED7AA"/>
            </a:solidFill>
            <a:prstDash val="solid"/>
          </a:ln>
        </p:spPr>
        <p:txBody>
          <a:bodyPr/>
          <a:lstStyle/>
          <a:p>
            <a:endParaRPr lang="en-US"/>
          </a:p>
        </p:txBody>
      </p:sp>
      <p:sp>
        <p:nvSpPr>
          <p:cNvPr id="96" name="Text 94">
            <a:extLst>
              <a:ext uri="{FF2B5EF4-FFF2-40B4-BE49-F238E27FC236}">
                <a16:creationId xmlns:a16="http://schemas.microsoft.com/office/drawing/2014/main" id="{0795EE04-802C-42B9-BCCF-99749918F6AA}"/>
              </a:ext>
            </a:extLst>
          </p:cNvPr>
          <p:cNvSpPr>
            <a:spLocks noGrp="1"/>
          </p:cNvSpPr>
          <p:nvPr/>
        </p:nvSpPr>
        <p:spPr>
          <a:xfrm>
            <a:off x="8741664" y="3767328"/>
            <a:ext cx="2432304" cy="329184"/>
          </a:xfrm>
          <a:prstGeom prst="rect">
            <a:avLst/>
          </a:prstGeom>
          <a:noFill/>
        </p:spPr>
        <p:txBody>
          <a:bodyPr wrap="square" lIns="508" tIns="508" rIns="508" bIns="508" anchor="t">
            <a:normAutofit/>
          </a:bodyPr>
          <a:lstStyle/>
          <a:p>
            <a:pPr marL="0" indent="0" algn="l">
              <a:buNone/>
            </a:pPr>
            <a:r>
              <a:rPr sz="1300" b="1">
                <a:solidFill>
                  <a:srgbClr val="D97706"/>
                </a:solidFill>
                <a:latin typeface="Aptos"/>
                <a:ea typeface="Aptos"/>
                <a:cs typeface="Aptos"/>
              </a:rPr>
              <a:t>Interpretation boundary</a:t>
            </a:r>
          </a:p>
        </p:txBody>
      </p:sp>
      <p:sp>
        <p:nvSpPr>
          <p:cNvPr id="97" name="Text 95">
            <a:extLst>
              <a:ext uri="{FF2B5EF4-FFF2-40B4-BE49-F238E27FC236}">
                <a16:creationId xmlns:a16="http://schemas.microsoft.com/office/drawing/2014/main" id="{B5E33E19-1BDB-46DB-8778-2E116FAD0400}"/>
              </a:ext>
            </a:extLst>
          </p:cNvPr>
          <p:cNvSpPr>
            <a:spLocks noGrp="1"/>
          </p:cNvSpPr>
          <p:nvPr/>
        </p:nvSpPr>
        <p:spPr>
          <a:xfrm>
            <a:off x="8741664" y="4114800"/>
            <a:ext cx="2432304" cy="694944"/>
          </a:xfrm>
          <a:prstGeom prst="rect">
            <a:avLst/>
          </a:prstGeom>
          <a:noFill/>
        </p:spPr>
        <p:txBody>
          <a:bodyPr wrap="square" lIns="508" tIns="508" rIns="508" bIns="508" anchor="t">
            <a:normAutofit/>
          </a:bodyPr>
          <a:lstStyle/>
          <a:p>
            <a:pPr marL="0" indent="0" algn="l">
              <a:buNone/>
            </a:pPr>
            <a:r>
              <a:rPr sz="930" dirty="0">
                <a:solidFill>
                  <a:srgbClr val="64748B"/>
                </a:solidFill>
                <a:latin typeface="Aptos"/>
                <a:ea typeface="Aptos"/>
                <a:cs typeface="Aptos"/>
              </a:rPr>
              <a:t>ST is lineage context. </a:t>
            </a:r>
            <a:r>
              <a:rPr sz="930" dirty="0" err="1">
                <a:solidFill>
                  <a:srgbClr val="64748B"/>
                </a:solidFill>
                <a:latin typeface="Aptos"/>
                <a:ea typeface="Aptos"/>
                <a:cs typeface="Aptos"/>
              </a:rPr>
              <a:t>dnadiff</a:t>
            </a:r>
            <a:r>
              <a:rPr sz="930" dirty="0">
                <a:solidFill>
                  <a:srgbClr val="64748B"/>
                </a:solidFill>
                <a:latin typeface="Aptos"/>
                <a:ea typeface="Aptos"/>
                <a:cs typeface="Aptos"/>
              </a:rPr>
              <a:t> SNPs are assembly-to-assembly. </a:t>
            </a:r>
            <a:r>
              <a:rPr sz="930" dirty="0" err="1">
                <a:solidFill>
                  <a:srgbClr val="64748B"/>
                </a:solidFill>
                <a:latin typeface="Aptos"/>
                <a:ea typeface="Aptos"/>
                <a:cs typeface="Aptos"/>
              </a:rPr>
              <a:t>Parsnp</a:t>
            </a:r>
            <a:r>
              <a:rPr sz="930" dirty="0">
                <a:solidFill>
                  <a:srgbClr val="64748B"/>
                </a:solidFill>
                <a:latin typeface="Aptos"/>
                <a:ea typeface="Aptos"/>
                <a:cs typeface="Aptos"/>
              </a:rPr>
              <a:t> is core-genome. </a:t>
            </a:r>
            <a:r>
              <a:rPr sz="930" dirty="0" err="1">
                <a:solidFill>
                  <a:srgbClr val="64748B"/>
                </a:solidFill>
                <a:latin typeface="Aptos"/>
                <a:ea typeface="Aptos"/>
                <a:cs typeface="Aptos"/>
              </a:rPr>
              <a:t>wgMLST</a:t>
            </a:r>
            <a:r>
              <a:rPr sz="930" dirty="0">
                <a:solidFill>
                  <a:srgbClr val="64748B"/>
                </a:solidFill>
                <a:latin typeface="Aptos"/>
                <a:ea typeface="Aptos"/>
                <a:cs typeface="Aptos"/>
              </a:rPr>
              <a:t> allele distances are separate and were not recalculated here.</a:t>
            </a:r>
          </a:p>
        </p:txBody>
      </p:sp>
      <p:sp>
        <p:nvSpPr>
          <p:cNvPr id="100" name="Rounded Rectangle 99">
            <a:extLst>
              <a:ext uri="{FF2B5EF4-FFF2-40B4-BE49-F238E27FC236}">
                <a16:creationId xmlns:a16="http://schemas.microsoft.com/office/drawing/2014/main" id="{423D2657-4467-408F-8858-3301FDDC7498}"/>
              </a:ext>
            </a:extLst>
          </p:cNvPr>
          <p:cNvSpPr>
            <a:spLocks noGrp="1"/>
          </p:cNvSpPr>
          <p:nvPr/>
        </p:nvSpPr>
        <p:spPr>
          <a:xfrm>
            <a:off x="4953000" y="1409700"/>
            <a:ext cx="2286000" cy="266700"/>
          </a:xfrm>
          <a:prstGeom prst="roundRect">
            <a:avLst>
              <a:gd name="adj" fmla="val 28571"/>
            </a:avLst>
          </a:prstGeom>
          <a:solidFill>
            <a:srgbClr val="EEF3F8"/>
          </a:solidFill>
          <a:ln w="9525">
            <a:solidFill>
              <a:srgbClr val="D7E0EA"/>
            </a:solidFill>
            <a:prstDash val="solid"/>
          </a:ln>
        </p:spPr>
        <p:txBody>
          <a:bodyPr anchor="ctr"/>
          <a:lstStyle/>
          <a:p>
            <a:pPr algn="ctr">
              <a:defRPr sz="938" b="1">
                <a:solidFill>
                  <a:srgbClr val="334155"/>
                </a:solidFill>
              </a:defRPr>
            </a:pPr>
            <a:r>
              <a:rPr sz="938" b="1">
                <a:solidFill>
                  <a:srgbClr val="334155"/>
                </a:solidFill>
              </a:rPr>
              <a:t>556 selected canonical genomes</a:t>
            </a:r>
          </a:p>
        </p:txBody>
      </p:sp>
      <p:cxnSp>
        <p:nvCxnSpPr>
          <p:cNvPr id="201" name="Elbow Connector 200"/>
          <p:cNvCxnSpPr>
            <a:stCxn id="100" idx="2"/>
            <a:endCxn id="11" idx="0"/>
          </p:cNvCxnSpPr>
          <p:nvPr/>
        </p:nvCxnSpPr>
        <p:spPr>
          <a:xfrm flipH="1">
            <a:off x="2075688" y="1676400"/>
            <a:ext cx="4020312" cy="79248"/>
          </a:xfrm>
          <a:prstGeom prst="bentConnector4">
            <a:avLst>
              <a:gd name="adj1" fmla="val 0"/>
              <a:gd name="adj2" fmla="val 50000"/>
            </a:avLst>
          </a:prstGeom>
          <a:ln w="12383">
            <a:solidFill>
              <a:srgbClr val="94A3B8"/>
            </a:solidFill>
            <a:prstDash val="solid"/>
            <a:tailEnd type="triangle" w="sm" len="sm"/>
          </a:ln>
        </p:spPr>
      </p:cxnSp>
      <p:cxnSp>
        <p:nvCxnSpPr>
          <p:cNvPr id="202" name="Elbow Connector 201"/>
          <p:cNvCxnSpPr>
            <a:stCxn id="100" idx="2"/>
            <a:endCxn id="14" idx="0"/>
          </p:cNvCxnSpPr>
          <p:nvPr/>
        </p:nvCxnSpPr>
        <p:spPr>
          <a:xfrm>
            <a:off x="6096000" y="1676400"/>
            <a:ext cx="3048" cy="79248"/>
          </a:xfrm>
          <a:prstGeom prst="bentConnector4">
            <a:avLst>
              <a:gd name="adj1" fmla="val 0"/>
              <a:gd name="adj2" fmla="val 50000"/>
            </a:avLst>
          </a:prstGeom>
          <a:ln w="12383">
            <a:solidFill>
              <a:srgbClr val="94A3B8"/>
            </a:solidFill>
            <a:prstDash val="solid"/>
            <a:tailEnd type="triangle" w="sm" len="sm"/>
          </a:ln>
        </p:spPr>
      </p:cxnSp>
      <p:cxnSp>
        <p:nvCxnSpPr>
          <p:cNvPr id="203" name="Elbow Connector 202"/>
          <p:cNvCxnSpPr>
            <a:stCxn id="100" idx="2"/>
            <a:endCxn id="17" idx="0"/>
          </p:cNvCxnSpPr>
          <p:nvPr/>
        </p:nvCxnSpPr>
        <p:spPr>
          <a:xfrm>
            <a:off x="6096000" y="1676400"/>
            <a:ext cx="4026408" cy="79248"/>
          </a:xfrm>
          <a:prstGeom prst="bentConnector4">
            <a:avLst>
              <a:gd name="adj1" fmla="val 0"/>
              <a:gd name="adj2" fmla="val 50000"/>
            </a:avLst>
          </a:prstGeom>
          <a:ln w="12383">
            <a:solidFill>
              <a:srgbClr val="94A3B8"/>
            </a:solidFill>
            <a:prstDash val="solid"/>
            <a:tailEnd type="triangle" w="sm" len="sm"/>
          </a:ln>
        </p:spPr>
      </p:cxnSp>
    </p:spTree>
    <p:extLst>
      <p:ext uri="{BB962C8B-B14F-4D97-AF65-F5344CB8AC3E}">
        <p14:creationId xmlns:p14="http://schemas.microsoft.com/office/powerpoint/2010/main" val="102367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C9955A6-C3AB-4BA1-A368-7F3ACEFF20E8}"/>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43DF70BF-7148-4A5C-91AB-E32A5B3AD6D4}"/>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80454350-DAFD-43D6-9CFC-ADA573C15264}"/>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APPENDIX / DENOMINATORS</a:t>
            </a:r>
          </a:p>
        </p:txBody>
      </p:sp>
      <p:sp>
        <p:nvSpPr>
          <p:cNvPr id="5" name="Text 3">
            <a:extLst>
              <a:ext uri="{FF2B5EF4-FFF2-40B4-BE49-F238E27FC236}">
                <a16:creationId xmlns:a16="http://schemas.microsoft.com/office/drawing/2014/main" id="{3832311F-12DD-4C3D-84C6-53A299B675A0}"/>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Key denominators keep units and filters visible</a:t>
            </a:r>
          </a:p>
        </p:txBody>
      </p:sp>
      <p:sp>
        <p:nvSpPr>
          <p:cNvPr id="6" name="Text 4">
            <a:extLst>
              <a:ext uri="{FF2B5EF4-FFF2-40B4-BE49-F238E27FC236}">
                <a16:creationId xmlns:a16="http://schemas.microsoft.com/office/drawing/2014/main" id="{425D999B-F757-4FD8-B795-AC603A1796F6}"/>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   These values are verified from current generated files after the cache-safe rerun.</a:t>
            </a:r>
          </a:p>
        </p:txBody>
      </p:sp>
      <p:sp>
        <p:nvSpPr>
          <p:cNvPr id="7" name="Shape 5">
            <a:extLst>
              <a:ext uri="{FF2B5EF4-FFF2-40B4-BE49-F238E27FC236}">
                <a16:creationId xmlns:a16="http://schemas.microsoft.com/office/drawing/2014/main" id="{8D7CB531-BF2C-4F69-85DD-FBC739AD851F}"/>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A2A01C5D-0D4D-4986-9126-FCDE5D15FD47}"/>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485E0601-0FD8-4348-B015-A19DD568368F}"/>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      Sources: status_map, canonical selection, VF-ready and sensitivity count tables</a:t>
            </a:r>
          </a:p>
        </p:txBody>
      </p:sp>
      <p:sp>
        <p:nvSpPr>
          <p:cNvPr id="10" name="Text 8">
            <a:extLst>
              <a:ext uri="{FF2B5EF4-FFF2-40B4-BE49-F238E27FC236}">
                <a16:creationId xmlns:a16="http://schemas.microsoft.com/office/drawing/2014/main" id="{0E54DB99-1E61-47E6-949E-A6F71C3FE920}"/>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09</a:t>
            </a:r>
          </a:p>
        </p:txBody>
      </p:sp>
      <p:sp>
        <p:nvSpPr>
          <p:cNvPr id="14" name="Shape 12">
            <a:extLst>
              <a:ext uri="{FF2B5EF4-FFF2-40B4-BE49-F238E27FC236}">
                <a16:creationId xmlns:a16="http://schemas.microsoft.com/office/drawing/2014/main" id="{E403A6CA-C3A9-4F27-8EFA-BA1B072CCA96}"/>
              </a:ext>
            </a:extLst>
          </p:cNvPr>
          <p:cNvSpPr>
            <a:spLocks noGrp="1"/>
          </p:cNvSpPr>
          <p:nvPr/>
        </p:nvSpPr>
        <p:spPr>
          <a:xfrm>
            <a:off x="969264" y="2761488"/>
            <a:ext cx="2377440" cy="384048"/>
          </a:xfrm>
          <a:prstGeom prst="roundRect">
            <a:avLst/>
          </a:prstGeom>
          <a:solidFill>
            <a:srgbClr val="FFF4E6"/>
          </a:solidFill>
          <a:ln w="10160">
            <a:solidFill>
              <a:srgbClr val="D97706"/>
            </a:solidFill>
            <a:prstDash val="solid"/>
          </a:ln>
        </p:spPr>
        <p:txBody>
          <a:bodyPr/>
          <a:lstStyle/>
          <a:p>
            <a:endParaRPr lang="en-US"/>
          </a:p>
        </p:txBody>
      </p:sp>
      <p:sp>
        <p:nvSpPr>
          <p:cNvPr id="15" name="Text 13">
            <a:extLst>
              <a:ext uri="{FF2B5EF4-FFF2-40B4-BE49-F238E27FC236}">
                <a16:creationId xmlns:a16="http://schemas.microsoft.com/office/drawing/2014/main" id="{396780F1-1EDF-46D4-9028-6170455FF44C}"/>
              </a:ext>
            </a:extLst>
          </p:cNvPr>
          <p:cNvSpPr>
            <a:spLocks noGrp="1"/>
          </p:cNvSpPr>
          <p:nvPr/>
        </p:nvSpPr>
        <p:spPr>
          <a:xfrm>
            <a:off x="1133856" y="2907792"/>
            <a:ext cx="2048256" cy="182880"/>
          </a:xfrm>
          <a:prstGeom prst="rect">
            <a:avLst/>
          </a:prstGeom>
          <a:noFill/>
        </p:spPr>
        <p:txBody>
          <a:bodyPr wrap="square" lIns="508" tIns="508" rIns="508" bIns="508" anchor="t">
            <a:normAutofit/>
          </a:bodyPr>
          <a:lstStyle/>
          <a:p>
            <a:pPr marL="0" indent="0" algn="l">
              <a:buNone/>
            </a:pPr>
            <a:r>
              <a:rPr sz="1080" b="1">
                <a:solidFill>
                  <a:srgbClr val="D97706"/>
                </a:solidFill>
                <a:latin typeface="Aptos"/>
                <a:ea typeface="Aptos"/>
                <a:cs typeface="Aptos"/>
              </a:rPr>
              <a:t>Clinical records</a:t>
            </a:r>
          </a:p>
        </p:txBody>
      </p:sp>
      <p:sp>
        <p:nvSpPr>
          <p:cNvPr id="16" name="Text 14">
            <a:extLst>
              <a:ext uri="{FF2B5EF4-FFF2-40B4-BE49-F238E27FC236}">
                <a16:creationId xmlns:a16="http://schemas.microsoft.com/office/drawing/2014/main" id="{6E3CE15B-C68B-44BE-B7D3-636A864EF66B}"/>
              </a:ext>
            </a:extLst>
          </p:cNvPr>
          <p:cNvSpPr>
            <a:spLocks noGrp="1"/>
          </p:cNvSpPr>
          <p:nvPr/>
        </p:nvSpPr>
        <p:spPr>
          <a:xfrm>
            <a:off x="3858768" y="2743200"/>
            <a:ext cx="1463040" cy="329184"/>
          </a:xfrm>
          <a:prstGeom prst="rect">
            <a:avLst/>
          </a:prstGeom>
          <a:noFill/>
        </p:spPr>
        <p:txBody>
          <a:bodyPr wrap="square" lIns="508" tIns="508" rIns="508" bIns="508" anchor="t">
            <a:normAutofit/>
          </a:bodyPr>
          <a:lstStyle/>
          <a:p>
            <a:pPr marL="0" indent="0" algn="l">
              <a:buNone/>
            </a:pPr>
            <a:r>
              <a:rPr sz="1800" b="1">
                <a:solidFill>
                  <a:srgbClr val="D97706"/>
                </a:solidFill>
                <a:latin typeface="Aptos"/>
                <a:ea typeface="Aptos"/>
                <a:cs typeface="Aptos"/>
              </a:rPr>
              <a:t>585 -&gt; 583</a:t>
            </a:r>
          </a:p>
        </p:txBody>
      </p:sp>
      <p:sp>
        <p:nvSpPr>
          <p:cNvPr id="17" name="Text 15">
            <a:extLst>
              <a:ext uri="{FF2B5EF4-FFF2-40B4-BE49-F238E27FC236}">
                <a16:creationId xmlns:a16="http://schemas.microsoft.com/office/drawing/2014/main" id="{60A25FA4-5505-49F9-BEC6-230E0A3500AF}"/>
              </a:ext>
            </a:extLst>
          </p:cNvPr>
          <p:cNvSpPr>
            <a:spLocks noGrp="1"/>
          </p:cNvSpPr>
          <p:nvPr/>
        </p:nvSpPr>
        <p:spPr>
          <a:xfrm>
            <a:off x="5376672" y="2807208"/>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two primary exclusions; 166 included participants; 18 UTI / 565 Not_UTI</a:t>
            </a:r>
          </a:p>
        </p:txBody>
      </p:sp>
      <p:sp>
        <p:nvSpPr>
          <p:cNvPr id="18" name="Shape 16">
            <a:extLst>
              <a:ext uri="{FF2B5EF4-FFF2-40B4-BE49-F238E27FC236}">
                <a16:creationId xmlns:a16="http://schemas.microsoft.com/office/drawing/2014/main" id="{9635EC3D-BD6F-4EEC-BC48-913246ABE61D}"/>
              </a:ext>
            </a:extLst>
          </p:cNvPr>
          <p:cNvSpPr>
            <a:spLocks noGrp="1"/>
          </p:cNvSpPr>
          <p:nvPr/>
        </p:nvSpPr>
        <p:spPr>
          <a:xfrm>
            <a:off x="969264" y="3328416"/>
            <a:ext cx="2377440" cy="384048"/>
          </a:xfrm>
          <a:prstGeom prst="roundRect">
            <a:avLst/>
          </a:prstGeom>
          <a:solidFill>
            <a:srgbClr val="E8F1FA"/>
          </a:solidFill>
          <a:ln w="10160">
            <a:solidFill>
              <a:srgbClr val="2B6CB0"/>
            </a:solidFill>
            <a:prstDash val="solid"/>
          </a:ln>
        </p:spPr>
        <p:txBody>
          <a:bodyPr/>
          <a:lstStyle/>
          <a:p>
            <a:endParaRPr lang="en-US"/>
          </a:p>
        </p:txBody>
      </p:sp>
      <p:sp>
        <p:nvSpPr>
          <p:cNvPr id="19" name="Text 17">
            <a:extLst>
              <a:ext uri="{FF2B5EF4-FFF2-40B4-BE49-F238E27FC236}">
                <a16:creationId xmlns:a16="http://schemas.microsoft.com/office/drawing/2014/main" id="{9178FA62-E413-4107-9683-8778DAACFCC4}"/>
              </a:ext>
            </a:extLst>
          </p:cNvPr>
          <p:cNvSpPr>
            <a:spLocks noGrp="1"/>
          </p:cNvSpPr>
          <p:nvPr/>
        </p:nvSpPr>
        <p:spPr>
          <a:xfrm>
            <a:off x="1133856" y="3474720"/>
            <a:ext cx="2048256" cy="182880"/>
          </a:xfrm>
          <a:prstGeom prst="rect">
            <a:avLst/>
          </a:prstGeom>
          <a:noFill/>
        </p:spPr>
        <p:txBody>
          <a:bodyPr wrap="square" lIns="508" tIns="508" rIns="508" bIns="508" anchor="t">
            <a:normAutofit/>
          </a:bodyPr>
          <a:lstStyle/>
          <a:p>
            <a:pPr marL="0" indent="0" algn="l">
              <a:buNone/>
            </a:pPr>
            <a:r>
              <a:rPr sz="1080" b="1">
                <a:solidFill>
                  <a:srgbClr val="2B6CB0"/>
                </a:solidFill>
                <a:latin typeface="Aptos"/>
                <a:ea typeface="Aptos"/>
                <a:cs typeface="Aptos"/>
              </a:rPr>
              <a:t>Assembly records</a:t>
            </a:r>
          </a:p>
        </p:txBody>
      </p:sp>
      <p:sp>
        <p:nvSpPr>
          <p:cNvPr id="20" name="Text 18">
            <a:extLst>
              <a:ext uri="{FF2B5EF4-FFF2-40B4-BE49-F238E27FC236}">
                <a16:creationId xmlns:a16="http://schemas.microsoft.com/office/drawing/2014/main" id="{BAFC7860-0F4C-4464-BCC5-C264A472E485}"/>
              </a:ext>
            </a:extLst>
          </p:cNvPr>
          <p:cNvSpPr>
            <a:spLocks noGrp="1"/>
          </p:cNvSpPr>
          <p:nvPr/>
        </p:nvSpPr>
        <p:spPr>
          <a:xfrm>
            <a:off x="3858768" y="3310128"/>
            <a:ext cx="1463040" cy="329184"/>
          </a:xfrm>
          <a:prstGeom prst="rect">
            <a:avLst/>
          </a:prstGeom>
          <a:noFill/>
        </p:spPr>
        <p:txBody>
          <a:bodyPr wrap="square" lIns="508" tIns="508" rIns="508" bIns="508" anchor="t">
            <a:normAutofit fontScale="97648"/>
          </a:bodyPr>
          <a:lstStyle/>
          <a:p>
            <a:pPr marL="0" indent="0" algn="l">
              <a:buNone/>
            </a:pPr>
            <a:r>
              <a:rPr sz="1800" b="1">
                <a:solidFill>
                  <a:srgbClr val="2B6CB0"/>
                </a:solidFill>
                <a:latin typeface="Aptos"/>
                <a:ea typeface="Aptos"/>
                <a:cs typeface="Aptos"/>
              </a:rPr>
              <a:t>1,291 -&gt; 1,211</a:t>
            </a:r>
          </a:p>
        </p:txBody>
      </p:sp>
      <p:sp>
        <p:nvSpPr>
          <p:cNvPr id="21" name="Text 19">
            <a:extLst>
              <a:ext uri="{FF2B5EF4-FFF2-40B4-BE49-F238E27FC236}">
                <a16:creationId xmlns:a16="http://schemas.microsoft.com/office/drawing/2014/main" id="{E21268A3-C1E5-4F26-8AB7-E384D28C219E}"/>
              </a:ext>
            </a:extLst>
          </p:cNvPr>
          <p:cNvSpPr>
            <a:spLocks noGrp="1"/>
          </p:cNvSpPr>
          <p:nvPr/>
        </p:nvSpPr>
        <p:spPr>
          <a:xfrm>
            <a:off x="5376672" y="3374136"/>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candidate assembler alternatives to implemented assembly-QC pass</a:t>
            </a:r>
          </a:p>
        </p:txBody>
      </p:sp>
      <p:sp>
        <p:nvSpPr>
          <p:cNvPr id="22" name="Shape 20">
            <a:extLst>
              <a:ext uri="{FF2B5EF4-FFF2-40B4-BE49-F238E27FC236}">
                <a16:creationId xmlns:a16="http://schemas.microsoft.com/office/drawing/2014/main" id="{905806E7-02E7-4931-99A4-18E248894E8C}"/>
              </a:ext>
            </a:extLst>
          </p:cNvPr>
          <p:cNvSpPr>
            <a:spLocks noGrp="1"/>
          </p:cNvSpPr>
          <p:nvPr/>
        </p:nvSpPr>
        <p:spPr>
          <a:xfrm>
            <a:off x="969264" y="3895344"/>
            <a:ext cx="2377440" cy="384048"/>
          </a:xfrm>
          <a:prstGeom prst="roundRect">
            <a:avLst/>
          </a:prstGeom>
          <a:solidFill>
            <a:srgbClr val="EAF7EF"/>
          </a:solidFill>
          <a:ln w="10160">
            <a:solidFill>
              <a:srgbClr val="2F855A"/>
            </a:solidFill>
            <a:prstDash val="solid"/>
          </a:ln>
        </p:spPr>
        <p:txBody>
          <a:bodyPr/>
          <a:lstStyle/>
          <a:p>
            <a:endParaRPr lang="en-US"/>
          </a:p>
        </p:txBody>
      </p:sp>
      <p:sp>
        <p:nvSpPr>
          <p:cNvPr id="23" name="Text 21">
            <a:extLst>
              <a:ext uri="{FF2B5EF4-FFF2-40B4-BE49-F238E27FC236}">
                <a16:creationId xmlns:a16="http://schemas.microsoft.com/office/drawing/2014/main" id="{69B10159-693B-4974-B224-9A117D3CE493}"/>
              </a:ext>
            </a:extLst>
          </p:cNvPr>
          <p:cNvSpPr>
            <a:spLocks noGrp="1"/>
          </p:cNvSpPr>
          <p:nvPr/>
        </p:nvSpPr>
        <p:spPr>
          <a:xfrm>
            <a:off x="1133856" y="4041648"/>
            <a:ext cx="2048256" cy="182880"/>
          </a:xfrm>
          <a:prstGeom prst="rect">
            <a:avLst/>
          </a:prstGeom>
          <a:noFill/>
        </p:spPr>
        <p:txBody>
          <a:bodyPr wrap="square" lIns="508" tIns="508" rIns="508" bIns="508" anchor="t">
            <a:normAutofit/>
          </a:bodyPr>
          <a:lstStyle/>
          <a:p>
            <a:pPr marL="0" indent="0" algn="l">
              <a:buNone/>
            </a:pPr>
            <a:r>
              <a:rPr sz="1080" b="1">
                <a:solidFill>
                  <a:srgbClr val="2F855A"/>
                </a:solidFill>
                <a:latin typeface="Aptos"/>
                <a:ea typeface="Aptos"/>
                <a:cs typeface="Aptos"/>
              </a:rPr>
              <a:t>Selected genomes</a:t>
            </a:r>
          </a:p>
        </p:txBody>
      </p:sp>
      <p:sp>
        <p:nvSpPr>
          <p:cNvPr id="24" name="Text 22">
            <a:extLst>
              <a:ext uri="{FF2B5EF4-FFF2-40B4-BE49-F238E27FC236}">
                <a16:creationId xmlns:a16="http://schemas.microsoft.com/office/drawing/2014/main" id="{1E08B694-CEB9-4AB4-AF04-5CE36168BD7E}"/>
              </a:ext>
            </a:extLst>
          </p:cNvPr>
          <p:cNvSpPr>
            <a:spLocks noGrp="1"/>
          </p:cNvSpPr>
          <p:nvPr/>
        </p:nvSpPr>
        <p:spPr>
          <a:xfrm>
            <a:off x="3858768" y="3877056"/>
            <a:ext cx="1463040" cy="329184"/>
          </a:xfrm>
          <a:prstGeom prst="rect">
            <a:avLst/>
          </a:prstGeom>
          <a:noFill/>
        </p:spPr>
        <p:txBody>
          <a:bodyPr wrap="square" lIns="508" tIns="508" rIns="508" bIns="508" anchor="t">
            <a:normAutofit/>
          </a:bodyPr>
          <a:lstStyle/>
          <a:p>
            <a:pPr marL="0" indent="0" algn="l">
              <a:buNone/>
            </a:pPr>
            <a:r>
              <a:rPr sz="1800" b="1">
                <a:solidFill>
                  <a:srgbClr val="2F855A"/>
                </a:solidFill>
                <a:latin typeface="Aptos"/>
                <a:ea typeface="Aptos"/>
                <a:cs typeface="Aptos"/>
              </a:rPr>
              <a:t>556</a:t>
            </a:r>
          </a:p>
        </p:txBody>
      </p:sp>
      <p:sp>
        <p:nvSpPr>
          <p:cNvPr id="25" name="Text 23">
            <a:extLst>
              <a:ext uri="{FF2B5EF4-FFF2-40B4-BE49-F238E27FC236}">
                <a16:creationId xmlns:a16="http://schemas.microsoft.com/office/drawing/2014/main" id="{90643745-886F-4E56-9739-E722E68C8FB3}"/>
              </a:ext>
            </a:extLst>
          </p:cNvPr>
          <p:cNvSpPr>
            <a:spLocks noGrp="1"/>
          </p:cNvSpPr>
          <p:nvPr/>
        </p:nvSpPr>
        <p:spPr>
          <a:xfrm>
            <a:off x="5376672" y="3941064"/>
            <a:ext cx="4937760" cy="182880"/>
          </a:xfrm>
          <a:prstGeom prst="rect">
            <a:avLst/>
          </a:prstGeom>
          <a:noFill/>
        </p:spPr>
        <p:txBody>
          <a:bodyPr wrap="square" lIns="508" tIns="508" rIns="508" bIns="508" anchor="t">
            <a:normAutofit fontScale="84808"/>
          </a:bodyPr>
          <a:lstStyle/>
          <a:p>
            <a:pPr marL="0" indent="0" algn="l">
              <a:buNone/>
            </a:pPr>
            <a:r>
              <a:rPr sz="970">
                <a:solidFill>
                  <a:srgbClr val="64748B"/>
                </a:solidFill>
                <a:latin typeface="Aptos"/>
                <a:ea typeface="Aptos"/>
                <a:cs typeface="Aptos"/>
              </a:rPr>
              <a:t>one canonical QC-passing assembly per eligible genomic episode; 162 participants; 17 UTI / 539 Not_UTI</a:t>
            </a:r>
          </a:p>
        </p:txBody>
      </p:sp>
      <p:sp>
        <p:nvSpPr>
          <p:cNvPr id="26" name="Shape 24">
            <a:extLst>
              <a:ext uri="{FF2B5EF4-FFF2-40B4-BE49-F238E27FC236}">
                <a16:creationId xmlns:a16="http://schemas.microsoft.com/office/drawing/2014/main" id="{7BAB2256-19A6-457B-B691-CFBC9CCADBDB}"/>
              </a:ext>
            </a:extLst>
          </p:cNvPr>
          <p:cNvSpPr>
            <a:spLocks noGrp="1"/>
          </p:cNvSpPr>
          <p:nvPr/>
        </p:nvSpPr>
        <p:spPr>
          <a:xfrm>
            <a:off x="969264" y="4462272"/>
            <a:ext cx="2377440" cy="384048"/>
          </a:xfrm>
          <a:prstGeom prst="roundRect">
            <a:avLst/>
          </a:prstGeom>
          <a:solidFill>
            <a:srgbClr val="EAF7EF"/>
          </a:solidFill>
          <a:ln w="10160">
            <a:solidFill>
              <a:srgbClr val="2F855A"/>
            </a:solidFill>
            <a:prstDash val="solid"/>
          </a:ln>
        </p:spPr>
        <p:txBody>
          <a:bodyPr/>
          <a:lstStyle/>
          <a:p>
            <a:endParaRPr lang="en-US"/>
          </a:p>
        </p:txBody>
      </p:sp>
      <p:sp>
        <p:nvSpPr>
          <p:cNvPr id="27" name="Text 25">
            <a:extLst>
              <a:ext uri="{FF2B5EF4-FFF2-40B4-BE49-F238E27FC236}">
                <a16:creationId xmlns:a16="http://schemas.microsoft.com/office/drawing/2014/main" id="{A9D82AA5-A928-47C5-BE52-7D0698254240}"/>
              </a:ext>
            </a:extLst>
          </p:cNvPr>
          <p:cNvSpPr>
            <a:spLocks noGrp="1"/>
          </p:cNvSpPr>
          <p:nvPr/>
        </p:nvSpPr>
        <p:spPr>
          <a:xfrm>
            <a:off x="1133856" y="4608576"/>
            <a:ext cx="2048256" cy="182880"/>
          </a:xfrm>
          <a:prstGeom prst="rect">
            <a:avLst/>
          </a:prstGeom>
          <a:noFill/>
        </p:spPr>
        <p:txBody>
          <a:bodyPr wrap="square" lIns="508" tIns="508" rIns="508" bIns="508" anchor="t">
            <a:normAutofit/>
          </a:bodyPr>
          <a:lstStyle/>
          <a:p>
            <a:pPr marL="0" indent="0" algn="l">
              <a:buNone/>
            </a:pPr>
            <a:r>
              <a:rPr sz="1080" b="1">
                <a:solidFill>
                  <a:srgbClr val="2F855A"/>
                </a:solidFill>
                <a:latin typeface="Aptos"/>
                <a:ea typeface="Aptos"/>
                <a:cs typeface="Aptos"/>
              </a:rPr>
              <a:t>Longcycler sensitivity</a:t>
            </a:r>
          </a:p>
        </p:txBody>
      </p:sp>
      <p:sp>
        <p:nvSpPr>
          <p:cNvPr id="28" name="Text 26">
            <a:extLst>
              <a:ext uri="{FF2B5EF4-FFF2-40B4-BE49-F238E27FC236}">
                <a16:creationId xmlns:a16="http://schemas.microsoft.com/office/drawing/2014/main" id="{E83629F6-391D-4C18-8EC4-C44724EC4234}"/>
              </a:ext>
            </a:extLst>
          </p:cNvPr>
          <p:cNvSpPr>
            <a:spLocks noGrp="1"/>
          </p:cNvSpPr>
          <p:nvPr/>
        </p:nvSpPr>
        <p:spPr>
          <a:xfrm>
            <a:off x="3858768" y="4443984"/>
            <a:ext cx="1463040" cy="329184"/>
          </a:xfrm>
          <a:prstGeom prst="rect">
            <a:avLst/>
          </a:prstGeom>
          <a:noFill/>
        </p:spPr>
        <p:txBody>
          <a:bodyPr wrap="square" lIns="508" tIns="508" rIns="508" bIns="508" anchor="t">
            <a:normAutofit/>
          </a:bodyPr>
          <a:lstStyle/>
          <a:p>
            <a:pPr marL="0" indent="0" algn="l">
              <a:buNone/>
            </a:pPr>
            <a:r>
              <a:rPr sz="1800" b="1">
                <a:solidFill>
                  <a:srgbClr val="2F855A"/>
                </a:solidFill>
                <a:latin typeface="Aptos"/>
                <a:ea typeface="Aptos"/>
                <a:cs typeface="Aptos"/>
              </a:rPr>
              <a:t>532</a:t>
            </a:r>
          </a:p>
        </p:txBody>
      </p:sp>
      <p:sp>
        <p:nvSpPr>
          <p:cNvPr id="29" name="Text 27">
            <a:extLst>
              <a:ext uri="{FF2B5EF4-FFF2-40B4-BE49-F238E27FC236}">
                <a16:creationId xmlns:a16="http://schemas.microsoft.com/office/drawing/2014/main" id="{C8D0D0AC-BF1A-4F52-A539-5AB13661CE28}"/>
              </a:ext>
            </a:extLst>
          </p:cNvPr>
          <p:cNvSpPr>
            <a:spLocks noGrp="1"/>
          </p:cNvSpPr>
          <p:nvPr/>
        </p:nvSpPr>
        <p:spPr>
          <a:xfrm>
            <a:off x="5376672" y="4507992"/>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selected Longcycler rows; 161 participants; 16 UTI / 516 Not_UTI</a:t>
            </a:r>
          </a:p>
        </p:txBody>
      </p:sp>
      <p:sp>
        <p:nvSpPr>
          <p:cNvPr id="30" name="Shape 28">
            <a:extLst>
              <a:ext uri="{FF2B5EF4-FFF2-40B4-BE49-F238E27FC236}">
                <a16:creationId xmlns:a16="http://schemas.microsoft.com/office/drawing/2014/main" id="{118DE96E-95C1-414B-913E-31AEC3E637AF}"/>
              </a:ext>
            </a:extLst>
          </p:cNvPr>
          <p:cNvSpPr>
            <a:spLocks noGrp="1"/>
          </p:cNvSpPr>
          <p:nvPr/>
        </p:nvSpPr>
        <p:spPr>
          <a:xfrm>
            <a:off x="969264" y="5029200"/>
            <a:ext cx="2377440" cy="384048"/>
          </a:xfrm>
          <a:prstGeom prst="roundRect">
            <a:avLst/>
          </a:prstGeom>
          <a:solidFill>
            <a:srgbClr val="EEF3F8"/>
          </a:solidFill>
          <a:ln w="10160">
            <a:solidFill>
              <a:srgbClr val="111827"/>
            </a:solidFill>
            <a:prstDash val="solid"/>
          </a:ln>
        </p:spPr>
        <p:txBody>
          <a:bodyPr/>
          <a:lstStyle/>
          <a:p>
            <a:endParaRPr lang="en-US"/>
          </a:p>
        </p:txBody>
      </p:sp>
      <p:sp>
        <p:nvSpPr>
          <p:cNvPr id="31" name="Text 29">
            <a:extLst>
              <a:ext uri="{FF2B5EF4-FFF2-40B4-BE49-F238E27FC236}">
                <a16:creationId xmlns:a16="http://schemas.microsoft.com/office/drawing/2014/main" id="{6ACF8E14-750F-4227-A019-3933CA7348C0}"/>
              </a:ext>
            </a:extLst>
          </p:cNvPr>
          <p:cNvSpPr>
            <a:spLocks noGrp="1"/>
          </p:cNvSpPr>
          <p:nvPr/>
        </p:nvSpPr>
        <p:spPr>
          <a:xfrm>
            <a:off x="1133856" y="5175504"/>
            <a:ext cx="2048256" cy="182880"/>
          </a:xfrm>
          <a:prstGeom prst="rect">
            <a:avLst/>
          </a:prstGeom>
          <a:noFill/>
        </p:spPr>
        <p:txBody>
          <a:bodyPr wrap="square" lIns="508" tIns="508" rIns="508" bIns="508" anchor="t">
            <a:normAutofit/>
          </a:bodyPr>
          <a:lstStyle/>
          <a:p>
            <a:pPr marL="0" indent="0" algn="l">
              <a:buNone/>
            </a:pPr>
            <a:r>
              <a:rPr sz="1080" b="1">
                <a:solidFill>
                  <a:srgbClr val="111827"/>
                </a:solidFill>
                <a:latin typeface="Aptos"/>
                <a:ea typeface="Aptos"/>
                <a:cs typeface="Aptos"/>
              </a:rPr>
              <a:t>Longitudinal transitions</a:t>
            </a:r>
          </a:p>
        </p:txBody>
      </p:sp>
      <p:sp>
        <p:nvSpPr>
          <p:cNvPr id="32" name="Text 30">
            <a:extLst>
              <a:ext uri="{FF2B5EF4-FFF2-40B4-BE49-F238E27FC236}">
                <a16:creationId xmlns:a16="http://schemas.microsoft.com/office/drawing/2014/main" id="{EA10586D-9AFB-4470-B9AF-F5225A8E956E}"/>
              </a:ext>
            </a:extLst>
          </p:cNvPr>
          <p:cNvSpPr>
            <a:spLocks noGrp="1"/>
          </p:cNvSpPr>
          <p:nvPr/>
        </p:nvSpPr>
        <p:spPr>
          <a:xfrm>
            <a:off x="3858768" y="5010912"/>
            <a:ext cx="1463040" cy="329184"/>
          </a:xfrm>
          <a:prstGeom prst="rect">
            <a:avLst/>
          </a:prstGeom>
          <a:noFill/>
        </p:spPr>
        <p:txBody>
          <a:bodyPr wrap="square" lIns="508" tIns="508" rIns="508" bIns="508" anchor="t">
            <a:normAutofit/>
          </a:bodyPr>
          <a:lstStyle/>
          <a:p>
            <a:pPr marL="0" indent="0" algn="l">
              <a:buNone/>
            </a:pPr>
            <a:r>
              <a:rPr sz="1800" b="1">
                <a:solidFill>
                  <a:srgbClr val="111827"/>
                </a:solidFill>
                <a:latin typeface="Aptos"/>
                <a:ea typeface="Aptos"/>
                <a:cs typeface="Aptos"/>
              </a:rPr>
              <a:t>394 -&gt; 371</a:t>
            </a:r>
          </a:p>
        </p:txBody>
      </p:sp>
      <p:sp>
        <p:nvSpPr>
          <p:cNvPr id="33" name="Text 31">
            <a:extLst>
              <a:ext uri="{FF2B5EF4-FFF2-40B4-BE49-F238E27FC236}">
                <a16:creationId xmlns:a16="http://schemas.microsoft.com/office/drawing/2014/main" id="{0137B930-90DD-4230-A4E5-5BA06FA9AC8A}"/>
              </a:ext>
            </a:extLst>
          </p:cNvPr>
          <p:cNvSpPr>
            <a:spLocks noGrp="1"/>
          </p:cNvSpPr>
          <p:nvPr/>
        </p:nvSpPr>
        <p:spPr>
          <a:xfrm>
            <a:off x="5376672" y="5074920"/>
            <a:ext cx="4937760" cy="182880"/>
          </a:xfrm>
          <a:prstGeom prst="rect">
            <a:avLst/>
          </a:prstGeom>
          <a:noFill/>
        </p:spPr>
        <p:txBody>
          <a:bodyPr wrap="square" lIns="508" tIns="508" rIns="508" bIns="508" anchor="t">
            <a:normAutofit/>
          </a:bodyPr>
          <a:lstStyle/>
          <a:p>
            <a:pPr marL="0" indent="0" algn="l">
              <a:buNone/>
            </a:pPr>
            <a:r>
              <a:rPr sz="970">
                <a:solidFill>
                  <a:srgbClr val="64748B"/>
                </a:solidFill>
                <a:latin typeface="Aptos"/>
                <a:ea typeface="Aptos"/>
                <a:cs typeface="Aptos"/>
              </a:rPr>
              <a:t>mixed adjacent pairs to rebuilt Longcycler adjacent pairs</a:t>
            </a:r>
          </a:p>
        </p:txBody>
      </p:sp>
    </p:spTree>
    <p:extLst>
      <p:ext uri="{BB962C8B-B14F-4D97-AF65-F5344CB8AC3E}">
        <p14:creationId xmlns:p14="http://schemas.microsoft.com/office/powerpoint/2010/main" val="879595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26AD514-4066-46D6-91F7-8012870D105E}"/>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648FA0E0-1B72-4134-8A5D-40571AECAE93}"/>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B2AF3AAB-13ED-430E-A698-C52CE7440895}"/>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APPENDIX / METHODS TABLE</a:t>
            </a:r>
          </a:p>
        </p:txBody>
      </p:sp>
      <p:sp>
        <p:nvSpPr>
          <p:cNvPr id="5" name="Text 3">
            <a:extLst>
              <a:ext uri="{FF2B5EF4-FFF2-40B4-BE49-F238E27FC236}">
                <a16:creationId xmlns:a16="http://schemas.microsoft.com/office/drawing/2014/main" id="{B7C0FA54-8A21-428C-81DA-52A49004201A}"/>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Report implemented thresholds—and criteria not actually applied</a:t>
            </a:r>
          </a:p>
        </p:txBody>
      </p:sp>
      <p:sp>
        <p:nvSpPr>
          <p:cNvPr id="6" name="Text 4">
            <a:extLst>
              <a:ext uri="{FF2B5EF4-FFF2-40B4-BE49-F238E27FC236}">
                <a16:creationId xmlns:a16="http://schemas.microsoft.com/office/drawing/2014/main" id="{C4B264F4-5446-4BDE-9F80-15BFC03C2151}"/>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This table describes the claim-linked route; missing versions are not inferred.</a:t>
            </a:r>
          </a:p>
        </p:txBody>
      </p:sp>
      <p:sp>
        <p:nvSpPr>
          <p:cNvPr id="7" name="Shape 5">
            <a:extLst>
              <a:ext uri="{FF2B5EF4-FFF2-40B4-BE49-F238E27FC236}">
                <a16:creationId xmlns:a16="http://schemas.microsoft.com/office/drawing/2014/main" id="{5B9B16B6-7DB9-4C23-B335-19A6C0DDF171}"/>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A4FEF550-587D-4852-A74A-BB4A938486C5}"/>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45C7D84A-47CC-45C3-A7BD-A9FD74BFBCC0}"/>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      Sources: scripts 00b, 02, 06, 11, 12a-12c, 22 and 14</a:t>
            </a:r>
          </a:p>
        </p:txBody>
      </p:sp>
      <p:sp>
        <p:nvSpPr>
          <p:cNvPr id="10" name="Text 8">
            <a:extLst>
              <a:ext uri="{FF2B5EF4-FFF2-40B4-BE49-F238E27FC236}">
                <a16:creationId xmlns:a16="http://schemas.microsoft.com/office/drawing/2014/main" id="{D2C735A1-DF3F-4AF2-A4B6-8DCD75AA84AF}"/>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10</a:t>
            </a:r>
          </a:p>
        </p:txBody>
      </p:sp>
      <p:sp>
        <p:nvSpPr>
          <p:cNvPr id="11" name="Text 9">
            <a:extLst>
              <a:ext uri="{FF2B5EF4-FFF2-40B4-BE49-F238E27FC236}">
                <a16:creationId xmlns:a16="http://schemas.microsoft.com/office/drawing/2014/main" id="{A4A25872-1FE1-4570-A6C7-D053900A4A06}"/>
              </a:ext>
            </a:extLst>
          </p:cNvPr>
          <p:cNvSpPr>
            <a:spLocks noGrp="1"/>
          </p:cNvSpPr>
          <p:nvPr/>
        </p:nvSpPr>
        <p:spPr>
          <a:xfrm>
            <a:off x="786384" y="1572768"/>
            <a:ext cx="2377440" cy="219456"/>
          </a:xfrm>
          <a:prstGeom prst="rect">
            <a:avLst/>
          </a:prstGeom>
          <a:noFill/>
        </p:spPr>
        <p:txBody>
          <a:bodyPr wrap="square" lIns="508" tIns="508" rIns="508" bIns="508" anchor="t">
            <a:normAutofit/>
          </a:bodyPr>
          <a:lstStyle/>
          <a:p>
            <a:pPr marL="0" indent="0" algn="l">
              <a:buNone/>
            </a:pPr>
            <a:r>
              <a:rPr sz="1400" b="1">
                <a:solidFill>
                  <a:srgbClr val="2B6CB0"/>
                </a:solidFill>
                <a:latin typeface="Aptos"/>
                <a:ea typeface="Aptos"/>
                <a:cs typeface="Aptos"/>
              </a:rPr>
              <a:t>Implemented thresholds</a:t>
            </a:r>
          </a:p>
        </p:txBody>
      </p:sp>
      <p:sp>
        <p:nvSpPr>
          <p:cNvPr id="12" name="Text 10">
            <a:extLst>
              <a:ext uri="{FF2B5EF4-FFF2-40B4-BE49-F238E27FC236}">
                <a16:creationId xmlns:a16="http://schemas.microsoft.com/office/drawing/2014/main" id="{5FCA254A-7479-425C-82B2-05DE1682F263}"/>
              </a:ext>
            </a:extLst>
          </p:cNvPr>
          <p:cNvSpPr>
            <a:spLocks noGrp="1"/>
          </p:cNvSpPr>
          <p:nvPr/>
        </p:nvSpPr>
        <p:spPr>
          <a:xfrm>
            <a:off x="6236208" y="1572768"/>
            <a:ext cx="2377440" cy="219456"/>
          </a:xfrm>
          <a:prstGeom prst="rect">
            <a:avLst/>
          </a:prstGeom>
          <a:noFill/>
        </p:spPr>
        <p:txBody>
          <a:bodyPr wrap="square" lIns="508" tIns="508" rIns="508" bIns="508" anchor="t">
            <a:normAutofit/>
          </a:bodyPr>
          <a:lstStyle/>
          <a:p>
            <a:pPr marL="0" indent="0" algn="l">
              <a:buNone/>
            </a:pPr>
            <a:r>
              <a:rPr sz="1400" b="1">
                <a:solidFill>
                  <a:srgbClr val="2F855A"/>
                </a:solidFill>
                <a:latin typeface="Aptos"/>
                <a:ea typeface="Aptos"/>
                <a:cs typeface="Aptos"/>
              </a:rPr>
              <a:t>Tool or branch</a:t>
            </a:r>
          </a:p>
        </p:txBody>
      </p:sp>
      <p:sp>
        <p:nvSpPr>
          <p:cNvPr id="13" name="Shape 11">
            <a:extLst>
              <a:ext uri="{FF2B5EF4-FFF2-40B4-BE49-F238E27FC236}">
                <a16:creationId xmlns:a16="http://schemas.microsoft.com/office/drawing/2014/main" id="{684D34FD-9749-4746-AB75-3AA84B2D8942}"/>
              </a:ext>
            </a:extLst>
          </p:cNvPr>
          <p:cNvSpPr>
            <a:spLocks noGrp="1"/>
          </p:cNvSpPr>
          <p:nvPr/>
        </p:nvSpPr>
        <p:spPr>
          <a:xfrm>
            <a:off x="786384" y="1901952"/>
            <a:ext cx="4828032" cy="420624"/>
          </a:xfrm>
          <a:prstGeom prst="roundRect">
            <a:avLst/>
          </a:prstGeom>
          <a:solidFill>
            <a:srgbClr val="F8FAFC"/>
          </a:solidFill>
          <a:ln w="7620">
            <a:solidFill>
              <a:srgbClr val="E5E7EB"/>
            </a:solidFill>
            <a:prstDash val="solid"/>
          </a:ln>
        </p:spPr>
        <p:txBody>
          <a:bodyPr/>
          <a:lstStyle/>
          <a:p>
            <a:endParaRPr lang="en-US"/>
          </a:p>
        </p:txBody>
      </p:sp>
      <p:sp>
        <p:nvSpPr>
          <p:cNvPr id="14" name="Text 12">
            <a:extLst>
              <a:ext uri="{FF2B5EF4-FFF2-40B4-BE49-F238E27FC236}">
                <a16:creationId xmlns:a16="http://schemas.microsoft.com/office/drawing/2014/main" id="{204F54A2-73A3-42DD-8FE5-691FB90947A0}"/>
              </a:ext>
            </a:extLst>
          </p:cNvPr>
          <p:cNvSpPr>
            <a:spLocks noGrp="1"/>
          </p:cNvSpPr>
          <p:nvPr/>
        </p:nvSpPr>
        <p:spPr>
          <a:xfrm>
            <a:off x="932688" y="1993392"/>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Culture support</a:t>
            </a:r>
          </a:p>
        </p:txBody>
      </p:sp>
      <p:sp>
        <p:nvSpPr>
          <p:cNvPr id="15" name="Text 13">
            <a:extLst>
              <a:ext uri="{FF2B5EF4-FFF2-40B4-BE49-F238E27FC236}">
                <a16:creationId xmlns:a16="http://schemas.microsoft.com/office/drawing/2014/main" id="{528B2D60-4902-4186-AFB0-C507DA119682}"/>
              </a:ext>
            </a:extLst>
          </p:cNvPr>
          <p:cNvSpPr>
            <a:spLocks noGrp="1"/>
          </p:cNvSpPr>
          <p:nvPr/>
        </p:nvSpPr>
        <p:spPr>
          <a:xfrm>
            <a:off x="2267712" y="1993392"/>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&gt;=10^3 CFU/mL lower-bound rule</a:t>
            </a:r>
          </a:p>
        </p:txBody>
      </p:sp>
      <p:sp>
        <p:nvSpPr>
          <p:cNvPr id="16" name="Shape 14">
            <a:extLst>
              <a:ext uri="{FF2B5EF4-FFF2-40B4-BE49-F238E27FC236}">
                <a16:creationId xmlns:a16="http://schemas.microsoft.com/office/drawing/2014/main" id="{4B0312EE-35F4-47F0-98CC-6248849ECC44}"/>
              </a:ext>
            </a:extLst>
          </p:cNvPr>
          <p:cNvSpPr>
            <a:spLocks noGrp="1"/>
          </p:cNvSpPr>
          <p:nvPr/>
        </p:nvSpPr>
        <p:spPr>
          <a:xfrm>
            <a:off x="786384" y="2432304"/>
            <a:ext cx="4828032" cy="420624"/>
          </a:xfrm>
          <a:prstGeom prst="roundRect">
            <a:avLst/>
          </a:prstGeom>
          <a:solidFill>
            <a:srgbClr val="FFFFFF"/>
          </a:solidFill>
          <a:ln w="7620">
            <a:solidFill>
              <a:srgbClr val="E5E7EB"/>
            </a:solidFill>
            <a:prstDash val="solid"/>
          </a:ln>
        </p:spPr>
        <p:txBody>
          <a:bodyPr/>
          <a:lstStyle/>
          <a:p>
            <a:endParaRPr lang="en-US"/>
          </a:p>
        </p:txBody>
      </p:sp>
      <p:sp>
        <p:nvSpPr>
          <p:cNvPr id="17" name="Text 15">
            <a:extLst>
              <a:ext uri="{FF2B5EF4-FFF2-40B4-BE49-F238E27FC236}">
                <a16:creationId xmlns:a16="http://schemas.microsoft.com/office/drawing/2014/main" id="{3235D4E0-3548-43DE-9035-9E314782C05E}"/>
              </a:ext>
            </a:extLst>
          </p:cNvPr>
          <p:cNvSpPr>
            <a:spLocks noGrp="1"/>
          </p:cNvSpPr>
          <p:nvPr/>
        </p:nvSpPr>
        <p:spPr>
          <a:xfrm>
            <a:off x="932688" y="2523744"/>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Genome size</a:t>
            </a:r>
          </a:p>
        </p:txBody>
      </p:sp>
      <p:sp>
        <p:nvSpPr>
          <p:cNvPr id="18" name="Text 16">
            <a:extLst>
              <a:ext uri="{FF2B5EF4-FFF2-40B4-BE49-F238E27FC236}">
                <a16:creationId xmlns:a16="http://schemas.microsoft.com/office/drawing/2014/main" id="{7883B74D-133F-4C6C-8B0A-5AED7F24AF0A}"/>
              </a:ext>
            </a:extLst>
          </p:cNvPr>
          <p:cNvSpPr>
            <a:spLocks noGrp="1"/>
          </p:cNvSpPr>
          <p:nvPr/>
        </p:nvSpPr>
        <p:spPr>
          <a:xfrm>
            <a:off x="2267712" y="2523744"/>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4-6 Mb</a:t>
            </a:r>
          </a:p>
        </p:txBody>
      </p:sp>
      <p:sp>
        <p:nvSpPr>
          <p:cNvPr id="19" name="Shape 17">
            <a:extLst>
              <a:ext uri="{FF2B5EF4-FFF2-40B4-BE49-F238E27FC236}">
                <a16:creationId xmlns:a16="http://schemas.microsoft.com/office/drawing/2014/main" id="{CEAE4312-1184-425D-AD22-7C51067D264F}"/>
              </a:ext>
            </a:extLst>
          </p:cNvPr>
          <p:cNvSpPr>
            <a:spLocks noGrp="1"/>
          </p:cNvSpPr>
          <p:nvPr/>
        </p:nvSpPr>
        <p:spPr>
          <a:xfrm>
            <a:off x="786384" y="2962656"/>
            <a:ext cx="4828032" cy="420624"/>
          </a:xfrm>
          <a:prstGeom prst="roundRect">
            <a:avLst/>
          </a:prstGeom>
          <a:solidFill>
            <a:srgbClr val="F8FAFC"/>
          </a:solidFill>
          <a:ln w="7620">
            <a:solidFill>
              <a:srgbClr val="E5E7EB"/>
            </a:solidFill>
            <a:prstDash val="solid"/>
          </a:ln>
        </p:spPr>
        <p:txBody>
          <a:bodyPr/>
          <a:lstStyle/>
          <a:p>
            <a:endParaRPr lang="en-US"/>
          </a:p>
        </p:txBody>
      </p:sp>
      <p:sp>
        <p:nvSpPr>
          <p:cNvPr id="20" name="Text 18">
            <a:extLst>
              <a:ext uri="{FF2B5EF4-FFF2-40B4-BE49-F238E27FC236}">
                <a16:creationId xmlns:a16="http://schemas.microsoft.com/office/drawing/2014/main" id="{25BCAFA4-7F03-46D5-8C7C-EBE8D67A8DF5}"/>
              </a:ext>
            </a:extLst>
          </p:cNvPr>
          <p:cNvSpPr>
            <a:spLocks noGrp="1"/>
          </p:cNvSpPr>
          <p:nvPr/>
        </p:nvSpPr>
        <p:spPr>
          <a:xfrm>
            <a:off x="932688" y="3054096"/>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Assembly structure</a:t>
            </a:r>
          </a:p>
        </p:txBody>
      </p:sp>
      <p:sp>
        <p:nvSpPr>
          <p:cNvPr id="21" name="Text 19">
            <a:extLst>
              <a:ext uri="{FF2B5EF4-FFF2-40B4-BE49-F238E27FC236}">
                <a16:creationId xmlns:a16="http://schemas.microsoft.com/office/drawing/2014/main" id="{F973904A-F8A3-414D-BFD9-0653990D0808}"/>
              </a:ext>
            </a:extLst>
          </p:cNvPr>
          <p:cNvSpPr>
            <a:spLocks noGrp="1"/>
          </p:cNvSpPr>
          <p:nvPr/>
        </p:nvSpPr>
        <p:spPr>
          <a:xfrm>
            <a:off x="2267712" y="3054096"/>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&lt;=200 contigs; N50 &gt;=20 kb</a:t>
            </a:r>
          </a:p>
        </p:txBody>
      </p:sp>
      <p:sp>
        <p:nvSpPr>
          <p:cNvPr id="22" name="Shape 20">
            <a:extLst>
              <a:ext uri="{FF2B5EF4-FFF2-40B4-BE49-F238E27FC236}">
                <a16:creationId xmlns:a16="http://schemas.microsoft.com/office/drawing/2014/main" id="{15E5CCCC-C9E5-4293-8C9A-CD41C6AED24B}"/>
              </a:ext>
            </a:extLst>
          </p:cNvPr>
          <p:cNvSpPr>
            <a:spLocks noGrp="1"/>
          </p:cNvSpPr>
          <p:nvPr/>
        </p:nvSpPr>
        <p:spPr>
          <a:xfrm>
            <a:off x="786384" y="3493008"/>
            <a:ext cx="4828032" cy="420624"/>
          </a:xfrm>
          <a:prstGeom prst="roundRect">
            <a:avLst/>
          </a:prstGeom>
          <a:solidFill>
            <a:srgbClr val="FFFFFF"/>
          </a:solidFill>
          <a:ln w="7620">
            <a:solidFill>
              <a:srgbClr val="E5E7EB"/>
            </a:solidFill>
            <a:prstDash val="solid"/>
          </a:ln>
        </p:spPr>
        <p:txBody>
          <a:bodyPr/>
          <a:lstStyle/>
          <a:p>
            <a:endParaRPr lang="en-US"/>
          </a:p>
        </p:txBody>
      </p:sp>
      <p:sp>
        <p:nvSpPr>
          <p:cNvPr id="23" name="Text 21">
            <a:extLst>
              <a:ext uri="{FF2B5EF4-FFF2-40B4-BE49-F238E27FC236}">
                <a16:creationId xmlns:a16="http://schemas.microsoft.com/office/drawing/2014/main" id="{456DCA0A-1221-4D9B-B11B-7E71A8AD691B}"/>
              </a:ext>
            </a:extLst>
          </p:cNvPr>
          <p:cNvSpPr>
            <a:spLocks noGrp="1"/>
          </p:cNvSpPr>
          <p:nvPr/>
        </p:nvSpPr>
        <p:spPr>
          <a:xfrm>
            <a:off x="932688" y="3584448"/>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Same-strain support</a:t>
            </a:r>
          </a:p>
        </p:txBody>
      </p:sp>
      <p:sp>
        <p:nvSpPr>
          <p:cNvPr id="24" name="Text 22">
            <a:extLst>
              <a:ext uri="{FF2B5EF4-FFF2-40B4-BE49-F238E27FC236}">
                <a16:creationId xmlns:a16="http://schemas.microsoft.com/office/drawing/2014/main" id="{9D257728-6D3E-4061-9FBE-C039F9E4A815}"/>
              </a:ext>
            </a:extLst>
          </p:cNvPr>
          <p:cNvSpPr>
            <a:spLocks noGrp="1"/>
          </p:cNvSpPr>
          <p:nvPr/>
        </p:nvSpPr>
        <p:spPr>
          <a:xfrm>
            <a:off x="2267712" y="3584448"/>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&lt;=25 dnadiff SNPs; operational, uncalibrated</a:t>
            </a:r>
          </a:p>
        </p:txBody>
      </p:sp>
      <p:sp>
        <p:nvSpPr>
          <p:cNvPr id="25" name="Shape 23">
            <a:extLst>
              <a:ext uri="{FF2B5EF4-FFF2-40B4-BE49-F238E27FC236}">
                <a16:creationId xmlns:a16="http://schemas.microsoft.com/office/drawing/2014/main" id="{1EC3793E-EB3C-42E8-806E-B13E5BD3F10E}"/>
              </a:ext>
            </a:extLst>
          </p:cNvPr>
          <p:cNvSpPr>
            <a:spLocks noGrp="1"/>
          </p:cNvSpPr>
          <p:nvPr/>
        </p:nvSpPr>
        <p:spPr>
          <a:xfrm>
            <a:off x="786384" y="4023360"/>
            <a:ext cx="4828032" cy="420624"/>
          </a:xfrm>
          <a:prstGeom prst="roundRect">
            <a:avLst/>
          </a:prstGeom>
          <a:solidFill>
            <a:srgbClr val="F8FAFC"/>
          </a:solidFill>
          <a:ln w="7620">
            <a:solidFill>
              <a:srgbClr val="E5E7EB"/>
            </a:solidFill>
            <a:prstDash val="solid"/>
          </a:ln>
        </p:spPr>
        <p:txBody>
          <a:bodyPr/>
          <a:lstStyle/>
          <a:p>
            <a:endParaRPr lang="en-US"/>
          </a:p>
        </p:txBody>
      </p:sp>
      <p:sp>
        <p:nvSpPr>
          <p:cNvPr id="26" name="Text 24">
            <a:extLst>
              <a:ext uri="{FF2B5EF4-FFF2-40B4-BE49-F238E27FC236}">
                <a16:creationId xmlns:a16="http://schemas.microsoft.com/office/drawing/2014/main" id="{D5DDFB1D-5FA1-4290-B9BD-A73E87643F85}"/>
              </a:ext>
            </a:extLst>
          </p:cNvPr>
          <p:cNvSpPr>
            <a:spLocks noGrp="1"/>
          </p:cNvSpPr>
          <p:nvPr/>
        </p:nvSpPr>
        <p:spPr>
          <a:xfrm>
            <a:off x="932688" y="4114800"/>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VFDB screen</a:t>
            </a:r>
          </a:p>
        </p:txBody>
      </p:sp>
      <p:sp>
        <p:nvSpPr>
          <p:cNvPr id="27" name="Text 25">
            <a:extLst>
              <a:ext uri="{FF2B5EF4-FFF2-40B4-BE49-F238E27FC236}">
                <a16:creationId xmlns:a16="http://schemas.microsoft.com/office/drawing/2014/main" id="{EA9D56EB-E99E-4A09-AAC2-610718508917}"/>
              </a:ext>
            </a:extLst>
          </p:cNvPr>
          <p:cNvSpPr>
            <a:spLocks noGrp="1"/>
          </p:cNvSpPr>
          <p:nvPr/>
        </p:nvSpPr>
        <p:spPr>
          <a:xfrm>
            <a:off x="2267712" y="4114800"/>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&gt;=80% identity and &gt;=80% coverage</a:t>
            </a:r>
          </a:p>
        </p:txBody>
      </p:sp>
      <p:sp>
        <p:nvSpPr>
          <p:cNvPr id="28" name="Shape 26">
            <a:extLst>
              <a:ext uri="{FF2B5EF4-FFF2-40B4-BE49-F238E27FC236}">
                <a16:creationId xmlns:a16="http://schemas.microsoft.com/office/drawing/2014/main" id="{C1FEE6EF-1611-408F-B2FF-74371E1D49A0}"/>
              </a:ext>
            </a:extLst>
          </p:cNvPr>
          <p:cNvSpPr>
            <a:spLocks noGrp="1"/>
          </p:cNvSpPr>
          <p:nvPr/>
        </p:nvSpPr>
        <p:spPr>
          <a:xfrm>
            <a:off x="786384" y="4553712"/>
            <a:ext cx="4828032" cy="420624"/>
          </a:xfrm>
          <a:prstGeom prst="roundRect">
            <a:avLst/>
          </a:prstGeom>
          <a:solidFill>
            <a:srgbClr val="FFFFFF"/>
          </a:solidFill>
          <a:ln w="7620">
            <a:solidFill>
              <a:srgbClr val="E5E7EB"/>
            </a:solidFill>
            <a:prstDash val="solid"/>
          </a:ln>
        </p:spPr>
        <p:txBody>
          <a:bodyPr/>
          <a:lstStyle/>
          <a:p>
            <a:endParaRPr lang="en-US"/>
          </a:p>
        </p:txBody>
      </p:sp>
      <p:sp>
        <p:nvSpPr>
          <p:cNvPr id="29" name="Text 27">
            <a:extLst>
              <a:ext uri="{FF2B5EF4-FFF2-40B4-BE49-F238E27FC236}">
                <a16:creationId xmlns:a16="http://schemas.microsoft.com/office/drawing/2014/main" id="{2CB83800-E9D3-49E0-B68F-A671376F496F}"/>
              </a:ext>
            </a:extLst>
          </p:cNvPr>
          <p:cNvSpPr>
            <a:spLocks noGrp="1"/>
          </p:cNvSpPr>
          <p:nvPr/>
        </p:nvSpPr>
        <p:spPr>
          <a:xfrm>
            <a:off x="932688" y="4645152"/>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Provider MLST QC</a:t>
            </a:r>
          </a:p>
        </p:txBody>
      </p:sp>
      <p:sp>
        <p:nvSpPr>
          <p:cNvPr id="30" name="Text 28">
            <a:extLst>
              <a:ext uri="{FF2B5EF4-FFF2-40B4-BE49-F238E27FC236}">
                <a16:creationId xmlns:a16="http://schemas.microsoft.com/office/drawing/2014/main" id="{F2C2196A-B2E9-4182-AE82-03337DB9E5FA}"/>
              </a:ext>
            </a:extLst>
          </p:cNvPr>
          <p:cNvSpPr>
            <a:spLocks noGrp="1"/>
          </p:cNvSpPr>
          <p:nvPr/>
        </p:nvSpPr>
        <p:spPr>
          <a:xfrm>
            <a:off x="2267712" y="4645152"/>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PercGoodTargets &gt;=95</a:t>
            </a:r>
          </a:p>
        </p:txBody>
      </p:sp>
      <p:sp>
        <p:nvSpPr>
          <p:cNvPr id="31" name="Shape 29">
            <a:extLst>
              <a:ext uri="{FF2B5EF4-FFF2-40B4-BE49-F238E27FC236}">
                <a16:creationId xmlns:a16="http://schemas.microsoft.com/office/drawing/2014/main" id="{F67127B7-3F82-4920-97F0-3A48D5CED5F7}"/>
              </a:ext>
            </a:extLst>
          </p:cNvPr>
          <p:cNvSpPr>
            <a:spLocks noGrp="1"/>
          </p:cNvSpPr>
          <p:nvPr/>
        </p:nvSpPr>
        <p:spPr>
          <a:xfrm>
            <a:off x="6236208" y="1901952"/>
            <a:ext cx="4828032" cy="420624"/>
          </a:xfrm>
          <a:prstGeom prst="roundRect">
            <a:avLst/>
          </a:prstGeom>
          <a:solidFill>
            <a:srgbClr val="F8FAFC"/>
          </a:solidFill>
          <a:ln w="7620">
            <a:solidFill>
              <a:srgbClr val="E5E7EB"/>
            </a:solidFill>
            <a:prstDash val="solid"/>
          </a:ln>
        </p:spPr>
        <p:txBody>
          <a:bodyPr/>
          <a:lstStyle/>
          <a:p>
            <a:endParaRPr lang="en-US"/>
          </a:p>
        </p:txBody>
      </p:sp>
      <p:sp>
        <p:nvSpPr>
          <p:cNvPr id="32" name="Text 30">
            <a:extLst>
              <a:ext uri="{FF2B5EF4-FFF2-40B4-BE49-F238E27FC236}">
                <a16:creationId xmlns:a16="http://schemas.microsoft.com/office/drawing/2014/main" id="{001B348B-A581-40A1-BFE7-AC3D99C83EA4}"/>
              </a:ext>
            </a:extLst>
          </p:cNvPr>
          <p:cNvSpPr>
            <a:spLocks noGrp="1"/>
          </p:cNvSpPr>
          <p:nvPr/>
        </p:nvSpPr>
        <p:spPr>
          <a:xfrm>
            <a:off x="6382512" y="1993392"/>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Canonical inputs</a:t>
            </a:r>
          </a:p>
        </p:txBody>
      </p:sp>
      <p:sp>
        <p:nvSpPr>
          <p:cNvPr id="33" name="Text 31">
            <a:extLst>
              <a:ext uri="{FF2B5EF4-FFF2-40B4-BE49-F238E27FC236}">
                <a16:creationId xmlns:a16="http://schemas.microsoft.com/office/drawing/2014/main" id="{FF7A669F-FB45-492A-8E11-6B33C3005785}"/>
              </a:ext>
            </a:extLst>
          </p:cNvPr>
          <p:cNvSpPr>
            <a:spLocks noGrp="1"/>
          </p:cNvSpPr>
          <p:nvPr/>
        </p:nvSpPr>
        <p:spPr>
          <a:xfrm>
            <a:off x="7717536" y="1993392"/>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Longcycler preferred; Flye fallback (12a)</a:t>
            </a:r>
          </a:p>
        </p:txBody>
      </p:sp>
      <p:sp>
        <p:nvSpPr>
          <p:cNvPr id="34" name="Shape 32">
            <a:extLst>
              <a:ext uri="{FF2B5EF4-FFF2-40B4-BE49-F238E27FC236}">
                <a16:creationId xmlns:a16="http://schemas.microsoft.com/office/drawing/2014/main" id="{C2AC218D-4B34-4AAB-A54E-C55F44DD2DAC}"/>
              </a:ext>
            </a:extLst>
          </p:cNvPr>
          <p:cNvSpPr>
            <a:spLocks noGrp="1"/>
          </p:cNvSpPr>
          <p:nvPr/>
        </p:nvSpPr>
        <p:spPr>
          <a:xfrm>
            <a:off x="6236208" y="2432304"/>
            <a:ext cx="4828032" cy="420624"/>
          </a:xfrm>
          <a:prstGeom prst="roundRect">
            <a:avLst/>
          </a:prstGeom>
          <a:solidFill>
            <a:srgbClr val="FFFFFF"/>
          </a:solidFill>
          <a:ln w="7620">
            <a:solidFill>
              <a:srgbClr val="E5E7EB"/>
            </a:solidFill>
            <a:prstDash val="solid"/>
          </a:ln>
        </p:spPr>
        <p:txBody>
          <a:bodyPr/>
          <a:lstStyle/>
          <a:p>
            <a:endParaRPr lang="en-US"/>
          </a:p>
        </p:txBody>
      </p:sp>
      <p:sp>
        <p:nvSpPr>
          <p:cNvPr id="35" name="Text 33">
            <a:extLst>
              <a:ext uri="{FF2B5EF4-FFF2-40B4-BE49-F238E27FC236}">
                <a16:creationId xmlns:a16="http://schemas.microsoft.com/office/drawing/2014/main" id="{58CBFF89-0322-4234-A533-53448DE4D4FD}"/>
              </a:ext>
            </a:extLst>
          </p:cNvPr>
          <p:cNvSpPr>
            <a:spLocks noGrp="1"/>
          </p:cNvSpPr>
          <p:nvPr/>
        </p:nvSpPr>
        <p:spPr>
          <a:xfrm>
            <a:off x="6382512" y="2523744"/>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VF + clinical join</a:t>
            </a:r>
          </a:p>
        </p:txBody>
      </p:sp>
      <p:sp>
        <p:nvSpPr>
          <p:cNvPr id="36" name="Text 34">
            <a:extLst>
              <a:ext uri="{FF2B5EF4-FFF2-40B4-BE49-F238E27FC236}">
                <a16:creationId xmlns:a16="http://schemas.microsoft.com/office/drawing/2014/main" id="{A4871BED-1519-4078-97A7-A927746B3BFE}"/>
              </a:ext>
            </a:extLst>
          </p:cNvPr>
          <p:cNvSpPr>
            <a:spLocks noGrp="1"/>
          </p:cNvSpPr>
          <p:nvPr/>
        </p:nvSpPr>
        <p:spPr>
          <a:xfrm>
            <a:off x="7717536" y="2523744"/>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ABRicate/VFDB (02) then episode join (22)</a:t>
            </a:r>
          </a:p>
        </p:txBody>
      </p:sp>
      <p:sp>
        <p:nvSpPr>
          <p:cNvPr id="37" name="Shape 35">
            <a:extLst>
              <a:ext uri="{FF2B5EF4-FFF2-40B4-BE49-F238E27FC236}">
                <a16:creationId xmlns:a16="http://schemas.microsoft.com/office/drawing/2014/main" id="{22F60FD2-3C38-45AC-ADF7-5CF014B8F8FB}"/>
              </a:ext>
            </a:extLst>
          </p:cNvPr>
          <p:cNvSpPr>
            <a:spLocks noGrp="1"/>
          </p:cNvSpPr>
          <p:nvPr/>
        </p:nvSpPr>
        <p:spPr>
          <a:xfrm>
            <a:off x="6236208" y="2962656"/>
            <a:ext cx="4828032" cy="420624"/>
          </a:xfrm>
          <a:prstGeom prst="roundRect">
            <a:avLst/>
          </a:prstGeom>
          <a:solidFill>
            <a:srgbClr val="F8FAFC"/>
          </a:solidFill>
          <a:ln w="7620">
            <a:solidFill>
              <a:srgbClr val="E5E7EB"/>
            </a:solidFill>
            <a:prstDash val="solid"/>
          </a:ln>
        </p:spPr>
        <p:txBody>
          <a:bodyPr/>
          <a:lstStyle/>
          <a:p>
            <a:endParaRPr lang="en-US"/>
          </a:p>
        </p:txBody>
      </p:sp>
      <p:sp>
        <p:nvSpPr>
          <p:cNvPr id="38" name="Text 36">
            <a:extLst>
              <a:ext uri="{FF2B5EF4-FFF2-40B4-BE49-F238E27FC236}">
                <a16:creationId xmlns:a16="http://schemas.microsoft.com/office/drawing/2014/main" id="{0E484AA3-9A08-4BF6-AFC2-E3412F3FCA0B}"/>
              </a:ext>
            </a:extLst>
          </p:cNvPr>
          <p:cNvSpPr>
            <a:spLocks noGrp="1"/>
          </p:cNvSpPr>
          <p:nvPr/>
        </p:nvSpPr>
        <p:spPr>
          <a:xfrm>
            <a:off x="6382512" y="3054096"/>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Lineage context</a:t>
            </a:r>
          </a:p>
        </p:txBody>
      </p:sp>
      <p:sp>
        <p:nvSpPr>
          <p:cNvPr id="39" name="Text 37">
            <a:extLst>
              <a:ext uri="{FF2B5EF4-FFF2-40B4-BE49-F238E27FC236}">
                <a16:creationId xmlns:a16="http://schemas.microsoft.com/office/drawing/2014/main" id="{8FF436AA-CFB5-4A61-B787-DA18255F4EA6}"/>
              </a:ext>
            </a:extLst>
          </p:cNvPr>
          <p:cNvSpPr>
            <a:spLocks noGrp="1"/>
          </p:cNvSpPr>
          <p:nvPr/>
        </p:nvSpPr>
        <p:spPr>
          <a:xfrm>
            <a:off x="7717536" y="3054096"/>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Provider SeqSphere; labelled local fallback (06)</a:t>
            </a:r>
          </a:p>
        </p:txBody>
      </p:sp>
      <p:sp>
        <p:nvSpPr>
          <p:cNvPr id="40" name="Shape 38">
            <a:extLst>
              <a:ext uri="{FF2B5EF4-FFF2-40B4-BE49-F238E27FC236}">
                <a16:creationId xmlns:a16="http://schemas.microsoft.com/office/drawing/2014/main" id="{BC72F942-D6CF-4258-8145-90C3862D1D55}"/>
              </a:ext>
            </a:extLst>
          </p:cNvPr>
          <p:cNvSpPr>
            <a:spLocks noGrp="1"/>
          </p:cNvSpPr>
          <p:nvPr/>
        </p:nvSpPr>
        <p:spPr>
          <a:xfrm>
            <a:off x="6236208" y="3493008"/>
            <a:ext cx="4828032" cy="420624"/>
          </a:xfrm>
          <a:prstGeom prst="roundRect">
            <a:avLst/>
          </a:prstGeom>
          <a:solidFill>
            <a:srgbClr val="FFFFFF"/>
          </a:solidFill>
          <a:ln w="7620">
            <a:solidFill>
              <a:srgbClr val="E5E7EB"/>
            </a:solidFill>
            <a:prstDash val="solid"/>
          </a:ln>
        </p:spPr>
        <p:txBody>
          <a:bodyPr/>
          <a:lstStyle/>
          <a:p>
            <a:endParaRPr lang="en-US"/>
          </a:p>
        </p:txBody>
      </p:sp>
      <p:sp>
        <p:nvSpPr>
          <p:cNvPr id="41" name="Text 39">
            <a:extLst>
              <a:ext uri="{FF2B5EF4-FFF2-40B4-BE49-F238E27FC236}">
                <a16:creationId xmlns:a16="http://schemas.microsoft.com/office/drawing/2014/main" id="{D0A6C1BE-7341-4FE9-A325-4261911E9150}"/>
              </a:ext>
            </a:extLst>
          </p:cNvPr>
          <p:cNvSpPr>
            <a:spLocks noGrp="1"/>
          </p:cNvSpPr>
          <p:nvPr/>
        </p:nvSpPr>
        <p:spPr>
          <a:xfrm>
            <a:off x="6382512" y="3584448"/>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Pairwise similarity</a:t>
            </a:r>
          </a:p>
        </p:txBody>
      </p:sp>
      <p:sp>
        <p:nvSpPr>
          <p:cNvPr id="42" name="Text 40">
            <a:extLst>
              <a:ext uri="{FF2B5EF4-FFF2-40B4-BE49-F238E27FC236}">
                <a16:creationId xmlns:a16="http://schemas.microsoft.com/office/drawing/2014/main" id="{A3F2A7C7-5F38-42D4-BF44-C6C1CB78405E}"/>
              </a:ext>
            </a:extLst>
          </p:cNvPr>
          <p:cNvSpPr>
            <a:spLocks noGrp="1"/>
          </p:cNvSpPr>
          <p:nvPr/>
        </p:nvSpPr>
        <p:spPr>
          <a:xfrm>
            <a:off x="7717536" y="3584448"/>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MUMmer dnadiff + Mash (11 + helper)</a:t>
            </a:r>
          </a:p>
        </p:txBody>
      </p:sp>
      <p:sp>
        <p:nvSpPr>
          <p:cNvPr id="43" name="Shape 41">
            <a:extLst>
              <a:ext uri="{FF2B5EF4-FFF2-40B4-BE49-F238E27FC236}">
                <a16:creationId xmlns:a16="http://schemas.microsoft.com/office/drawing/2014/main" id="{130F92F9-AC8B-458A-9566-7C6BF0E8AF78}"/>
              </a:ext>
            </a:extLst>
          </p:cNvPr>
          <p:cNvSpPr>
            <a:spLocks noGrp="1"/>
          </p:cNvSpPr>
          <p:nvPr/>
        </p:nvSpPr>
        <p:spPr>
          <a:xfrm>
            <a:off x="6236208" y="4023360"/>
            <a:ext cx="4828032" cy="420624"/>
          </a:xfrm>
          <a:prstGeom prst="roundRect">
            <a:avLst/>
          </a:prstGeom>
          <a:solidFill>
            <a:srgbClr val="F8FAFC"/>
          </a:solidFill>
          <a:ln w="7620">
            <a:solidFill>
              <a:srgbClr val="E5E7EB"/>
            </a:solidFill>
            <a:prstDash val="solid"/>
          </a:ln>
        </p:spPr>
        <p:txBody>
          <a:bodyPr/>
          <a:lstStyle/>
          <a:p>
            <a:endParaRPr lang="en-US"/>
          </a:p>
        </p:txBody>
      </p:sp>
      <p:sp>
        <p:nvSpPr>
          <p:cNvPr id="44" name="Text 42">
            <a:extLst>
              <a:ext uri="{FF2B5EF4-FFF2-40B4-BE49-F238E27FC236}">
                <a16:creationId xmlns:a16="http://schemas.microsoft.com/office/drawing/2014/main" id="{9B71EC9B-524C-4955-B40A-5B771985459E}"/>
              </a:ext>
            </a:extLst>
          </p:cNvPr>
          <p:cNvSpPr>
            <a:spLocks noGrp="1"/>
          </p:cNvSpPr>
          <p:nvPr/>
        </p:nvSpPr>
        <p:spPr>
          <a:xfrm>
            <a:off x="6382512" y="4114800"/>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Population context</a:t>
            </a:r>
          </a:p>
        </p:txBody>
      </p:sp>
      <p:sp>
        <p:nvSpPr>
          <p:cNvPr id="45" name="Text 43">
            <a:extLst>
              <a:ext uri="{FF2B5EF4-FFF2-40B4-BE49-F238E27FC236}">
                <a16:creationId xmlns:a16="http://schemas.microsoft.com/office/drawing/2014/main" id="{78E7C118-EF0D-4301-B633-620A7B98DF27}"/>
              </a:ext>
            </a:extLst>
          </p:cNvPr>
          <p:cNvSpPr>
            <a:spLocks noGrp="1"/>
          </p:cNvSpPr>
          <p:nvPr/>
        </p:nvSpPr>
        <p:spPr>
          <a:xfrm>
            <a:off x="7717536" y="4114800"/>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Parsnp/snp-dists (12b); Prokka/Panaroo (12c)</a:t>
            </a:r>
          </a:p>
        </p:txBody>
      </p:sp>
      <p:sp>
        <p:nvSpPr>
          <p:cNvPr id="46" name="Shape 44">
            <a:extLst>
              <a:ext uri="{FF2B5EF4-FFF2-40B4-BE49-F238E27FC236}">
                <a16:creationId xmlns:a16="http://schemas.microsoft.com/office/drawing/2014/main" id="{66A001B2-0BB9-4890-968B-D3C853B7F7FE}"/>
              </a:ext>
            </a:extLst>
          </p:cNvPr>
          <p:cNvSpPr>
            <a:spLocks noGrp="1"/>
          </p:cNvSpPr>
          <p:nvPr/>
        </p:nvSpPr>
        <p:spPr>
          <a:xfrm>
            <a:off x="6236208" y="4553712"/>
            <a:ext cx="4828032" cy="420624"/>
          </a:xfrm>
          <a:prstGeom prst="roundRect">
            <a:avLst/>
          </a:prstGeom>
          <a:solidFill>
            <a:srgbClr val="FFFFFF"/>
          </a:solidFill>
          <a:ln w="7620">
            <a:solidFill>
              <a:srgbClr val="E5E7EB"/>
            </a:solidFill>
            <a:prstDash val="solid"/>
          </a:ln>
        </p:spPr>
        <p:txBody>
          <a:bodyPr/>
          <a:lstStyle/>
          <a:p>
            <a:endParaRPr lang="en-US"/>
          </a:p>
        </p:txBody>
      </p:sp>
      <p:sp>
        <p:nvSpPr>
          <p:cNvPr id="47" name="Text 45">
            <a:extLst>
              <a:ext uri="{FF2B5EF4-FFF2-40B4-BE49-F238E27FC236}">
                <a16:creationId xmlns:a16="http://schemas.microsoft.com/office/drawing/2014/main" id="{44C5EF45-23C2-4E8B-B025-60B1D5F63E9B}"/>
              </a:ext>
            </a:extLst>
          </p:cNvPr>
          <p:cNvSpPr>
            <a:spLocks noGrp="1"/>
          </p:cNvSpPr>
          <p:nvPr/>
        </p:nvSpPr>
        <p:spPr>
          <a:xfrm>
            <a:off x="6382512" y="4645152"/>
            <a:ext cx="1280160" cy="146304"/>
          </a:xfrm>
          <a:prstGeom prst="rect">
            <a:avLst/>
          </a:prstGeom>
          <a:noFill/>
        </p:spPr>
        <p:txBody>
          <a:bodyPr wrap="square" lIns="508" tIns="508" rIns="508" bIns="508" anchor="t">
            <a:normAutofit/>
          </a:bodyPr>
          <a:lstStyle/>
          <a:p>
            <a:pPr marL="0" indent="0" algn="l">
              <a:buNone/>
            </a:pPr>
            <a:r>
              <a:rPr sz="840" b="1">
                <a:solidFill>
                  <a:srgbClr val="111827"/>
                </a:solidFill>
                <a:latin typeface="Aptos"/>
                <a:ea typeface="Aptos"/>
                <a:cs typeface="Aptos"/>
              </a:rPr>
              <a:t>Exploratory model</a:t>
            </a:r>
          </a:p>
        </p:txBody>
      </p:sp>
      <p:sp>
        <p:nvSpPr>
          <p:cNvPr id="48" name="Text 46">
            <a:extLst>
              <a:ext uri="{FF2B5EF4-FFF2-40B4-BE49-F238E27FC236}">
                <a16:creationId xmlns:a16="http://schemas.microsoft.com/office/drawing/2014/main" id="{C6D01389-452E-4E6A-97E6-178A4815A860}"/>
              </a:ext>
            </a:extLst>
          </p:cNvPr>
          <p:cNvSpPr>
            <a:spLocks noGrp="1"/>
          </p:cNvSpPr>
          <p:nvPr/>
        </p:nvSpPr>
        <p:spPr>
          <a:xfrm>
            <a:off x="7717536" y="4645152"/>
            <a:ext cx="3127248" cy="146304"/>
          </a:xfrm>
          <a:prstGeom prst="rect">
            <a:avLst/>
          </a:prstGeom>
          <a:noFill/>
        </p:spPr>
        <p:txBody>
          <a:bodyPr wrap="square" lIns="508" tIns="508" rIns="508" bIns="508" anchor="t">
            <a:normAutofit/>
          </a:bodyPr>
          <a:lstStyle/>
          <a:p>
            <a:pPr marL="0" indent="0" algn="l">
              <a:buNone/>
            </a:pPr>
            <a:r>
              <a:rPr sz="730">
                <a:solidFill>
                  <a:srgbClr val="64748B"/>
                </a:solidFill>
                <a:latin typeface="Aptos Mono"/>
                <a:ea typeface="Aptos Mono"/>
                <a:cs typeface="Aptos Mono"/>
              </a:rPr>
              <a:t>Participant random intercept with documented GLM fallback (14)</a:t>
            </a:r>
          </a:p>
        </p:txBody>
      </p:sp>
      <p:sp>
        <p:nvSpPr>
          <p:cNvPr id="49" name="Shape 47">
            <a:extLst>
              <a:ext uri="{FF2B5EF4-FFF2-40B4-BE49-F238E27FC236}">
                <a16:creationId xmlns:a16="http://schemas.microsoft.com/office/drawing/2014/main" id="{539111D2-8E4B-44FF-A73A-FFBE12147940}"/>
              </a:ext>
            </a:extLst>
          </p:cNvPr>
          <p:cNvSpPr>
            <a:spLocks noGrp="1"/>
          </p:cNvSpPr>
          <p:nvPr/>
        </p:nvSpPr>
        <p:spPr>
          <a:xfrm>
            <a:off x="1847088" y="5596128"/>
            <a:ext cx="8503920" cy="493776"/>
          </a:xfrm>
          <a:prstGeom prst="roundRect">
            <a:avLst/>
          </a:prstGeom>
          <a:solidFill>
            <a:srgbClr val="EEF3F8"/>
          </a:solidFill>
          <a:ln w="10160">
            <a:solidFill>
              <a:srgbClr val="CBD5E1"/>
            </a:solidFill>
            <a:prstDash val="solid"/>
          </a:ln>
        </p:spPr>
        <p:txBody>
          <a:bodyPr/>
          <a:lstStyle/>
          <a:p>
            <a:endParaRPr lang="en-US"/>
          </a:p>
        </p:txBody>
      </p:sp>
      <p:sp>
        <p:nvSpPr>
          <p:cNvPr id="50" name="Text 48">
            <a:extLst>
              <a:ext uri="{FF2B5EF4-FFF2-40B4-BE49-F238E27FC236}">
                <a16:creationId xmlns:a16="http://schemas.microsoft.com/office/drawing/2014/main" id="{034339E3-EC98-4F93-BB92-3521DE242954}"/>
              </a:ext>
            </a:extLst>
          </p:cNvPr>
          <p:cNvSpPr>
            <a:spLocks noGrp="1"/>
          </p:cNvSpPr>
          <p:nvPr/>
        </p:nvSpPr>
        <p:spPr>
          <a:xfrm>
            <a:off x="2011680" y="5676900"/>
            <a:ext cx="8174736" cy="209550"/>
          </a:xfrm>
          <a:prstGeom prst="rect">
            <a:avLst/>
          </a:prstGeom>
          <a:noFill/>
        </p:spPr>
        <p:txBody>
          <a:bodyPr wrap="square" lIns="508" tIns="508" rIns="508" bIns="508" anchor="t">
            <a:normAutofit/>
          </a:bodyPr>
          <a:lstStyle/>
          <a:p>
            <a:pPr marL="0" indent="0" algn="l">
              <a:buNone/>
            </a:pPr>
            <a:r>
              <a:rPr sz="920" b="1">
                <a:solidFill>
                  <a:srgbClr val="111827"/>
                </a:solidFill>
                <a:latin typeface="Aptos"/>
                <a:ea typeface="Aptos"/>
                <a:cs typeface="Aptos"/>
              </a:rPr>
              <a:t>Criteria not applied</a:t>
            </a:r>
          </a:p>
        </p:txBody>
      </p:sp>
      <p:sp>
        <p:nvSpPr>
          <p:cNvPr id="51" name="Text 49">
            <a:extLst>
              <a:ext uri="{FF2B5EF4-FFF2-40B4-BE49-F238E27FC236}">
                <a16:creationId xmlns:a16="http://schemas.microsoft.com/office/drawing/2014/main" id="{B6F92469-9899-477C-AC3C-E22412DD2FA7}"/>
              </a:ext>
            </a:extLst>
          </p:cNvPr>
          <p:cNvSpPr>
            <a:spLocks noGrp="1"/>
          </p:cNvSpPr>
          <p:nvPr/>
        </p:nvSpPr>
        <p:spPr>
          <a:xfrm>
            <a:off x="2011680" y="5886450"/>
            <a:ext cx="8174736" cy="190500"/>
          </a:xfrm>
          <a:prstGeom prst="rect">
            <a:avLst/>
          </a:prstGeom>
          <a:noFill/>
        </p:spPr>
        <p:txBody>
          <a:bodyPr wrap="square" lIns="508" tIns="508" rIns="508" bIns="508" anchor="t">
            <a:normAutofit/>
          </a:bodyPr>
          <a:lstStyle/>
          <a:p>
            <a:pPr marL="0" indent="0" algn="l">
              <a:buNone/>
            </a:pPr>
            <a:r>
              <a:rPr sz="820">
                <a:solidFill>
                  <a:srgbClr val="64748B"/>
                </a:solidFill>
                <a:latin typeface="Aptos"/>
                <a:ea typeface="Aptos"/>
                <a:cs typeface="Aptos"/>
              </a:rPr>
              <a:t>Completeness, contamination and read coverage are not part of the implemented 12a assembly-QC screen.</a:t>
            </a:r>
          </a:p>
        </p:txBody>
      </p:sp>
    </p:spTree>
    <p:extLst>
      <p:ext uri="{BB962C8B-B14F-4D97-AF65-F5344CB8AC3E}">
        <p14:creationId xmlns:p14="http://schemas.microsoft.com/office/powerpoint/2010/main" val="1088579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0BD7F2B-897A-44BF-BFA0-42F266D0BC2F}"/>
              </a:ext>
            </a:extLst>
          </p:cNvPr>
          <p:cNvSpPr>
            <a:spLocks noGrp="1"/>
          </p:cNvSpPr>
          <p:nvPr/>
        </p:nvSpPr>
        <p:spPr>
          <a:xfrm>
            <a:off x="0" y="0"/>
            <a:ext cx="12192000"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E0E2526A-E171-4686-B610-7F3CCB8E016F}"/>
              </a:ext>
            </a:extLst>
          </p:cNvPr>
          <p:cNvSpPr>
            <a:spLocks noGrp="1"/>
          </p:cNvSpPr>
          <p:nvPr/>
        </p:nvSpPr>
        <p:spPr>
          <a:xfrm>
            <a:off x="0" y="0"/>
            <a:ext cx="118872" cy="6858000"/>
          </a:xfrm>
          <a:prstGeom prst="rect">
            <a:avLst/>
          </a:prstGeom>
          <a:solidFill>
            <a:srgbClr val="2B6CB0"/>
          </a:solidFill>
          <a:ln w="12700">
            <a:solidFill>
              <a:srgbClr val="FFFFFF">
                <a:alpha val="0"/>
              </a:srgbClr>
            </a:solidFill>
            <a:prstDash val="solid"/>
          </a:ln>
        </p:spPr>
        <p:txBody>
          <a:bodyPr/>
          <a:lstStyle/>
          <a:p>
            <a:endParaRPr lang="en-US"/>
          </a:p>
        </p:txBody>
      </p:sp>
      <p:sp>
        <p:nvSpPr>
          <p:cNvPr id="4" name="Text 2">
            <a:extLst>
              <a:ext uri="{FF2B5EF4-FFF2-40B4-BE49-F238E27FC236}">
                <a16:creationId xmlns:a16="http://schemas.microsoft.com/office/drawing/2014/main" id="{788900E8-EF69-448F-8C0A-2AD7187D1625}"/>
              </a:ext>
            </a:extLst>
          </p:cNvPr>
          <p:cNvSpPr>
            <a:spLocks noGrp="1"/>
          </p:cNvSpPr>
          <p:nvPr/>
        </p:nvSpPr>
        <p:spPr>
          <a:xfrm>
            <a:off x="512064" y="274320"/>
            <a:ext cx="8412480" cy="201168"/>
          </a:xfrm>
          <a:prstGeom prst="rect">
            <a:avLst/>
          </a:prstGeom>
          <a:noFill/>
        </p:spPr>
        <p:txBody>
          <a:bodyPr wrap="square" lIns="508" tIns="508" rIns="508" bIns="508" anchor="t">
            <a:normAutofit/>
          </a:bodyPr>
          <a:lstStyle/>
          <a:p>
            <a:pPr marL="0" indent="0" algn="l">
              <a:buNone/>
            </a:pPr>
            <a:r>
              <a:rPr sz="850" b="1">
                <a:solidFill>
                  <a:srgbClr val="64748B"/>
                </a:solidFill>
                <a:latin typeface="Aptos"/>
                <a:ea typeface="Aptos"/>
                <a:cs typeface="Aptos"/>
              </a:rPr>
              <a:t>APPENDIX / SCRIPT MAP</a:t>
            </a:r>
          </a:p>
        </p:txBody>
      </p:sp>
      <p:sp>
        <p:nvSpPr>
          <p:cNvPr id="5" name="Text 3">
            <a:extLst>
              <a:ext uri="{FF2B5EF4-FFF2-40B4-BE49-F238E27FC236}">
                <a16:creationId xmlns:a16="http://schemas.microsoft.com/office/drawing/2014/main" id="{1F0C91C1-4746-476F-BC7A-687B368A4D55}"/>
              </a:ext>
            </a:extLst>
          </p:cNvPr>
          <p:cNvSpPr>
            <a:spLocks noGrp="1"/>
          </p:cNvSpPr>
          <p:nvPr/>
        </p:nvSpPr>
        <p:spPr>
          <a:xfrm>
            <a:off x="512064" y="530352"/>
            <a:ext cx="10881360" cy="438912"/>
          </a:xfrm>
          <a:prstGeom prst="rect">
            <a:avLst/>
          </a:prstGeom>
          <a:noFill/>
        </p:spPr>
        <p:txBody>
          <a:bodyPr wrap="square" lIns="508" tIns="508" rIns="508" bIns="508" anchor="t">
            <a:normAutofit/>
          </a:bodyPr>
          <a:lstStyle/>
          <a:p>
            <a:pPr marL="0" indent="0" algn="l">
              <a:buNone/>
            </a:pPr>
            <a:r>
              <a:rPr sz="2200" b="1">
                <a:solidFill>
                  <a:srgbClr val="111827"/>
                </a:solidFill>
                <a:latin typeface="Aptos Display"/>
                <a:ea typeface="Aptos Display"/>
                <a:cs typeface="Aptos Display"/>
              </a:rPr>
              <a:t>Direct claim-producing scripts form the traceability core</a:t>
            </a:r>
          </a:p>
        </p:txBody>
      </p:sp>
      <p:sp>
        <p:nvSpPr>
          <p:cNvPr id="6" name="Text 4">
            <a:extLst>
              <a:ext uri="{FF2B5EF4-FFF2-40B4-BE49-F238E27FC236}">
                <a16:creationId xmlns:a16="http://schemas.microsoft.com/office/drawing/2014/main" id="{7797EF10-CBB1-466B-9A6E-FAEA8DFCF134}"/>
              </a:ext>
            </a:extLst>
          </p:cNvPr>
          <p:cNvSpPr>
            <a:spLocks noGrp="1"/>
          </p:cNvSpPr>
          <p:nvPr/>
        </p:nvSpPr>
        <p:spPr>
          <a:xfrm>
            <a:off x="512064" y="987552"/>
            <a:ext cx="10698480" cy="292608"/>
          </a:xfrm>
          <a:prstGeom prst="rect">
            <a:avLst/>
          </a:prstGeom>
          <a:noFill/>
        </p:spPr>
        <p:txBody>
          <a:bodyPr wrap="square" lIns="508" tIns="508" rIns="508" bIns="508" anchor="t">
            <a:normAutofit/>
          </a:bodyPr>
          <a:lstStyle/>
          <a:p>
            <a:pPr marL="0" indent="0" algn="l">
              <a:buNone/>
            </a:pPr>
            <a:r>
              <a:rPr sz="1150">
                <a:solidFill>
                  <a:srgbClr val="64748B"/>
                </a:solidFill>
                <a:latin typeface="Aptos"/>
                <a:ea typeface="Aptos"/>
                <a:cs typeface="Aptos"/>
              </a:rPr>
              <a:t>Other scripts may be mentioned when they clarify population context, quality checks or interpretation.</a:t>
            </a:r>
          </a:p>
        </p:txBody>
      </p:sp>
      <p:sp>
        <p:nvSpPr>
          <p:cNvPr id="7" name="Shape 5">
            <a:extLst>
              <a:ext uri="{FF2B5EF4-FFF2-40B4-BE49-F238E27FC236}">
                <a16:creationId xmlns:a16="http://schemas.microsoft.com/office/drawing/2014/main" id="{60195517-F54A-4781-B91B-D9CE2B986E90}"/>
              </a:ext>
            </a:extLst>
          </p:cNvPr>
          <p:cNvSpPr>
            <a:spLocks noGrp="1"/>
          </p:cNvSpPr>
          <p:nvPr/>
        </p:nvSpPr>
        <p:spPr>
          <a:xfrm>
            <a:off x="512064" y="1344168"/>
            <a:ext cx="11137392" cy="0"/>
          </a:xfrm>
          <a:prstGeom prst="line">
            <a:avLst/>
          </a:prstGeom>
          <a:noFill/>
          <a:ln w="12700">
            <a:solidFill>
              <a:srgbClr val="CBD5E1"/>
            </a:solidFill>
            <a:prstDash val="solid"/>
          </a:ln>
        </p:spPr>
        <p:txBody>
          <a:bodyPr/>
          <a:lstStyle/>
          <a:p>
            <a:endParaRPr lang="en-US"/>
          </a:p>
        </p:txBody>
      </p:sp>
      <p:sp>
        <p:nvSpPr>
          <p:cNvPr id="8" name="Shape 6">
            <a:extLst>
              <a:ext uri="{FF2B5EF4-FFF2-40B4-BE49-F238E27FC236}">
                <a16:creationId xmlns:a16="http://schemas.microsoft.com/office/drawing/2014/main" id="{E9B6A799-4C33-4DC6-B11B-C15CFC894D70}"/>
              </a:ext>
            </a:extLst>
          </p:cNvPr>
          <p:cNvSpPr>
            <a:spLocks noGrp="1"/>
          </p:cNvSpPr>
          <p:nvPr/>
        </p:nvSpPr>
        <p:spPr>
          <a:xfrm>
            <a:off x="512064" y="6437376"/>
            <a:ext cx="11137392" cy="0"/>
          </a:xfrm>
          <a:prstGeom prst="line">
            <a:avLst/>
          </a:prstGeom>
          <a:noFill/>
          <a:ln w="10160">
            <a:solidFill>
              <a:srgbClr val="CBD5E1"/>
            </a:solidFill>
            <a:prstDash val="solid"/>
          </a:ln>
        </p:spPr>
        <p:txBody>
          <a:bodyPr/>
          <a:lstStyle/>
          <a:p>
            <a:endParaRPr lang="en-US"/>
          </a:p>
        </p:txBody>
      </p:sp>
      <p:sp>
        <p:nvSpPr>
          <p:cNvPr id="9" name="Text 7">
            <a:extLst>
              <a:ext uri="{FF2B5EF4-FFF2-40B4-BE49-F238E27FC236}">
                <a16:creationId xmlns:a16="http://schemas.microsoft.com/office/drawing/2014/main" id="{9A140570-425D-4521-BB24-74B11498B727}"/>
              </a:ext>
            </a:extLst>
          </p:cNvPr>
          <p:cNvSpPr>
            <a:spLocks noGrp="1"/>
          </p:cNvSpPr>
          <p:nvPr/>
        </p:nvSpPr>
        <p:spPr>
          <a:xfrm>
            <a:off x="721614" y="6510528"/>
            <a:ext cx="7928610" cy="164592"/>
          </a:xfrm>
          <a:prstGeom prst="rect">
            <a:avLst/>
          </a:prstGeom>
          <a:noFill/>
        </p:spPr>
        <p:txBody>
          <a:bodyPr wrap="square" lIns="508" tIns="508" rIns="508" bIns="508" anchor="t">
            <a:normAutofit/>
          </a:bodyPr>
          <a:lstStyle/>
          <a:p>
            <a:pPr marL="0" indent="0" algn="l">
              <a:buNone/>
            </a:pPr>
            <a:r>
              <a:rPr sz="760">
                <a:solidFill>
                  <a:srgbClr val="64748B"/>
                </a:solidFill>
                <a:latin typeface="Aptos"/>
                <a:ea typeface="Aptos"/>
                <a:cs typeface="Aptos"/>
              </a:rPr>
              <a:t>      Source: claim-linked scripts and their current generated outputs</a:t>
            </a:r>
          </a:p>
        </p:txBody>
      </p:sp>
      <p:sp>
        <p:nvSpPr>
          <p:cNvPr id="10" name="Text 8">
            <a:extLst>
              <a:ext uri="{FF2B5EF4-FFF2-40B4-BE49-F238E27FC236}">
                <a16:creationId xmlns:a16="http://schemas.microsoft.com/office/drawing/2014/main" id="{63244E99-6289-403D-BF58-0829324DE59C}"/>
              </a:ext>
            </a:extLst>
          </p:cNvPr>
          <p:cNvSpPr>
            <a:spLocks noGrp="1"/>
          </p:cNvSpPr>
          <p:nvPr/>
        </p:nvSpPr>
        <p:spPr>
          <a:xfrm>
            <a:off x="10927080" y="6510528"/>
            <a:ext cx="713232" cy="164592"/>
          </a:xfrm>
          <a:prstGeom prst="rect">
            <a:avLst/>
          </a:prstGeom>
          <a:noFill/>
        </p:spPr>
        <p:txBody>
          <a:bodyPr wrap="square" lIns="508" tIns="508" rIns="508" bIns="508" anchor="t">
            <a:normAutofit/>
          </a:bodyPr>
          <a:lstStyle/>
          <a:p>
            <a:pPr marL="0" indent="0" algn="r">
              <a:buNone/>
            </a:pPr>
            <a:r>
              <a:rPr sz="760">
                <a:solidFill>
                  <a:srgbClr val="64748B"/>
                </a:solidFill>
                <a:latin typeface="Aptos"/>
                <a:ea typeface="Aptos"/>
                <a:cs typeface="Aptos"/>
              </a:rPr>
              <a:t>13</a:t>
            </a:r>
          </a:p>
        </p:txBody>
      </p:sp>
      <p:sp>
        <p:nvSpPr>
          <p:cNvPr id="11" name="Shape 9">
            <a:extLst>
              <a:ext uri="{FF2B5EF4-FFF2-40B4-BE49-F238E27FC236}">
                <a16:creationId xmlns:a16="http://schemas.microsoft.com/office/drawing/2014/main" id="{315C5E80-1F02-4033-8F39-CAEFFBAF6547}"/>
              </a:ext>
            </a:extLst>
          </p:cNvPr>
          <p:cNvSpPr>
            <a:spLocks noGrp="1"/>
          </p:cNvSpPr>
          <p:nvPr/>
        </p:nvSpPr>
        <p:spPr>
          <a:xfrm>
            <a:off x="676656" y="1627632"/>
            <a:ext cx="3218688" cy="987552"/>
          </a:xfrm>
          <a:prstGeom prst="roundRect">
            <a:avLst/>
          </a:prstGeom>
          <a:solidFill>
            <a:srgbClr val="FFF4E6"/>
          </a:solidFill>
          <a:ln w="10160">
            <a:solidFill>
              <a:srgbClr val="D8DEE8"/>
            </a:solidFill>
            <a:prstDash val="solid"/>
          </a:ln>
        </p:spPr>
        <p:txBody>
          <a:bodyPr/>
          <a:lstStyle/>
          <a:p>
            <a:endParaRPr lang="en-US"/>
          </a:p>
        </p:txBody>
      </p:sp>
      <p:sp>
        <p:nvSpPr>
          <p:cNvPr id="12" name="Text 10">
            <a:extLst>
              <a:ext uri="{FF2B5EF4-FFF2-40B4-BE49-F238E27FC236}">
                <a16:creationId xmlns:a16="http://schemas.microsoft.com/office/drawing/2014/main" id="{05E7ADD1-A1B3-4BDB-A3A2-604CF76A15E9}"/>
              </a:ext>
            </a:extLst>
          </p:cNvPr>
          <p:cNvSpPr>
            <a:spLocks noGrp="1"/>
          </p:cNvSpPr>
          <p:nvPr/>
        </p:nvSpPr>
        <p:spPr>
          <a:xfrm>
            <a:off x="1203198"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Clinical definition</a:t>
            </a:r>
          </a:p>
        </p:txBody>
      </p:sp>
      <p:sp>
        <p:nvSpPr>
          <p:cNvPr id="13" name="Text 11">
            <a:extLst>
              <a:ext uri="{FF2B5EF4-FFF2-40B4-BE49-F238E27FC236}">
                <a16:creationId xmlns:a16="http://schemas.microsoft.com/office/drawing/2014/main" id="{D6B8AED5-6F8A-4AE8-ABFD-B444A4C3463D}"/>
              </a:ext>
            </a:extLst>
          </p:cNvPr>
          <p:cNvSpPr>
            <a:spLocks noGrp="1"/>
          </p:cNvSpPr>
          <p:nvPr/>
        </p:nvSpPr>
        <p:spPr>
          <a:xfrm>
            <a:off x="841248" y="2194560"/>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00a cleans records; 00b creates the primary UTI_Status</a:t>
            </a:r>
          </a:p>
        </p:txBody>
      </p:sp>
      <p:sp>
        <p:nvSpPr>
          <p:cNvPr id="14" name="Shape 12">
            <a:extLst>
              <a:ext uri="{FF2B5EF4-FFF2-40B4-BE49-F238E27FC236}">
                <a16:creationId xmlns:a16="http://schemas.microsoft.com/office/drawing/2014/main" id="{34D8E0AE-9458-45FD-8F39-3E62D5ADC378}"/>
              </a:ext>
            </a:extLst>
          </p:cNvPr>
          <p:cNvSpPr>
            <a:spLocks noGrp="1"/>
          </p:cNvSpPr>
          <p:nvPr/>
        </p:nvSpPr>
        <p:spPr>
          <a:xfrm>
            <a:off x="786384"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15" name="Text 13">
            <a:extLst>
              <a:ext uri="{FF2B5EF4-FFF2-40B4-BE49-F238E27FC236}">
                <a16:creationId xmlns:a16="http://schemas.microsoft.com/office/drawing/2014/main" id="{79F71501-2462-4944-933F-F0C56766FE5E}"/>
              </a:ext>
            </a:extLst>
          </p:cNvPr>
          <p:cNvSpPr>
            <a:spLocks noGrp="1"/>
          </p:cNvSpPr>
          <p:nvPr/>
        </p:nvSpPr>
        <p:spPr>
          <a:xfrm>
            <a:off x="786384"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1</a:t>
            </a:r>
          </a:p>
        </p:txBody>
      </p:sp>
      <p:sp>
        <p:nvSpPr>
          <p:cNvPr id="16" name="Text 14">
            <a:extLst>
              <a:ext uri="{FF2B5EF4-FFF2-40B4-BE49-F238E27FC236}">
                <a16:creationId xmlns:a16="http://schemas.microsoft.com/office/drawing/2014/main" id="{E061708A-A56C-4C83-A389-FE1EB0C8D35C}"/>
              </a:ext>
            </a:extLst>
          </p:cNvPr>
          <p:cNvSpPr>
            <a:spLocks noGrp="1"/>
          </p:cNvSpPr>
          <p:nvPr/>
        </p:nvSpPr>
        <p:spPr>
          <a:xfrm>
            <a:off x="1152144"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input to all claims</a:t>
            </a:r>
          </a:p>
        </p:txBody>
      </p:sp>
      <p:sp>
        <p:nvSpPr>
          <p:cNvPr id="17" name="Shape 15">
            <a:extLst>
              <a:ext uri="{FF2B5EF4-FFF2-40B4-BE49-F238E27FC236}">
                <a16:creationId xmlns:a16="http://schemas.microsoft.com/office/drawing/2014/main" id="{D5DE4582-90B0-4975-9F4A-CBA073653BB0}"/>
              </a:ext>
            </a:extLst>
          </p:cNvPr>
          <p:cNvSpPr>
            <a:spLocks noGrp="1"/>
          </p:cNvSpPr>
          <p:nvPr/>
        </p:nvSpPr>
        <p:spPr>
          <a:xfrm>
            <a:off x="3931920" y="2121408"/>
            <a:ext cx="365760" cy="0"/>
          </a:xfrm>
          <a:prstGeom prst="line">
            <a:avLst/>
          </a:prstGeom>
          <a:noFill/>
          <a:ln w="15240">
            <a:solidFill>
              <a:srgbClr val="94A3B8"/>
            </a:solidFill>
            <a:prstDash val="solid"/>
            <a:tailEnd type="triangle"/>
          </a:ln>
        </p:spPr>
        <p:txBody>
          <a:bodyPr/>
          <a:lstStyle/>
          <a:p>
            <a:endParaRPr lang="en-US"/>
          </a:p>
        </p:txBody>
      </p:sp>
      <p:sp>
        <p:nvSpPr>
          <p:cNvPr id="18" name="Shape 16">
            <a:extLst>
              <a:ext uri="{FF2B5EF4-FFF2-40B4-BE49-F238E27FC236}">
                <a16:creationId xmlns:a16="http://schemas.microsoft.com/office/drawing/2014/main" id="{9F3622A0-9863-41B4-BD14-C09B98B06092}"/>
              </a:ext>
            </a:extLst>
          </p:cNvPr>
          <p:cNvSpPr>
            <a:spLocks noGrp="1"/>
          </p:cNvSpPr>
          <p:nvPr/>
        </p:nvSpPr>
        <p:spPr>
          <a:xfrm>
            <a:off x="4389120" y="1627632"/>
            <a:ext cx="3218688" cy="987552"/>
          </a:xfrm>
          <a:prstGeom prst="roundRect">
            <a:avLst/>
          </a:prstGeom>
          <a:solidFill>
            <a:srgbClr val="FFF4E6"/>
          </a:solidFill>
          <a:ln w="10160">
            <a:solidFill>
              <a:srgbClr val="D8DEE8"/>
            </a:solidFill>
            <a:prstDash val="solid"/>
          </a:ln>
        </p:spPr>
        <p:txBody>
          <a:bodyPr/>
          <a:lstStyle/>
          <a:p>
            <a:endParaRPr lang="en-US"/>
          </a:p>
        </p:txBody>
      </p:sp>
      <p:sp>
        <p:nvSpPr>
          <p:cNvPr id="19" name="Text 17">
            <a:extLst>
              <a:ext uri="{FF2B5EF4-FFF2-40B4-BE49-F238E27FC236}">
                <a16:creationId xmlns:a16="http://schemas.microsoft.com/office/drawing/2014/main" id="{D164459E-2AF7-47A7-B083-853CD2135E1B}"/>
              </a:ext>
            </a:extLst>
          </p:cNvPr>
          <p:cNvSpPr>
            <a:spLocks noGrp="1"/>
          </p:cNvSpPr>
          <p:nvPr/>
        </p:nvSpPr>
        <p:spPr>
          <a:xfrm>
            <a:off x="4915662"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Assembly linkage</a:t>
            </a:r>
          </a:p>
        </p:txBody>
      </p:sp>
      <p:sp>
        <p:nvSpPr>
          <p:cNvPr id="20" name="Text 18">
            <a:extLst>
              <a:ext uri="{FF2B5EF4-FFF2-40B4-BE49-F238E27FC236}">
                <a16:creationId xmlns:a16="http://schemas.microsoft.com/office/drawing/2014/main" id="{687A05AC-A04A-4572-AF2E-085E6E216F05}"/>
              </a:ext>
            </a:extLst>
          </p:cNvPr>
          <p:cNvSpPr>
            <a:spLocks noGrp="1"/>
          </p:cNvSpPr>
          <p:nvPr/>
        </p:nvSpPr>
        <p:spPr>
          <a:xfrm>
            <a:off x="4553712" y="2194560"/>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00_make reconciles prepared FASTAs and episode metadata</a:t>
            </a:r>
          </a:p>
        </p:txBody>
      </p:sp>
      <p:sp>
        <p:nvSpPr>
          <p:cNvPr id="21" name="Shape 19">
            <a:extLst>
              <a:ext uri="{FF2B5EF4-FFF2-40B4-BE49-F238E27FC236}">
                <a16:creationId xmlns:a16="http://schemas.microsoft.com/office/drawing/2014/main" id="{847DDD59-6611-41CA-A745-84B37FB77E30}"/>
              </a:ext>
            </a:extLst>
          </p:cNvPr>
          <p:cNvSpPr>
            <a:spLocks noGrp="1"/>
          </p:cNvSpPr>
          <p:nvPr/>
        </p:nvSpPr>
        <p:spPr>
          <a:xfrm>
            <a:off x="4498848"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22" name="Text 20">
            <a:extLst>
              <a:ext uri="{FF2B5EF4-FFF2-40B4-BE49-F238E27FC236}">
                <a16:creationId xmlns:a16="http://schemas.microsoft.com/office/drawing/2014/main" id="{77839384-9C62-4342-B2A7-29EB4AAAE4E8}"/>
              </a:ext>
            </a:extLst>
          </p:cNvPr>
          <p:cNvSpPr>
            <a:spLocks noGrp="1"/>
          </p:cNvSpPr>
          <p:nvPr/>
        </p:nvSpPr>
        <p:spPr>
          <a:xfrm>
            <a:off x="4498848"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2</a:t>
            </a:r>
          </a:p>
        </p:txBody>
      </p:sp>
      <p:sp>
        <p:nvSpPr>
          <p:cNvPr id="23" name="Text 21">
            <a:extLst>
              <a:ext uri="{FF2B5EF4-FFF2-40B4-BE49-F238E27FC236}">
                <a16:creationId xmlns:a16="http://schemas.microsoft.com/office/drawing/2014/main" id="{9CC50919-F3A1-4620-8E37-994432282E7C}"/>
              </a:ext>
            </a:extLst>
          </p:cNvPr>
          <p:cNvSpPr>
            <a:spLocks noGrp="1"/>
          </p:cNvSpPr>
          <p:nvPr/>
        </p:nvSpPr>
        <p:spPr>
          <a:xfrm>
            <a:off x="4864608"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upstream input</a:t>
            </a:r>
          </a:p>
        </p:txBody>
      </p:sp>
      <p:sp>
        <p:nvSpPr>
          <p:cNvPr id="24" name="Shape 22">
            <a:extLst>
              <a:ext uri="{FF2B5EF4-FFF2-40B4-BE49-F238E27FC236}">
                <a16:creationId xmlns:a16="http://schemas.microsoft.com/office/drawing/2014/main" id="{CE9A8CBD-6D9B-46CA-8CD8-C4A6A93F6E06}"/>
              </a:ext>
            </a:extLst>
          </p:cNvPr>
          <p:cNvSpPr>
            <a:spLocks noGrp="1"/>
          </p:cNvSpPr>
          <p:nvPr/>
        </p:nvSpPr>
        <p:spPr>
          <a:xfrm>
            <a:off x="7644384" y="2121408"/>
            <a:ext cx="365760" cy="0"/>
          </a:xfrm>
          <a:prstGeom prst="line">
            <a:avLst/>
          </a:prstGeom>
          <a:noFill/>
          <a:ln w="15240">
            <a:solidFill>
              <a:srgbClr val="94A3B8"/>
            </a:solidFill>
            <a:prstDash val="solid"/>
            <a:tailEnd type="triangle"/>
          </a:ln>
        </p:spPr>
        <p:txBody>
          <a:bodyPr/>
          <a:lstStyle/>
          <a:p>
            <a:endParaRPr lang="en-US"/>
          </a:p>
        </p:txBody>
      </p:sp>
      <p:sp>
        <p:nvSpPr>
          <p:cNvPr id="25" name="Shape 23">
            <a:extLst>
              <a:ext uri="{FF2B5EF4-FFF2-40B4-BE49-F238E27FC236}">
                <a16:creationId xmlns:a16="http://schemas.microsoft.com/office/drawing/2014/main" id="{C90DDA0E-AA6D-4A5B-A459-9A608DBD47AD}"/>
              </a:ext>
            </a:extLst>
          </p:cNvPr>
          <p:cNvSpPr>
            <a:spLocks noGrp="1"/>
          </p:cNvSpPr>
          <p:nvPr/>
        </p:nvSpPr>
        <p:spPr>
          <a:xfrm>
            <a:off x="8101584" y="1627632"/>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26" name="Text 24">
            <a:extLst>
              <a:ext uri="{FF2B5EF4-FFF2-40B4-BE49-F238E27FC236}">
                <a16:creationId xmlns:a16="http://schemas.microsoft.com/office/drawing/2014/main" id="{8F40DCDD-4EAA-4A65-A8E4-C0DC697F300A}"/>
              </a:ext>
            </a:extLst>
          </p:cNvPr>
          <p:cNvSpPr>
            <a:spLocks noGrp="1"/>
          </p:cNvSpPr>
          <p:nvPr/>
        </p:nvSpPr>
        <p:spPr>
          <a:xfrm>
            <a:off x="8628126" y="1773936"/>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QC and selection</a:t>
            </a:r>
          </a:p>
        </p:txBody>
      </p:sp>
      <p:sp>
        <p:nvSpPr>
          <p:cNvPr id="27" name="Text 25">
            <a:extLst>
              <a:ext uri="{FF2B5EF4-FFF2-40B4-BE49-F238E27FC236}">
                <a16:creationId xmlns:a16="http://schemas.microsoft.com/office/drawing/2014/main" id="{607FF2C3-7A66-4C91-8C13-32ADDB4EB7DE}"/>
              </a:ext>
            </a:extLst>
          </p:cNvPr>
          <p:cNvSpPr>
            <a:spLocks noGrp="1"/>
          </p:cNvSpPr>
          <p:nvPr/>
        </p:nvSpPr>
        <p:spPr>
          <a:xfrm>
            <a:off x="8266176" y="2194560"/>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12a applies implemented QC and selects one canonical assembly</a:t>
            </a:r>
          </a:p>
        </p:txBody>
      </p:sp>
      <p:sp>
        <p:nvSpPr>
          <p:cNvPr id="28" name="Shape 26">
            <a:extLst>
              <a:ext uri="{FF2B5EF4-FFF2-40B4-BE49-F238E27FC236}">
                <a16:creationId xmlns:a16="http://schemas.microsoft.com/office/drawing/2014/main" id="{FC66E052-F211-48C0-8ABE-22C7B452BB05}"/>
              </a:ext>
            </a:extLst>
          </p:cNvPr>
          <p:cNvSpPr>
            <a:spLocks noGrp="1"/>
          </p:cNvSpPr>
          <p:nvPr/>
        </p:nvSpPr>
        <p:spPr>
          <a:xfrm>
            <a:off x="8211312" y="1737360"/>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29" name="Text 27">
            <a:extLst>
              <a:ext uri="{FF2B5EF4-FFF2-40B4-BE49-F238E27FC236}">
                <a16:creationId xmlns:a16="http://schemas.microsoft.com/office/drawing/2014/main" id="{56676914-C4B3-4FE9-99BF-16400EFF528D}"/>
              </a:ext>
            </a:extLst>
          </p:cNvPr>
          <p:cNvSpPr>
            <a:spLocks noGrp="1"/>
          </p:cNvSpPr>
          <p:nvPr/>
        </p:nvSpPr>
        <p:spPr>
          <a:xfrm>
            <a:off x="8211312" y="1783080"/>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3</a:t>
            </a:r>
          </a:p>
        </p:txBody>
      </p:sp>
      <p:sp>
        <p:nvSpPr>
          <p:cNvPr id="30" name="Text 28">
            <a:extLst>
              <a:ext uri="{FF2B5EF4-FFF2-40B4-BE49-F238E27FC236}">
                <a16:creationId xmlns:a16="http://schemas.microsoft.com/office/drawing/2014/main" id="{524F11CA-C7DA-439A-848D-E41B38039FE9}"/>
              </a:ext>
            </a:extLst>
          </p:cNvPr>
          <p:cNvSpPr>
            <a:spLocks noGrp="1"/>
          </p:cNvSpPr>
          <p:nvPr/>
        </p:nvSpPr>
        <p:spPr>
          <a:xfrm>
            <a:off x="8577072" y="1993392"/>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defines 556 genomes</a:t>
            </a:r>
          </a:p>
        </p:txBody>
      </p:sp>
      <p:sp>
        <p:nvSpPr>
          <p:cNvPr id="31" name="Shape 29">
            <a:extLst>
              <a:ext uri="{FF2B5EF4-FFF2-40B4-BE49-F238E27FC236}">
                <a16:creationId xmlns:a16="http://schemas.microsoft.com/office/drawing/2014/main" id="{A033C278-6560-4D60-8BA4-1242BA42256B}"/>
              </a:ext>
            </a:extLst>
          </p:cNvPr>
          <p:cNvSpPr>
            <a:spLocks noGrp="1"/>
          </p:cNvSpPr>
          <p:nvPr/>
        </p:nvSpPr>
        <p:spPr>
          <a:xfrm>
            <a:off x="676656"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32" name="Text 30">
            <a:extLst>
              <a:ext uri="{FF2B5EF4-FFF2-40B4-BE49-F238E27FC236}">
                <a16:creationId xmlns:a16="http://schemas.microsoft.com/office/drawing/2014/main" id="{1CC0D0D1-6119-4CE1-A25D-E542A0D90D7B}"/>
              </a:ext>
            </a:extLst>
          </p:cNvPr>
          <p:cNvSpPr>
            <a:spLocks noGrp="1"/>
          </p:cNvSpPr>
          <p:nvPr/>
        </p:nvSpPr>
        <p:spPr>
          <a:xfrm>
            <a:off x="1203198"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VFDB screening</a:t>
            </a:r>
          </a:p>
        </p:txBody>
      </p:sp>
      <p:sp>
        <p:nvSpPr>
          <p:cNvPr id="33" name="Text 31">
            <a:extLst>
              <a:ext uri="{FF2B5EF4-FFF2-40B4-BE49-F238E27FC236}">
                <a16:creationId xmlns:a16="http://schemas.microsoft.com/office/drawing/2014/main" id="{B22E6314-6EA2-4153-ADFA-72165589952F}"/>
              </a:ext>
            </a:extLst>
          </p:cNvPr>
          <p:cNvSpPr>
            <a:spLocks noGrp="1"/>
          </p:cNvSpPr>
          <p:nvPr/>
        </p:nvSpPr>
        <p:spPr>
          <a:xfrm>
            <a:off x="841248"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02 creates 227 selected-canonical detected features</a:t>
            </a:r>
          </a:p>
        </p:txBody>
      </p:sp>
      <p:sp>
        <p:nvSpPr>
          <p:cNvPr id="34" name="Shape 32">
            <a:extLst>
              <a:ext uri="{FF2B5EF4-FFF2-40B4-BE49-F238E27FC236}">
                <a16:creationId xmlns:a16="http://schemas.microsoft.com/office/drawing/2014/main" id="{0690991E-297F-4B60-B4F3-06E6A5911908}"/>
              </a:ext>
            </a:extLst>
          </p:cNvPr>
          <p:cNvSpPr>
            <a:spLocks noGrp="1"/>
          </p:cNvSpPr>
          <p:nvPr/>
        </p:nvSpPr>
        <p:spPr>
          <a:xfrm>
            <a:off x="786384"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35" name="Text 33">
            <a:extLst>
              <a:ext uri="{FF2B5EF4-FFF2-40B4-BE49-F238E27FC236}">
                <a16:creationId xmlns:a16="http://schemas.microsoft.com/office/drawing/2014/main" id="{C29268DB-52C6-443F-BB64-ACCE654C753B}"/>
              </a:ext>
            </a:extLst>
          </p:cNvPr>
          <p:cNvSpPr>
            <a:spLocks noGrp="1"/>
          </p:cNvSpPr>
          <p:nvPr/>
        </p:nvSpPr>
        <p:spPr>
          <a:xfrm>
            <a:off x="786384"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4</a:t>
            </a:r>
          </a:p>
        </p:txBody>
      </p:sp>
      <p:sp>
        <p:nvSpPr>
          <p:cNvPr id="36" name="Text 34">
            <a:extLst>
              <a:ext uri="{FF2B5EF4-FFF2-40B4-BE49-F238E27FC236}">
                <a16:creationId xmlns:a16="http://schemas.microsoft.com/office/drawing/2014/main" id="{D2F588AA-950F-48CC-A227-ECE9BFA68917}"/>
              </a:ext>
            </a:extLst>
          </p:cNvPr>
          <p:cNvSpPr>
            <a:spLocks noGrp="1"/>
          </p:cNvSpPr>
          <p:nvPr/>
        </p:nvSpPr>
        <p:spPr>
          <a:xfrm>
            <a:off x="1152144"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feature input</a:t>
            </a:r>
          </a:p>
        </p:txBody>
      </p:sp>
      <p:sp>
        <p:nvSpPr>
          <p:cNvPr id="37" name="Shape 35">
            <a:extLst>
              <a:ext uri="{FF2B5EF4-FFF2-40B4-BE49-F238E27FC236}">
                <a16:creationId xmlns:a16="http://schemas.microsoft.com/office/drawing/2014/main" id="{2F338317-9440-4FA8-9AB8-627CDC7C4B55}"/>
              </a:ext>
            </a:extLst>
          </p:cNvPr>
          <p:cNvSpPr>
            <a:spLocks noGrp="1"/>
          </p:cNvSpPr>
          <p:nvPr/>
        </p:nvSpPr>
        <p:spPr>
          <a:xfrm>
            <a:off x="3931920" y="3529584"/>
            <a:ext cx="365760" cy="0"/>
          </a:xfrm>
          <a:prstGeom prst="line">
            <a:avLst/>
          </a:prstGeom>
          <a:noFill/>
          <a:ln w="15240">
            <a:solidFill>
              <a:srgbClr val="94A3B8"/>
            </a:solidFill>
            <a:prstDash val="solid"/>
            <a:tailEnd type="triangle"/>
          </a:ln>
        </p:spPr>
        <p:txBody>
          <a:bodyPr/>
          <a:lstStyle/>
          <a:p>
            <a:endParaRPr lang="en-US"/>
          </a:p>
        </p:txBody>
      </p:sp>
      <p:sp>
        <p:nvSpPr>
          <p:cNvPr id="38" name="Shape 36">
            <a:extLst>
              <a:ext uri="{FF2B5EF4-FFF2-40B4-BE49-F238E27FC236}">
                <a16:creationId xmlns:a16="http://schemas.microsoft.com/office/drawing/2014/main" id="{4F0AEE18-FC67-4A52-A8CB-E55FD607125E}"/>
              </a:ext>
            </a:extLst>
          </p:cNvPr>
          <p:cNvSpPr>
            <a:spLocks noGrp="1"/>
          </p:cNvSpPr>
          <p:nvPr/>
        </p:nvSpPr>
        <p:spPr>
          <a:xfrm>
            <a:off x="4389120"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39" name="Text 37">
            <a:extLst>
              <a:ext uri="{FF2B5EF4-FFF2-40B4-BE49-F238E27FC236}">
                <a16:creationId xmlns:a16="http://schemas.microsoft.com/office/drawing/2014/main" id="{729680AB-70E3-48D4-9357-06AD1B67DE04}"/>
              </a:ext>
            </a:extLst>
          </p:cNvPr>
          <p:cNvSpPr>
            <a:spLocks noGrp="1"/>
          </p:cNvSpPr>
          <p:nvPr/>
        </p:nvSpPr>
        <p:spPr>
          <a:xfrm>
            <a:off x="4915662"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MLST context</a:t>
            </a:r>
          </a:p>
        </p:txBody>
      </p:sp>
      <p:sp>
        <p:nvSpPr>
          <p:cNvPr id="40" name="Text 38">
            <a:extLst>
              <a:ext uri="{FF2B5EF4-FFF2-40B4-BE49-F238E27FC236}">
                <a16:creationId xmlns:a16="http://schemas.microsoft.com/office/drawing/2014/main" id="{2A7FDD3D-ADDB-4B76-9786-83ADF68D52CF}"/>
              </a:ext>
            </a:extLst>
          </p:cNvPr>
          <p:cNvSpPr>
            <a:spLocks noGrp="1"/>
          </p:cNvSpPr>
          <p:nvPr/>
        </p:nvSpPr>
        <p:spPr>
          <a:xfrm>
            <a:off x="4553712"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06 integrates preferred provider calls and labelled local fallback</a:t>
            </a:r>
          </a:p>
        </p:txBody>
      </p:sp>
      <p:sp>
        <p:nvSpPr>
          <p:cNvPr id="41" name="Shape 39">
            <a:extLst>
              <a:ext uri="{FF2B5EF4-FFF2-40B4-BE49-F238E27FC236}">
                <a16:creationId xmlns:a16="http://schemas.microsoft.com/office/drawing/2014/main" id="{CA7E285C-440C-4ED3-BF80-8646B25A3261}"/>
              </a:ext>
            </a:extLst>
          </p:cNvPr>
          <p:cNvSpPr>
            <a:spLocks noGrp="1"/>
          </p:cNvSpPr>
          <p:nvPr/>
        </p:nvSpPr>
        <p:spPr>
          <a:xfrm>
            <a:off x="4498848"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42" name="Text 40">
            <a:extLst>
              <a:ext uri="{FF2B5EF4-FFF2-40B4-BE49-F238E27FC236}">
                <a16:creationId xmlns:a16="http://schemas.microsoft.com/office/drawing/2014/main" id="{E67CE7E8-17D9-47BA-9E36-154492E223AD}"/>
              </a:ext>
            </a:extLst>
          </p:cNvPr>
          <p:cNvSpPr>
            <a:spLocks noGrp="1"/>
          </p:cNvSpPr>
          <p:nvPr/>
        </p:nvSpPr>
        <p:spPr>
          <a:xfrm>
            <a:off x="4498848"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5</a:t>
            </a:r>
          </a:p>
        </p:txBody>
      </p:sp>
      <p:sp>
        <p:nvSpPr>
          <p:cNvPr id="43" name="Text 41">
            <a:extLst>
              <a:ext uri="{FF2B5EF4-FFF2-40B4-BE49-F238E27FC236}">
                <a16:creationId xmlns:a16="http://schemas.microsoft.com/office/drawing/2014/main" id="{ECDE17D5-394D-4A30-984E-2A95CF13493D}"/>
              </a:ext>
            </a:extLst>
          </p:cNvPr>
          <p:cNvSpPr>
            <a:spLocks noGrp="1"/>
          </p:cNvSpPr>
          <p:nvPr/>
        </p:nvSpPr>
        <p:spPr>
          <a:xfrm>
            <a:off x="4864608"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lineage input</a:t>
            </a:r>
          </a:p>
        </p:txBody>
      </p:sp>
      <p:sp>
        <p:nvSpPr>
          <p:cNvPr id="44" name="Shape 42">
            <a:extLst>
              <a:ext uri="{FF2B5EF4-FFF2-40B4-BE49-F238E27FC236}">
                <a16:creationId xmlns:a16="http://schemas.microsoft.com/office/drawing/2014/main" id="{E17931E0-E173-4430-B9A0-2D52E58589AC}"/>
              </a:ext>
            </a:extLst>
          </p:cNvPr>
          <p:cNvSpPr>
            <a:spLocks noGrp="1"/>
          </p:cNvSpPr>
          <p:nvPr/>
        </p:nvSpPr>
        <p:spPr>
          <a:xfrm>
            <a:off x="7644384" y="3529584"/>
            <a:ext cx="365760" cy="0"/>
          </a:xfrm>
          <a:prstGeom prst="line">
            <a:avLst/>
          </a:prstGeom>
          <a:noFill/>
          <a:ln w="15240">
            <a:solidFill>
              <a:srgbClr val="94A3B8"/>
            </a:solidFill>
            <a:prstDash val="solid"/>
            <a:tailEnd type="triangle"/>
          </a:ln>
        </p:spPr>
        <p:txBody>
          <a:bodyPr/>
          <a:lstStyle/>
          <a:p>
            <a:endParaRPr lang="en-US"/>
          </a:p>
        </p:txBody>
      </p:sp>
      <p:sp>
        <p:nvSpPr>
          <p:cNvPr id="45" name="Shape 43">
            <a:extLst>
              <a:ext uri="{FF2B5EF4-FFF2-40B4-BE49-F238E27FC236}">
                <a16:creationId xmlns:a16="http://schemas.microsoft.com/office/drawing/2014/main" id="{163FAFF7-78F9-4865-A686-2A211CDFACEE}"/>
              </a:ext>
            </a:extLst>
          </p:cNvPr>
          <p:cNvSpPr>
            <a:spLocks noGrp="1"/>
          </p:cNvSpPr>
          <p:nvPr/>
        </p:nvSpPr>
        <p:spPr>
          <a:xfrm>
            <a:off x="8101584" y="3035808"/>
            <a:ext cx="3218688" cy="987552"/>
          </a:xfrm>
          <a:prstGeom prst="roundRect">
            <a:avLst/>
          </a:prstGeom>
          <a:solidFill>
            <a:srgbClr val="E8F1FA"/>
          </a:solidFill>
          <a:ln w="10160">
            <a:solidFill>
              <a:srgbClr val="D8DEE8"/>
            </a:solidFill>
            <a:prstDash val="solid"/>
          </a:ln>
        </p:spPr>
        <p:txBody>
          <a:bodyPr/>
          <a:lstStyle/>
          <a:p>
            <a:endParaRPr lang="en-US"/>
          </a:p>
        </p:txBody>
      </p:sp>
      <p:sp>
        <p:nvSpPr>
          <p:cNvPr id="46" name="Text 44">
            <a:extLst>
              <a:ext uri="{FF2B5EF4-FFF2-40B4-BE49-F238E27FC236}">
                <a16:creationId xmlns:a16="http://schemas.microsoft.com/office/drawing/2014/main" id="{EA3FB5DD-C9F0-4FFB-8B83-CD8E172871E1}"/>
              </a:ext>
            </a:extLst>
          </p:cNvPr>
          <p:cNvSpPr>
            <a:spLocks noGrp="1"/>
          </p:cNvSpPr>
          <p:nvPr/>
        </p:nvSpPr>
        <p:spPr>
          <a:xfrm>
            <a:off x="8628126" y="3182112"/>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Episode integration</a:t>
            </a:r>
          </a:p>
        </p:txBody>
      </p:sp>
      <p:sp>
        <p:nvSpPr>
          <p:cNvPr id="47" name="Text 45">
            <a:extLst>
              <a:ext uri="{FF2B5EF4-FFF2-40B4-BE49-F238E27FC236}">
                <a16:creationId xmlns:a16="http://schemas.microsoft.com/office/drawing/2014/main" id="{31D05D0D-F768-4D16-A77A-950C140AFBA6}"/>
              </a:ext>
            </a:extLst>
          </p:cNvPr>
          <p:cNvSpPr>
            <a:spLocks noGrp="1"/>
          </p:cNvSpPr>
          <p:nvPr/>
        </p:nvSpPr>
        <p:spPr>
          <a:xfrm>
            <a:off x="8266176" y="3602736"/>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22 joins clinical status, VF, MLST and selected-assembly metadata</a:t>
            </a:r>
          </a:p>
        </p:txBody>
      </p:sp>
      <p:sp>
        <p:nvSpPr>
          <p:cNvPr id="48" name="Shape 46">
            <a:extLst>
              <a:ext uri="{FF2B5EF4-FFF2-40B4-BE49-F238E27FC236}">
                <a16:creationId xmlns:a16="http://schemas.microsoft.com/office/drawing/2014/main" id="{C270A081-0943-4F66-AA75-7835B162A4F5}"/>
              </a:ext>
            </a:extLst>
          </p:cNvPr>
          <p:cNvSpPr>
            <a:spLocks noGrp="1"/>
          </p:cNvSpPr>
          <p:nvPr/>
        </p:nvSpPr>
        <p:spPr>
          <a:xfrm>
            <a:off x="8211312" y="3145536"/>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49" name="Text 47">
            <a:extLst>
              <a:ext uri="{FF2B5EF4-FFF2-40B4-BE49-F238E27FC236}">
                <a16:creationId xmlns:a16="http://schemas.microsoft.com/office/drawing/2014/main" id="{624433C6-8CB7-4D54-AD7A-BB7DF87CA631}"/>
              </a:ext>
            </a:extLst>
          </p:cNvPr>
          <p:cNvSpPr>
            <a:spLocks noGrp="1"/>
          </p:cNvSpPr>
          <p:nvPr/>
        </p:nvSpPr>
        <p:spPr>
          <a:xfrm>
            <a:off x="8211312" y="3191256"/>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6</a:t>
            </a:r>
          </a:p>
        </p:txBody>
      </p:sp>
      <p:sp>
        <p:nvSpPr>
          <p:cNvPr id="50" name="Text 48">
            <a:extLst>
              <a:ext uri="{FF2B5EF4-FFF2-40B4-BE49-F238E27FC236}">
                <a16:creationId xmlns:a16="http://schemas.microsoft.com/office/drawing/2014/main" id="{95D58DE0-6135-4085-A3E4-B137BE8C49F6}"/>
              </a:ext>
            </a:extLst>
          </p:cNvPr>
          <p:cNvSpPr>
            <a:spLocks noGrp="1"/>
          </p:cNvSpPr>
          <p:nvPr/>
        </p:nvSpPr>
        <p:spPr>
          <a:xfrm>
            <a:off x="8577072" y="3401568"/>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analysis-ready rows</a:t>
            </a:r>
          </a:p>
        </p:txBody>
      </p:sp>
      <p:sp>
        <p:nvSpPr>
          <p:cNvPr id="51" name="Shape 49">
            <a:extLst>
              <a:ext uri="{FF2B5EF4-FFF2-40B4-BE49-F238E27FC236}">
                <a16:creationId xmlns:a16="http://schemas.microsoft.com/office/drawing/2014/main" id="{171F7D42-D644-465C-917A-3A40B8EA468C}"/>
              </a:ext>
            </a:extLst>
          </p:cNvPr>
          <p:cNvSpPr>
            <a:spLocks noGrp="1"/>
          </p:cNvSpPr>
          <p:nvPr/>
        </p:nvSpPr>
        <p:spPr>
          <a:xfrm>
            <a:off x="676656" y="4443984"/>
            <a:ext cx="3218688" cy="987552"/>
          </a:xfrm>
          <a:prstGeom prst="roundRect">
            <a:avLst/>
          </a:prstGeom>
          <a:solidFill>
            <a:srgbClr val="EEF3F8"/>
          </a:solidFill>
          <a:ln w="10160">
            <a:solidFill>
              <a:srgbClr val="D8DEE8"/>
            </a:solidFill>
            <a:prstDash val="solid"/>
          </a:ln>
        </p:spPr>
        <p:txBody>
          <a:bodyPr/>
          <a:lstStyle/>
          <a:p>
            <a:endParaRPr lang="en-US"/>
          </a:p>
        </p:txBody>
      </p:sp>
      <p:sp>
        <p:nvSpPr>
          <p:cNvPr id="52" name="Text 50">
            <a:extLst>
              <a:ext uri="{FF2B5EF4-FFF2-40B4-BE49-F238E27FC236}">
                <a16:creationId xmlns:a16="http://schemas.microsoft.com/office/drawing/2014/main" id="{7EAA5F6A-4C47-4999-B612-D60AF88524B1}"/>
              </a:ext>
            </a:extLst>
          </p:cNvPr>
          <p:cNvSpPr>
            <a:spLocks noGrp="1"/>
          </p:cNvSpPr>
          <p:nvPr/>
        </p:nvSpPr>
        <p:spPr>
          <a:xfrm>
            <a:off x="1203198"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Pairwise comparison</a:t>
            </a:r>
          </a:p>
        </p:txBody>
      </p:sp>
      <p:sp>
        <p:nvSpPr>
          <p:cNvPr id="53" name="Text 51">
            <a:extLst>
              <a:ext uri="{FF2B5EF4-FFF2-40B4-BE49-F238E27FC236}">
                <a16:creationId xmlns:a16="http://schemas.microsoft.com/office/drawing/2014/main" id="{4905C803-EC85-4E8D-8640-A179792B6D01}"/>
              </a:ext>
            </a:extLst>
          </p:cNvPr>
          <p:cNvSpPr>
            <a:spLocks noGrp="1"/>
          </p:cNvSpPr>
          <p:nvPr/>
        </p:nvSpPr>
        <p:spPr>
          <a:xfrm>
            <a:off x="841248"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11 + helper compare all 963 canonical within-resident genome pairs</a:t>
            </a:r>
          </a:p>
        </p:txBody>
      </p:sp>
      <p:sp>
        <p:nvSpPr>
          <p:cNvPr id="54" name="Shape 52">
            <a:extLst>
              <a:ext uri="{FF2B5EF4-FFF2-40B4-BE49-F238E27FC236}">
                <a16:creationId xmlns:a16="http://schemas.microsoft.com/office/drawing/2014/main" id="{2BA912E8-48CA-48D8-9A54-F2A18CCE0574}"/>
              </a:ext>
            </a:extLst>
          </p:cNvPr>
          <p:cNvSpPr>
            <a:spLocks noGrp="1"/>
          </p:cNvSpPr>
          <p:nvPr/>
        </p:nvSpPr>
        <p:spPr>
          <a:xfrm>
            <a:off x="786384"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55" name="Text 53">
            <a:extLst>
              <a:ext uri="{FF2B5EF4-FFF2-40B4-BE49-F238E27FC236}">
                <a16:creationId xmlns:a16="http://schemas.microsoft.com/office/drawing/2014/main" id="{85598882-BD26-4358-9D4C-DF7B503DC17A}"/>
              </a:ext>
            </a:extLst>
          </p:cNvPr>
          <p:cNvSpPr>
            <a:spLocks noGrp="1"/>
          </p:cNvSpPr>
          <p:nvPr/>
        </p:nvSpPr>
        <p:spPr>
          <a:xfrm>
            <a:off x="786384"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7</a:t>
            </a:r>
          </a:p>
        </p:txBody>
      </p:sp>
      <p:sp>
        <p:nvSpPr>
          <p:cNvPr id="56" name="Text 54">
            <a:extLst>
              <a:ext uri="{FF2B5EF4-FFF2-40B4-BE49-F238E27FC236}">
                <a16:creationId xmlns:a16="http://schemas.microsoft.com/office/drawing/2014/main" id="{7E3DAFF9-5BD6-41F6-8C41-4485A9FD21F1}"/>
              </a:ext>
            </a:extLst>
          </p:cNvPr>
          <p:cNvSpPr>
            <a:spLocks noGrp="1"/>
          </p:cNvSpPr>
          <p:nvPr/>
        </p:nvSpPr>
        <p:spPr>
          <a:xfrm>
            <a:off x="1152144"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fresh provenance</a:t>
            </a:r>
          </a:p>
        </p:txBody>
      </p:sp>
      <p:sp>
        <p:nvSpPr>
          <p:cNvPr id="57" name="Shape 55">
            <a:extLst>
              <a:ext uri="{FF2B5EF4-FFF2-40B4-BE49-F238E27FC236}">
                <a16:creationId xmlns:a16="http://schemas.microsoft.com/office/drawing/2014/main" id="{C98A8798-7CF0-4980-9225-92BF6F8F2A1F}"/>
              </a:ext>
            </a:extLst>
          </p:cNvPr>
          <p:cNvSpPr>
            <a:spLocks noGrp="1"/>
          </p:cNvSpPr>
          <p:nvPr/>
        </p:nvSpPr>
        <p:spPr>
          <a:xfrm>
            <a:off x="3931920" y="4937760"/>
            <a:ext cx="365760" cy="0"/>
          </a:xfrm>
          <a:prstGeom prst="line">
            <a:avLst/>
          </a:prstGeom>
          <a:noFill/>
          <a:ln w="15240">
            <a:solidFill>
              <a:srgbClr val="94A3B8"/>
            </a:solidFill>
            <a:prstDash val="solid"/>
            <a:tailEnd type="triangle"/>
          </a:ln>
        </p:spPr>
        <p:txBody>
          <a:bodyPr/>
          <a:lstStyle/>
          <a:p>
            <a:endParaRPr lang="en-US"/>
          </a:p>
        </p:txBody>
      </p:sp>
      <p:sp>
        <p:nvSpPr>
          <p:cNvPr id="58" name="Shape 56">
            <a:extLst>
              <a:ext uri="{FF2B5EF4-FFF2-40B4-BE49-F238E27FC236}">
                <a16:creationId xmlns:a16="http://schemas.microsoft.com/office/drawing/2014/main" id="{1B5857EA-51ED-4884-9452-D54056950740}"/>
              </a:ext>
            </a:extLst>
          </p:cNvPr>
          <p:cNvSpPr>
            <a:spLocks noGrp="1"/>
          </p:cNvSpPr>
          <p:nvPr/>
        </p:nvSpPr>
        <p:spPr>
          <a:xfrm>
            <a:off x="4389120" y="4443984"/>
            <a:ext cx="3218688" cy="987552"/>
          </a:xfrm>
          <a:prstGeom prst="roundRect">
            <a:avLst/>
          </a:prstGeom>
          <a:solidFill>
            <a:srgbClr val="EAF7EF"/>
          </a:solidFill>
          <a:ln w="10160">
            <a:solidFill>
              <a:srgbClr val="D8DEE8"/>
            </a:solidFill>
            <a:prstDash val="solid"/>
          </a:ln>
        </p:spPr>
        <p:txBody>
          <a:bodyPr/>
          <a:lstStyle/>
          <a:p>
            <a:endParaRPr lang="en-US"/>
          </a:p>
        </p:txBody>
      </p:sp>
      <p:sp>
        <p:nvSpPr>
          <p:cNvPr id="59" name="Text 57">
            <a:extLst>
              <a:ext uri="{FF2B5EF4-FFF2-40B4-BE49-F238E27FC236}">
                <a16:creationId xmlns:a16="http://schemas.microsoft.com/office/drawing/2014/main" id="{476557F8-1D37-48EF-8AD0-8C0F783BDF10}"/>
              </a:ext>
            </a:extLst>
          </p:cNvPr>
          <p:cNvSpPr>
            <a:spLocks noGrp="1"/>
          </p:cNvSpPr>
          <p:nvPr/>
        </p:nvSpPr>
        <p:spPr>
          <a:xfrm>
            <a:off x="4915662"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Mixed longitudinal</a:t>
            </a:r>
          </a:p>
        </p:txBody>
      </p:sp>
      <p:sp>
        <p:nvSpPr>
          <p:cNvPr id="60" name="Text 58">
            <a:extLst>
              <a:ext uri="{FF2B5EF4-FFF2-40B4-BE49-F238E27FC236}">
                <a16:creationId xmlns:a16="http://schemas.microsoft.com/office/drawing/2014/main" id="{9EE15394-836E-49B1-9FCE-E79DF1A66218}"/>
              </a:ext>
            </a:extLst>
          </p:cNvPr>
          <p:cNvSpPr>
            <a:spLocks noGrp="1"/>
          </p:cNvSpPr>
          <p:nvPr/>
        </p:nvSpPr>
        <p:spPr>
          <a:xfrm>
            <a:off x="4553712"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24 orders retained episodes and builds 394 adjacent comparisons</a:t>
            </a:r>
          </a:p>
        </p:txBody>
      </p:sp>
      <p:sp>
        <p:nvSpPr>
          <p:cNvPr id="61" name="Shape 59">
            <a:extLst>
              <a:ext uri="{FF2B5EF4-FFF2-40B4-BE49-F238E27FC236}">
                <a16:creationId xmlns:a16="http://schemas.microsoft.com/office/drawing/2014/main" id="{30724F39-F1D2-47E2-A093-448C81CBC445}"/>
              </a:ext>
            </a:extLst>
          </p:cNvPr>
          <p:cNvSpPr>
            <a:spLocks noGrp="1"/>
          </p:cNvSpPr>
          <p:nvPr/>
        </p:nvSpPr>
        <p:spPr>
          <a:xfrm>
            <a:off x="4498848"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62" name="Text 60">
            <a:extLst>
              <a:ext uri="{FF2B5EF4-FFF2-40B4-BE49-F238E27FC236}">
                <a16:creationId xmlns:a16="http://schemas.microsoft.com/office/drawing/2014/main" id="{E07C2357-1ECA-4EED-9FE1-CCD31AAAEE66}"/>
              </a:ext>
            </a:extLst>
          </p:cNvPr>
          <p:cNvSpPr>
            <a:spLocks noGrp="1"/>
          </p:cNvSpPr>
          <p:nvPr/>
        </p:nvSpPr>
        <p:spPr>
          <a:xfrm>
            <a:off x="4498848"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8</a:t>
            </a:r>
          </a:p>
        </p:txBody>
      </p:sp>
      <p:sp>
        <p:nvSpPr>
          <p:cNvPr id="63" name="Text 61">
            <a:extLst>
              <a:ext uri="{FF2B5EF4-FFF2-40B4-BE49-F238E27FC236}">
                <a16:creationId xmlns:a16="http://schemas.microsoft.com/office/drawing/2014/main" id="{48D49311-021A-499B-AD1D-5674633DEEAC}"/>
              </a:ext>
            </a:extLst>
          </p:cNvPr>
          <p:cNvSpPr>
            <a:spLocks noGrp="1"/>
          </p:cNvSpPr>
          <p:nvPr/>
        </p:nvSpPr>
        <p:spPr>
          <a:xfrm>
            <a:off x="4864608"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executed route</a:t>
            </a:r>
          </a:p>
        </p:txBody>
      </p:sp>
      <p:sp>
        <p:nvSpPr>
          <p:cNvPr id="64" name="Shape 62">
            <a:extLst>
              <a:ext uri="{FF2B5EF4-FFF2-40B4-BE49-F238E27FC236}">
                <a16:creationId xmlns:a16="http://schemas.microsoft.com/office/drawing/2014/main" id="{FBCB687E-6996-41F3-B26E-2C2A3B276621}"/>
              </a:ext>
            </a:extLst>
          </p:cNvPr>
          <p:cNvSpPr>
            <a:spLocks noGrp="1"/>
          </p:cNvSpPr>
          <p:nvPr/>
        </p:nvSpPr>
        <p:spPr>
          <a:xfrm>
            <a:off x="7644384" y="4937760"/>
            <a:ext cx="365760" cy="0"/>
          </a:xfrm>
          <a:prstGeom prst="line">
            <a:avLst/>
          </a:prstGeom>
          <a:noFill/>
          <a:ln w="15240">
            <a:solidFill>
              <a:srgbClr val="94A3B8"/>
            </a:solidFill>
            <a:prstDash val="solid"/>
            <a:tailEnd type="triangle"/>
          </a:ln>
        </p:spPr>
        <p:txBody>
          <a:bodyPr/>
          <a:lstStyle/>
          <a:p>
            <a:endParaRPr lang="en-US"/>
          </a:p>
        </p:txBody>
      </p:sp>
      <p:sp>
        <p:nvSpPr>
          <p:cNvPr id="65" name="Shape 63">
            <a:extLst>
              <a:ext uri="{FF2B5EF4-FFF2-40B4-BE49-F238E27FC236}">
                <a16:creationId xmlns:a16="http://schemas.microsoft.com/office/drawing/2014/main" id="{83A4A405-BE7D-4694-AA4F-86437321EEB4}"/>
              </a:ext>
            </a:extLst>
          </p:cNvPr>
          <p:cNvSpPr>
            <a:spLocks noGrp="1"/>
          </p:cNvSpPr>
          <p:nvPr/>
        </p:nvSpPr>
        <p:spPr>
          <a:xfrm>
            <a:off x="8101584" y="4443984"/>
            <a:ext cx="3218688" cy="987552"/>
          </a:xfrm>
          <a:prstGeom prst="roundRect">
            <a:avLst/>
          </a:prstGeom>
          <a:solidFill>
            <a:srgbClr val="EEF3F8"/>
          </a:solidFill>
          <a:ln w="10160">
            <a:solidFill>
              <a:srgbClr val="D8DEE8"/>
            </a:solidFill>
            <a:prstDash val="solid"/>
          </a:ln>
        </p:spPr>
        <p:txBody>
          <a:bodyPr/>
          <a:lstStyle/>
          <a:p>
            <a:endParaRPr lang="en-US"/>
          </a:p>
        </p:txBody>
      </p:sp>
      <p:sp>
        <p:nvSpPr>
          <p:cNvPr id="66" name="Text 64">
            <a:extLst>
              <a:ext uri="{FF2B5EF4-FFF2-40B4-BE49-F238E27FC236}">
                <a16:creationId xmlns:a16="http://schemas.microsoft.com/office/drawing/2014/main" id="{1C49F921-535C-4113-8208-41222E8DF1C3}"/>
              </a:ext>
            </a:extLst>
          </p:cNvPr>
          <p:cNvSpPr>
            <a:spLocks noGrp="1"/>
          </p:cNvSpPr>
          <p:nvPr/>
        </p:nvSpPr>
        <p:spPr>
          <a:xfrm>
            <a:off x="8628126" y="4590288"/>
            <a:ext cx="2527554" cy="329184"/>
          </a:xfrm>
          <a:prstGeom prst="rect">
            <a:avLst/>
          </a:prstGeom>
          <a:noFill/>
        </p:spPr>
        <p:txBody>
          <a:bodyPr wrap="square" lIns="508" tIns="508" rIns="508" bIns="508" anchor="t">
            <a:normAutofit/>
          </a:bodyPr>
          <a:lstStyle/>
          <a:p>
            <a:pPr marL="0" indent="0" algn="l">
              <a:buNone/>
            </a:pPr>
            <a:r>
              <a:rPr sz="1040" b="1">
                <a:solidFill>
                  <a:srgbClr val="111827"/>
                </a:solidFill>
                <a:latin typeface="Aptos"/>
                <a:ea typeface="Aptos"/>
                <a:cs typeface="Aptos"/>
              </a:rPr>
              <a:t>    Longcycler sensitivity</a:t>
            </a:r>
          </a:p>
        </p:txBody>
      </p:sp>
      <p:sp>
        <p:nvSpPr>
          <p:cNvPr id="67" name="Text 65">
            <a:extLst>
              <a:ext uri="{FF2B5EF4-FFF2-40B4-BE49-F238E27FC236}">
                <a16:creationId xmlns:a16="http://schemas.microsoft.com/office/drawing/2014/main" id="{6BC5CE90-F652-4E58-82C2-44FBB31D1D33}"/>
              </a:ext>
            </a:extLst>
          </p:cNvPr>
          <p:cNvSpPr>
            <a:spLocks noGrp="1"/>
          </p:cNvSpPr>
          <p:nvPr/>
        </p:nvSpPr>
        <p:spPr>
          <a:xfrm>
            <a:off x="8266176" y="5010912"/>
            <a:ext cx="2889504" cy="420624"/>
          </a:xfrm>
          <a:prstGeom prst="rect">
            <a:avLst/>
          </a:prstGeom>
          <a:noFill/>
        </p:spPr>
        <p:txBody>
          <a:bodyPr wrap="square" lIns="508" tIns="508" rIns="508" bIns="508" anchor="t">
            <a:normAutofit/>
          </a:bodyPr>
          <a:lstStyle/>
          <a:p>
            <a:pPr marL="0" indent="0" algn="l">
              <a:buNone/>
            </a:pPr>
            <a:r>
              <a:rPr sz="810">
                <a:solidFill>
                  <a:srgbClr val="64748B"/>
                </a:solidFill>
                <a:latin typeface="Aptos"/>
                <a:ea typeface="Aptos"/>
                <a:cs typeface="Aptos"/>
              </a:rPr>
              <a:t>rebuild_longcycler_sensitivity removes Flye rows and rebuilds adjacency</a:t>
            </a:r>
          </a:p>
        </p:txBody>
      </p:sp>
      <p:sp>
        <p:nvSpPr>
          <p:cNvPr id="68" name="Shape 66">
            <a:extLst>
              <a:ext uri="{FF2B5EF4-FFF2-40B4-BE49-F238E27FC236}">
                <a16:creationId xmlns:a16="http://schemas.microsoft.com/office/drawing/2014/main" id="{2C722DE7-788B-41D3-9295-FA50EAD4E7A3}"/>
              </a:ext>
            </a:extLst>
          </p:cNvPr>
          <p:cNvSpPr>
            <a:spLocks noGrp="1"/>
          </p:cNvSpPr>
          <p:nvPr/>
        </p:nvSpPr>
        <p:spPr>
          <a:xfrm>
            <a:off x="8211312" y="4553712"/>
            <a:ext cx="256032" cy="256032"/>
          </a:xfrm>
          <a:prstGeom prst="roundRect">
            <a:avLst/>
          </a:prstGeom>
          <a:solidFill>
            <a:srgbClr val="111827"/>
          </a:solidFill>
          <a:ln w="12700">
            <a:solidFill>
              <a:srgbClr val="FFFFFF">
                <a:alpha val="0"/>
              </a:srgbClr>
            </a:solidFill>
            <a:prstDash val="solid"/>
          </a:ln>
        </p:spPr>
        <p:txBody>
          <a:bodyPr/>
          <a:lstStyle/>
          <a:p>
            <a:endParaRPr lang="en-US"/>
          </a:p>
        </p:txBody>
      </p:sp>
      <p:sp>
        <p:nvSpPr>
          <p:cNvPr id="69" name="Text 67">
            <a:extLst>
              <a:ext uri="{FF2B5EF4-FFF2-40B4-BE49-F238E27FC236}">
                <a16:creationId xmlns:a16="http://schemas.microsoft.com/office/drawing/2014/main" id="{CF22FF9E-AF6E-4BF5-BFA7-768279C2070E}"/>
              </a:ext>
            </a:extLst>
          </p:cNvPr>
          <p:cNvSpPr>
            <a:spLocks noGrp="1"/>
          </p:cNvSpPr>
          <p:nvPr/>
        </p:nvSpPr>
        <p:spPr>
          <a:xfrm>
            <a:off x="8211312" y="4599432"/>
            <a:ext cx="256032" cy="91440"/>
          </a:xfrm>
          <a:prstGeom prst="rect">
            <a:avLst/>
          </a:prstGeom>
          <a:noFill/>
        </p:spPr>
        <p:txBody>
          <a:bodyPr wrap="square" lIns="508" tIns="508" rIns="508" bIns="508" anchor="t">
            <a:normAutofit fontScale="87255"/>
          </a:bodyPr>
          <a:lstStyle/>
          <a:p>
            <a:pPr marL="0" indent="0" algn="ctr">
              <a:buNone/>
            </a:pPr>
            <a:r>
              <a:rPr sz="680" b="1">
                <a:solidFill>
                  <a:srgbClr val="FFFFFF"/>
                </a:solidFill>
                <a:latin typeface="Aptos"/>
                <a:ea typeface="Aptos"/>
                <a:cs typeface="Aptos"/>
              </a:rPr>
              <a:t>9</a:t>
            </a:r>
          </a:p>
        </p:txBody>
      </p:sp>
      <p:sp>
        <p:nvSpPr>
          <p:cNvPr id="70" name="Text 68">
            <a:extLst>
              <a:ext uri="{FF2B5EF4-FFF2-40B4-BE49-F238E27FC236}">
                <a16:creationId xmlns:a16="http://schemas.microsoft.com/office/drawing/2014/main" id="{AB095B07-059E-4247-A72D-DA582D5592EE}"/>
              </a:ext>
            </a:extLst>
          </p:cNvPr>
          <p:cNvSpPr>
            <a:spLocks noGrp="1"/>
          </p:cNvSpPr>
          <p:nvPr/>
        </p:nvSpPr>
        <p:spPr>
          <a:xfrm>
            <a:off x="8577072" y="4809744"/>
            <a:ext cx="2560320" cy="128016"/>
          </a:xfrm>
          <a:prstGeom prst="rect">
            <a:avLst/>
          </a:prstGeom>
          <a:noFill/>
        </p:spPr>
        <p:txBody>
          <a:bodyPr wrap="square" lIns="508" tIns="508" rIns="508" bIns="508" anchor="t">
            <a:normAutofit/>
          </a:bodyPr>
          <a:lstStyle/>
          <a:p>
            <a:pPr marL="0" indent="0" algn="l">
              <a:buNone/>
            </a:pPr>
            <a:r>
              <a:rPr sz="690">
                <a:solidFill>
                  <a:srgbClr val="64748B"/>
                </a:solidFill>
                <a:latin typeface="Aptos Mono"/>
                <a:ea typeface="Aptos Mono"/>
                <a:cs typeface="Aptos Mono"/>
              </a:rPr>
              <a:t>sensitivity route</a:t>
            </a:r>
          </a:p>
        </p:txBody>
      </p:sp>
    </p:spTree>
    <p:extLst>
      <p:ext uri="{BB962C8B-B14F-4D97-AF65-F5344CB8AC3E}">
        <p14:creationId xmlns:p14="http://schemas.microsoft.com/office/powerpoint/2010/main" val="1301005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2126</Words>
  <Application>Microsoft Macintosh PowerPoint</Application>
  <DocSecurity>0</DocSecurity>
  <PresentationFormat>Widescreen</PresentationFormat>
  <Paragraphs>239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Aptos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Hasan, M.A. (Aamir)</cp:lastModifiedBy>
  <cp:revision>1</cp:revision>
  <dcterms:created xsi:type="dcterms:W3CDTF">2026-07-10T06:34:32Z</dcterms:created>
  <dcterms:modified xsi:type="dcterms:W3CDTF">2026-07-10T11:34:20Z</dcterms:modified>
</cp:coreProperties>
</file>