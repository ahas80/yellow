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2b38273a9a4a9e" /><Relationship Type="http://schemas.openxmlformats.org/officeDocument/2006/relationships/extended-properties" Target="/docProps/app.xml" Id="Rc4bf5a2625c74851" /><Relationship Type="http://schemas.openxmlformats.org/officeDocument/2006/relationships/officeDocument" Target="/ppt/presentation.xml" Id="R9c675f18c8db4a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ef0b32e26d4a55"/>
  </p:sldMasterIdLst>
  <p:notesMasterIdLst>
    <p:notesMasterId xmlns:r="http://schemas.openxmlformats.org/officeDocument/2006/relationships" r:id="Rc1a0456dab2c443b"/>
  </p:notesMasterIdLst>
  <p:sldIdLst>
    <p:sldId xmlns:r="http://schemas.openxmlformats.org/officeDocument/2006/relationships" id="256" r:id="R73c2911e729d46d3"/>
    <p:sldId xmlns:r="http://schemas.openxmlformats.org/officeDocument/2006/relationships" id="257" r:id="Rb8583f38e06b4e92"/>
    <p:sldId xmlns:r="http://schemas.openxmlformats.org/officeDocument/2006/relationships" id="258" r:id="Rdd8d9e1f71ed48cc"/>
    <p:sldId xmlns:r="http://schemas.openxmlformats.org/officeDocument/2006/relationships" id="259" r:id="R4b64fcf3ede14908"/>
    <p:sldId xmlns:r="http://schemas.openxmlformats.org/officeDocument/2006/relationships" id="260" r:id="Rc7b3301d387a43de"/>
    <p:sldId xmlns:r="http://schemas.openxmlformats.org/officeDocument/2006/relationships" id="261" r:id="R393a4683ffb44d48"/>
    <p:sldId xmlns:r="http://schemas.openxmlformats.org/officeDocument/2006/relationships" id="262" r:id="R534ff27a30dc4ca4"/>
    <p:sldId xmlns:r="http://schemas.openxmlformats.org/officeDocument/2006/relationships" id="263" r:id="Rfda3fb13ce534be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48311dd5354a0b" /><Relationship Type="http://schemas.openxmlformats.org/officeDocument/2006/relationships/slideMaster" Target="/ppt/slideMasters/slideMaster1.xml" Id="R65ef0b32e26d4a55" /><Relationship Type="http://schemas.openxmlformats.org/officeDocument/2006/relationships/notesMaster" Target="/ppt/notesMasters/notesMaster1.xml" Id="Rc1a0456dab2c443b" /><Relationship Type="http://schemas.openxmlformats.org/officeDocument/2006/relationships/presProps" Target="/ppt/presProps.xml" Id="Rf2ff9052421d448e" /><Relationship Type="http://schemas.openxmlformats.org/officeDocument/2006/relationships/viewProps" Target="/ppt/viewProps.xml" Id="R14c7e3f4b0384102" /><Relationship Type="http://schemas.openxmlformats.org/officeDocument/2006/relationships/tableStyles" Target="/ppt/tableStyles.xml" Id="Rb5b09e69b5064667" /><Relationship Type="http://schemas.openxmlformats.org/officeDocument/2006/relationships/slide" Target="/ppt/slides/slide1.xml" Id="R73c2911e729d46d3" /><Relationship Type="http://schemas.openxmlformats.org/officeDocument/2006/relationships/slide" Target="/ppt/slides/slide2.xml" Id="Rb8583f38e06b4e92" /><Relationship Type="http://schemas.openxmlformats.org/officeDocument/2006/relationships/slide" Target="/ppt/slides/slide3.xml" Id="Rdd8d9e1f71ed48cc" /><Relationship Type="http://schemas.openxmlformats.org/officeDocument/2006/relationships/slide" Target="/ppt/slides/slide4.xml" Id="R4b64fcf3ede14908" /><Relationship Type="http://schemas.openxmlformats.org/officeDocument/2006/relationships/slide" Target="/ppt/slides/slide5.xml" Id="Rc7b3301d387a43de" /><Relationship Type="http://schemas.openxmlformats.org/officeDocument/2006/relationships/slide" Target="/ppt/slides/slide6.xml" Id="R393a4683ffb44d48" /><Relationship Type="http://schemas.openxmlformats.org/officeDocument/2006/relationships/slide" Target="/ppt/slides/slide7.xml" Id="R534ff27a30dc4ca4" /><Relationship Type="http://schemas.openxmlformats.org/officeDocument/2006/relationships/slide" Target="/ppt/slides/slide8.xml" Id="Rfda3fb13ce534b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055fe349c34a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fd889a3d164d7b" /><Relationship Type="http://schemas.openxmlformats.org/officeDocument/2006/relationships/notesMaster" Target="/ppt/notesMasters/notesMaster1.xml" Id="Rf203bc804cf844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d2a5559a984656" /><Relationship Type="http://schemas.openxmlformats.org/officeDocument/2006/relationships/notesMaster" Target="/ppt/notesMasters/notesMaster1.xml" Id="R60ca8dc564984d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1faf3dc9784591" /><Relationship Type="http://schemas.openxmlformats.org/officeDocument/2006/relationships/notesMaster" Target="/ppt/notesMasters/notesMaster1.xml" Id="Rdc5b8d0d83f040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e6a4fd23854a3e" /><Relationship Type="http://schemas.openxmlformats.org/officeDocument/2006/relationships/notesMaster" Target="/ppt/notesMasters/notesMaster1.xml" Id="Rff445edcb7c04d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7d4e1614ad640f7" /><Relationship Type="http://schemas.openxmlformats.org/officeDocument/2006/relationships/notesMaster" Target="/ppt/notesMasters/notesMaster1.xml" Id="Rb1ae0a7ca15341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5a6f2f028c4474" /><Relationship Type="http://schemas.openxmlformats.org/officeDocument/2006/relationships/notesMaster" Target="/ppt/notesMasters/notesMaster1.xml" Id="Rd0716ed7a21045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065b3befef4e34" /><Relationship Type="http://schemas.openxmlformats.org/officeDocument/2006/relationships/notesMaster" Target="/ppt/notesMasters/notesMaster1.xml" Id="R813f3b01b76f42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d7ebb83ab8c419a" /><Relationship Type="http://schemas.openxmlformats.org/officeDocument/2006/relationships/notesMaster" Target="/ppt/notesMasters/notesMaster1.xml" Id="R7a2725cff0604ff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the methodology now has one analytical genome denominator—532 selected QC-passing Longcycler episodes from 161 residents. Clinical status is operational, and all interpretation remains exploratory and non-causal.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Episodes, residents, direct pairs and transitions are not one attrition funnel. A resident can contribute several episodes, every within-resident pair, and several adjacent transitions. Always state the unit with the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clinical phenotype uses the implemented culture-plus-symptom rule. It is versioned and operational, not a reconstruction of the full published protocol. Not_UTI is not a healthy-control category.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selected manifest is content-bound and key-locked. The 583-episode clinical source is visible only as attrition/QC context; all analytical branches use the exact 532-episode cohort.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VF, MLST, direct pair, core-genome and pangenome branches share selected inputs but answer distinct questions. Direct pair evidence has priority over graph transitivity and lineage agreement for pair-specific continuity.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when a denominator is challenged. The focused transition result is 9 total and 5 at or below 25 SNPs; the casebook is complete.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Report only implemented thresholds. The 25-SNP boundary is operational and uncalibrated. The UTI phenotype is operational, and several laboratory and software provenance fields still require explicit reporting if they are not frozen elsewhere.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claim traceability, not an inventory of every file. The central chain is the operational phenotype, selected cohort, VF and MLST integration, direct pairs, rebuilt transitions, focused casebook, near-miss audit and RQ01–RQ10 release.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fb37041ddf4b3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e98b7422bc4aab" /><Relationship Type="http://schemas.openxmlformats.org/officeDocument/2006/relationships/slideLayout" Target="/ppt/slideLayouts/slideLayout1.xml" Id="Rf1610fd11d60438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610fd11d604382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2d64a2df14add" /><Relationship Type="http://schemas.openxmlformats.org/officeDocument/2006/relationships/notesSlide" Target="/ppt/notesSlides/notesSlide1.xml" Id="Rfbb3f1cddb134a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2bee3060f408b" /><Relationship Type="http://schemas.openxmlformats.org/officeDocument/2006/relationships/notesSlide" Target="/ppt/notesSlides/notesSlide2.xml" Id="R8ec99a83e0dc42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393fed6284ed3" /><Relationship Type="http://schemas.openxmlformats.org/officeDocument/2006/relationships/notesSlide" Target="/ppt/notesSlides/notesSlide3.xml" Id="R274c7b37752848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7a295a2f9b4164" /><Relationship Type="http://schemas.openxmlformats.org/officeDocument/2006/relationships/notesSlide" Target="/ppt/notesSlides/notesSlide4.xml" Id="Ra02c6113687b44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4afe4201ff40f9" /><Relationship Type="http://schemas.openxmlformats.org/officeDocument/2006/relationships/notesSlide" Target="/ppt/notesSlides/notesSlide5.xml" Id="Re9a9be2a667740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b8a37644ce4e2b" /><Relationship Type="http://schemas.openxmlformats.org/officeDocument/2006/relationships/notesSlide" Target="/ppt/notesSlides/notesSlide6.xml" Id="R508a66203f4f437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a7b2821da4f9a" /><Relationship Type="http://schemas.openxmlformats.org/officeDocument/2006/relationships/notesSlide" Target="/ppt/notesSlides/notesSlide7.xml" Id="R0ca91d81c93e4a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0007a203f458f" /><Relationship Type="http://schemas.openxmlformats.org/officeDocument/2006/relationships/notesSlide" Target="/ppt/notesSlides/notesSlide8.xml" Id="Re512ab906ae841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99F21B9-543F-4548-97E3-D02A7DE7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8122CE9-4D0C-47BF-867F-0C8CA505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6304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CA4A486-AAA0-4565-871C-06BA3F96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14400"/>
            <a:ext cx="969264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1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Longcycler-only methodology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386D56E-85AD-4223-8C48-2F6883FB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737360"/>
            <a:ext cx="9326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64748B"/>
                </a:solidFill>
                <a:latin typeface="Aptos"/>
                <a:ea typeface="Aptos"/>
                <a:cs typeface="Aptos"/>
              </a:rPr>
              <a:t>One operational clinical phenotype and one selected Longcycler assembly per analysed episode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745878F-058D-40BB-A868-31145F68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706624"/>
            <a:ext cx="3072384" cy="12435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B9D5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F3F5CEF-18D6-4001-9A97-7AEDE5FC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834640"/>
            <a:ext cx="27432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0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Analytical cohort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C8CC8C6-6569-4BA0-AE5E-5E78EDEB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054096"/>
            <a:ext cx="2743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532 episodes · 161 residents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0A6FF67-F7BD-4CCB-8968-DF218245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401568"/>
            <a:ext cx="274320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40">
                <a:solidFill>
                  <a:srgbClr val="64748B"/>
                </a:solidFill>
                <a:latin typeface="Aptos"/>
                <a:ea typeface="Aptos"/>
                <a:cs typeface="Aptos"/>
              </a:rPr>
              <a:t>Every episode has one selected QC-passing Longcycler assembly.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518DE8C-C358-48BC-9BE3-5EB6887D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2706624"/>
            <a:ext cx="3072384" cy="12435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0160">
            <a:solidFill>
              <a:srgbClr val="BCE4C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E8D1E3E-636B-449F-B771-8AEC9272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3054096"/>
            <a:ext cx="2743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16 UTI · 516 Not_UTI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037815C-84B5-4F9D-96CF-5E0D20A7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7952" y="3401568"/>
            <a:ext cx="274320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40">
                <a:solidFill>
                  <a:srgbClr val="64748B"/>
                </a:solidFill>
                <a:latin typeface="Aptos"/>
                <a:ea typeface="Aptos"/>
                <a:cs typeface="Aptos"/>
              </a:rPr>
              <a:t>Versioned operational phenotype on the exact selected cohort.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ED4555D-44A5-441F-A963-3D76ECFB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706624"/>
            <a:ext cx="3072384" cy="12435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6"/>
          </a:solidFill>
          <a:ln xmlns:a="http://schemas.openxmlformats.org/drawingml/2006/main" w="10160">
            <a:solidFill>
              <a:srgbClr val="F4C98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9515B4C-E549-4F52-804C-C3960DA2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6096" y="2834640"/>
            <a:ext cx="27432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Longitudinal evidence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F42203D-CECE-4ED5-BBB3-6CFB9C8A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6096" y="3054096"/>
            <a:ext cx="2743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371 transitions · 139 residents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5B2117E-499D-46AA-B6A6-7A22D813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6096" y="3401568"/>
            <a:ext cx="274320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40">
                <a:solidFill>
                  <a:srgbClr val="64748B"/>
                </a:solidFill>
                <a:latin typeface="Aptos"/>
                <a:ea typeface="Aptos"/>
                <a:cs typeface="Aptos"/>
              </a:rPr>
              <a:t>9 Not_UTI→UTI; 5 at ≤25 SNPs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FCC3691F-67F8-4B76-BDDB-99B2BB81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510528"/>
            <a:ext cx="731520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0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release | RQ01–RQ10 | 15 July 2026 | exploratory, non-causal</a:t>
            </a:r>
          </a:p>
        </p:txBody>
      </p:sp>
    </p:spTree>
    <p:extLst>
      <p:ext uri="{BB962C8B-B14F-4D97-AF65-F5344CB8AC3E}">
        <p14:creationId xmlns:p14="http://schemas.microsoft.com/office/powerpoint/2010/main" val="1182442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C9955A6-C3AB-4BA1-A368-7F3ACEFF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3DF70BF-7148-4A5C-91AB-E32A5B3A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0454350-DAFD-43D6-9CFC-ADA573C1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74320"/>
            <a:ext cx="8412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PROJECT ORIENTATION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832311F-12DD-4C3D-84C6-53A299B6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530352"/>
            <a:ext cx="108813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Different numbers count different things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25D999B-F757-4FD8-B795-AC603A17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987552"/>
            <a:ext cx="10698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64748B"/>
                </a:solidFill>
                <a:latin typeface="Aptos"/>
                <a:ea typeface="Aptos"/>
                <a:cs typeface="Aptos"/>
              </a:rPr>
              <a:t>Before interpreting a result, name the unit, filter and denominator.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D7CB531-BF2C-4F69-85DD-FBC739AD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44168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2A01C5D-0D4D-4986-9126-FCDE5D15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37376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85E0601-0FD8-4348-B015-A19DD568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14" y="6510528"/>
            <a:ext cx="792861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Longcycler release claim registry and claim-linked outputs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E54DB99-1E61-47E6-949E-A6F71C3F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6510528"/>
            <a:ext cx="71323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CD67638-3D17-473D-9C6F-9D0EC9B2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645920"/>
            <a:ext cx="10808208" cy="69494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837578C-4EBF-4A0E-BFA9-6F4DACFA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792224"/>
            <a:ext cx="1047902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Research question and unit rule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A75609F-5CBF-449C-AFF9-26EEDB49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965960"/>
            <a:ext cx="10479024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4748B"/>
                </a:solidFill>
                <a:latin typeface="Aptos"/>
                <a:ea typeface="Aptos"/>
                <a:cs typeface="Aptos"/>
              </a:rPr>
              <a:t>Do closely related urinary E. coli genomes persist across a resident's sampled episodes? Every answer must name the unit and selected-cohort denominator.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403A6CA-C3A9-4F27-8EFA-BA1B072C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2761488"/>
            <a:ext cx="237744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6"/>
          </a:solidFill>
          <a:ln xmlns:a="http://schemas.openxmlformats.org/drawingml/2006/main" w="10160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96780F1-1EDF-46D4-9028-6170455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2907792"/>
            <a:ext cx="20482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Analytical episodes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E3CE15B-C68B-44BE-B7D3-636A864E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2743200"/>
            <a:ext cx="14630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532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0A25FA4-5505-49F9-BEC6-230E0A35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807208"/>
            <a:ext cx="4937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64748B"/>
                </a:solidFill>
                <a:latin typeface="Aptos"/>
                <a:ea typeface="Aptos"/>
                <a:cs typeface="Aptos"/>
              </a:rPr>
              <a:t>selected QC-passing Longcycler genome-linked episodes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635EC3D-BD6F-4EEC-BC48-913246AB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328416"/>
            <a:ext cx="237744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2B6CB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178FA62-E413-4107-9683-8778DAAC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3474720"/>
            <a:ext cx="20482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Residents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AFC7860-0F4C-4464-BCC5-C264A472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3310128"/>
            <a:ext cx="14630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161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21268A3-C1E5-4F26-8AB7-E384D28C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3374136"/>
            <a:ext cx="4937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64748B"/>
                </a:solidFill>
                <a:latin typeface="Aptos"/>
                <a:ea typeface="Aptos"/>
                <a:cs typeface="Aptos"/>
              </a:rPr>
              <a:t>distinct residents represented in the analytical cohort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05806E7-02E7-4931-99A4-18E24889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895344"/>
            <a:ext cx="237744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0160">
            <a:solidFill>
              <a:srgbClr val="2F85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9B10159-693B-4974-B224-9A117D3C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4041648"/>
            <a:ext cx="20482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Direct genome pairs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E08B694-CEB9-4AB4-AF04-5CE36168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3877056"/>
            <a:ext cx="14630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893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0643745-886F-4E56-9739-E722E68C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3941064"/>
            <a:ext cx="4937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64748B"/>
                </a:solidFill>
                <a:latin typeface="Aptos"/>
                <a:ea typeface="Aptos"/>
                <a:cs typeface="Aptos"/>
              </a:rPr>
              <a:t>all unordered within-resident selected-genome comparisons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7BAB2256-19A6-457B-B691-CFBC9CCA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462272"/>
            <a:ext cx="237744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0160">
            <a:solidFill>
              <a:srgbClr val="2F85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9D82AA5-A928-47C5-BE52-7D069825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4608576"/>
            <a:ext cx="20482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Adjacent transitions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83629F6-391D-4C18-8EC4-C44724EC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4443984"/>
            <a:ext cx="14630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371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8D0D0AC-BF1A-4F52-A539-5AB13661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4507992"/>
            <a:ext cx="4937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64748B"/>
                </a:solidFill>
                <a:latin typeface="Aptos"/>
                <a:ea typeface="Aptos"/>
                <a:cs typeface="Aptos"/>
              </a:rPr>
              <a:t>rebuilt neighbouring comparisons from 139 residents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18DE96E-95C1-414B-913E-31AEC3E6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5029200"/>
            <a:ext cx="237744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10160">
            <a:solidFill>
              <a:srgbClr val="11182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ACF8E14-750F-4227-A019-3933CA73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5175504"/>
            <a:ext cx="20482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Focused transitions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EA10586D-9AFB-4470-B9AF-F5225A8E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5010912"/>
            <a:ext cx="14630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9 | 5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0137B930-90DD-4230-A4E5-5BA06FA9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5074920"/>
            <a:ext cx="4937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64748B"/>
                </a:solidFill>
                <a:latin typeface="Aptos"/>
                <a:ea typeface="Aptos"/>
                <a:cs typeface="Aptos"/>
              </a:rPr>
              <a:t>Not_UTI→UTI | at ≤25 SNPs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970E390-D33A-4BF3-AFD8-6BF6ADDD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1232" y="5705856"/>
            <a:ext cx="2651760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9EF6E9A-1CFB-40C3-91EB-187FDDC9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6096" y="5760720"/>
            <a:ext cx="2542032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7209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One resident can contribute several episodes, direct pairs and adjacent transitions.</a:t>
            </a:r>
          </a:p>
        </p:txBody>
      </p:sp>
    </p:spTree>
    <p:extLst>
      <p:ext uri="{BB962C8B-B14F-4D97-AF65-F5344CB8AC3E}">
        <p14:creationId xmlns:p14="http://schemas.microsoft.com/office/powerpoint/2010/main" val="8795954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F0CEE3D-41B1-421E-BA15-1D4C6A0C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4F9BA63-11AC-43C7-BAD4-078F4A1F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77D2801-C753-4F7D-9207-AC1B72A9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74320"/>
            <a:ext cx="8412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CLINICAL CLASSIFICATION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FE2EC20-FE0B-42EA-AB11-0FABFA8C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530352"/>
            <a:ext cx="108813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UTI uses the versioned operational culture-plus-symptom rule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D246E74-A437-40F4-BBF0-3BB36E3B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987552"/>
            <a:ext cx="10698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phenotype is assigned before genomic analysis and is not the full published protocol.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6AB11E1-591C-4DA9-845A-70498F8FC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44168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DB0B151-85E2-4B0E-BCCD-D26B9A4E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37376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AF32953-9BEA-437D-94BD-F47F771E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14" y="6510528"/>
            <a:ext cx="792861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      Source: selected clinical cohort | versioned operational UTI phenotype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ED186583-2488-4D69-A2E3-69D7506B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6510528"/>
            <a:ext cx="71323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6A70D00-5ADD-422B-BC68-01B60536C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737360"/>
            <a:ext cx="2889504" cy="14264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B9D5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3C854A9-80C0-4601-9126-31C279FE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1883664"/>
            <a:ext cx="2560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1. Culture support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67369C7-263A-485F-8E76-EE6C5C9D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2231136"/>
            <a:ext cx="256032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64748B"/>
                </a:solidFill>
                <a:latin typeface="Aptos"/>
                <a:ea typeface="Aptos"/>
                <a:cs typeface="Aptos"/>
              </a:rPr>
              <a:t>Recorded CFU is used where available; a documented category lower bound is used when CFU is absent.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E906B0C-738D-4D2F-A0BD-5AD73E26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2779776"/>
            <a:ext cx="2514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≥1000 CFU/mL lower-bound rule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3390EC2-D860-4D9D-82CE-B3D0ECD6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331720"/>
            <a:ext cx="25603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70196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+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FF916AD-2237-4F59-9AB1-9574D225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1737360"/>
            <a:ext cx="2889504" cy="142646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0160">
            <a:solidFill>
              <a:srgbClr val="BCE4C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2DFC210-8ADA-4651-8619-33ADB155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2624" y="1883664"/>
            <a:ext cx="256032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2. Symptom rule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8306F60E-CBB6-4295-84BA-ABA8DAE9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2624" y="2231136"/>
            <a:ext cx="256032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64748B"/>
                </a:solidFill>
                <a:latin typeface="Aptos"/>
                <a:ea typeface="Aptos"/>
                <a:cs typeface="Aptos"/>
              </a:rPr>
              <a:t>Non-catheter: local symptoms, or flank pain plus systemic symptoms. Catheter: systemic symptoms.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9510ED3-05D6-4D02-9B34-BD8AE758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779776"/>
            <a:ext cx="2103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catheter-aware operational rule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C716151-5CBE-4BCB-AA2E-AFBD2EBD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2128" y="2468880"/>
            <a:ext cx="7680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94A3B8"/>
            </a:solidFill>
            <a:prstDash val="solid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9BA0B1E-9E32-4548-B236-A5C068D2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938528"/>
            <a:ext cx="2231136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6"/>
          </a:solidFill>
          <a:ln xmlns:a="http://schemas.openxmlformats.org/drawingml/2006/main" w="10160">
            <a:solidFill>
              <a:srgbClr val="F4B15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BD2BD67-7038-4FF8-8D1C-624F8A6F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2084832"/>
            <a:ext cx="190195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UTI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D50D3D9-B3B4-4D30-8F89-99DAC972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2432304"/>
            <a:ext cx="1901952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4748B"/>
                </a:solidFill>
                <a:latin typeface="Aptos"/>
                <a:ea typeface="Aptos"/>
                <a:cs typeface="Aptos"/>
              </a:rPr>
              <a:t>Both operational components met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62599841-4364-43D1-80C7-7BF30900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86784"/>
            <a:ext cx="4736592" cy="95097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6"/>
          </a:solidFill>
          <a:ln xmlns:a="http://schemas.openxmlformats.org/drawingml/2006/main" w="10160">
            <a:solidFill>
              <a:srgbClr val="F4B15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2A6C6F2-1BEE-4168-ADAF-49329D88F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133088"/>
            <a:ext cx="440740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Analytical cohort denominator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CBFFAD9-C130-4A14-B0AE-EB561321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80560"/>
            <a:ext cx="44074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30">
                <a:solidFill>
                  <a:srgbClr val="111827"/>
                </a:solidFill>
                <a:latin typeface="Aptos"/>
                <a:ea typeface="Aptos"/>
                <a:cs typeface="Aptos"/>
              </a:rPr>
              <a:t>532 episodes from 161 residents: 16 UTI and 516 Not_UTI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6BC270C7-6885-4387-9A27-C00076D7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86784"/>
            <a:ext cx="4736592" cy="95097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3CC7A9C-1999-4E2F-BE47-783FCE9C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133088"/>
            <a:ext cx="440740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Not_UTI is not a healthy control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5CE9CA4-F9FA-4F7D-95FA-99641ADD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480560"/>
            <a:ext cx="44074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4748B"/>
                </a:solidFill>
                <a:latin typeface="Aptos"/>
                <a:ea typeface="Aptos"/>
                <a:cs typeface="Aptos"/>
              </a:rPr>
              <a:t>It includes episodes below the operational threshold or with indeterminate evidence; 17 near-miss rows remain a separate audit set.</a:t>
            </a:r>
          </a:p>
        </p:txBody>
      </p:sp>
    </p:spTree>
    <p:extLst>
      <p:ext uri="{BB962C8B-B14F-4D97-AF65-F5344CB8AC3E}">
        <p14:creationId xmlns:p14="http://schemas.microsoft.com/office/powerpoint/2010/main" val="1151636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0BD7F2B-897A-44BF-BFA0-42F266D0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0E2526A-E171-4686-B610-7F3CCB8E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88900E8-EF69-448F-8C0A-2AD7187D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74320"/>
            <a:ext cx="8412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SELECTED COHORT / DETAILED FLOW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F0C91C1-4746-476F-BC7A-687B368A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530352"/>
            <a:ext cx="108813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Exact Longcycler episode keys feed one release-ready analytical cohort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797EF10-CBB1-466B-9A6E-FAEA8DFC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987552"/>
            <a:ext cx="10698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selected assembly manifest and operational clinical phenotype are joined by exact episode key before any genomic branch runs.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0195517-F54A-4781-B91B-D9CE2B98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44168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9B6A799-4C33-4DC6-B11B-C15CFC89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37376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A140570-425D-4521-BB24-74B11498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14" y="6510528"/>
            <a:ext cx="792861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Sources: selected manifest; analytical clinical cohort; release claim registry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3244E99-6289-403D-BF58-0829324D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6510528"/>
            <a:ext cx="71323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15C5E80-1F02-4033-8F39-CAEFFBAF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627632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6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5E7ADD1-A1B3-4BDB-A3A2-604CF76A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198" y="1773936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532 selected FASTAs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6B8AED5-6F8A-4AE8-ABFD-B444A4C3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94560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One selected Longcycler input for every analytical episode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4D8E0AE-9458-45FD-8F39-3E62D5AD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737360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9F71501-2462-4944-933F-F0C56766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783080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061708A-A56C-4C83-A389-FE1EB0C8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1993392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selected manifest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F3622A0-9863-41B4-BD14-C09B98B0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627632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6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164459E-2AF7-47A7-B083-853CD213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5662" y="1773936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Content + QC verified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87A05AC-A04A-4572-AF2E-085E6E21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194560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FASTA SHA-256, 4–6 Mb, ≤200 contigs and N50 ≥20 kb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847DDD59-6611-41CA-A745-84B37FB7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1737360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7839384-9C62-4342-B2A7-29EB4AAA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1783080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CC50919-F3A1-4620-8E37-99443228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1993392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fail-closed preflight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90DDA0E-AA6D-4A5B-A459-9A608DBD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4" y="1627632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F40DCDD-4EAA-4A65-A8E4-C0DC697F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8126" y="1773936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532 exact episode keys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07FF2C3-7A66-4C91-8C13-32ADDB4E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2194560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No duplicates; 161 residents; selected key set locked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FC66E052-F211-48C0-8ABE-22C7B452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737360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6676914-C4B3-4FE9-99BF-16400EFF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783080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24F11CA-C7DA-439A-848D-E41B3803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1993392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manifest contract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A033C278-6560-4D60-8BA4-1242BA42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3035808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CC0D0D1-6119-4CE1-A25D-E542A0D9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198" y="3182112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Analytical Longcycler cohort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22E6314-6EA2-4153-ADFA-72165589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602736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532 episodes · 161 residents; one selected QC-pass assembly per key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0690991E-297F-4B60-B4F3-06E6A591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45536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C29268DB-52C6-443F-BB64-ACCE654C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91256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2F588AA-950F-48CC-A227-ECE9BFA6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3401568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selected clinical cohort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4F0AEE18-FC67-4A52-A8CB-E55FD607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035808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29680AB-70E3-48D4-9357-06AD1B67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5662" y="3182112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Operational status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2A7FDD3D-ADDB-4B76-9786-83ADF68D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3602736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16 UTI · 516 Not_UTI; phenotype frozen before genomic modelling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CA7E285C-440C-4ED3-BF80-8646B25A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145536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E67CE7E8-17D9-47BA-9E36-154492E2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191256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CDE17D5-394D-4A30-984E-2A95CF13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3401568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exact key join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163FAFF7-78F9-4865-A686-2A211CDF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4" y="3035808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EA3FB5DD-C9F0-4FFB-8B83-CD8E1728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8126" y="3182112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Release-ready cohort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31D05D0D-F768-4D16-A77A-950C140A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3602736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Every row and endpoint remains in the same 532-episode key set</a:t>
            </a:r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C270A081-0943-4F66-AA75-7835B162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145536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624433C6-8CB7-4D54-AD7A-BB7DF87C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191256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95D58DE0-6135-4085-A3E4-B137BE8C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401568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central contract</a:t>
            </a:r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171F7D42-D644-465C-917A-3A40B8EA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4443984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7EAA5F6A-4C47-4999-B612-D60AF885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198" y="4590288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Clinical source context</a:t>
            </a:r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4905C803-EC85-4E8D-8640-A179792B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10912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583 episodes · 166 residents · 18 UTI · 565 Not_UTI; attrition/QC only</a:t>
            </a:r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2BA912E8-48CA-48D8-9A54-F2A18CCE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553712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85598882-BD26-4358-9D4C-DF7B503D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599432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7E3DAFF9-5BD6-41F6-8C41-4485A9FD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4809744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operational phenotype source</a:t>
            </a:r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1B5857EA-51ED-4884-9452-D5405695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443984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476557F8-1D37-48EF-8AD0-8C0F783B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5662" y="4590288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Direct + feature branches</a:t>
            </a:r>
          </a:p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9EE15394-836E-49B1-9FCE-E79DF1A6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5010912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893 direct pairs; 227 VF features; 493 typed MLST episodes</a:t>
            </a:r>
          </a:p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30724F39-F1D2-47E2-A093-448C81CB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4553712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E07C2357-1ECA-4EED-9FE1-CCD31AAA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4599432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48D49311-021A-499B-AD1D-5674633D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4809744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parallel evidence</a:t>
            </a:r>
          </a:p>
        </p:txBody>
      </p:sp>
      <p:sp>
        <p:nvSpPr>
          <p:cNvPr id="65" name="Shape 63">
            <a:extLst xmlns:a="http://schemas.openxmlformats.org/drawingml/2006/main">
              <a:ext uri="{FF2B5EF4-FFF2-40B4-BE49-F238E27FC236}">
                <a16:creationId xmlns:a16="http://schemas.microsoft.com/office/drawing/2014/main" id="{83A4A405-BE7D-4694-AA4F-86437321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4" y="4443984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" name="Text 64">
            <a:extLst xmlns:a="http://schemas.openxmlformats.org/drawingml/2006/main">
              <a:ext uri="{FF2B5EF4-FFF2-40B4-BE49-F238E27FC236}">
                <a16:creationId xmlns:a16="http://schemas.microsoft.com/office/drawing/2014/main" id="{1C49F921-535C-4113-8208-41222E8D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8126" y="4590288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Longitudinal + focused</a:t>
            </a:r>
          </a:p>
        </p:txBody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6BC5CE90-F652-4E58-82C2-44FBB31D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5010912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371 transitions; 9 focused; 5 at ≤25; casebook 9/9 linked</a:t>
            </a:r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2C722DE7-788B-41D3-9295-FA50EAD4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4553712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CF22FF9E-AF6E-4BF5-BFA7-768279C2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4599432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70" name="Text 68">
            <a:extLst xmlns:a="http://schemas.openxmlformats.org/drawingml/2006/main">
              <a:ext uri="{FF2B5EF4-FFF2-40B4-BE49-F238E27FC236}">
                <a16:creationId xmlns:a16="http://schemas.microsoft.com/office/drawing/2014/main" id="{AB095B07-059E-4247-A72D-DA582D55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809744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RQ01–RQ10 release</a:t>
            </a:r>
          </a:p>
        </p:txBody>
      </p:sp>
      <p:sp>
        <p:nvSpPr>
          <p:cNvPr id="71" name="Rectangle 70">
            <a:extLst xmlns:a="http://schemas.openxmlformats.org/drawingml/2006/main">
              <a:ext uri="{FF2B5EF4-FFF2-40B4-BE49-F238E27FC236}">
                <a16:creationId xmlns:a16="http://schemas.microsoft.com/office/drawing/2014/main" id="{B37326E9-9F2A-481B-BB58-7ACDFD28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90650"/>
            <a:ext cx="2476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63" b="1">
                <a:solidFill>
                  <a:srgbClr val="2B6CB0"/>
                </a:solidFill>
              </a:defRPr>
            </a:pPr>
            <a:r>
              <a:rPr sz="863" b="1">
                <a:solidFill>
                  <a:srgbClr val="2B6CB0"/>
                </a:solidFill>
              </a:rPr>
              <a:t>LONGCYCLER INPUT / QC TRACK</a:t>
            </a:r>
          </a:p>
        </p:txBody>
      </p:sp>
      <p:cxnSp>
        <p:nvCxnSpPr>
          <p:cNvPr id="1008" name="Straight Arrow Connector 143"/>
          <p:cNvCxnSpPr>
            <a:stCxn xmlns:a="http://schemas.openxmlformats.org/drawingml/2006/main" id="11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3895344" y="2121408"/>
            <a:ext cx="493776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94A3B8"/>
            </a:solidFill>
            <a:prstDash val="solid"/>
            <a:tailEnd type="triangle" w="sm" len="sm"/>
          </a:ln>
        </p:spPr>
      </p:cxnSp>
      <p:cxnSp>
        <p:nvCxnSpPr>
          <p:cNvPr id="1009" name="Straight Arrow Connector 144"/>
          <p:cNvCxnSpPr>
            <a:stCxn xmlns:a="http://schemas.openxmlformats.org/drawingml/2006/main" id="18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7607808" y="2121408"/>
            <a:ext cx="493776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94A3B8"/>
            </a:solidFill>
            <a:prstDash val="solid"/>
            <a:tailEnd type="triangle" w="sm" len="sm"/>
          </a:ln>
        </p:spPr>
      </p:cxnSp>
      <p:cxnSp>
        <p:nvCxnSpPr>
          <p:cNvPr id="1010" name="Straight Arrow Connector 145"/>
          <p:cNvCxnSpPr>
            <a:stCxn xmlns:a="http://schemas.openxmlformats.org/drawingml/2006/main" id="25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 flipH="1">
            <a:off x="2286000" y="2615184"/>
            <a:ext cx="7424928" cy="420624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94A3B8"/>
            </a:solidFill>
            <a:prstDash val="solid"/>
            <a:tailEnd type="triangle" w="sm" len="sm"/>
          </a:ln>
        </p:spPr>
      </p:cxnSp>
      <p:cxnSp>
        <p:nvCxnSpPr>
          <p:cNvPr id="1011" name="Straight Arrow Connector 146"/>
          <p:cNvCxnSpPr>
            <a:stCxn xmlns:a="http://schemas.openxmlformats.org/drawingml/2006/main" id="31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3895344" y="3529584"/>
            <a:ext cx="493776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94A3B8"/>
            </a:solidFill>
            <a:prstDash val="solid"/>
            <a:tailEnd type="triangle" w="sm" len="sm"/>
          </a:ln>
        </p:spPr>
      </p:cxnSp>
      <p:cxnSp>
        <p:nvCxnSpPr>
          <p:cNvPr id="1012" name="Straight Arrow Connector 147"/>
          <p:cNvCxnSpPr>
            <a:stCxn xmlns:a="http://schemas.openxmlformats.org/drawingml/2006/main" id="38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7607808" y="3529584"/>
            <a:ext cx="493776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94A3B8"/>
            </a:solidFill>
            <a:prstDash val="solid"/>
            <a:tailEnd type="triangle" w="sm" len="sm"/>
          </a:ln>
        </p:spPr>
      </p:cxnSp>
      <p:cxnSp>
        <p:nvCxnSpPr>
          <p:cNvPr id="1013" name="Straight Arrow Connector 148"/>
          <p:cNvCxnSpPr>
            <a:stCxn xmlns:a="http://schemas.openxmlformats.org/drawingml/2006/main" id="51" idx="0"/>
            <a:endCxn xmlns:a="http://schemas.openxmlformats.org/drawingml/2006/main" id="45" idx="2"/>
          </p:cNvCxnSpPr>
          <p:nvPr/>
        </p:nvCxnSpPr>
        <p:spPr>
          <a:xfrm xmlns:a="http://schemas.openxmlformats.org/drawingml/2006/main" flipV="1">
            <a:off x="2286000" y="4023360"/>
            <a:ext cx="7424928" cy="420624"/>
          </a:xfrm>
          <a:prstGeom xmlns:a="http://schemas.openxmlformats.org/drawingml/2006/main" prst="straightConnector1">
            <a:avLst/>
          </a:prstGeom>
          <a:ln xmlns:a="http://schemas.openxmlformats.org/drawingml/2006/main" w="16193">
            <a:solidFill>
              <a:srgbClr val="D97706"/>
            </a:solidFill>
            <a:prstDash val="solid"/>
            <a:tailEnd type="triangle" w="sm" len="sm"/>
          </a:ln>
        </p:spPr>
      </p:cxnSp>
      <p:cxnSp>
        <p:nvCxnSpPr>
          <p:cNvPr id="1014" name="Elbow Connector 149"/>
          <p:cNvCxnSpPr>
            <a:stCxn xmlns:a="http://schemas.openxmlformats.org/drawingml/2006/main" id="45" idx="2"/>
            <a:endCxn xmlns:a="http://schemas.openxmlformats.org/drawingml/2006/main" id="58" idx="0"/>
          </p:cNvCxnSpPr>
          <p:nvPr/>
        </p:nvCxnSpPr>
        <p:spPr>
          <a:xfrm xmlns:a="http://schemas.openxmlformats.org/drawingml/2006/main" flipH="1">
            <a:off x="5998464" y="4023360"/>
            <a:ext cx="3712464" cy="420624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4288">
            <a:solidFill>
              <a:srgbClr val="2B6CB0"/>
            </a:solidFill>
            <a:prstDash val="solid"/>
            <a:tailEnd type="triangle" w="sm" len="sm"/>
          </a:ln>
        </p:spPr>
      </p:cxnSp>
      <p:cxnSp>
        <p:nvCxnSpPr>
          <p:cNvPr id="1015" name="Straight Arrow Connector 150"/>
          <p:cNvCxnSpPr>
            <a:stCxn xmlns:a="http://schemas.openxmlformats.org/drawingml/2006/main" id="45" idx="2"/>
            <a:endCxn xmlns:a="http://schemas.openxmlformats.org/drawingml/2006/main" id="65" idx="0"/>
          </p:cNvCxnSpPr>
          <p:nvPr/>
        </p:nvCxnSpPr>
        <p:spPr>
          <a:xfrm xmlns:a="http://schemas.openxmlformats.org/drawingml/2006/main">
            <a:off x="9710928" y="4023360"/>
            <a:ext cx="0" cy="420624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D97706"/>
            </a:solidFill>
            <a:prstDash val="dash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3010050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862C6DD-C698-4709-9ACA-5790C712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29C7113-5485-44EC-807E-86EE34C2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DC52AF90-C604-4024-BED2-29BDD478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74320"/>
            <a:ext cx="8412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GENOMIC ANALYSES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04CE044-6D56-4648-A1DB-E2515432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530352"/>
            <a:ext cx="108813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All branches begin with the same 532 selected Longcycler episodes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8DDAB49-8392-46C7-BFA5-A8621F95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987552"/>
            <a:ext cx="10698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64748B"/>
                </a:solidFill>
                <a:latin typeface="Aptos"/>
                <a:ea typeface="Aptos"/>
                <a:cs typeface="Aptos"/>
              </a:rPr>
              <a:t>Each branch answers a different question; integration occurs only through explicit exact-key joins.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3A2B6A1-6057-4DB1-93E9-8223C783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44168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769754E-07D7-4AA2-A45D-96240CF1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37376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E76A611-8ED8-42A6-B1DD-F5615BEF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14" y="6510528"/>
            <a:ext cx="792861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      Sources: claim-linked VF, MLST, direct-pair, core-genome and pangenome outputs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37774AF-515E-479E-8485-489F99C4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6510528"/>
            <a:ext cx="71323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5B262C0-F00F-4B9B-8B76-C340627B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55648"/>
            <a:ext cx="2651760" cy="12252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B9D5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A37E871-9E36-485B-81CD-84D80AC8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1952"/>
            <a:ext cx="232257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VFDB screening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1248964-EA77-403F-8412-135A7AFD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9424"/>
            <a:ext cx="232257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4748B"/>
                </a:solidFill>
                <a:latin typeface="Aptos"/>
                <a:ea typeface="Aptos"/>
                <a:cs typeface="Aptos"/>
              </a:rPr>
              <a:t>ABRicate/VFDB at ≥80% identity and ≥80% coverage yields 227 binary features on the selected cohort.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16EE7C69-AC27-4370-AC22-C6FA84B8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3168" y="1755648"/>
            <a:ext cx="2651760" cy="12252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0160">
            <a:solidFill>
              <a:srgbClr val="BCE4C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B18C83-E448-4445-B1E5-F1BD39AD0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901952"/>
            <a:ext cx="232257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MLST and integration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08388AC-9119-4F46-8763-517B0275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249424"/>
            <a:ext cx="232257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4748B"/>
                </a:solidFill>
                <a:latin typeface="Aptos"/>
                <a:ea typeface="Aptos"/>
                <a:cs typeface="Aptos"/>
              </a:rPr>
              <a:t>Key-linked provider calls are accepted for selected episode keys; ST remains lineage context.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20AE8DDB-0F82-4577-BA86-9E1ACAD5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755648"/>
            <a:ext cx="2651760" cy="12252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6"/>
          </a:solidFill>
          <a:ln xmlns:a="http://schemas.openxmlformats.org/drawingml/2006/main" w="10160">
            <a:solidFill>
              <a:srgbClr val="F4C98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F648BDF-9378-404C-9412-1AB941C3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1901952"/>
            <a:ext cx="2322576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954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Direct pairs and population context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D14CF4B-E913-4C09-A026-B444F2CD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0" y="2249424"/>
            <a:ext cx="2322576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50">
                <a:solidFill>
                  <a:srgbClr val="64748B"/>
                </a:solidFill>
                <a:latin typeface="Aptos"/>
                <a:ea typeface="Aptos"/>
                <a:cs typeface="Aptos"/>
              </a:rPr>
              <a:t>All 893 direct pairs use hash-bound selected FASTAs; core and pangenome branches use the same cohort.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D262ABE-CB09-4291-AF7B-6589F5AA6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82219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9BD7349B-6C08-48C2-AC3C-2C4B8A98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2219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D6AB5A6E-42E8-4D6A-B6AD-22FED3B0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382219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BE442B1-8076-4174-9AAC-0D4C76F9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82219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1F43CC20-4C29-4B4B-BA62-9854DA4B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82219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8D6ABF5-267B-4559-A30E-5AB449C2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944" y="382219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1A2FB612-5999-4C0C-A778-1F81D109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382219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984D3733-CAF1-485F-B1D3-8E4D53623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5416" y="382219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2E51E38-EDC1-4A66-BB31-D911AB83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82219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C64B05C7-174F-4C65-B294-96058C4C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382219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E53A8EDA-AF70-45B1-8115-C4458940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977640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F485BAE9-1C45-4804-B976-95F7DB3D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77640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A212A174-2B98-48CB-B1D9-3EA29090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3977640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E5352568-F10D-450C-898A-D26B70808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977640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13823223-8D83-4A75-87AF-8D7ADA10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977640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BB753A07-AF55-4825-B526-25921F77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944" y="3977640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B29D9225-809F-4A81-9EF0-48BD7E04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3977640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6598F1D5-F81A-425A-95BD-6B1F32C5C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5416" y="3977640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DBECA33B-7C90-4D71-8407-8BF580902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977640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C9DCE143-0CAB-4BC0-9978-3D858252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3977640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07E0EA1A-E8DC-4A54-8722-4D058224E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133088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8DCF87E2-0754-4BD0-A8D0-753919B9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33088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D01665B8-0859-4552-A789-B1A7892B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4133088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25D1FEA3-02C6-4AAA-B6EA-F845271B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133088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B22A8AC5-F36D-461E-A850-690D6C0B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133088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96BF759D-49C4-4BCE-BCA9-BF65939A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944" y="4133088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099BF356-DFEF-4E64-8F6A-08C1B572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4133088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8C4DCFB7-7559-4EB3-9F3D-EF3BF0BE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5416" y="4133088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9FC0C23A-4B0A-4D20-B2E6-94818282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133088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564C578F-3CFA-459A-BFE3-3CA4E878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4133088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DD0B82FA-9A86-4439-82E1-8A16C930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288536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722EC1F6-1CF6-48D3-8933-93F628D7C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88536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ADE909EF-EDD4-419A-913C-45DF35B2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4288536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0AE0879F-C3FD-43A1-A8CF-8701FB73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288536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BD4E955B-4ACD-4012-BE2D-AFD5991EB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288536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F4927638-BBD3-4022-8526-383755BA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944" y="4288536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DDBAB5C0-F44F-4ACB-B7B3-267C0B33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4288536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3EB43A8D-850F-4F3A-90C7-70B6DE2D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5416" y="4288536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10758AF0-6D7C-452F-A141-B6499903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288536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AC5DE8A6-CC57-4D76-9997-B7196F5F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4288536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A0E919F4-28FB-4E74-8F9A-FFC3BF2C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443984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7750A05E-9C5D-49EF-8BB1-5289E4E8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43984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22090FED-40A9-4930-B592-4801ABCE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4443984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" name="Shape 63">
            <a:extLst xmlns:a="http://schemas.openxmlformats.org/drawingml/2006/main">
              <a:ext uri="{FF2B5EF4-FFF2-40B4-BE49-F238E27FC236}">
                <a16:creationId xmlns:a16="http://schemas.microsoft.com/office/drawing/2014/main" id="{4BBDFDE3-FD7C-4196-A1C4-9B4DA149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443984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9B16D56A-1886-49B4-A1EE-B16AD3E3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443984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" name="Shape 65">
            <a:extLst xmlns:a="http://schemas.openxmlformats.org/drawingml/2006/main">
              <a:ext uri="{FF2B5EF4-FFF2-40B4-BE49-F238E27FC236}">
                <a16:creationId xmlns:a16="http://schemas.microsoft.com/office/drawing/2014/main" id="{F99B8303-9B80-4184-92E2-501D64A5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944" y="4443984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AE58D90A-93CF-41EF-8416-2CAE360D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4443984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9" name="Shape 67">
            <a:extLst xmlns:a="http://schemas.openxmlformats.org/drawingml/2006/main">
              <a:ext uri="{FF2B5EF4-FFF2-40B4-BE49-F238E27FC236}">
                <a16:creationId xmlns:a16="http://schemas.microsoft.com/office/drawing/2014/main" id="{4CAFFEE2-0656-40AE-A62C-563D5CF3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5416" y="4443984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B170CBAC-9AC7-4083-AD81-9DA53DA3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443984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1" name="Shape 69">
            <a:extLst xmlns:a="http://schemas.openxmlformats.org/drawingml/2006/main">
              <a:ext uri="{FF2B5EF4-FFF2-40B4-BE49-F238E27FC236}">
                <a16:creationId xmlns:a16="http://schemas.microsoft.com/office/drawing/2014/main" id="{17B76022-6223-4E54-A89D-D94F7929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4443984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2" name="Shape 70">
            <a:extLst xmlns:a="http://schemas.openxmlformats.org/drawingml/2006/main">
              <a:ext uri="{FF2B5EF4-FFF2-40B4-BE49-F238E27FC236}">
                <a16:creationId xmlns:a16="http://schemas.microsoft.com/office/drawing/2014/main" id="{78C7DC28-7FAE-4D8F-9934-3364679CB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59943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3" name="Shape 71">
            <a:extLst xmlns:a="http://schemas.openxmlformats.org/drawingml/2006/main">
              <a:ext uri="{FF2B5EF4-FFF2-40B4-BE49-F238E27FC236}">
                <a16:creationId xmlns:a16="http://schemas.microsoft.com/office/drawing/2014/main" id="{BD2CEC18-56B1-4F31-BC91-AA34A233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943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" name="Shape 72">
            <a:extLst xmlns:a="http://schemas.openxmlformats.org/drawingml/2006/main">
              <a:ext uri="{FF2B5EF4-FFF2-40B4-BE49-F238E27FC236}">
                <a16:creationId xmlns:a16="http://schemas.microsoft.com/office/drawing/2014/main" id="{9237A250-5EFB-431B-A4C8-ACDF1BA1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459943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5" name="Shape 73">
            <a:extLst xmlns:a="http://schemas.openxmlformats.org/drawingml/2006/main">
              <a:ext uri="{FF2B5EF4-FFF2-40B4-BE49-F238E27FC236}">
                <a16:creationId xmlns:a16="http://schemas.microsoft.com/office/drawing/2014/main" id="{EA6EF018-123D-4AEA-B663-CDDD2497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59943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1267EDAE-02BB-4C4D-9427-50FAF8C0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59943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7" name="Shape 75">
            <a:extLst xmlns:a="http://schemas.openxmlformats.org/drawingml/2006/main">
              <a:ext uri="{FF2B5EF4-FFF2-40B4-BE49-F238E27FC236}">
                <a16:creationId xmlns:a16="http://schemas.microsoft.com/office/drawing/2014/main" id="{5BFE232C-D550-4EDE-AC5C-5B93EA5C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7944" y="459943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8" name="Shape 76">
            <a:extLst xmlns:a="http://schemas.openxmlformats.org/drawingml/2006/main">
              <a:ext uri="{FF2B5EF4-FFF2-40B4-BE49-F238E27FC236}">
                <a16:creationId xmlns:a16="http://schemas.microsoft.com/office/drawing/2014/main" id="{3706E080-FB4C-470D-BD20-34E183F6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459943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9" name="Shape 77">
            <a:extLst xmlns:a="http://schemas.openxmlformats.org/drawingml/2006/main">
              <a:ext uri="{FF2B5EF4-FFF2-40B4-BE49-F238E27FC236}">
                <a16:creationId xmlns:a16="http://schemas.microsoft.com/office/drawing/2014/main" id="{AB285EE0-6C88-4285-B757-1212B406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5416" y="459943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0" name="Shape 78">
            <a:extLst xmlns:a="http://schemas.openxmlformats.org/drawingml/2006/main">
              <a:ext uri="{FF2B5EF4-FFF2-40B4-BE49-F238E27FC236}">
                <a16:creationId xmlns:a16="http://schemas.microsoft.com/office/drawing/2014/main" id="{73473F3E-D9AB-4B07-A317-6F4ED732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59943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1" name="Shape 79">
            <a:extLst xmlns:a="http://schemas.openxmlformats.org/drawingml/2006/main">
              <a:ext uri="{FF2B5EF4-FFF2-40B4-BE49-F238E27FC236}">
                <a16:creationId xmlns:a16="http://schemas.microsoft.com/office/drawing/2014/main" id="{8F0052DA-D01F-49D4-A249-B507622A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4599432"/>
            <a:ext cx="128016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2" name="Text 80">
            <a:extLst xmlns:a="http://schemas.openxmlformats.org/drawingml/2006/main">
              <a:ext uri="{FF2B5EF4-FFF2-40B4-BE49-F238E27FC236}">
                <a16:creationId xmlns:a16="http://schemas.microsoft.com/office/drawing/2014/main" id="{0855525E-8838-4680-A9A7-26A19781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95604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91811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64748B"/>
                </a:solidFill>
                <a:latin typeface="Aptos"/>
                <a:ea typeface="Aptos"/>
                <a:cs typeface="Aptos"/>
              </a:rPr>
              <a:t>Branches share inputs but remain methodologically distinct; the arrows show common provenance, not a sequence.</a:t>
            </a:r>
          </a:p>
        </p:txBody>
      </p:sp>
      <p:sp>
        <p:nvSpPr>
          <p:cNvPr id="83" name="Shape 81">
            <a:extLst xmlns:a="http://schemas.openxmlformats.org/drawingml/2006/main">
              <a:ext uri="{FF2B5EF4-FFF2-40B4-BE49-F238E27FC236}">
                <a16:creationId xmlns:a16="http://schemas.microsoft.com/office/drawing/2014/main" id="{1A025A27-7040-47A1-9734-B4FBA484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744" y="3694176"/>
            <a:ext cx="1152144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4" name="Text 82">
            <a:extLst xmlns:a="http://schemas.openxmlformats.org/drawingml/2006/main">
              <a:ext uri="{FF2B5EF4-FFF2-40B4-BE49-F238E27FC236}">
                <a16:creationId xmlns:a16="http://schemas.microsoft.com/office/drawing/2014/main" id="{1E86F905-39AD-4D7D-9545-9850D52B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3749040"/>
            <a:ext cx="1042416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VFDB</a:t>
            </a:r>
          </a:p>
        </p:txBody>
      </p:sp>
      <p:sp>
        <p:nvSpPr>
          <p:cNvPr id="85" name="Shape 83">
            <a:extLst xmlns:a="http://schemas.openxmlformats.org/drawingml/2006/main">
              <a:ext uri="{FF2B5EF4-FFF2-40B4-BE49-F238E27FC236}">
                <a16:creationId xmlns:a16="http://schemas.microsoft.com/office/drawing/2014/main" id="{C8332B74-92C6-4F2F-AF32-348D472DE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694176"/>
            <a:ext cx="1152144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6" name="Text 84">
            <a:extLst xmlns:a="http://schemas.openxmlformats.org/drawingml/2006/main">
              <a:ext uri="{FF2B5EF4-FFF2-40B4-BE49-F238E27FC236}">
                <a16:creationId xmlns:a16="http://schemas.microsoft.com/office/drawing/2014/main" id="{88757E3B-A258-487E-9F53-4CAA1BE86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3749040"/>
            <a:ext cx="1042416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MLST</a:t>
            </a:r>
          </a:p>
        </p:txBody>
      </p:sp>
      <p:sp>
        <p:nvSpPr>
          <p:cNvPr id="87" name="Shape 85">
            <a:extLst xmlns:a="http://schemas.openxmlformats.org/drawingml/2006/main">
              <a:ext uri="{FF2B5EF4-FFF2-40B4-BE49-F238E27FC236}">
                <a16:creationId xmlns:a16="http://schemas.microsoft.com/office/drawing/2014/main" id="{0A315A64-730E-4387-9F2B-F02D1E077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744" y="4133088"/>
            <a:ext cx="1152144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8" name="Text 86">
            <a:extLst xmlns:a="http://schemas.openxmlformats.org/drawingml/2006/main">
              <a:ext uri="{FF2B5EF4-FFF2-40B4-BE49-F238E27FC236}">
                <a16:creationId xmlns:a16="http://schemas.microsoft.com/office/drawing/2014/main" id="{1ABD0E7F-0309-4E67-993F-51FE91C6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4187952"/>
            <a:ext cx="1042416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clinical join</a:t>
            </a:r>
          </a:p>
        </p:txBody>
      </p:sp>
      <p:sp>
        <p:nvSpPr>
          <p:cNvPr id="89" name="Shape 87">
            <a:extLst xmlns:a="http://schemas.openxmlformats.org/drawingml/2006/main">
              <a:ext uri="{FF2B5EF4-FFF2-40B4-BE49-F238E27FC236}">
                <a16:creationId xmlns:a16="http://schemas.microsoft.com/office/drawing/2014/main" id="{E750915F-4EBF-48E9-8783-572328D0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4133088"/>
            <a:ext cx="1152144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0" name="Text 88">
            <a:extLst xmlns:a="http://schemas.openxmlformats.org/drawingml/2006/main">
              <a:ext uri="{FF2B5EF4-FFF2-40B4-BE49-F238E27FC236}">
                <a16:creationId xmlns:a16="http://schemas.microsoft.com/office/drawing/2014/main" id="{7C3F7419-2FA1-4EB2-8E96-84453D305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4187952"/>
            <a:ext cx="1042416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direct pairs</a:t>
            </a:r>
          </a:p>
        </p:txBody>
      </p:sp>
      <p:sp>
        <p:nvSpPr>
          <p:cNvPr id="91" name="Shape 89">
            <a:extLst xmlns:a="http://schemas.openxmlformats.org/drawingml/2006/main">
              <a:ext uri="{FF2B5EF4-FFF2-40B4-BE49-F238E27FC236}">
                <a16:creationId xmlns:a16="http://schemas.microsoft.com/office/drawing/2014/main" id="{A4BCB844-6CB9-46C6-A048-B8D4F5E9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744" y="4572000"/>
            <a:ext cx="1152144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2" name="Text 90">
            <a:extLst xmlns:a="http://schemas.openxmlformats.org/drawingml/2006/main">
              <a:ext uri="{FF2B5EF4-FFF2-40B4-BE49-F238E27FC236}">
                <a16:creationId xmlns:a16="http://schemas.microsoft.com/office/drawing/2014/main" id="{B5E83F9C-4E0F-4BF6-8770-7657F2E6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4626864"/>
            <a:ext cx="1042416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core genome</a:t>
            </a:r>
          </a:p>
        </p:txBody>
      </p:sp>
      <p:sp>
        <p:nvSpPr>
          <p:cNvPr id="93" name="Shape 91">
            <a:extLst xmlns:a="http://schemas.openxmlformats.org/drawingml/2006/main">
              <a:ext uri="{FF2B5EF4-FFF2-40B4-BE49-F238E27FC236}">
                <a16:creationId xmlns:a16="http://schemas.microsoft.com/office/drawing/2014/main" id="{7182E5F6-78EE-471C-B466-613B5B61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4572000"/>
            <a:ext cx="1152144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4" name="Text 92">
            <a:extLst xmlns:a="http://schemas.openxmlformats.org/drawingml/2006/main">
              <a:ext uri="{FF2B5EF4-FFF2-40B4-BE49-F238E27FC236}">
                <a16:creationId xmlns:a16="http://schemas.microsoft.com/office/drawing/2014/main" id="{FD381F1E-B4D2-4FCF-B9B6-DAF2F896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4626864"/>
            <a:ext cx="1042416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pangenome</a:t>
            </a:r>
          </a:p>
        </p:txBody>
      </p:sp>
      <p:sp>
        <p:nvSpPr>
          <p:cNvPr id="95" name="Shape 93">
            <a:extLst xmlns:a="http://schemas.openxmlformats.org/drawingml/2006/main">
              <a:ext uri="{FF2B5EF4-FFF2-40B4-BE49-F238E27FC236}">
                <a16:creationId xmlns:a16="http://schemas.microsoft.com/office/drawing/2014/main" id="{44E8A8C2-05D4-409B-BD0C-89B39157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621024"/>
            <a:ext cx="2761488" cy="12252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10160">
            <a:solidFill>
              <a:srgbClr val="FED7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6" name="Text 94">
            <a:extLst xmlns:a="http://schemas.openxmlformats.org/drawingml/2006/main">
              <a:ext uri="{FF2B5EF4-FFF2-40B4-BE49-F238E27FC236}">
                <a16:creationId xmlns:a16="http://schemas.microsoft.com/office/drawing/2014/main" id="{0795EE04-802C-42B9-BCCF-99749918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767328"/>
            <a:ext cx="24323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Interpretation boundary</a:t>
            </a:r>
          </a:p>
        </p:txBody>
      </p:sp>
      <p:sp>
        <p:nvSpPr>
          <p:cNvPr id="97" name="Text 95">
            <a:extLst xmlns:a="http://schemas.openxmlformats.org/drawingml/2006/main">
              <a:ext uri="{FF2B5EF4-FFF2-40B4-BE49-F238E27FC236}">
                <a16:creationId xmlns:a16="http://schemas.microsoft.com/office/drawing/2014/main" id="{B5E33E19-1BDB-46DB-8778-2E116FAD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14800"/>
            <a:ext cx="2432304" cy="6949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30">
                <a:solidFill>
                  <a:srgbClr val="64748B"/>
                </a:solidFill>
                <a:latin typeface="Aptos"/>
                <a:ea typeface="Aptos"/>
                <a:cs typeface="Aptos"/>
              </a:rPr>
              <a:t>Direct pair evidence is primary. Graph transitivity or ST agreement cannot override a direct distance above 25 SNPs, and no branch establishes causation.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423D2657-4467-408F-8858-3301FDDC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09700"/>
            <a:ext cx="22860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7E0E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334155"/>
                </a:solidFill>
              </a:defRPr>
            </a:pPr>
            <a:r>
              <a:rPr sz="938" b="1">
                <a:solidFill>
                  <a:srgbClr val="334155"/>
                </a:solidFill>
              </a:rPr>
              <a:t>532 selected Longcycler episodes</a:t>
            </a:r>
          </a:p>
        </p:txBody>
      </p:sp>
      <p:cxnSp>
        <p:nvCxnSpPr>
          <p:cNvPr id="1377" name="Elbow Connector 200"/>
          <p:cNvCxnSpPr>
            <a:stCxn xmlns:a="http://schemas.openxmlformats.org/drawingml/2006/main" id="100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2075688" y="1676400"/>
            <a:ext cx="4020312" cy="79248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2383">
            <a:solidFill>
              <a:srgbClr val="94A3B8"/>
            </a:solidFill>
            <a:prstDash val="solid"/>
            <a:tailEnd type="triangle" w="sm" len="sm"/>
          </a:ln>
        </p:spPr>
      </p:cxnSp>
      <p:cxnSp>
        <p:nvCxnSpPr>
          <p:cNvPr id="1378" name="Elbow Connector 201"/>
          <p:cNvCxnSpPr>
            <a:stCxn xmlns:a="http://schemas.openxmlformats.org/drawingml/2006/main" id="100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>
            <a:off x="6096000" y="1676400"/>
            <a:ext cx="3048" cy="79248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2383">
            <a:solidFill>
              <a:srgbClr val="94A3B8"/>
            </a:solidFill>
            <a:prstDash val="solid"/>
            <a:tailEnd type="triangle" w="sm" len="sm"/>
          </a:ln>
        </p:spPr>
      </p:cxnSp>
      <p:cxnSp>
        <p:nvCxnSpPr>
          <p:cNvPr id="1379" name="Elbow Connector 202"/>
          <p:cNvCxnSpPr>
            <a:stCxn xmlns:a="http://schemas.openxmlformats.org/drawingml/2006/main" id="100" idx="2"/>
            <a:endCxn xmlns:a="http://schemas.openxmlformats.org/drawingml/2006/main" id="17" idx="0"/>
          </p:cNvCxnSpPr>
          <p:nvPr/>
        </p:nvCxnSpPr>
        <p:spPr>
          <a:xfrm xmlns:a="http://schemas.openxmlformats.org/drawingml/2006/main">
            <a:off x="6096000" y="1676400"/>
            <a:ext cx="4026408" cy="79248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2383">
            <a:solidFill>
              <a:srgbClr val="94A3B8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0236747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C9955A6-C3AB-4BA1-A368-7F3ACEFF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3DF70BF-7148-4A5C-91AB-E32A5B3A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0454350-DAFD-43D6-9CFC-ADA573C1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74320"/>
            <a:ext cx="8412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APPENDIX / DENOMINATORS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832311F-12DD-4C3D-84C6-53A299B6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530352"/>
            <a:ext cx="108813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Every analytical denominator stays inside the same selected cohort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25D999B-F757-4FD8-B795-AC603A17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987552"/>
            <a:ext cx="10698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64748B"/>
                </a:solidFill>
                <a:latin typeface="Aptos"/>
                <a:ea typeface="Aptos"/>
                <a:cs typeface="Aptos"/>
              </a:rPr>
              <a:t>Values are read directly from the final release claim registry after the full rerun.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D7CB531-BF2C-4F69-85DD-FBC739AD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44168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2A01C5D-0D4D-4986-9126-FCDE5D15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37376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85E0601-0FD8-4348-B015-A19DD568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14" y="6510528"/>
            <a:ext cx="792861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Longcycler release claim registry and claim-linked outputs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E54DB99-1E61-47E6-949E-A6F71C3F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6510528"/>
            <a:ext cx="71323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E403A6CA-C3A9-4F27-8EFA-BA1B072CC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2761488"/>
            <a:ext cx="237744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6"/>
          </a:solidFill>
          <a:ln xmlns:a="http://schemas.openxmlformats.org/drawingml/2006/main" w="10160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96780F1-1EDF-46D4-9028-6170455F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2907792"/>
            <a:ext cx="20482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Analytical episodes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E3CE15B-C68B-44BE-B7D3-636A864E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2743200"/>
            <a:ext cx="14630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532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0A25FA4-5505-49F9-BEC6-230E0A35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807208"/>
            <a:ext cx="4937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64748B"/>
                </a:solidFill>
                <a:latin typeface="Aptos"/>
                <a:ea typeface="Aptos"/>
                <a:cs typeface="Aptos"/>
              </a:rPr>
              <a:t>selected QC-passing Longcycler only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635EC3D-BD6F-4EEC-BC48-913246AB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328416"/>
            <a:ext cx="237744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2B6CB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178FA62-E413-4107-9683-8778DAAC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3474720"/>
            <a:ext cx="20482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Residents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AFC7860-0F4C-4464-BCC5-C264A472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3310128"/>
            <a:ext cx="14630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161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21268A3-C1E5-4F26-8AB7-E384D28C2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3374136"/>
            <a:ext cx="4937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64748B"/>
                </a:solidFill>
                <a:latin typeface="Aptos"/>
                <a:ea typeface="Aptos"/>
                <a:cs typeface="Aptos"/>
              </a:rPr>
              <a:t>distinct residents in the analytical cohort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905806E7-02E7-4931-99A4-18E24889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895344"/>
            <a:ext cx="237744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0160">
            <a:solidFill>
              <a:srgbClr val="2F85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69B10159-693B-4974-B224-9A117D3CE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4041648"/>
            <a:ext cx="20482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Operational status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1E08B694-CEB9-4AB4-AF04-5CE36168B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3877056"/>
            <a:ext cx="14630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16 | 516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0643745-886F-4E56-9739-E722E68C8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3941064"/>
            <a:ext cx="4937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64748B"/>
                </a:solidFill>
                <a:latin typeface="Aptos"/>
                <a:ea typeface="Aptos"/>
                <a:cs typeface="Aptos"/>
              </a:rPr>
              <a:t>UTI | Not_UTI episode counts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7BAB2256-19A6-457B-B691-CFBC9CCA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462272"/>
            <a:ext cx="237744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0160">
            <a:solidFill>
              <a:srgbClr val="2F855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9D82AA5-A928-47C5-BE52-7D069825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4608576"/>
            <a:ext cx="20482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Direct genome pairs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83629F6-391D-4C18-8EC4-C44724EC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4443984"/>
            <a:ext cx="14630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893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8D0D0AC-BF1A-4F52-A539-5AB13661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4507992"/>
            <a:ext cx="4937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64748B"/>
                </a:solidFill>
                <a:latin typeface="Aptos"/>
                <a:ea typeface="Aptos"/>
                <a:cs typeface="Aptos"/>
              </a:rPr>
              <a:t>all unordered within-resident comparisons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118DE96E-95C1-414B-913E-31AEC3E6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5029200"/>
            <a:ext cx="237744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10160">
            <a:solidFill>
              <a:srgbClr val="11182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ACF8E14-750F-4227-A019-3933CA73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5175504"/>
            <a:ext cx="20482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Adjacent transitions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EA10586D-9AFB-4470-B9AF-F5225A8E9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5010912"/>
            <a:ext cx="14630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371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0137B930-90DD-4230-A4E5-5BA06FA9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5074920"/>
            <a:ext cx="493776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70">
                <a:solidFill>
                  <a:srgbClr val="64748B"/>
                </a:solidFill>
                <a:latin typeface="Aptos"/>
                <a:ea typeface="Aptos"/>
                <a:cs typeface="Aptos"/>
              </a:rPr>
              <a:t>139 residents; 140 at ≤25; focused 9 → 5</a:t>
            </a:r>
          </a:p>
        </p:txBody>
      </p:sp>
    </p:spTree>
    <p:extLst>
      <p:ext uri="{BB962C8B-B14F-4D97-AF65-F5344CB8AC3E}">
        <p14:creationId xmlns:p14="http://schemas.microsoft.com/office/powerpoint/2010/main" val="8795954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26AD514-4066-46D6-91F7-8012870D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48FA0E0-1B72-4134-8A5D-40571AEC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2AF3AAB-13ED-430E-A698-C52CE744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74320"/>
            <a:ext cx="8412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        APPENDIX / METHODS TABLE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7C0FA54-8A21-428C-81DA-52A49004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530352"/>
            <a:ext cx="108813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Report the implemented thresholds and the boundaries around them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C4B264F4-5446-4BDE-9F80-15BFC03C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987552"/>
            <a:ext cx="10698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64748B"/>
                </a:solidFill>
                <a:latin typeface="Aptos"/>
                <a:ea typeface="Aptos"/>
                <a:cs typeface="Aptos"/>
              </a:rPr>
              <a:t>This table describes the claim-linked Longcycler-only route; missing versions are not inferred.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B9B16B6-7DB9-4C23-B335-19A6C0DD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44168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4FEF550-587D-4852-A74A-BB4A93848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37376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5C7D84A-47CC-45C3-A7BD-A9FD74BF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14" y="6510528"/>
            <a:ext cx="792861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      Sources: release claim registry and claim-linked scripts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2C735A1-DF3F-4AF2-A4B6-8DCD75AA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6510528"/>
            <a:ext cx="71323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A4A25872-1FE1-4570-A6C7-D053900A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572768"/>
            <a:ext cx="2377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B6CB0"/>
                </a:solidFill>
                <a:latin typeface="Aptos"/>
                <a:ea typeface="Aptos"/>
                <a:cs typeface="Aptos"/>
              </a:rPr>
              <a:t>Implemented thresholds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FCA254A-7479-425C-82B2-05DE1682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572768"/>
            <a:ext cx="2377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F855A"/>
                </a:solidFill>
                <a:latin typeface="Aptos"/>
                <a:ea typeface="Aptos"/>
                <a:cs typeface="Aptos"/>
              </a:rPr>
              <a:t>Tool or branch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84D34FD-9749-4746-AB75-3AA84B2D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901952"/>
            <a:ext cx="4828032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7620">
            <a:solidFill>
              <a:srgbClr val="E5E7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04F54A2-73A3-42DD-8FE5-691FB909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93392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Culture support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28B2D60-4902-4186-AFB0-C507DA11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1993392"/>
            <a:ext cx="31272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3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≥1000 CFU/mL operational lower-bound rule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4B0312EE-35F4-47F0-98CC-6248849E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432304"/>
            <a:ext cx="4828032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5E7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235D4E0-3548-43DE-9035-9E314782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23744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Genome size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7883B74D-133F-4C6C-8B0A-5AED7F24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2523744"/>
            <a:ext cx="31272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3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4–6 Mb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EAE4312-1184-425D-AD22-7C51067D2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962656"/>
            <a:ext cx="4828032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7620">
            <a:solidFill>
              <a:srgbClr val="E5E7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5BCAFA4-7F03-46D5-8C7C-EBE8D67A8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054096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Assembly structure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973904A-F8A3-414D-BFD9-0653990D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3054096"/>
            <a:ext cx="31272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3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≤200 contigs; N50 ≥20 kb; 4–6 Mb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5E5CCCC-C9E5-4293-8C9A-CD41C6AE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493008"/>
            <a:ext cx="4828032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5E7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56DCA0A-1221-4D9B-B11B-7E71A8AD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584448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Direct strain support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D257728-6D3E-4061-9FBE-C039F9E4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3584448"/>
            <a:ext cx="31272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3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≤25 dnadiff SNPs; operational, uncalibrated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EC3793E-EB3C-42E8-806E-B13E5BD3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023360"/>
            <a:ext cx="4828032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7620">
            <a:solidFill>
              <a:srgbClr val="E5E7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5DDFB1D-5FA1-4290-B9BD-A73E8764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114800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VFDB screen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A9D56EB-E99E-4A09-AAC2-61071850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4114800"/>
            <a:ext cx="31272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3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≥80% identity and ≥80% coverage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C1FEE6EF-1611-408F-B2FF-74371E1D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553712"/>
            <a:ext cx="4828032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5E7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CB83800-E9D3-49E0-B68F-A671376F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45152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Provider MLST QC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2C2196A-B2E9-4182-AE82-03337DB9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4645152"/>
            <a:ext cx="31272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3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PercGoodTargets ≥95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F67127B7-3F82-4920-97F0-3A48D5CE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901952"/>
            <a:ext cx="4828032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7620">
            <a:solidFill>
              <a:srgbClr val="E5E7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01B348B-A581-40A1-BFE7-AC3D99C83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993392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Selected inputs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FF7A669F-FB45-492A-8E11-6B33C300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1993392"/>
            <a:ext cx="31272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3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Longcycler only; one selected QC-pass assembly per episode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2AC218D-4B34-4AAB-A54E-C55F44DD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432304"/>
            <a:ext cx="4828032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5E7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8CBFF89-0322-4234-A533-53448DE4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523744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VF + clinical join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A4871BED-1519-4078-97A7-A927746B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2523744"/>
            <a:ext cx="31272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3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VFDB calls joined by exact selected episode key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22F60FD2-3C38-45AC-ADF7-5CF014B8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962656"/>
            <a:ext cx="4828032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7620">
            <a:solidFill>
              <a:srgbClr val="E5E7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E484AA3-9A08-4BF6-AFC2-E3412F3F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054096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Lineage context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FF436AA-CFB5-4A61-B787-DA18255F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3054096"/>
            <a:ext cx="31272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3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Key-linked provider calls; labelled local fallback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BC72F942-D6CF-4258-8145-90C3862D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3493008"/>
            <a:ext cx="4828032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5E7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D0A6C1BE-7341-4FE9-A325-4261911E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584448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Pairwise similarity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A3F2A7C7-5F38-42D4-BF44-C6C1CB78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3584448"/>
            <a:ext cx="31272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3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MUMmer dnadiff + Mash; content hashes retained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130F92F9-AC8B-458A-9566-7C6BF0E8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4023360"/>
            <a:ext cx="4828032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7620">
            <a:solidFill>
              <a:srgbClr val="E5E7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9B71EC9B-524C-4955-B40A-5B771985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114800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Population context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78E7C118-EF0D-4301-B633-620A7B98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114800"/>
            <a:ext cx="31272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3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Parsnp/snp-dists; Prokka/Panaroo on selected inputs</a:t>
            </a:r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66A001B2-0BB9-4890-968B-D3C853B7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4553712"/>
            <a:ext cx="4828032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E5E7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44C5EF45-23C2-4E8B-B025-60B1D5F6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645152"/>
            <a:ext cx="128016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RQ release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C6D01389-452E-4E6A-97E6-178A4815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645152"/>
            <a:ext cx="3127248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3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RQ01–RQ10 form the numbered main pipeline</a:t>
            </a:r>
          </a:p>
        </p:txBody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539111D2-8E4B-44FF-A73A-FFBE1214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5596128"/>
            <a:ext cx="8503920" cy="49377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1016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034339E3-EC98-4F93-BB92-3521DE24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5676900"/>
            <a:ext cx="8174736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2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Boundaries to state</a:t>
            </a:r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B6F92469-9899-477C-AC3C-E22412DD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5886450"/>
            <a:ext cx="8174736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20">
                <a:solidFill>
                  <a:srgbClr val="64748B"/>
                </a:solidFill>
                <a:latin typeface="Aptos"/>
                <a:ea typeface="Aptos"/>
                <a:cs typeface="Aptos"/>
              </a:rPr>
              <a:t>Read coverage, completeness and contamination are not part of the implemented assembly-QC screen; the operational phenotype is not the full published protocol.</a:t>
            </a:r>
          </a:p>
        </p:txBody>
      </p:sp>
    </p:spTree>
    <p:extLst>
      <p:ext uri="{BB962C8B-B14F-4D97-AF65-F5344CB8AC3E}">
        <p14:creationId xmlns:p14="http://schemas.microsoft.com/office/powerpoint/2010/main" val="10885791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0BD7F2B-897A-44BF-BFA0-42F266D0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0E2526A-E171-4686-B610-7F3CCB8E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788900E8-EF69-448F-8C0A-2AD7187D1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74320"/>
            <a:ext cx="8412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APPENDIX / SCRIPT MAP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F0C91C1-4746-476F-BC7A-687B368A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530352"/>
            <a:ext cx="1088136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Direct claim-producing scripts form the traceability core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797EF10-CBB1-466B-9A6E-FAEA8DFC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987552"/>
            <a:ext cx="10698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64748B"/>
                </a:solidFill>
                <a:latin typeface="Aptos"/>
                <a:ea typeface="Aptos"/>
                <a:cs typeface="Aptos"/>
              </a:rPr>
              <a:t>Each release claim resolves to the selected cohort, a claim-linked producer and an exact generated output.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0195517-F54A-4781-B91B-D9CE2B98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44168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9B6A799-4C33-4DC6-B11B-C15CFC894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37376"/>
            <a:ext cx="11137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A140570-425D-4521-BB24-74B11498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614" y="6510528"/>
            <a:ext cx="792861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Source: Longcycler release claim registry and claim-linked outputs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3244E99-6289-403D-BF58-0829324D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7080" y="6510528"/>
            <a:ext cx="71323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60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15C5E80-1F02-4033-8F39-CAEFFBAF6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627632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6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5E7ADD1-A1B3-4BDB-A3A2-604CF76A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198" y="1773936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Operational phenotype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6B8AED5-6F8A-4AE8-ABFD-B444A4C3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94560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00a/00b create the versioned UTI_Status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4D8E0AE-9458-45FD-8F39-3E62D5AD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737360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9F71501-2462-4944-933F-F0C56766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1783080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061708A-A56C-4C83-A389-FE1EB0C8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1993392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clinical input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5DE4582-90B0-4975-9F4A-CBA07365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121408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94A3B8"/>
            </a:solidFill>
            <a:prstDash val="solid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F3622A0-9863-41B4-BD14-C09B98B0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627632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6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164459E-2AF7-47A7-B083-853CD213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5662" y="1773936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Selected cohort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87A05AC-A04A-4572-AF2E-085E6E21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2194560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12a publishes the exact 532-row manifest and clinical cohort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847DDD59-6611-41CA-A745-84B37FB7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1737360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77839384-9C62-4342-B2A7-29EB4AAA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1783080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CC50919-F3A1-4620-8E37-99443228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1993392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input contract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E9A8CBD-6D9B-46CA-8CD8-C4A6A93F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2121408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94A3B8"/>
            </a:solidFill>
            <a:prstDash val="solid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C90DDA0E-AA6D-4A5B-A459-9A608DBD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4" y="1627632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F40DCDD-4EAA-4A65-A8E4-C0DC697F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8126" y="1773936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VFDB screening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07FF2C3-7A66-4C91-8C13-32ADDB4E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2194560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02 creates 227 binary features on selected inputs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FC66E052-F211-48C0-8ABE-22C7B452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737360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6676914-C4B3-4FE9-99BF-16400EFF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783080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24F11CA-C7DA-439A-848D-E41B3803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1993392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feature input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A033C278-6560-4D60-8BA4-1242BA42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3035808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CC0D0D1-6119-4CE1-A25D-E542A0D9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198" y="3182112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MLST context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22E6314-6EA2-4153-ADFA-72165589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602736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06 uses key-linked provider calls and labelled local fallback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0690991E-297F-4B60-B4F3-06E6A591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45536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C29268DB-52C6-443F-BB64-ACCE654C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91256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D2F588AA-950F-48CC-A227-ECE9BFA6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3401568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lineage input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2F338317-9440-4FA8-9AB8-627CDC7C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3529584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94A3B8"/>
            </a:solidFill>
            <a:prstDash val="solid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4F0AEE18-FC67-4A52-A8CB-E55FD6071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035808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29680AB-70E3-48D4-9357-06AD1B67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5662" y="3182112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Direct pairs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2A7FDD3D-ADDB-4B76-9786-83ADF68D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3602736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11 + helper publish 893 hash-bound comparisons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CA7E285C-440C-4ED3-BF80-8646B25A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145536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E67CE7E8-17D9-47BA-9E36-154492E22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191256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CDE17D5-394D-4A30-984E-2A95CF13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3401568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direct evidence</a:t>
            </a:r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E17931E0-E173-4430-B9A0-2D52E585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3529584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94A3B8"/>
            </a:solidFill>
            <a:prstDash val="solid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163FAFF7-78F9-4865-A686-2A211CDF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4" y="3035808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1FA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EA3FB5DD-C9F0-4FFB-8B83-CD8E1728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8126" y="3182112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Adjacent transitions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31D05D0D-F768-4D16-A77A-950C140A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3602736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24 rebuilds 371 pairs from 139 residents</a:t>
            </a:r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C270A081-0943-4F66-AA75-7835B162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145536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624433C6-8CB7-4D54-AD7A-BB7DF87C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191256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95D58DE0-6135-4085-A3E4-B137BE8C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401568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longitudinal evidence</a:t>
            </a:r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171F7D42-D644-465C-917A-3A40B8EA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4443984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7EAA5F6A-4C47-4999-B612-D60AF885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198" y="4590288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Focused casebook</a:t>
            </a:r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4905C803-EC85-4E8D-8640-A179792B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10912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9 cases; 9 linked; 0 missing</a:t>
            </a:r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2BA912E8-48CA-48D8-9A54-F2A18CCE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553712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85598882-BD26-4358-9D4C-DF7B503D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599432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7E3DAFF9-5BD6-41F6-8C41-4485A9FD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" y="4809744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mechanism traceability</a:t>
            </a:r>
          </a:p>
        </p:txBody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C98A8798-7CF0-4980-9225-92BF6F8F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4937760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94A3B8"/>
            </a:solidFill>
            <a:prstDash val="solid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1B5857EA-51ED-4884-9452-D5405695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443984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476557F8-1D37-48EF-8AD0-8C0F783B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5662" y="4590288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Near-miss audit</a:t>
            </a:r>
          </a:p>
        </p:txBody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9EE15394-836E-49B1-9FCE-E79DF1A6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5010912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17 rows remain separate from operational UTI cases</a:t>
            </a:r>
          </a:p>
        </p:txBody>
      </p:sp>
      <p:sp>
        <p:nvSpPr>
          <p:cNvPr id="61" name="Shape 59">
            <a:extLst xmlns:a="http://schemas.openxmlformats.org/drawingml/2006/main">
              <a:ext uri="{FF2B5EF4-FFF2-40B4-BE49-F238E27FC236}">
                <a16:creationId xmlns:a16="http://schemas.microsoft.com/office/drawing/2014/main" id="{30724F39-F1D2-47E2-A093-448C81CB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4553712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E07C2357-1ECA-4EED-9FE1-CCD31AAA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4599432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48D49311-021A-499B-AD1D-5674633D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4809744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audit boundary</a:t>
            </a:r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FBCB687E-6996-41F3-B26E-2C2A3B27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84" y="4937760"/>
            <a:ext cx="3657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94A3B8"/>
            </a:solidFill>
            <a:prstDash val="solid"/>
            <a:tailEnd type="triangle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" name="Shape 63">
            <a:extLst xmlns:a="http://schemas.openxmlformats.org/drawingml/2006/main">
              <a:ext uri="{FF2B5EF4-FFF2-40B4-BE49-F238E27FC236}">
                <a16:creationId xmlns:a16="http://schemas.microsoft.com/office/drawing/2014/main" id="{83A4A405-BE7D-4694-AA4F-86437321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4" y="4443984"/>
            <a:ext cx="3218688" cy="9875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3F8"/>
          </a:solidFill>
          <a:ln xmlns:a="http://schemas.openxmlformats.org/drawingml/2006/main" w="10160">
            <a:solidFill>
              <a:srgbClr val="D8DEE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" name="Text 64">
            <a:extLst xmlns:a="http://schemas.openxmlformats.org/drawingml/2006/main">
              <a:ext uri="{FF2B5EF4-FFF2-40B4-BE49-F238E27FC236}">
                <a16:creationId xmlns:a16="http://schemas.microsoft.com/office/drawing/2014/main" id="{1C49F921-535C-4113-8208-41222E8D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8126" y="4590288"/>
            <a:ext cx="252755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4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RQ release</a:t>
            </a:r>
          </a:p>
        </p:txBody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6BC5CE90-F652-4E58-82C2-44FBB31D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6176" y="5010912"/>
            <a:ext cx="288950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10">
                <a:solidFill>
                  <a:srgbClr val="64748B"/>
                </a:solidFill>
                <a:latin typeface="Aptos"/>
                <a:ea typeface="Aptos"/>
                <a:cs typeface="Aptos"/>
              </a:rPr>
              <a:t>RQ01–RQ10 publish the numbered main analysis layer</a:t>
            </a:r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2C722DE7-788B-41D3-9295-FA50EAD4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4553712"/>
            <a:ext cx="256032" cy="2560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CF22FF9E-AF6E-4BF5-BFA7-768279C2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4599432"/>
            <a:ext cx="256032" cy="91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87255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70" name="Text 68">
            <a:extLst xmlns:a="http://schemas.openxmlformats.org/drawingml/2006/main">
              <a:ext uri="{FF2B5EF4-FFF2-40B4-BE49-F238E27FC236}">
                <a16:creationId xmlns:a16="http://schemas.microsoft.com/office/drawing/2014/main" id="{AB095B07-059E-4247-A72D-DA582D55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809744"/>
            <a:ext cx="256032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508" tIns="508" rIns="508" bIns="508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690">
                <a:solidFill>
                  <a:srgbClr val="64748B"/>
                </a:solidFill>
                <a:latin typeface="Aptos Mono"/>
                <a:ea typeface="Aptos Mono"/>
                <a:cs typeface="Aptos Mono"/>
              </a:rPr>
              <a:t>release completion</a:t>
            </a:r>
          </a:p>
        </p:txBody>
      </p:sp>
    </p:spTree>
    <p:extLst>
      <p:ext uri="{BB962C8B-B14F-4D97-AF65-F5344CB8AC3E}">
        <p14:creationId xmlns:p14="http://schemas.microsoft.com/office/powerpoint/2010/main" val="130100505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2026-07-15T07:23:06.5490000Z</dcterms:created>
  <dcterms:modified xsi:type="dcterms:W3CDTF">2026-07-15T07:23:06.5490000Z</dcterms:modified>
</coreProperties>
</file>