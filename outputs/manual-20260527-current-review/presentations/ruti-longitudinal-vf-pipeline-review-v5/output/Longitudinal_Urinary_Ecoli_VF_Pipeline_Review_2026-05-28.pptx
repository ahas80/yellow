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d9e9175d4f4d19" /><Relationship Type="http://schemas.openxmlformats.org/officeDocument/2006/relationships/extended-properties" Target="/docProps/app.xml" Id="Reaf62c0a4fde418a" /><Relationship Type="http://schemas.openxmlformats.org/officeDocument/2006/relationships/officeDocument" Target="/ppt/presentation.xml" Id="R9ccbe674b1c644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8db5dbe3284755"/>
  </p:sldMasterIdLst>
  <p:notesMasterIdLst>
    <p:notesMasterId xmlns:r="http://schemas.openxmlformats.org/officeDocument/2006/relationships" r:id="Rfae56869ae334ca7"/>
  </p:notesMasterIdLst>
  <p:sldIdLst>
    <p:sldId xmlns:r="http://schemas.openxmlformats.org/officeDocument/2006/relationships" id="256" r:id="R9b0011cccaca4468"/>
    <p:sldId xmlns:r="http://schemas.openxmlformats.org/officeDocument/2006/relationships" id="257" r:id="Rfb36c3fd75df45a7"/>
    <p:sldId xmlns:r="http://schemas.openxmlformats.org/officeDocument/2006/relationships" id="258" r:id="R0a19af341f45476a"/>
    <p:sldId xmlns:r="http://schemas.openxmlformats.org/officeDocument/2006/relationships" id="259" r:id="R13a7624396474679"/>
    <p:sldId xmlns:r="http://schemas.openxmlformats.org/officeDocument/2006/relationships" id="260" r:id="Ra27b716dce6f4ff5"/>
    <p:sldId xmlns:r="http://schemas.openxmlformats.org/officeDocument/2006/relationships" id="261" r:id="Rfb1fe32645694506"/>
    <p:sldId xmlns:r="http://schemas.openxmlformats.org/officeDocument/2006/relationships" id="262" r:id="R5551692a0f104ae2"/>
    <p:sldId xmlns:r="http://schemas.openxmlformats.org/officeDocument/2006/relationships" id="263" r:id="Rf5bdebfa9d604920"/>
    <p:sldId xmlns:r="http://schemas.openxmlformats.org/officeDocument/2006/relationships" id="264" r:id="Rca409fdd02334a0b"/>
    <p:sldId xmlns:r="http://schemas.openxmlformats.org/officeDocument/2006/relationships" id="265" r:id="R1cd4aca040764277"/>
    <p:sldId xmlns:r="http://schemas.openxmlformats.org/officeDocument/2006/relationships" id="266" r:id="R246ee95ff4d04ece"/>
    <p:sldId xmlns:r="http://schemas.openxmlformats.org/officeDocument/2006/relationships" id="267" r:id="R54f3ca5bcf9e4a5c"/>
    <p:sldId xmlns:r="http://schemas.openxmlformats.org/officeDocument/2006/relationships" id="268" r:id="Refc6ed8cae224c4c"/>
    <p:sldId xmlns:r="http://schemas.openxmlformats.org/officeDocument/2006/relationships" id="269" r:id="Rf06f66e830e148da"/>
    <p:sldId xmlns:r="http://schemas.openxmlformats.org/officeDocument/2006/relationships" id="270" r:id="Rcd2ed2bf5a954602"/>
    <p:sldId xmlns:r="http://schemas.openxmlformats.org/officeDocument/2006/relationships" id="271" r:id="R2a6dd29db4ca4d6a"/>
    <p:sldId xmlns:r="http://schemas.openxmlformats.org/officeDocument/2006/relationships" id="272" r:id="Red9f72480db2453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937d71bcb74ae0" /><Relationship Type="http://schemas.openxmlformats.org/officeDocument/2006/relationships/slideMaster" Target="/ppt/slideMasters/slideMaster1.xml" Id="R0d8db5dbe3284755" /><Relationship Type="http://schemas.openxmlformats.org/officeDocument/2006/relationships/notesMaster" Target="/ppt/notesMasters/notesMaster1.xml" Id="Rfae56869ae334ca7" /><Relationship Type="http://schemas.openxmlformats.org/officeDocument/2006/relationships/presProps" Target="/ppt/presProps.xml" Id="R959ae7e35799436e" /><Relationship Type="http://schemas.openxmlformats.org/officeDocument/2006/relationships/tableStyles" Target="/ppt/tableStyles.xml" Id="Rdef06a915fcb4bb7" /><Relationship Type="http://schemas.openxmlformats.org/officeDocument/2006/relationships/slide" Target="/ppt/slides/slide1.xml" Id="R9b0011cccaca4468" /><Relationship Type="http://schemas.openxmlformats.org/officeDocument/2006/relationships/slide" Target="/ppt/slides/slide2.xml" Id="Rfb36c3fd75df45a7" /><Relationship Type="http://schemas.openxmlformats.org/officeDocument/2006/relationships/slide" Target="/ppt/slides/slide3.xml" Id="R0a19af341f45476a" /><Relationship Type="http://schemas.openxmlformats.org/officeDocument/2006/relationships/slide" Target="/ppt/slides/slide4.xml" Id="R13a7624396474679" /><Relationship Type="http://schemas.openxmlformats.org/officeDocument/2006/relationships/slide" Target="/ppt/slides/slide5.xml" Id="Ra27b716dce6f4ff5" /><Relationship Type="http://schemas.openxmlformats.org/officeDocument/2006/relationships/slide" Target="/ppt/slides/slide6.xml" Id="Rfb1fe32645694506" /><Relationship Type="http://schemas.openxmlformats.org/officeDocument/2006/relationships/slide" Target="/ppt/slides/slide7.xml" Id="R5551692a0f104ae2" /><Relationship Type="http://schemas.openxmlformats.org/officeDocument/2006/relationships/slide" Target="/ppt/slides/slide8.xml" Id="Rf5bdebfa9d604920" /><Relationship Type="http://schemas.openxmlformats.org/officeDocument/2006/relationships/slide" Target="/ppt/slides/slide9.xml" Id="Rca409fdd02334a0b" /><Relationship Type="http://schemas.openxmlformats.org/officeDocument/2006/relationships/slide" Target="/ppt/slides/slide10.xml" Id="R1cd4aca040764277" /><Relationship Type="http://schemas.openxmlformats.org/officeDocument/2006/relationships/slide" Target="/ppt/slides/slide11.xml" Id="R246ee95ff4d04ece" /><Relationship Type="http://schemas.openxmlformats.org/officeDocument/2006/relationships/slide" Target="/ppt/slides/slide12.xml" Id="R54f3ca5bcf9e4a5c" /><Relationship Type="http://schemas.openxmlformats.org/officeDocument/2006/relationships/slide" Target="/ppt/slides/slide13.xml" Id="Refc6ed8cae224c4c" /><Relationship Type="http://schemas.openxmlformats.org/officeDocument/2006/relationships/slide" Target="/ppt/slides/slide14.xml" Id="Rf06f66e830e148da" /><Relationship Type="http://schemas.openxmlformats.org/officeDocument/2006/relationships/slide" Target="/ppt/slides/slide15.xml" Id="Rcd2ed2bf5a954602" /><Relationship Type="http://schemas.openxmlformats.org/officeDocument/2006/relationships/slide" Target="/ppt/slides/slide16.xml" Id="R2a6dd29db4ca4d6a" /><Relationship Type="http://schemas.openxmlformats.org/officeDocument/2006/relationships/slide" Target="/ppt/slides/slide17.xml" Id="Red9f72480db245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372534c23d4a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b30d854dc04a95" /><Relationship Type="http://schemas.openxmlformats.org/officeDocument/2006/relationships/notesMaster" Target="/ppt/notesMasters/notesMaster1.xml" Id="Rf989d449980749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e8db7049284ccd" /><Relationship Type="http://schemas.openxmlformats.org/officeDocument/2006/relationships/notesMaster" Target="/ppt/notesMasters/notesMaster1.xml" Id="Rd3de09c01a0045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24003142914b16" /><Relationship Type="http://schemas.openxmlformats.org/officeDocument/2006/relationships/notesMaster" Target="/ppt/notesMasters/notesMaster1.xml" Id="R83729e3829e44c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95317d397e44ab" /><Relationship Type="http://schemas.openxmlformats.org/officeDocument/2006/relationships/notesMaster" Target="/ppt/notesMasters/notesMaster1.xml" Id="R22e35322508c45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d1bef3f5c74250" /><Relationship Type="http://schemas.openxmlformats.org/officeDocument/2006/relationships/notesMaster" Target="/ppt/notesMasters/notesMaster1.xml" Id="Re7fa5f37dec048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c64560e7b84c6b" /><Relationship Type="http://schemas.openxmlformats.org/officeDocument/2006/relationships/notesMaster" Target="/ppt/notesMasters/notesMaster1.xml" Id="R3b18966262b84be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a4c6a27ab04086" /><Relationship Type="http://schemas.openxmlformats.org/officeDocument/2006/relationships/notesMaster" Target="/ppt/notesMasters/notesMaster1.xml" Id="R6dbf0da0131e404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236abfa25f4585" /><Relationship Type="http://schemas.openxmlformats.org/officeDocument/2006/relationships/notesMaster" Target="/ppt/notesMasters/notesMaster1.xml" Id="Ra5d90d5916db4da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4d1ef9e175b4ac9" /><Relationship Type="http://schemas.openxmlformats.org/officeDocument/2006/relationships/notesMaster" Target="/ppt/notesMasters/notesMaster1.xml" Id="R196f9e2cb8dd49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adc7c9d2db4388" /><Relationship Type="http://schemas.openxmlformats.org/officeDocument/2006/relationships/notesMaster" Target="/ppt/notesMasters/notesMaster1.xml" Id="Rcf083e33ae1b421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357abf2a234f2e" /><Relationship Type="http://schemas.openxmlformats.org/officeDocument/2006/relationships/notesMaster" Target="/ppt/notesMasters/notesMaster1.xml" Id="Rcaf643ed1b574b4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854e5c716374fc0" /><Relationship Type="http://schemas.openxmlformats.org/officeDocument/2006/relationships/notesMaster" Target="/ppt/notesMasters/notesMaster1.xml" Id="Rea8e2f8655b54e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2ba4f5ccc6a481d" /><Relationship Type="http://schemas.openxmlformats.org/officeDocument/2006/relationships/notesMaster" Target="/ppt/notesMasters/notesMaster1.xml" Id="Ra653a5b141494d6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43e496611c043b1" /><Relationship Type="http://schemas.openxmlformats.org/officeDocument/2006/relationships/notesMaster" Target="/ppt/notesMasters/notesMaster1.xml" Id="R31256d68f87e427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ad71f27f21e448d" /><Relationship Type="http://schemas.openxmlformats.org/officeDocument/2006/relationships/notesMaster" Target="/ppt/notesMasters/notesMaster1.xml" Id="R689fa78a5296429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f3105daf2ca4349" /><Relationship Type="http://schemas.openxmlformats.org/officeDocument/2006/relationships/notesMaster" Target="/ppt/notesMasters/notesMaster1.xml" Id="Rcdc9b23c563640b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caf83257b1f4458" /><Relationship Type="http://schemas.openxmlformats.org/officeDocument/2006/relationships/notesMaster" Target="/ppt/notesMasters/notesMaster1.xml" Id="Ra4e43b22be844a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Title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Set the scope immediately: selected QC-passing Longcycler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Operational UTI is an exploratory annotation.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Plain-English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Orient the audience before showing analytical plots.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Keep the selected assembly and operational phenotype explicit.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Units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Explain why counts change when the unit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583 source episodes are attrition/QC context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Operational phenotype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Define how the project labels episodes.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The label is not a universal clinical diagnosis.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Selected cohort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Anchor the analytical denominator.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All analytical genome content comes from selected Longcycler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VF representation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Explain genes, modules, and longitudinal summaries.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Presence/absence is not expression or function.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Paired repertoire views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Show gene-level and module-level views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Treat modules as curation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Stability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Use the explicit direct and adjacent pair denominators.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Profile stability is descriptive.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Gain/loss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Flag candidates for follow-up.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Change needs lineage and genome-distance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Lineage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Use MLST as a diagnostic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ST agreement does not prove the same strain.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Clinical overlay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Keep the sparse operational phenotype denominator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Exploratory observational analysis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Focused transitions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Report 9 transitions, 5 at threshold, and a complete 9-case casebook.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Do not infer mechanism from low SNP distance alone.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Close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Summarise evidence, boundary, and next steps.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Keep causality outside the supported claim set.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Handover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Show the operational entry points.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Research questions run RQ01 through RQ10.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Pipeline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Use the numbered release pipeline for behind-the-scenes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All stages consume the selected analytical cohort.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Casebook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Use the complete nine-case casebook for transition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Buckets organise evidence; they do not prove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SLIDE: Robustness and lineage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 Keep these two diagnostic aids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BOUNDARY: Near-miss rows are not operational UTI cases.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b9237b23ac49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29336485e44373" /><Relationship Type="http://schemas.openxmlformats.org/officeDocument/2006/relationships/slideLayout" Target="/ppt/slideLayouts/slideLayout1.xml" Id="Rf4e88bdae937471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e88bdae937471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a20dcb5e564cad" /><Relationship Type="http://schemas.openxmlformats.org/officeDocument/2006/relationships/notesSlide" Target="/ppt/notesSlides/notesSlide1.xml" Id="Rf06014f8b9f841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9ab43f6fcf4d3c" /><Relationship Type="http://schemas.openxmlformats.org/officeDocument/2006/relationships/notesSlide" Target="/ppt/notesSlides/notesSlide2.xml" Id="R0cf8b6bff5354f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9e54d4ebf41ee" /><Relationship Type="http://schemas.openxmlformats.org/officeDocument/2006/relationships/notesSlide" Target="/ppt/notesSlides/notesSlide3.xml" Id="R39a09a93ebed47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6febe3ad949a4" /><Relationship Type="http://schemas.openxmlformats.org/officeDocument/2006/relationships/notesSlide" Target="/ppt/notesSlides/notesSlide4.xml" Id="R31465a452ebf4f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39a107cb74ab7" /><Relationship Type="http://schemas.openxmlformats.org/officeDocument/2006/relationships/notesSlide" Target="/ppt/notesSlides/notesSlide5.xml" Id="Re19be1fa936b4f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0c9e307dbd4a73" /><Relationship Type="http://schemas.openxmlformats.org/officeDocument/2006/relationships/notesSlide" Target="/ppt/notesSlides/notesSlide6.xml" Id="R074ef6dcf4e5461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ecfc09fffa45a2" /><Relationship Type="http://schemas.openxmlformats.org/officeDocument/2006/relationships/image" Target="/ppt/media/image.png" Id="Re78a5856c03849d1" /><Relationship Type="http://schemas.openxmlformats.org/officeDocument/2006/relationships/image" Target="/ppt/media/image2.png" Id="R1669578709db42ca" /><Relationship Type="http://schemas.openxmlformats.org/officeDocument/2006/relationships/notesSlide" Target="/ppt/notesSlides/notesSlide7.xml" Id="R06cfa6ee8550460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63bbfd283f4991" /><Relationship Type="http://schemas.openxmlformats.org/officeDocument/2006/relationships/image" Target="/ppt/media/image3.png" Id="Rd2db1c773bf34cce" /><Relationship Type="http://schemas.openxmlformats.org/officeDocument/2006/relationships/notesSlide" Target="/ppt/notesSlides/notesSlide8.xml" Id="R8ec6c58215a249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a2f8d73574a55" /><Relationship Type="http://schemas.openxmlformats.org/officeDocument/2006/relationships/image" Target="/ppt/media/image4.png" Id="R2afafb5f5f6d4d92" /><Relationship Type="http://schemas.openxmlformats.org/officeDocument/2006/relationships/notesSlide" Target="/ppt/notesSlides/notesSlide9.xml" Id="Rfbd8132cb9324be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8276d8e3d24a82" /><Relationship Type="http://schemas.openxmlformats.org/officeDocument/2006/relationships/image" Target="/ppt/media/image5.png" Id="R85323835e29446c9" /><Relationship Type="http://schemas.openxmlformats.org/officeDocument/2006/relationships/notesSlide" Target="/ppt/notesSlides/notesSlide10.xml" Id="R72f6f37552b84b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26cfd0df04c81" /><Relationship Type="http://schemas.openxmlformats.org/officeDocument/2006/relationships/image" Target="/ppt/media/image6.png" Id="R7bf48ed37d1541a0" /><Relationship Type="http://schemas.openxmlformats.org/officeDocument/2006/relationships/notesSlide" Target="/ppt/notesSlides/notesSlide11.xml" Id="R052a75ef6fcf401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d5459e4e524522" /><Relationship Type="http://schemas.openxmlformats.org/officeDocument/2006/relationships/notesSlide" Target="/ppt/notesSlides/notesSlide12.xml" Id="Rbc7423149006414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0054f379c4db5" /><Relationship Type="http://schemas.openxmlformats.org/officeDocument/2006/relationships/notesSlide" Target="/ppt/notesSlides/notesSlide13.xml" Id="R7a28ea09a9ba4dc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0b7e2638c42f9" /><Relationship Type="http://schemas.openxmlformats.org/officeDocument/2006/relationships/notesSlide" Target="/ppt/notesSlides/notesSlide14.xml" Id="R3dbd704f3502460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a86a87be744d5" /><Relationship Type="http://schemas.openxmlformats.org/officeDocument/2006/relationships/notesSlide" Target="/ppt/notesSlides/notesSlide15.xml" Id="R1dbbcac32c57480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f7b4eb4b04302" /><Relationship Type="http://schemas.openxmlformats.org/officeDocument/2006/relationships/image" Target="/ppt/media/image7.png" Id="R29a3959cc4ed45af" /><Relationship Type="http://schemas.openxmlformats.org/officeDocument/2006/relationships/notesSlide" Target="/ppt/notesSlides/notesSlide16.xml" Id="Ra5671b4f4de2427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65d7f026d44caf" /><Relationship Type="http://schemas.openxmlformats.org/officeDocument/2006/relationships/image" Target="/ppt/media/image8.png" Id="Rcccb9ec71c6c46b9" /><Relationship Type="http://schemas.openxmlformats.org/officeDocument/2006/relationships/image" Target="/ppt/media/image9.png" Id="Rd0efc7b933e4425b" /><Relationship Type="http://schemas.openxmlformats.org/officeDocument/2006/relationships/notesSlide" Target="/ppt/notesSlides/notesSlide17.xml" Id="R81b89b8d9021411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FB2687D-A189-4ED6-91BD-6689C060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309CE46-6E42-42AF-9F05-B0F3F833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chrome-62-54-1080-22">
            <a:extLst xmlns:a="http://schemas.openxmlformats.org/drawingml/2006/main">
              <a:ext uri="{FF2B5EF4-FFF2-40B4-BE49-F238E27FC236}">
                <a16:creationId xmlns:a16="http://schemas.microsoft.com/office/drawing/2014/main" id="{722D769D-2059-42A6-9C2F-06118B49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4350"/>
            <a:ext cx="1028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CURRENT REVIEW  /  SELECTED LONGCYCLER ANALYSIS</a:t>
            </a:r>
          </a:p>
        </p:txBody>
      </p:sp>
      <p:sp>
        <p:nvSpPr>
          <p:cNvPr id="4" name="body-62-92-1120-90">
            <a:extLst xmlns:a="http://schemas.openxmlformats.org/drawingml/2006/main">
              <a:ext uri="{FF2B5EF4-FFF2-40B4-BE49-F238E27FC236}">
                <a16:creationId xmlns:a16="http://schemas.microsoft.com/office/drawing/2014/main" id="{4AE38C82-D0E7-487D-870C-F2A1C6F9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76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Virulence-factor profiling of longitudinal urinary E. coli isolates</a:t>
            </a:r>
          </a:p>
        </p:txBody>
      </p:sp>
      <p:sp>
        <p:nvSpPr>
          <p:cNvPr id="5" name="body-62-190-1000-28">
            <a:extLst xmlns:a="http://schemas.openxmlformats.org/drawingml/2006/main">
              <a:ext uri="{FF2B5EF4-FFF2-40B4-BE49-F238E27FC236}">
                <a16:creationId xmlns:a16="http://schemas.microsoft.com/office/drawing/2014/main" id="{A97C376C-8424-4640-AF95-AF261962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0"/>
            <a:ext cx="952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One selected QC-passing assembly per episode; operational UTI overlay remains exploratory</a:t>
            </a:r>
          </a:p>
        </p:txBody>
      </p:sp>
      <p:sp>
        <p:nvSpPr>
          <p:cNvPr id="6" name="card-What VF repertoire is present?">
            <a:extLst xmlns:a="http://schemas.openxmlformats.org/drawingml/2006/main">
              <a:ext uri="{FF2B5EF4-FFF2-40B4-BE49-F238E27FC236}">
                <a16:creationId xmlns:a16="http://schemas.microsoft.com/office/drawing/2014/main" id="{3A978A64-3098-4594-9078-3DF59431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238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E8F1FA"/>
            </a:solidFill>
            <a:prstDash val="solid"/>
          </a:ln>
        </p:spPr>
      </p:sp>
      <p:sp>
        <p:nvSpPr>
          <p:cNvPr id="7" name="label-80-294-308-18">
            <a:extLst xmlns:a="http://schemas.openxmlformats.org/drawingml/2006/main">
              <a:ext uri="{FF2B5EF4-FFF2-40B4-BE49-F238E27FC236}">
                <a16:creationId xmlns:a16="http://schemas.microsoft.com/office/drawing/2014/main" id="{0E193C21-77AE-4E6B-A0B1-71485558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035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Question 1</a:t>
            </a:r>
          </a:p>
        </p:txBody>
      </p:sp>
      <p:sp>
        <p:nvSpPr>
          <p:cNvPr id="8" name="heading-80-318-308-26">
            <a:extLst xmlns:a="http://schemas.openxmlformats.org/drawingml/2006/main">
              <a:ext uri="{FF2B5EF4-FFF2-40B4-BE49-F238E27FC236}">
                <a16:creationId xmlns:a16="http://schemas.microsoft.com/office/drawing/2014/main" id="{5986C6B6-BB31-476F-BD6D-B7C0D473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2933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What VF repertoire is present?</a:t>
            </a:r>
          </a:p>
        </p:txBody>
      </p:sp>
      <p:sp>
        <p:nvSpPr>
          <p:cNvPr id="9" name="body-80-350-308-59">
            <a:extLst xmlns:a="http://schemas.openxmlformats.org/drawingml/2006/main">
              <a:ext uri="{FF2B5EF4-FFF2-40B4-BE49-F238E27FC236}">
                <a16:creationId xmlns:a16="http://schemas.microsoft.com/office/drawing/2014/main" id="{A18AC586-30EB-46B4-8597-77A03FBE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933700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532 selected episodes; 227 binary VF features.</a:t>
            </a:r>
          </a:p>
        </p:txBody>
      </p:sp>
      <p:sp>
        <p:nvSpPr>
          <p:cNvPr id="10" name="card-How stable are profiles over time?">
            <a:extLst xmlns:a="http://schemas.openxmlformats.org/drawingml/2006/main">
              <a:ext uri="{FF2B5EF4-FFF2-40B4-BE49-F238E27FC236}">
                <a16:creationId xmlns:a16="http://schemas.microsoft.com/office/drawing/2014/main" id="{54AC1A9C-9B12-4121-B1B7-2E46F6ABB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47950"/>
            <a:ext cx="3238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EAF7EF"/>
            </a:solidFill>
            <a:prstDash val="solid"/>
          </a:ln>
        </p:spPr>
      </p:sp>
      <p:sp>
        <p:nvSpPr>
          <p:cNvPr id="11" name="label-478-294-308-18">
            <a:extLst xmlns:a="http://schemas.openxmlformats.org/drawingml/2006/main">
              <a:ext uri="{FF2B5EF4-FFF2-40B4-BE49-F238E27FC236}">
                <a16:creationId xmlns:a16="http://schemas.microsoft.com/office/drawing/2014/main" id="{7308249D-B297-4782-8999-B5F67CD0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0035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Question 2</a:t>
            </a:r>
          </a:p>
        </p:txBody>
      </p:sp>
      <p:sp>
        <p:nvSpPr>
          <p:cNvPr id="12" name="heading-478-318-308-26">
            <a:extLst xmlns:a="http://schemas.openxmlformats.org/drawingml/2006/main">
              <a:ext uri="{FF2B5EF4-FFF2-40B4-BE49-F238E27FC236}">
                <a16:creationId xmlns:a16="http://schemas.microsoft.com/office/drawing/2014/main" id="{7032C173-F1DB-41CA-81BD-1F68CC7B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28950"/>
            <a:ext cx="2933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How stable are profiles over time?</a:t>
            </a:r>
          </a:p>
        </p:txBody>
      </p:sp>
      <p:sp>
        <p:nvSpPr>
          <p:cNvPr id="13" name="body-478-350-308-59">
            <a:extLst xmlns:a="http://schemas.openxmlformats.org/drawingml/2006/main">
              <a:ext uri="{FF2B5EF4-FFF2-40B4-BE49-F238E27FC236}">
                <a16:creationId xmlns:a16="http://schemas.microsoft.com/office/drawing/2014/main" id="{EC419FCA-F620-48C2-A053-0DBB1E5E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333750"/>
            <a:ext cx="2933700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893 direct pairs; 371 adjacent transitions.</a:t>
            </a:r>
          </a:p>
        </p:txBody>
      </p:sp>
      <p:sp>
        <p:nvSpPr>
          <p:cNvPr id="14" name="card-How should clinical status be overlaid?">
            <a:extLst xmlns:a="http://schemas.openxmlformats.org/drawingml/2006/main">
              <a:ext uri="{FF2B5EF4-FFF2-40B4-BE49-F238E27FC236}">
                <a16:creationId xmlns:a16="http://schemas.microsoft.com/office/drawing/2014/main" id="{7272467C-72AA-4460-A97F-2C7CF996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32385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FFF4E6"/>
            </a:solidFill>
            <a:prstDash val="solid"/>
          </a:ln>
        </p:spPr>
      </p:sp>
      <p:sp>
        <p:nvSpPr>
          <p:cNvPr id="15" name="label-876-294-308-18">
            <a:extLst xmlns:a="http://schemas.openxmlformats.org/drawingml/2006/main">
              <a:ext uri="{FF2B5EF4-FFF2-40B4-BE49-F238E27FC236}">
                <a16:creationId xmlns:a16="http://schemas.microsoft.com/office/drawing/2014/main" id="{0224640A-B645-4392-A595-D2BE77F1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00350"/>
            <a:ext cx="2933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Question 3</a:t>
            </a:r>
          </a:p>
        </p:txBody>
      </p:sp>
      <p:sp>
        <p:nvSpPr>
          <p:cNvPr id="16" name="heading-876-318-308-26">
            <a:extLst xmlns:a="http://schemas.openxmlformats.org/drawingml/2006/main">
              <a:ext uri="{FF2B5EF4-FFF2-40B4-BE49-F238E27FC236}">
                <a16:creationId xmlns:a16="http://schemas.microsoft.com/office/drawing/2014/main" id="{A36FE155-5AA7-4356-8F67-64392B2C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28950"/>
            <a:ext cx="2933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How should clinical status be overlaid?</a:t>
            </a:r>
          </a:p>
        </p:txBody>
      </p:sp>
      <p:sp>
        <p:nvSpPr>
          <p:cNvPr id="17" name="body-876-350-308-59">
            <a:extLst xmlns:a="http://schemas.openxmlformats.org/drawingml/2006/main">
              <a:ext uri="{FF2B5EF4-FFF2-40B4-BE49-F238E27FC236}">
                <a16:creationId xmlns:a16="http://schemas.microsoft.com/office/drawing/2014/main" id="{2C0D0598-F914-4D65-BE14-CF5FE8EF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33750"/>
            <a:ext cx="2933700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16 operational UTI and 516 operational Not_UTI episodes.</a:t>
            </a:r>
          </a:p>
        </p:txBody>
      </p:sp>
      <p:sp>
        <p:nvSpPr>
          <p:cNvPr id="18" name="metric-selected episodes">
            <a:extLst xmlns:a="http://schemas.openxmlformats.org/drawingml/2006/main">
              <a:ext uri="{FF2B5EF4-FFF2-40B4-BE49-F238E27FC236}">
                <a16:creationId xmlns:a16="http://schemas.microsoft.com/office/drawing/2014/main" id="{898DD2C3-AC3B-4CAC-BA9B-026FF174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62500"/>
            <a:ext cx="1762125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heading-200-512-165-31">
            <a:extLst xmlns:a="http://schemas.openxmlformats.org/drawingml/2006/main">
              <a:ext uri="{FF2B5EF4-FFF2-40B4-BE49-F238E27FC236}">
                <a16:creationId xmlns:a16="http://schemas.microsoft.com/office/drawing/2014/main" id="{968892CA-CF11-448E-B134-26796D79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76800"/>
            <a:ext cx="157162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532</a:t>
            </a:r>
          </a:p>
        </p:txBody>
      </p:sp>
      <p:sp>
        <p:nvSpPr>
          <p:cNvPr id="20" name="body-200-550-165-32">
            <a:extLst xmlns:a="http://schemas.openxmlformats.org/drawingml/2006/main">
              <a:ext uri="{FF2B5EF4-FFF2-40B4-BE49-F238E27FC236}">
                <a16:creationId xmlns:a16="http://schemas.microsoft.com/office/drawing/2014/main" id="{95816A22-62BA-47D2-B394-B64D23D7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238750"/>
            <a:ext cx="1571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6CB0"/>
                </a:solidFill>
                <a:latin typeface="Aptos"/>
                <a:ea typeface="Aptos"/>
                <a:cs typeface="Aptos"/>
              </a:rPr>
              <a:t>selected episodes</a:t>
            </a:r>
          </a:p>
        </p:txBody>
      </p:sp>
      <p:sp>
        <p:nvSpPr>
          <p:cNvPr id="21" name="metric-residents">
            <a:extLst xmlns:a="http://schemas.openxmlformats.org/drawingml/2006/main">
              <a:ext uri="{FF2B5EF4-FFF2-40B4-BE49-F238E27FC236}">
                <a16:creationId xmlns:a16="http://schemas.microsoft.com/office/drawing/2014/main" id="{7B6ABAC4-0C22-4E17-8C56-CC6EF4DE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762500"/>
            <a:ext cx="1762125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heading-425-512-165-31">
            <a:extLst xmlns:a="http://schemas.openxmlformats.org/drawingml/2006/main">
              <a:ext uri="{FF2B5EF4-FFF2-40B4-BE49-F238E27FC236}">
                <a16:creationId xmlns:a16="http://schemas.microsoft.com/office/drawing/2014/main" id="{6147C15E-050D-4996-BA84-2868D335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876800"/>
            <a:ext cx="157162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161</a:t>
            </a:r>
          </a:p>
        </p:txBody>
      </p:sp>
      <p:sp>
        <p:nvSpPr>
          <p:cNvPr id="23" name="body-425-550-165-32">
            <a:extLst xmlns:a="http://schemas.openxmlformats.org/drawingml/2006/main">
              <a:ext uri="{FF2B5EF4-FFF2-40B4-BE49-F238E27FC236}">
                <a16:creationId xmlns:a16="http://schemas.microsoft.com/office/drawing/2014/main" id="{A54D437B-C335-4660-9524-E4D67A0C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238750"/>
            <a:ext cx="1571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residents</a:t>
            </a:r>
          </a:p>
        </p:txBody>
      </p:sp>
      <p:sp>
        <p:nvSpPr>
          <p:cNvPr id="24" name="metric-adjacent transitions">
            <a:extLst xmlns:a="http://schemas.openxmlformats.org/drawingml/2006/main">
              <a:ext uri="{FF2B5EF4-FFF2-40B4-BE49-F238E27FC236}">
                <a16:creationId xmlns:a16="http://schemas.microsoft.com/office/drawing/2014/main" id="{A8219357-B6E6-4B9C-AAC0-238A6EF7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1762125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heading-650-512-165-31">
            <a:extLst xmlns:a="http://schemas.openxmlformats.org/drawingml/2006/main">
              <a:ext uri="{FF2B5EF4-FFF2-40B4-BE49-F238E27FC236}">
                <a16:creationId xmlns:a16="http://schemas.microsoft.com/office/drawing/2014/main" id="{CF2D1FFC-4371-4003-8ECB-C3A022FA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76800"/>
            <a:ext cx="157162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371</a:t>
            </a:r>
          </a:p>
        </p:txBody>
      </p:sp>
      <p:sp>
        <p:nvSpPr>
          <p:cNvPr id="26" name="body-650-550-165-32">
            <a:extLst xmlns:a="http://schemas.openxmlformats.org/drawingml/2006/main">
              <a:ext uri="{FF2B5EF4-FFF2-40B4-BE49-F238E27FC236}">
                <a16:creationId xmlns:a16="http://schemas.microsoft.com/office/drawing/2014/main" id="{EFAC5D6B-C61C-4C5F-B839-4ABCEE80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38750"/>
            <a:ext cx="1571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F855A"/>
                </a:solidFill>
                <a:latin typeface="Aptos"/>
                <a:ea typeface="Aptos"/>
                <a:cs typeface="Aptos"/>
              </a:rPr>
              <a:t>adjacent transitions</a:t>
            </a:r>
          </a:p>
        </p:txBody>
      </p:sp>
      <p:sp>
        <p:nvSpPr>
          <p:cNvPr id="27" name="metric-operational UTI">
            <a:extLst xmlns:a="http://schemas.openxmlformats.org/drawingml/2006/main">
              <a:ext uri="{FF2B5EF4-FFF2-40B4-BE49-F238E27FC236}">
                <a16:creationId xmlns:a16="http://schemas.microsoft.com/office/drawing/2014/main" id="{47E66E63-6107-491D-9825-8107314A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62500"/>
            <a:ext cx="1762125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heading-875-512-165-31">
            <a:extLst xmlns:a="http://schemas.openxmlformats.org/drawingml/2006/main">
              <a:ext uri="{FF2B5EF4-FFF2-40B4-BE49-F238E27FC236}">
                <a16:creationId xmlns:a16="http://schemas.microsoft.com/office/drawing/2014/main" id="{BBC5F5DB-3315-400F-BDC7-2D7A1B4A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876800"/>
            <a:ext cx="157162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29" name="body-875-550-165-32">
            <a:extLst xmlns:a="http://schemas.openxmlformats.org/drawingml/2006/main">
              <a:ext uri="{FF2B5EF4-FFF2-40B4-BE49-F238E27FC236}">
                <a16:creationId xmlns:a16="http://schemas.microsoft.com/office/drawing/2014/main" id="{BD2D68B6-CF78-4D82-8BDC-3ADDB6E4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238750"/>
            <a:ext cx="1571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97706"/>
                </a:solidFill>
                <a:latin typeface="Aptos"/>
                <a:ea typeface="Aptos"/>
                <a:cs typeface="Aptos"/>
              </a:rPr>
              <a:t>operational UTI</a:t>
            </a:r>
          </a:p>
        </p:txBody>
      </p:sp>
      <p:sp>
        <p:nvSpPr>
          <p:cNvPr id="30" name="chrome-62-682-1020-18">
            <a:extLst xmlns:a="http://schemas.openxmlformats.org/drawingml/2006/main">
              <a:ext uri="{FF2B5EF4-FFF2-40B4-BE49-F238E27FC236}">
                <a16:creationId xmlns:a16="http://schemas.microsoft.com/office/drawing/2014/main" id="{95953182-700F-4881-B81A-F632A0A3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96050"/>
            <a:ext cx="971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31" name="chrome-1150-682-76-18">
            <a:extLst xmlns:a="http://schemas.openxmlformats.org/drawingml/2006/main">
              <a:ext uri="{FF2B5EF4-FFF2-40B4-BE49-F238E27FC236}">
                <a16:creationId xmlns:a16="http://schemas.microsoft.com/office/drawing/2014/main" id="{1B3658FD-B931-47AA-B099-44BAD19FA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382692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5445CB0-928E-40F0-8A28-A8E1511E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E3CEC52-42EB-4BDD-B69E-CDA8F8D0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94066DDC-98A3-4B05-886F-37D2CCC6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PROJECT ORIENTATION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0131292-9C0D-49D8-A3E2-FDD45486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review follows one plain-English loop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A4D6979D-3871-4D98-8366-0CED95FF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One episode becomes one selected genome profile, then repeated profiles are compared over time.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0B979486-A531-4A04-ADB1-99733EF0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C97C43D-EB6E-4092-90A1-B18ADEA1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F4BB0F14-5A49-4882-8BFB-4109306C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991766C-C104-4FA1-9FAC-03625A4C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loop-1">
            <a:extLst xmlns:a="http://schemas.openxmlformats.org/drawingml/2006/main">
              <a:ext uri="{FF2B5EF4-FFF2-40B4-BE49-F238E27FC236}">
                <a16:creationId xmlns:a16="http://schemas.microsoft.com/office/drawing/2014/main" id="{0FE647E9-7C06-47C6-A247-15B8D744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622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loop-1-head">
            <a:extLst xmlns:a="http://schemas.openxmlformats.org/drawingml/2006/main">
              <a:ext uri="{FF2B5EF4-FFF2-40B4-BE49-F238E27FC236}">
                <a16:creationId xmlns:a16="http://schemas.microsoft.com/office/drawing/2014/main" id="{2EB8996B-6342-46F9-8FC2-7CF2DA91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76525" y="27336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loop-2">
            <a:extLst xmlns:a="http://schemas.openxmlformats.org/drawingml/2006/main">
              <a:ext uri="{FF2B5EF4-FFF2-40B4-BE49-F238E27FC236}">
                <a16:creationId xmlns:a16="http://schemas.microsoft.com/office/drawing/2014/main" id="{75B19B6B-FC0C-4F8E-935A-74CB9CEF7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101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loop-2-head">
            <a:extLst xmlns:a="http://schemas.openxmlformats.org/drawingml/2006/main">
              <a:ext uri="{FF2B5EF4-FFF2-40B4-BE49-F238E27FC236}">
                <a16:creationId xmlns:a16="http://schemas.microsoft.com/office/drawing/2014/main" id="{024F49A6-F695-42B4-A678-DF66056D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924425" y="27336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loop-3">
            <a:extLst xmlns:a="http://schemas.openxmlformats.org/drawingml/2006/main">
              <a:ext uri="{FF2B5EF4-FFF2-40B4-BE49-F238E27FC236}">
                <a16:creationId xmlns:a16="http://schemas.microsoft.com/office/drawing/2014/main" id="{7BE431CB-C7AA-42CF-A3C5-DF0BF801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580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loop-3-head">
            <a:extLst xmlns:a="http://schemas.openxmlformats.org/drawingml/2006/main">
              <a:ext uri="{FF2B5EF4-FFF2-40B4-BE49-F238E27FC236}">
                <a16:creationId xmlns:a16="http://schemas.microsoft.com/office/drawing/2014/main" id="{67A2AA54-EA3F-46E7-BBA6-C63FF97D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72325" y="27336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loop-4">
            <a:extLst xmlns:a="http://schemas.openxmlformats.org/drawingml/2006/main">
              <a:ext uri="{FF2B5EF4-FFF2-40B4-BE49-F238E27FC236}">
                <a16:creationId xmlns:a16="http://schemas.microsoft.com/office/drawing/2014/main" id="{0EDDD7E0-4101-4D56-88FA-18C3E752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059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loop-4-head">
            <a:extLst xmlns:a="http://schemas.openxmlformats.org/drawingml/2006/main">
              <a:ext uri="{FF2B5EF4-FFF2-40B4-BE49-F238E27FC236}">
                <a16:creationId xmlns:a16="http://schemas.microsoft.com/office/drawing/2014/main" id="{B8582518-78A2-4CA1-A3E8-CD28DCA1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420225" y="27336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card-Clinical episode">
            <a:extLst xmlns:a="http://schemas.openxmlformats.org/drawingml/2006/main">
              <a:ext uri="{FF2B5EF4-FFF2-40B4-BE49-F238E27FC236}">
                <a16:creationId xmlns:a16="http://schemas.microsoft.com/office/drawing/2014/main" id="{2D5C91D8-D0AA-4538-B183-6CAC651D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847850" cy="1304925"/>
          </a:xfrm>
          <a:prstGeom xmlns:a="http://schemas.openxmlformats.org/drawingml/2006/main" prst="roundRect">
            <a:avLst>
              <a:gd name="adj" fmla="val 5839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FFF4E6"/>
            </a:solidFill>
            <a:prstDash val="solid"/>
          </a:ln>
        </p:spPr>
      </p:sp>
      <p:sp>
        <p:nvSpPr>
          <p:cNvPr id="19" name="heading-70-240-162-26">
            <a:extLst xmlns:a="http://schemas.openxmlformats.org/drawingml/2006/main">
              <a:ext uri="{FF2B5EF4-FFF2-40B4-BE49-F238E27FC236}">
                <a16:creationId xmlns:a16="http://schemas.microsoft.com/office/drawing/2014/main" id="{3086BC22-5C78-48D1-9536-FAB933A5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1543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Clinical episode</a:t>
            </a:r>
          </a:p>
        </p:txBody>
      </p:sp>
      <p:sp>
        <p:nvSpPr>
          <p:cNvPr id="20" name="body-70-272-162-75">
            <a:extLst xmlns:a="http://schemas.openxmlformats.org/drawingml/2006/main">
              <a:ext uri="{FF2B5EF4-FFF2-40B4-BE49-F238E27FC236}">
                <a16:creationId xmlns:a16="http://schemas.microsoft.com/office/drawing/2014/main" id="{C929DBB6-5501-40D8-8FAC-E3576BF4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5430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Apply the operational clinical definition</a:t>
            </a:r>
          </a:p>
        </p:txBody>
      </p:sp>
      <p:sp>
        <p:nvSpPr>
          <p:cNvPr id="21" name="card-Selected genome">
            <a:extLst xmlns:a="http://schemas.openxmlformats.org/drawingml/2006/main">
              <a:ext uri="{FF2B5EF4-FFF2-40B4-BE49-F238E27FC236}">
                <a16:creationId xmlns:a16="http://schemas.microsoft.com/office/drawing/2014/main" id="{0CE8A304-7363-4C68-B743-CEF09D23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33600"/>
            <a:ext cx="1847850" cy="1304925"/>
          </a:xfrm>
          <a:prstGeom xmlns:a="http://schemas.openxmlformats.org/drawingml/2006/main" prst="roundRect">
            <a:avLst>
              <a:gd name="adj" fmla="val 5839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E8F1FA"/>
            </a:solidFill>
            <a:prstDash val="solid"/>
          </a:ln>
        </p:spPr>
      </p:sp>
      <p:sp>
        <p:nvSpPr>
          <p:cNvPr id="22" name="heading-306-240-162-26">
            <a:extLst xmlns:a="http://schemas.openxmlformats.org/drawingml/2006/main">
              <a:ext uri="{FF2B5EF4-FFF2-40B4-BE49-F238E27FC236}">
                <a16:creationId xmlns:a16="http://schemas.microsoft.com/office/drawing/2014/main" id="{78504334-DDC8-4AF6-AFA2-35344576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286000"/>
            <a:ext cx="1543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Selected genome</a:t>
            </a:r>
          </a:p>
        </p:txBody>
      </p:sp>
      <p:sp>
        <p:nvSpPr>
          <p:cNvPr id="23" name="body-306-272-162-75">
            <a:extLst xmlns:a="http://schemas.openxmlformats.org/drawingml/2006/main">
              <a:ext uri="{FF2B5EF4-FFF2-40B4-BE49-F238E27FC236}">
                <a16:creationId xmlns:a16="http://schemas.microsoft.com/office/drawing/2014/main" id="{0F23E362-04F9-4F78-8012-F3E5F02D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590800"/>
            <a:ext cx="15430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Use the QC-passing Longcycler assembly</a:t>
            </a:r>
          </a:p>
        </p:txBody>
      </p:sp>
      <p:sp>
        <p:nvSpPr>
          <p:cNvPr id="24" name="card-VF gene row">
            <a:extLst xmlns:a="http://schemas.openxmlformats.org/drawingml/2006/main">
              <a:ext uri="{FF2B5EF4-FFF2-40B4-BE49-F238E27FC236}">
                <a16:creationId xmlns:a16="http://schemas.microsoft.com/office/drawing/2014/main" id="{EBE44F77-87AD-4B35-879F-80F3967B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133600"/>
            <a:ext cx="1847850" cy="1304925"/>
          </a:xfrm>
          <a:prstGeom xmlns:a="http://schemas.openxmlformats.org/drawingml/2006/main" prst="roundRect">
            <a:avLst>
              <a:gd name="adj" fmla="val 5839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EAF7EF"/>
            </a:solidFill>
            <a:prstDash val="solid"/>
          </a:ln>
        </p:spPr>
      </p:sp>
      <p:sp>
        <p:nvSpPr>
          <p:cNvPr id="25" name="heading-542-240-162-26">
            <a:extLst xmlns:a="http://schemas.openxmlformats.org/drawingml/2006/main">
              <a:ext uri="{FF2B5EF4-FFF2-40B4-BE49-F238E27FC236}">
                <a16:creationId xmlns:a16="http://schemas.microsoft.com/office/drawing/2014/main" id="{9810C2E8-9B30-4AAA-8558-3187D9C4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1543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VF gene row</a:t>
            </a:r>
          </a:p>
        </p:txBody>
      </p:sp>
      <p:sp>
        <p:nvSpPr>
          <p:cNvPr id="26" name="body-542-272-162-75">
            <a:extLst xmlns:a="http://schemas.openxmlformats.org/drawingml/2006/main">
              <a:ext uri="{FF2B5EF4-FFF2-40B4-BE49-F238E27FC236}">
                <a16:creationId xmlns:a16="http://schemas.microsoft.com/office/drawing/2014/main" id="{49C5A22B-40BC-489C-8F1F-004DF5D4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590800"/>
            <a:ext cx="15430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Record binary VF feature presence</a:t>
            </a:r>
          </a:p>
        </p:txBody>
      </p:sp>
      <p:sp>
        <p:nvSpPr>
          <p:cNvPr id="27" name="card-Longitudinal pair">
            <a:extLst xmlns:a="http://schemas.openxmlformats.org/drawingml/2006/main">
              <a:ext uri="{FF2B5EF4-FFF2-40B4-BE49-F238E27FC236}">
                <a16:creationId xmlns:a16="http://schemas.microsoft.com/office/drawing/2014/main" id="{D79C0DCB-824D-44F2-AD84-509782CE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33600"/>
            <a:ext cx="1847850" cy="1304925"/>
          </a:xfrm>
          <a:prstGeom xmlns:a="http://schemas.openxmlformats.org/drawingml/2006/main" prst="roundRect">
            <a:avLst>
              <a:gd name="adj" fmla="val 583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EEF3F8"/>
            </a:solidFill>
            <a:prstDash val="solid"/>
          </a:ln>
        </p:spPr>
      </p:sp>
      <p:sp>
        <p:nvSpPr>
          <p:cNvPr id="28" name="heading-778-240-162-26">
            <a:extLst xmlns:a="http://schemas.openxmlformats.org/drawingml/2006/main">
              <a:ext uri="{FF2B5EF4-FFF2-40B4-BE49-F238E27FC236}">
                <a16:creationId xmlns:a16="http://schemas.microsoft.com/office/drawing/2014/main" id="{47A530C3-BBB4-4C3D-BE5F-6F6A43FF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86000"/>
            <a:ext cx="1543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Longitudinal pair</a:t>
            </a:r>
          </a:p>
        </p:txBody>
      </p:sp>
      <p:sp>
        <p:nvSpPr>
          <p:cNvPr id="29" name="body-778-272-162-75">
            <a:extLst xmlns:a="http://schemas.openxmlformats.org/drawingml/2006/main">
              <a:ext uri="{FF2B5EF4-FFF2-40B4-BE49-F238E27FC236}">
                <a16:creationId xmlns:a16="http://schemas.microsoft.com/office/drawing/2014/main" id="{AE22D001-0B8C-4F9F-871F-86C15BE7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90800"/>
            <a:ext cx="15430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Compare profiles within resident</a:t>
            </a:r>
          </a:p>
        </p:txBody>
      </p:sp>
      <p:sp>
        <p:nvSpPr>
          <p:cNvPr id="30" name="card-Clinical overlay">
            <a:extLst xmlns:a="http://schemas.openxmlformats.org/drawingml/2006/main">
              <a:ext uri="{FF2B5EF4-FFF2-40B4-BE49-F238E27FC236}">
                <a16:creationId xmlns:a16="http://schemas.microsoft.com/office/drawing/2014/main" id="{2552E062-04A9-44A2-8BCA-E04DD904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33600"/>
            <a:ext cx="1847850" cy="1304925"/>
          </a:xfrm>
          <a:prstGeom xmlns:a="http://schemas.openxmlformats.org/drawingml/2006/main" prst="roundRect">
            <a:avLst>
              <a:gd name="adj" fmla="val 5839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FFF4E6"/>
            </a:solidFill>
            <a:prstDash val="solid"/>
          </a:ln>
        </p:spPr>
      </p:sp>
      <p:sp>
        <p:nvSpPr>
          <p:cNvPr id="31" name="heading-1014-240-162-26">
            <a:extLst xmlns:a="http://schemas.openxmlformats.org/drawingml/2006/main">
              <a:ext uri="{FF2B5EF4-FFF2-40B4-BE49-F238E27FC236}">
                <a16:creationId xmlns:a16="http://schemas.microsoft.com/office/drawing/2014/main" id="{1B1A1D15-281B-42CD-9BB1-61204A42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286000"/>
            <a:ext cx="1543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Clinical overlay</a:t>
            </a:r>
          </a:p>
        </p:txBody>
      </p:sp>
      <p:sp>
        <p:nvSpPr>
          <p:cNvPr id="32" name="body-1014-272-162-75">
            <a:extLst xmlns:a="http://schemas.openxmlformats.org/drawingml/2006/main">
              <a:ext uri="{FF2B5EF4-FFF2-40B4-BE49-F238E27FC236}">
                <a16:creationId xmlns:a16="http://schemas.microsoft.com/office/drawing/2014/main" id="{61DCEF9E-E3EE-4D3C-A569-79391274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590800"/>
            <a:ext cx="15430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Interpret status cautiously</a:t>
            </a:r>
          </a:p>
        </p:txBody>
      </p:sp>
      <p:sp>
        <p:nvSpPr>
          <p:cNvPr id="33" name="card-What we measure">
            <a:extLst xmlns:a="http://schemas.openxmlformats.org/drawingml/2006/main">
              <a:ext uri="{FF2B5EF4-FFF2-40B4-BE49-F238E27FC236}">
                <a16:creationId xmlns:a16="http://schemas.microsoft.com/office/drawing/2014/main" id="{8E34D848-0B3C-4236-B30F-916B3F51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71950"/>
            <a:ext cx="2857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BDD7EE"/>
            </a:solidFill>
            <a:prstDash val="solid"/>
          </a:ln>
        </p:spPr>
      </p:sp>
      <p:sp>
        <p:nvSpPr>
          <p:cNvPr id="34" name="heading-128-454-268-26">
            <a:extLst xmlns:a="http://schemas.openxmlformats.org/drawingml/2006/main">
              <a:ext uri="{FF2B5EF4-FFF2-40B4-BE49-F238E27FC236}">
                <a16:creationId xmlns:a16="http://schemas.microsoft.com/office/drawing/2014/main" id="{1939D174-0500-4626-A98F-72C0F6E0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24350"/>
            <a:ext cx="2552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we measure</a:t>
            </a:r>
          </a:p>
        </p:txBody>
      </p:sp>
      <p:sp>
        <p:nvSpPr>
          <p:cNvPr id="35" name="body-128-486-268-43">
            <a:extLst xmlns:a="http://schemas.openxmlformats.org/drawingml/2006/main">
              <a:ext uri="{FF2B5EF4-FFF2-40B4-BE49-F238E27FC236}">
                <a16:creationId xmlns:a16="http://schemas.microsoft.com/office/drawing/2014/main" id="{F2C1A797-1798-45B0-ABDA-2A5A4097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29150"/>
            <a:ext cx="25527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VF gene presence/absence in each selected episode-level genome.</a:t>
            </a:r>
          </a:p>
        </p:txBody>
      </p:sp>
      <p:sp>
        <p:nvSpPr>
          <p:cNvPr id="36" name="card-What we compare">
            <a:extLst xmlns:a="http://schemas.openxmlformats.org/drawingml/2006/main">
              <a:ext uri="{FF2B5EF4-FFF2-40B4-BE49-F238E27FC236}">
                <a16:creationId xmlns:a16="http://schemas.microsoft.com/office/drawing/2014/main" id="{98E02531-B433-4882-BA26-1305B851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71950"/>
            <a:ext cx="2857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CE4C9"/>
            </a:solidFill>
            <a:prstDash val="solid"/>
          </a:ln>
        </p:spPr>
      </p:sp>
      <p:sp>
        <p:nvSpPr>
          <p:cNvPr id="37" name="heading-506-454-268-26">
            <a:extLst xmlns:a="http://schemas.openxmlformats.org/drawingml/2006/main">
              <a:ext uri="{FF2B5EF4-FFF2-40B4-BE49-F238E27FC236}">
                <a16:creationId xmlns:a16="http://schemas.microsoft.com/office/drawing/2014/main" id="{8932F673-4A7B-44CB-A50F-320D7E68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324350"/>
            <a:ext cx="2552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we compare</a:t>
            </a:r>
          </a:p>
        </p:txBody>
      </p:sp>
      <p:sp>
        <p:nvSpPr>
          <p:cNvPr id="38" name="body-506-486-268-43">
            <a:extLst xmlns:a="http://schemas.openxmlformats.org/drawingml/2006/main">
              <a:ext uri="{FF2B5EF4-FFF2-40B4-BE49-F238E27FC236}">
                <a16:creationId xmlns:a16="http://schemas.microsoft.com/office/drawing/2014/main" id="{91861F57-07B4-482E-A84E-41EC089C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629150"/>
            <a:ext cx="25527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Repeated profiles within residents, directly and as adjacent transitions.</a:t>
            </a:r>
          </a:p>
        </p:txBody>
      </p:sp>
      <p:sp>
        <p:nvSpPr>
          <p:cNvPr id="39" name="card-Where status enters">
            <a:extLst xmlns:a="http://schemas.openxmlformats.org/drawingml/2006/main">
              <a:ext uri="{FF2B5EF4-FFF2-40B4-BE49-F238E27FC236}">
                <a16:creationId xmlns:a16="http://schemas.microsoft.com/office/drawing/2014/main" id="{D8CCCDE2-3E89-44B6-B14F-0934F1A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171950"/>
            <a:ext cx="2857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F4C98A"/>
            </a:solidFill>
            <a:prstDash val="solid"/>
          </a:ln>
        </p:spPr>
      </p:sp>
      <p:sp>
        <p:nvSpPr>
          <p:cNvPr id="40" name="heading-884-454-268-26">
            <a:extLst xmlns:a="http://schemas.openxmlformats.org/drawingml/2006/main">
              <a:ext uri="{FF2B5EF4-FFF2-40B4-BE49-F238E27FC236}">
                <a16:creationId xmlns:a16="http://schemas.microsoft.com/office/drawing/2014/main" id="{56FE62B0-9AF0-41D8-AC53-1D66EA07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24350"/>
            <a:ext cx="2552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Where status enters</a:t>
            </a:r>
          </a:p>
        </p:txBody>
      </p:sp>
      <p:sp>
        <p:nvSpPr>
          <p:cNvPr id="41" name="body-884-486-268-43">
            <a:extLst xmlns:a="http://schemas.openxmlformats.org/drawingml/2006/main">
              <a:ext uri="{FF2B5EF4-FFF2-40B4-BE49-F238E27FC236}">
                <a16:creationId xmlns:a16="http://schemas.microsoft.com/office/drawing/2014/main" id="{566B7F0A-3EA6-4098-B923-91A3A553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29150"/>
            <a:ext cx="25527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Only after the genomic and temporal denominators are explicit.</a:t>
            </a:r>
          </a:p>
        </p:txBody>
      </p:sp>
    </p:spTree>
    <p:extLst>
      <p:ext uri="{BB962C8B-B14F-4D97-AF65-F5344CB8AC3E}">
        <p14:creationId xmlns:p14="http://schemas.microsoft.com/office/powerpoint/2010/main" val="58086077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65B95D16-0CD3-40AC-9C83-1A2B4CEC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8BC7484E-FD7F-462E-9730-C2DA5CA4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9108A046-A923-4EA0-913B-7E2AD1C7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PROJECT ORIENTATION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6CC419C-F76A-4B8F-A13F-4AFD002E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Unit changes explain denominator changes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171AEE20-D961-4410-B4D3-0CFD7293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Each count answers a different question: episode, resident, profile, pair, or transition.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E6A92882-6296-45DF-A0E9-B7D084B7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8DE5290-AA70-4A44-98ED-FC1472F7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E91FC382-5DDA-4277-8597-C4A0E218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3B617B0-886E-4591-9763-074AB6C7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label-Source clinical episodes">
            <a:extLst xmlns:a="http://schemas.openxmlformats.org/drawingml/2006/main">
              <a:ext uri="{FF2B5EF4-FFF2-40B4-BE49-F238E27FC236}">
                <a16:creationId xmlns:a16="http://schemas.microsoft.com/office/drawing/2014/main" id="{17482B1E-3E30-489E-BE62-0A4107C9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66875"/>
            <a:ext cx="2476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label-158-180-244-26">
            <a:extLst xmlns:a="http://schemas.openxmlformats.org/drawingml/2006/main">
              <a:ext uri="{FF2B5EF4-FFF2-40B4-BE49-F238E27FC236}">
                <a16:creationId xmlns:a16="http://schemas.microsoft.com/office/drawing/2014/main" id="{31FD6F4F-12F2-4B6B-B7D9-818BB9CD2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14500"/>
            <a:ext cx="2324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Source clinical episodes</a:t>
            </a:r>
          </a:p>
        </p:txBody>
      </p:sp>
      <p:sp>
        <p:nvSpPr>
          <p:cNvPr id="12" name="body-454-173-110-38">
            <a:extLst xmlns:a="http://schemas.openxmlformats.org/drawingml/2006/main">
              <a:ext uri="{FF2B5EF4-FFF2-40B4-BE49-F238E27FC236}">
                <a16:creationId xmlns:a16="http://schemas.microsoft.com/office/drawing/2014/main" id="{6C057F37-3C40-4902-9C43-6A616E996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47825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583</a:t>
            </a:r>
          </a:p>
        </p:txBody>
      </p:sp>
      <p:sp>
        <p:nvSpPr>
          <p:cNvPr id="13" name="body-616-177-530-34">
            <a:extLst xmlns:a="http://schemas.openxmlformats.org/drawingml/2006/main">
              <a:ext uri="{FF2B5EF4-FFF2-40B4-BE49-F238E27FC236}">
                <a16:creationId xmlns:a16="http://schemas.microsoft.com/office/drawing/2014/main" id="{4FA325F7-EEFD-4F20-84E9-E3E79B05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685925"/>
            <a:ext cx="504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166 residents; retained for attrition/QC only</a:t>
            </a:r>
          </a:p>
        </p:txBody>
      </p:sp>
      <p:sp>
        <p:nvSpPr>
          <p:cNvPr id="14" name="label-Selected analytical episodes">
            <a:extLst xmlns:a="http://schemas.openxmlformats.org/drawingml/2006/main">
              <a:ext uri="{FF2B5EF4-FFF2-40B4-BE49-F238E27FC236}">
                <a16:creationId xmlns:a16="http://schemas.microsoft.com/office/drawing/2014/main" id="{4185F54E-EA5D-4B46-8D28-484C868E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76500"/>
            <a:ext cx="2476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label-158-265-244-26">
            <a:extLst xmlns:a="http://schemas.openxmlformats.org/drawingml/2006/main">
              <a:ext uri="{FF2B5EF4-FFF2-40B4-BE49-F238E27FC236}">
                <a16:creationId xmlns:a16="http://schemas.microsoft.com/office/drawing/2014/main" id="{7825E0EF-708B-44EA-B433-3B68E5B2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524125"/>
            <a:ext cx="2324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Selected analytical episodes</a:t>
            </a:r>
          </a:p>
        </p:txBody>
      </p:sp>
      <p:sp>
        <p:nvSpPr>
          <p:cNvPr id="16" name="body-454-258-110-38">
            <a:extLst xmlns:a="http://schemas.openxmlformats.org/drawingml/2006/main">
              <a:ext uri="{FF2B5EF4-FFF2-40B4-BE49-F238E27FC236}">
                <a16:creationId xmlns:a16="http://schemas.microsoft.com/office/drawing/2014/main" id="{D1420A87-9F93-4961-A1D5-64E6CC86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532</a:t>
            </a:r>
          </a:p>
        </p:txBody>
      </p:sp>
      <p:sp>
        <p:nvSpPr>
          <p:cNvPr id="17" name="body-616-262-530-34">
            <a:extLst xmlns:a="http://schemas.openxmlformats.org/drawingml/2006/main">
              <a:ext uri="{FF2B5EF4-FFF2-40B4-BE49-F238E27FC236}">
                <a16:creationId xmlns:a16="http://schemas.microsoft.com/office/drawing/2014/main" id="{79C0B6A9-FB3E-4EE6-844A-F23E1D5A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95550"/>
            <a:ext cx="504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161 residents; one selected genome per episode</a:t>
            </a:r>
          </a:p>
        </p:txBody>
      </p:sp>
      <p:sp>
        <p:nvSpPr>
          <p:cNvPr id="18" name="label-Direct within-resident pairs">
            <a:extLst xmlns:a="http://schemas.openxmlformats.org/drawingml/2006/main">
              <a:ext uri="{FF2B5EF4-FFF2-40B4-BE49-F238E27FC236}">
                <a16:creationId xmlns:a16="http://schemas.microsoft.com/office/drawing/2014/main" id="{4AD8E3D2-C398-49A2-A907-CB870B61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86125"/>
            <a:ext cx="2476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label-158-350-244-26">
            <a:extLst xmlns:a="http://schemas.openxmlformats.org/drawingml/2006/main">
              <a:ext uri="{FF2B5EF4-FFF2-40B4-BE49-F238E27FC236}">
                <a16:creationId xmlns:a16="http://schemas.microsoft.com/office/drawing/2014/main" id="{B3F27742-06C8-4B8A-98DA-2655CAF3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333750"/>
            <a:ext cx="2324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Direct within-resident pairs</a:t>
            </a:r>
          </a:p>
        </p:txBody>
      </p:sp>
      <p:sp>
        <p:nvSpPr>
          <p:cNvPr id="20" name="body-454-343-110-38">
            <a:extLst xmlns:a="http://schemas.openxmlformats.org/drawingml/2006/main">
              <a:ext uri="{FF2B5EF4-FFF2-40B4-BE49-F238E27FC236}">
                <a16:creationId xmlns:a16="http://schemas.microsoft.com/office/drawing/2014/main" id="{94BA9A5E-41F0-437B-9D16-CB649E09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67075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893</a:t>
            </a:r>
          </a:p>
        </p:txBody>
      </p:sp>
      <p:sp>
        <p:nvSpPr>
          <p:cNvPr id="21" name="body-616-347-530-34">
            <a:extLst xmlns:a="http://schemas.openxmlformats.org/drawingml/2006/main">
              <a:ext uri="{FF2B5EF4-FFF2-40B4-BE49-F238E27FC236}">
                <a16:creationId xmlns:a16="http://schemas.microsoft.com/office/drawing/2014/main" id="{9C8337B9-D751-41A1-A4AB-50C459AF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305175"/>
            <a:ext cx="504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all available within-resident comparisons</a:t>
            </a:r>
          </a:p>
        </p:txBody>
      </p:sp>
      <p:sp>
        <p:nvSpPr>
          <p:cNvPr id="22" name="label-Adjacent transitions">
            <a:extLst xmlns:a="http://schemas.openxmlformats.org/drawingml/2006/main">
              <a:ext uri="{FF2B5EF4-FFF2-40B4-BE49-F238E27FC236}">
                <a16:creationId xmlns:a16="http://schemas.microsoft.com/office/drawing/2014/main" id="{F3A68472-79CD-421B-B29C-FE05B310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95750"/>
            <a:ext cx="2476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label-158-435-244-26">
            <a:extLst xmlns:a="http://schemas.openxmlformats.org/drawingml/2006/main">
              <a:ext uri="{FF2B5EF4-FFF2-40B4-BE49-F238E27FC236}">
                <a16:creationId xmlns:a16="http://schemas.microsoft.com/office/drawing/2014/main" id="{5A7787FB-DEDC-494E-BCF5-343431B9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43375"/>
            <a:ext cx="2324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Adjacent transitions</a:t>
            </a:r>
          </a:p>
        </p:txBody>
      </p:sp>
      <p:sp>
        <p:nvSpPr>
          <p:cNvPr id="24" name="body-454-428-110-38">
            <a:extLst xmlns:a="http://schemas.openxmlformats.org/drawingml/2006/main">
              <a:ext uri="{FF2B5EF4-FFF2-40B4-BE49-F238E27FC236}">
                <a16:creationId xmlns:a16="http://schemas.microsoft.com/office/drawing/2014/main" id="{FBB509A6-5803-4EF5-BC7B-8BA47BCC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76700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371</a:t>
            </a:r>
          </a:p>
        </p:txBody>
      </p:sp>
      <p:sp>
        <p:nvSpPr>
          <p:cNvPr id="25" name="body-616-432-530-34">
            <a:extLst xmlns:a="http://schemas.openxmlformats.org/drawingml/2006/main">
              <a:ext uri="{FF2B5EF4-FFF2-40B4-BE49-F238E27FC236}">
                <a16:creationId xmlns:a16="http://schemas.microsoft.com/office/drawing/2014/main" id="{F07A422B-AEC1-4C88-889C-CCBAB045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14800"/>
            <a:ext cx="504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139 residents; 140 at or below 25 SNPs</a:t>
            </a:r>
          </a:p>
        </p:txBody>
      </p:sp>
      <p:sp>
        <p:nvSpPr>
          <p:cNvPr id="26" name="label-Focused Not_UTI→UTI">
            <a:extLst xmlns:a="http://schemas.openxmlformats.org/drawingml/2006/main">
              <a:ext uri="{FF2B5EF4-FFF2-40B4-BE49-F238E27FC236}">
                <a16:creationId xmlns:a16="http://schemas.microsoft.com/office/drawing/2014/main" id="{C5431317-F459-4E75-908C-DA177A19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05375"/>
            <a:ext cx="2476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label-158-520-244-26">
            <a:extLst xmlns:a="http://schemas.openxmlformats.org/drawingml/2006/main">
              <a:ext uri="{FF2B5EF4-FFF2-40B4-BE49-F238E27FC236}">
                <a16:creationId xmlns:a16="http://schemas.microsoft.com/office/drawing/2014/main" id="{81B003C1-A1FA-428C-B3CF-89538A8F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2324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Focused Not_UTI→UTI</a:t>
            </a:r>
          </a:p>
        </p:txBody>
      </p:sp>
      <p:sp>
        <p:nvSpPr>
          <p:cNvPr id="28" name="body-454-513-110-38">
            <a:extLst xmlns:a="http://schemas.openxmlformats.org/drawingml/2006/main">
              <a:ext uri="{FF2B5EF4-FFF2-40B4-BE49-F238E27FC236}">
                <a16:creationId xmlns:a16="http://schemas.microsoft.com/office/drawing/2014/main" id="{CC6839F8-C53A-4BBF-BA89-A459C4FA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86325"/>
            <a:ext cx="104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29" name="body-616-517-530-34">
            <a:extLst xmlns:a="http://schemas.openxmlformats.org/drawingml/2006/main">
              <a:ext uri="{FF2B5EF4-FFF2-40B4-BE49-F238E27FC236}">
                <a16:creationId xmlns:a16="http://schemas.microsoft.com/office/drawing/2014/main" id="{C8B35668-09BD-4EDA-822F-AE8957E4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924425"/>
            <a:ext cx="504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 at or below 25 SNPs</a:t>
            </a:r>
          </a:p>
        </p:txBody>
      </p:sp>
      <p:sp>
        <p:nvSpPr>
          <p:cNvPr id="30" name="label-Always name the unit beside the count">
            <a:extLst xmlns:a="http://schemas.openxmlformats.org/drawingml/2006/main">
              <a:ext uri="{FF2B5EF4-FFF2-40B4-BE49-F238E27FC236}">
                <a16:creationId xmlns:a16="http://schemas.microsoft.com/office/drawing/2014/main" id="{60D529A6-CE4D-4186-987F-6C73F0AC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810250"/>
            <a:ext cx="36576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label-456-615-368-23">
            <a:extLst xmlns:a="http://schemas.openxmlformats.org/drawingml/2006/main">
              <a:ext uri="{FF2B5EF4-FFF2-40B4-BE49-F238E27FC236}">
                <a16:creationId xmlns:a16="http://schemas.microsoft.com/office/drawing/2014/main" id="{0A23ECEB-3793-4BE6-B7AB-FDC0CA72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857875"/>
            <a:ext cx="35052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Always name the unit beside the count</a:t>
            </a:r>
          </a:p>
        </p:txBody>
      </p:sp>
    </p:spTree>
    <p:extLst>
      <p:ext uri="{BB962C8B-B14F-4D97-AF65-F5344CB8AC3E}">
        <p14:creationId xmlns:p14="http://schemas.microsoft.com/office/powerpoint/2010/main" val="105662171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9F286702-EE7B-4627-B421-32560879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1B0F7F37-276A-4129-A0E9-98E2537D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FE52C972-BD66-4EAF-9D85-476BF1AE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CLINICAL ANNOTATION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CA2C083-C6B3-42AE-8188-CC1A4EFD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How an episode becomes operational UTI in this project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6B77DBA1-7C50-4265-BD6C-FBE71026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operational label is a study annotation, not a universal clinical diagnosis.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F29826E-C002-4B18-9078-25EDA8A9D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173006F-F0A7-4DF2-B976-8A1D52B7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24AEFA9F-07C0-4798-9284-58BD527B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0429E2F-3901-41AC-B202-55095B059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phenotype-1">
            <a:extLst xmlns:a="http://schemas.openxmlformats.org/drawingml/2006/main">
              <a:ext uri="{FF2B5EF4-FFF2-40B4-BE49-F238E27FC236}">
                <a16:creationId xmlns:a16="http://schemas.microsoft.com/office/drawing/2014/main" id="{0D4F8A08-3FBC-4722-A001-E52627217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14750" y="27051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phenotype-1-head">
            <a:extLst xmlns:a="http://schemas.openxmlformats.org/drawingml/2006/main">
              <a:ext uri="{FF2B5EF4-FFF2-40B4-BE49-F238E27FC236}">
                <a16:creationId xmlns:a16="http://schemas.microsoft.com/office/drawing/2014/main" id="{F69F9CF1-7E25-44F1-B109-3BDDB068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76725" y="266700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phenotype-2">
            <a:extLst xmlns:a="http://schemas.openxmlformats.org/drawingml/2006/main">
              <a:ext uri="{FF2B5EF4-FFF2-40B4-BE49-F238E27FC236}">
                <a16:creationId xmlns:a16="http://schemas.microsoft.com/office/drawing/2014/main" id="{36E57BDD-17FC-4309-B0AB-9E519052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27051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phenotype-2-head">
            <a:extLst xmlns:a="http://schemas.openxmlformats.org/drawingml/2006/main">
              <a:ext uri="{FF2B5EF4-FFF2-40B4-BE49-F238E27FC236}">
                <a16:creationId xmlns:a16="http://schemas.microsoft.com/office/drawing/2014/main" id="{2C54DAF1-18D3-495E-8700-5D2B9451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124825" y="266700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card-1. Culture support">
            <a:extLst xmlns:a="http://schemas.openxmlformats.org/drawingml/2006/main">
              <a:ext uri="{FF2B5EF4-FFF2-40B4-BE49-F238E27FC236}">
                <a16:creationId xmlns:a16="http://schemas.microsoft.com/office/drawing/2014/main" id="{310724EE-41C6-4F90-9297-1716C995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29337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BDD7EE"/>
            </a:solidFill>
            <a:prstDash val="solid"/>
          </a:ln>
        </p:spPr>
      </p:sp>
      <p:sp>
        <p:nvSpPr>
          <p:cNvPr id="15" name="heading-98-226-276-26">
            <a:extLst xmlns:a="http://schemas.openxmlformats.org/drawingml/2006/main">
              <a:ext uri="{FF2B5EF4-FFF2-40B4-BE49-F238E27FC236}">
                <a16:creationId xmlns:a16="http://schemas.microsoft.com/office/drawing/2014/main" id="{A4E36BE3-3611-432A-8B08-3180FC3D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628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1. Culture support</a:t>
            </a:r>
          </a:p>
        </p:txBody>
      </p:sp>
      <p:sp>
        <p:nvSpPr>
          <p:cNvPr id="16" name="body-98-258-276-88">
            <a:extLst xmlns:a="http://schemas.openxmlformats.org/drawingml/2006/main">
              <a:ext uri="{FF2B5EF4-FFF2-40B4-BE49-F238E27FC236}">
                <a16:creationId xmlns:a16="http://schemas.microsoft.com/office/drawing/2014/main" id="{77360654-64FF-4878-872A-C0EC6165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57450"/>
            <a:ext cx="2628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episode passes the project’s culture and isolate evidence rules.</a:t>
            </a:r>
          </a:p>
        </p:txBody>
      </p:sp>
      <p:sp>
        <p:nvSpPr>
          <p:cNvPr id="17" name="card-2. Symptom rule">
            <a:extLst xmlns:a="http://schemas.openxmlformats.org/drawingml/2006/main">
              <a:ext uri="{FF2B5EF4-FFF2-40B4-BE49-F238E27FC236}">
                <a16:creationId xmlns:a16="http://schemas.microsoft.com/office/drawing/2014/main" id="{BF2EA870-D030-4CE5-9859-9661C3E0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00250"/>
            <a:ext cx="3219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CE4C9"/>
            </a:solidFill>
            <a:prstDash val="solid"/>
          </a:ln>
        </p:spPr>
      </p:sp>
      <p:sp>
        <p:nvSpPr>
          <p:cNvPr id="18" name="heading-472-226-306-26">
            <a:extLst xmlns:a="http://schemas.openxmlformats.org/drawingml/2006/main">
              <a:ext uri="{FF2B5EF4-FFF2-40B4-BE49-F238E27FC236}">
                <a16:creationId xmlns:a16="http://schemas.microsoft.com/office/drawing/2014/main" id="{10A696C0-0D5F-453D-A4EF-18F401CA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2914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2. Symptom rule</a:t>
            </a:r>
          </a:p>
        </p:txBody>
      </p:sp>
      <p:sp>
        <p:nvSpPr>
          <p:cNvPr id="19" name="body-472-258-306-88">
            <a:extLst xmlns:a="http://schemas.openxmlformats.org/drawingml/2006/main">
              <a:ext uri="{FF2B5EF4-FFF2-40B4-BE49-F238E27FC236}">
                <a16:creationId xmlns:a16="http://schemas.microsoft.com/office/drawing/2014/main" id="{7E8B5C17-6818-466C-A643-A4FF7018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57450"/>
            <a:ext cx="29146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Compatible symptoms are interpreted with the operational definition and available episode context.</a:t>
            </a:r>
          </a:p>
        </p:txBody>
      </p:sp>
      <p:sp>
        <p:nvSpPr>
          <p:cNvPr id="20" name="card-Operational UTI">
            <a:extLst xmlns:a="http://schemas.openxmlformats.org/drawingml/2006/main">
              <a:ext uri="{FF2B5EF4-FFF2-40B4-BE49-F238E27FC236}">
                <a16:creationId xmlns:a16="http://schemas.microsoft.com/office/drawing/2014/main" id="{51F9DFF4-D898-48EF-9D90-50404218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90750"/>
            <a:ext cx="2571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F4C98A"/>
            </a:solidFill>
            <a:prstDash val="solid"/>
          </a:ln>
        </p:spPr>
      </p:sp>
      <p:sp>
        <p:nvSpPr>
          <p:cNvPr id="21" name="heading-876-246-238-26">
            <a:extLst xmlns:a="http://schemas.openxmlformats.org/drawingml/2006/main">
              <a:ext uri="{FF2B5EF4-FFF2-40B4-BE49-F238E27FC236}">
                <a16:creationId xmlns:a16="http://schemas.microsoft.com/office/drawing/2014/main" id="{6C8FA2C8-2C11-4C8F-B64F-904C380C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43150"/>
            <a:ext cx="2266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Operational UTI</a:t>
            </a:r>
          </a:p>
        </p:txBody>
      </p:sp>
      <p:sp>
        <p:nvSpPr>
          <p:cNvPr id="22" name="body-876-278-238-48">
            <a:extLst xmlns:a="http://schemas.openxmlformats.org/drawingml/2006/main">
              <a:ext uri="{FF2B5EF4-FFF2-40B4-BE49-F238E27FC236}">
                <a16:creationId xmlns:a16="http://schemas.microsoft.com/office/drawing/2014/main" id="{9B887CA9-FEA5-422F-980A-CD7A0518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47950"/>
            <a:ext cx="2266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16 selected analytical episodes</a:t>
            </a:r>
          </a:p>
        </p:txBody>
      </p:sp>
      <p:sp>
        <p:nvSpPr>
          <p:cNvPr id="23" name="card-Selected analytical denominator">
            <a:extLst xmlns:a="http://schemas.openxmlformats.org/drawingml/2006/main">
              <a:ext uri="{FF2B5EF4-FFF2-40B4-BE49-F238E27FC236}">
                <a16:creationId xmlns:a16="http://schemas.microsoft.com/office/drawing/2014/main" id="{C283051D-DEF8-4004-A808-1064128F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6672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F4C98A"/>
            </a:solidFill>
            <a:prstDash val="solid"/>
          </a:ln>
        </p:spPr>
      </p:sp>
      <p:sp>
        <p:nvSpPr>
          <p:cNvPr id="24" name="heading-122-456-458-26">
            <a:extLst xmlns:a="http://schemas.openxmlformats.org/drawingml/2006/main">
              <a:ext uri="{FF2B5EF4-FFF2-40B4-BE49-F238E27FC236}">
                <a16:creationId xmlns:a16="http://schemas.microsoft.com/office/drawing/2014/main" id="{650A33CA-1B3B-4392-83F7-A5D2C6FE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43400"/>
            <a:ext cx="4362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Selected analytical denominator</a:t>
            </a:r>
          </a:p>
        </p:txBody>
      </p:sp>
      <p:sp>
        <p:nvSpPr>
          <p:cNvPr id="25" name="body-122-488-458-43">
            <a:extLst xmlns:a="http://schemas.openxmlformats.org/drawingml/2006/main">
              <a:ext uri="{FF2B5EF4-FFF2-40B4-BE49-F238E27FC236}">
                <a16:creationId xmlns:a16="http://schemas.microsoft.com/office/drawing/2014/main" id="{B2FF3387-DB80-4687-AE90-26A21E38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48200"/>
            <a:ext cx="43624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532 episodes: 16 operational UTI and 516 operational Not_UTI.</a:t>
            </a:r>
          </a:p>
        </p:txBody>
      </p:sp>
      <p:sp>
        <p:nvSpPr>
          <p:cNvPr id="26" name="card-Not_UTI is a mixed comparator">
            <a:extLst xmlns:a="http://schemas.openxmlformats.org/drawingml/2006/main">
              <a:ext uri="{FF2B5EF4-FFF2-40B4-BE49-F238E27FC236}">
                <a16:creationId xmlns:a16="http://schemas.microsoft.com/office/drawing/2014/main" id="{E4EF86C9-9E84-48D4-8547-30DE1621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91000"/>
            <a:ext cx="46672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heading-698-456-458-26">
            <a:extLst xmlns:a="http://schemas.openxmlformats.org/drawingml/2006/main">
              <a:ext uri="{FF2B5EF4-FFF2-40B4-BE49-F238E27FC236}">
                <a16:creationId xmlns:a16="http://schemas.microsoft.com/office/drawing/2014/main" id="{35B3BC24-450D-4C15-8C12-B2EE58DC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43400"/>
            <a:ext cx="4362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Not_UTI is a mixed comparator</a:t>
            </a:r>
          </a:p>
        </p:txBody>
      </p:sp>
      <p:sp>
        <p:nvSpPr>
          <p:cNvPr id="28" name="body-698-488-458-43">
            <a:extLst xmlns:a="http://schemas.openxmlformats.org/drawingml/2006/main">
              <a:ext uri="{FF2B5EF4-FFF2-40B4-BE49-F238E27FC236}">
                <a16:creationId xmlns:a16="http://schemas.microsoft.com/office/drawing/2014/main" id="{F0006CB1-958A-4AD1-BF20-BFA7C4B5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48200"/>
            <a:ext cx="43624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It means the episode did not meet the operational UTI label; it is not a single biological state.</a:t>
            </a:r>
          </a:p>
        </p:txBody>
      </p:sp>
    </p:spTree>
    <p:extLst>
      <p:ext uri="{BB962C8B-B14F-4D97-AF65-F5344CB8AC3E}">
        <p14:creationId xmlns:p14="http://schemas.microsoft.com/office/powerpoint/2010/main" val="8655023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D69BA55-416C-4F62-B6DD-9100961B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2A42399F-E073-4792-B23A-50F03731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904BEB05-253F-4697-AE41-5A49092A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DATA ASSET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102DA7A-438A-4A41-9406-27F60E4A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VF-ready data link selected genomes to repeated clinical episodes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0F42E82A-D35E-4C00-8CF3-1C104A31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All analytical denominators are selected Longcycler outputs; source counts appear only as QC context.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A925B0C9-CBED-49FF-86D0-9C6EEAE7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D4517C1-82BF-436E-B10E-5D55CBD1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621616CA-0C2B-4AB2-AF5B-7FA53A8C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AE89A2D-36A4-446F-9317-A426AC42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metric-selected episodes">
            <a:extLst xmlns:a="http://schemas.openxmlformats.org/drawingml/2006/main">
              <a:ext uri="{FF2B5EF4-FFF2-40B4-BE49-F238E27FC236}">
                <a16:creationId xmlns:a16="http://schemas.microsoft.com/office/drawing/2014/main" id="{63F76474-3D2B-443F-904A-47D3B59F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heading-76-188-170-31">
            <a:extLst xmlns:a="http://schemas.openxmlformats.org/drawingml/2006/main">
              <a:ext uri="{FF2B5EF4-FFF2-40B4-BE49-F238E27FC236}">
                <a16:creationId xmlns:a16="http://schemas.microsoft.com/office/drawing/2014/main" id="{D805BDA5-77DA-4A06-93FC-D12B65EE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1619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532</a:t>
            </a:r>
          </a:p>
        </p:txBody>
      </p:sp>
      <p:sp>
        <p:nvSpPr>
          <p:cNvPr id="12" name="body-76-226-170-32">
            <a:extLst xmlns:a="http://schemas.openxmlformats.org/drawingml/2006/main">
              <a:ext uri="{FF2B5EF4-FFF2-40B4-BE49-F238E27FC236}">
                <a16:creationId xmlns:a16="http://schemas.microsoft.com/office/drawing/2014/main" id="{D068041A-CE50-4EEA-B338-0BA7FFDF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6CB0"/>
                </a:solidFill>
                <a:latin typeface="Aptos"/>
                <a:ea typeface="Aptos"/>
                <a:cs typeface="Aptos"/>
              </a:rPr>
              <a:t>selected episodes</a:t>
            </a:r>
          </a:p>
        </p:txBody>
      </p:sp>
      <p:sp>
        <p:nvSpPr>
          <p:cNvPr id="13" name="metric-residents">
            <a:extLst xmlns:a="http://schemas.openxmlformats.org/drawingml/2006/main">
              <a:ext uri="{FF2B5EF4-FFF2-40B4-BE49-F238E27FC236}">
                <a16:creationId xmlns:a16="http://schemas.microsoft.com/office/drawing/2014/main" id="{24D5C02C-29BB-4F19-8971-FFB70DB7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764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heading-312-188-170-31">
            <a:extLst xmlns:a="http://schemas.openxmlformats.org/drawingml/2006/main">
              <a:ext uri="{FF2B5EF4-FFF2-40B4-BE49-F238E27FC236}">
                <a16:creationId xmlns:a16="http://schemas.microsoft.com/office/drawing/2014/main" id="{9E340472-F151-4A6C-A816-DCCDDEE8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90700"/>
            <a:ext cx="1619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161</a:t>
            </a:r>
          </a:p>
        </p:txBody>
      </p:sp>
      <p:sp>
        <p:nvSpPr>
          <p:cNvPr id="15" name="body-312-226-170-32">
            <a:extLst xmlns:a="http://schemas.openxmlformats.org/drawingml/2006/main">
              <a:ext uri="{FF2B5EF4-FFF2-40B4-BE49-F238E27FC236}">
                <a16:creationId xmlns:a16="http://schemas.microsoft.com/office/drawing/2014/main" id="{B0E4DB17-C30B-47E9-B32B-41369A8F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526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residents</a:t>
            </a:r>
          </a:p>
        </p:txBody>
      </p:sp>
      <p:sp>
        <p:nvSpPr>
          <p:cNvPr id="16" name="metric-binary VF features">
            <a:extLst xmlns:a="http://schemas.openxmlformats.org/drawingml/2006/main">
              <a:ext uri="{FF2B5EF4-FFF2-40B4-BE49-F238E27FC236}">
                <a16:creationId xmlns:a16="http://schemas.microsoft.com/office/drawing/2014/main" id="{1CF5EF91-13F6-4A77-9AB1-F3BBC68B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6764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heading-548-188-170-31">
            <a:extLst xmlns:a="http://schemas.openxmlformats.org/drawingml/2006/main">
              <a:ext uri="{FF2B5EF4-FFF2-40B4-BE49-F238E27FC236}">
                <a16:creationId xmlns:a16="http://schemas.microsoft.com/office/drawing/2014/main" id="{A136C1BA-931D-4E0D-88F2-1987F8F8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790700"/>
            <a:ext cx="1619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227</a:t>
            </a:r>
          </a:p>
        </p:txBody>
      </p:sp>
      <p:sp>
        <p:nvSpPr>
          <p:cNvPr id="18" name="body-548-226-170-32">
            <a:extLst xmlns:a="http://schemas.openxmlformats.org/drawingml/2006/main">
              <a:ext uri="{FF2B5EF4-FFF2-40B4-BE49-F238E27FC236}">
                <a16:creationId xmlns:a16="http://schemas.microsoft.com/office/drawing/2014/main" id="{761C2B87-E167-4055-BDEC-6FE12471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526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F855A"/>
                </a:solidFill>
                <a:latin typeface="Aptos"/>
                <a:ea typeface="Aptos"/>
                <a:cs typeface="Aptos"/>
              </a:rPr>
              <a:t>binary VF features</a:t>
            </a:r>
          </a:p>
        </p:txBody>
      </p:sp>
      <p:sp>
        <p:nvSpPr>
          <p:cNvPr id="19" name="metric-operational UTI">
            <a:extLst xmlns:a="http://schemas.openxmlformats.org/drawingml/2006/main">
              <a:ext uri="{FF2B5EF4-FFF2-40B4-BE49-F238E27FC236}">
                <a16:creationId xmlns:a16="http://schemas.microsoft.com/office/drawing/2014/main" id="{AEA828B1-3191-4B57-BFD5-F731961F0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heading-784-188-170-31">
            <a:extLst xmlns:a="http://schemas.openxmlformats.org/drawingml/2006/main">
              <a:ext uri="{FF2B5EF4-FFF2-40B4-BE49-F238E27FC236}">
                <a16:creationId xmlns:a16="http://schemas.microsoft.com/office/drawing/2014/main" id="{6DE48FB3-F989-4C51-88EC-A3F3CE9A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790700"/>
            <a:ext cx="1619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21" name="body-784-226-170-32">
            <a:extLst xmlns:a="http://schemas.openxmlformats.org/drawingml/2006/main">
              <a:ext uri="{FF2B5EF4-FFF2-40B4-BE49-F238E27FC236}">
                <a16:creationId xmlns:a16="http://schemas.microsoft.com/office/drawing/2014/main" id="{DAF4219F-98DD-4EE7-A010-0C2A8694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1526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97706"/>
                </a:solidFill>
                <a:latin typeface="Aptos"/>
                <a:ea typeface="Aptos"/>
                <a:cs typeface="Aptos"/>
              </a:rPr>
              <a:t>operational UTI</a:t>
            </a:r>
          </a:p>
        </p:txBody>
      </p:sp>
      <p:sp>
        <p:nvSpPr>
          <p:cNvPr id="22" name="metric-operational Not_UTI">
            <a:extLst xmlns:a="http://schemas.openxmlformats.org/drawingml/2006/main">
              <a:ext uri="{FF2B5EF4-FFF2-40B4-BE49-F238E27FC236}">
                <a16:creationId xmlns:a16="http://schemas.microsoft.com/office/drawing/2014/main" id="{952CFE69-08DA-4B52-990D-7A4B9CBE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764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heading-1020-188-170-31">
            <a:extLst xmlns:a="http://schemas.openxmlformats.org/drawingml/2006/main">
              <a:ext uri="{FF2B5EF4-FFF2-40B4-BE49-F238E27FC236}">
                <a16:creationId xmlns:a16="http://schemas.microsoft.com/office/drawing/2014/main" id="{666BB45D-3C2F-4CA8-96C5-3A02CB69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90700"/>
            <a:ext cx="1619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65A3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B65A3C"/>
                </a:solidFill>
                <a:latin typeface="Aptos"/>
                <a:ea typeface="Aptos"/>
                <a:cs typeface="Aptos"/>
              </a:rPr>
              <a:t>516</a:t>
            </a:r>
          </a:p>
        </p:txBody>
      </p:sp>
      <p:sp>
        <p:nvSpPr>
          <p:cNvPr id="24" name="body-1020-226-170-32">
            <a:extLst xmlns:a="http://schemas.openxmlformats.org/drawingml/2006/main">
              <a:ext uri="{FF2B5EF4-FFF2-40B4-BE49-F238E27FC236}">
                <a16:creationId xmlns:a16="http://schemas.microsoft.com/office/drawing/2014/main" id="{67650C9F-D25F-471E-8596-2803BB30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152650"/>
            <a:ext cx="1619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B65A3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65A3C"/>
                </a:solidFill>
                <a:latin typeface="Aptos"/>
                <a:ea typeface="Aptos"/>
                <a:cs typeface="Aptos"/>
              </a:rPr>
              <a:t>operational Not_UTI</a:t>
            </a:r>
          </a:p>
        </p:txBody>
      </p:sp>
      <p:sp>
        <p:nvSpPr>
          <p:cNvPr id="25" name="body-98-326-360-24">
            <a:extLst xmlns:a="http://schemas.openxmlformats.org/drawingml/2006/main">
              <a:ext uri="{FF2B5EF4-FFF2-40B4-BE49-F238E27FC236}">
                <a16:creationId xmlns:a16="http://schemas.microsoft.com/office/drawing/2014/main" id="{F350BBEF-0062-40AF-A79D-66A77D5F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Repeated-isolate design</a:t>
            </a:r>
          </a:p>
        </p:txBody>
      </p:sp>
      <p:sp>
        <p:nvSpPr>
          <p:cNvPr id="26" name="episode-1">
            <a:extLst xmlns:a="http://schemas.openxmlformats.org/drawingml/2006/main">
              <a:ext uri="{FF2B5EF4-FFF2-40B4-BE49-F238E27FC236}">
                <a16:creationId xmlns:a16="http://schemas.microsoft.com/office/drawing/2014/main" id="{A64422D7-ED99-4E5E-BC40-8E86ECDE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90750" y="415290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episode-1-head">
            <a:extLst xmlns:a="http://schemas.openxmlformats.org/drawingml/2006/main">
              <a:ext uri="{FF2B5EF4-FFF2-40B4-BE49-F238E27FC236}">
                <a16:creationId xmlns:a16="http://schemas.microsoft.com/office/drawing/2014/main" id="{218A6565-1237-49F1-85C0-AC89D7CE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362325" y="411480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episode-2">
            <a:extLst xmlns:a="http://schemas.openxmlformats.org/drawingml/2006/main">
              <a:ext uri="{FF2B5EF4-FFF2-40B4-BE49-F238E27FC236}">
                <a16:creationId xmlns:a16="http://schemas.microsoft.com/office/drawing/2014/main" id="{8AFB1C8E-CB5B-4F29-9ECB-3288FCA9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86250" y="415290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episode-2-head">
            <a:extLst xmlns:a="http://schemas.openxmlformats.org/drawingml/2006/main">
              <a:ext uri="{FF2B5EF4-FFF2-40B4-BE49-F238E27FC236}">
                <a16:creationId xmlns:a16="http://schemas.microsoft.com/office/drawing/2014/main" id="{57214711-8FFF-449B-B150-69393BCF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57825" y="411480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episode-3">
            <a:extLst xmlns:a="http://schemas.openxmlformats.org/drawingml/2006/main">
              <a:ext uri="{FF2B5EF4-FFF2-40B4-BE49-F238E27FC236}">
                <a16:creationId xmlns:a16="http://schemas.microsoft.com/office/drawing/2014/main" id="{36A960FF-150A-4EBE-9EF0-38BCDEC7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81750" y="415290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episode-3-head">
            <a:extLst xmlns:a="http://schemas.openxmlformats.org/drawingml/2006/main">
              <a:ext uri="{FF2B5EF4-FFF2-40B4-BE49-F238E27FC236}">
                <a16:creationId xmlns:a16="http://schemas.microsoft.com/office/drawing/2014/main" id="{C1686CF1-3FE6-43DF-BDBD-DF4CBA76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553325" y="411480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episode-4">
            <a:extLst xmlns:a="http://schemas.openxmlformats.org/drawingml/2006/main">
              <a:ext uri="{FF2B5EF4-FFF2-40B4-BE49-F238E27FC236}">
                <a16:creationId xmlns:a16="http://schemas.microsoft.com/office/drawing/2014/main" id="{00CD8492-B21A-4DB3-8552-27F33DBB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0" y="4152900"/>
            <a:ext cx="1238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episode-4-head">
            <a:extLst xmlns:a="http://schemas.openxmlformats.org/drawingml/2006/main">
              <a:ext uri="{FF2B5EF4-FFF2-40B4-BE49-F238E27FC236}">
                <a16:creationId xmlns:a16="http://schemas.microsoft.com/office/drawing/2014/main" id="{FD33990B-2C94-4EEA-A367-A73F08E4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48825" y="411480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episode-node-1">
            <a:extLst xmlns:a="http://schemas.openxmlformats.org/drawingml/2006/main">
              <a:ext uri="{FF2B5EF4-FFF2-40B4-BE49-F238E27FC236}">
                <a16:creationId xmlns:a16="http://schemas.microsoft.com/office/drawing/2014/main" id="{2600E7A0-7F87-4967-97D4-0EC18897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10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9050">
            <a:solidFill>
              <a:srgbClr val="9AC1E6"/>
            </a:solidFill>
            <a:prstDash val="solid"/>
          </a:ln>
        </p:spPr>
      </p:sp>
      <p:sp>
        <p:nvSpPr>
          <p:cNvPr id="35" name="label-142-426-86-18">
            <a:extLst xmlns:a="http://schemas.openxmlformats.org/drawingml/2006/main">
              <a:ext uri="{FF2B5EF4-FFF2-40B4-BE49-F238E27FC236}">
                <a16:creationId xmlns:a16="http://schemas.microsoft.com/office/drawing/2014/main" id="{E0FC4962-9DDE-4273-871E-D612D9CE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5765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Not_UTI</a:t>
            </a:r>
          </a:p>
        </p:txBody>
      </p:sp>
      <p:sp>
        <p:nvSpPr>
          <p:cNvPr id="36" name="label-134-484-102-18">
            <a:extLst xmlns:a="http://schemas.openxmlformats.org/drawingml/2006/main">
              <a:ext uri="{FF2B5EF4-FFF2-40B4-BE49-F238E27FC236}">
                <a16:creationId xmlns:a16="http://schemas.microsoft.com/office/drawing/2014/main" id="{22D192C2-60E8-402C-A15E-D8EAC128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10100"/>
            <a:ext cx="971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Episode 1</a:t>
            </a:r>
          </a:p>
        </p:txBody>
      </p:sp>
      <p:sp>
        <p:nvSpPr>
          <p:cNvPr id="37" name="episode-node-2">
            <a:extLst xmlns:a="http://schemas.openxmlformats.org/drawingml/2006/main">
              <a:ext uri="{FF2B5EF4-FFF2-40B4-BE49-F238E27FC236}">
                <a16:creationId xmlns:a16="http://schemas.microsoft.com/office/drawing/2014/main" id="{EFF08979-8EE2-494A-AEAA-9D448B37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10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9050">
            <a:solidFill>
              <a:srgbClr val="9AC1E6"/>
            </a:solidFill>
            <a:prstDash val="solid"/>
          </a:ln>
        </p:spPr>
      </p:sp>
      <p:sp>
        <p:nvSpPr>
          <p:cNvPr id="38" name="label-362-426-86-18">
            <a:extLst xmlns:a="http://schemas.openxmlformats.org/drawingml/2006/main">
              <a:ext uri="{FF2B5EF4-FFF2-40B4-BE49-F238E27FC236}">
                <a16:creationId xmlns:a16="http://schemas.microsoft.com/office/drawing/2014/main" id="{96A03104-8166-4B59-B4DC-17837C001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05765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Not_UTI</a:t>
            </a:r>
          </a:p>
        </p:txBody>
      </p:sp>
      <p:sp>
        <p:nvSpPr>
          <p:cNvPr id="39" name="label-354-484-102-18">
            <a:extLst xmlns:a="http://schemas.openxmlformats.org/drawingml/2006/main">
              <a:ext uri="{FF2B5EF4-FFF2-40B4-BE49-F238E27FC236}">
                <a16:creationId xmlns:a16="http://schemas.microsoft.com/office/drawing/2014/main" id="{45D404A7-8BDB-488F-8AF0-011FC4FF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610100"/>
            <a:ext cx="971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Episode 2</a:t>
            </a:r>
          </a:p>
        </p:txBody>
      </p:sp>
      <p:sp>
        <p:nvSpPr>
          <p:cNvPr id="40" name="episode-node-3">
            <a:extLst xmlns:a="http://schemas.openxmlformats.org/drawingml/2006/main">
              <a:ext uri="{FF2B5EF4-FFF2-40B4-BE49-F238E27FC236}">
                <a16:creationId xmlns:a16="http://schemas.microsoft.com/office/drawing/2014/main" id="{11CD1C36-C7EE-4014-AFB3-475F1BD1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10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9050">
            <a:solidFill>
              <a:srgbClr val="9AC1E6"/>
            </a:solidFill>
            <a:prstDash val="solid"/>
          </a:ln>
        </p:spPr>
      </p:sp>
      <p:sp>
        <p:nvSpPr>
          <p:cNvPr id="41" name="label-582-426-86-18">
            <a:extLst xmlns:a="http://schemas.openxmlformats.org/drawingml/2006/main">
              <a:ext uri="{FF2B5EF4-FFF2-40B4-BE49-F238E27FC236}">
                <a16:creationId xmlns:a16="http://schemas.microsoft.com/office/drawing/2014/main" id="{EA65FFF9-7ACD-41F3-8200-372FBE0C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05765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Not_UTI</a:t>
            </a:r>
          </a:p>
        </p:txBody>
      </p:sp>
      <p:sp>
        <p:nvSpPr>
          <p:cNvPr id="42" name="label-574-484-102-18">
            <a:extLst xmlns:a="http://schemas.openxmlformats.org/drawingml/2006/main">
              <a:ext uri="{FF2B5EF4-FFF2-40B4-BE49-F238E27FC236}">
                <a16:creationId xmlns:a16="http://schemas.microsoft.com/office/drawing/2014/main" id="{71AD4E74-1D53-448C-A783-0722FFCB4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610100"/>
            <a:ext cx="971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Episode 3</a:t>
            </a:r>
          </a:p>
        </p:txBody>
      </p:sp>
      <p:sp>
        <p:nvSpPr>
          <p:cNvPr id="43" name="episode-node-4">
            <a:extLst xmlns:a="http://schemas.openxmlformats.org/drawingml/2006/main">
              <a:ext uri="{FF2B5EF4-FFF2-40B4-BE49-F238E27FC236}">
                <a16:creationId xmlns:a16="http://schemas.microsoft.com/office/drawing/2014/main" id="{E55EC249-D56A-42EF-895F-10E7A7F9B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10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E6"/>
          </a:solidFill>
          <a:ln xmlns:a="http://schemas.openxmlformats.org/drawingml/2006/main" w="19050">
            <a:solidFill>
              <a:srgbClr val="F4B15F"/>
            </a:solidFill>
            <a:prstDash val="solid"/>
          </a:ln>
        </p:spPr>
      </p:sp>
      <p:sp>
        <p:nvSpPr>
          <p:cNvPr id="44" name="label-802-426-86-18">
            <a:extLst xmlns:a="http://schemas.openxmlformats.org/drawingml/2006/main">
              <a:ext uri="{FF2B5EF4-FFF2-40B4-BE49-F238E27FC236}">
                <a16:creationId xmlns:a16="http://schemas.microsoft.com/office/drawing/2014/main" id="{38AD5165-3128-42D6-B93E-5E190938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5765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UTI</a:t>
            </a:r>
          </a:p>
        </p:txBody>
      </p:sp>
      <p:sp>
        <p:nvSpPr>
          <p:cNvPr id="45" name="label-794-484-102-18">
            <a:extLst xmlns:a="http://schemas.openxmlformats.org/drawingml/2006/main">
              <a:ext uri="{FF2B5EF4-FFF2-40B4-BE49-F238E27FC236}">
                <a16:creationId xmlns:a16="http://schemas.microsoft.com/office/drawing/2014/main" id="{29B55C73-D70B-4011-9B91-922E2FE6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10100"/>
            <a:ext cx="971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Episode 4</a:t>
            </a:r>
          </a:p>
        </p:txBody>
      </p:sp>
      <p:sp>
        <p:nvSpPr>
          <p:cNvPr id="46" name="episode-node-5">
            <a:extLst xmlns:a="http://schemas.openxmlformats.org/drawingml/2006/main">
              <a:ext uri="{FF2B5EF4-FFF2-40B4-BE49-F238E27FC236}">
                <a16:creationId xmlns:a16="http://schemas.microsoft.com/office/drawing/2014/main" id="{C27DCA4C-A76D-4CAB-A55A-6A921CA4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10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9050">
            <a:solidFill>
              <a:srgbClr val="9AC1E6"/>
            </a:solidFill>
            <a:prstDash val="solid"/>
          </a:ln>
        </p:spPr>
      </p:sp>
      <p:sp>
        <p:nvSpPr>
          <p:cNvPr id="47" name="label-1022-426-86-18">
            <a:extLst xmlns:a="http://schemas.openxmlformats.org/drawingml/2006/main">
              <a:ext uri="{FF2B5EF4-FFF2-40B4-BE49-F238E27FC236}">
                <a16:creationId xmlns:a16="http://schemas.microsoft.com/office/drawing/2014/main" id="{58F977CE-CC2A-4B6F-A8D7-E1AA2B19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05765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Not_UTI</a:t>
            </a:r>
          </a:p>
        </p:txBody>
      </p:sp>
      <p:sp>
        <p:nvSpPr>
          <p:cNvPr id="48" name="label-1014-484-102-18">
            <a:extLst xmlns:a="http://schemas.openxmlformats.org/drawingml/2006/main">
              <a:ext uri="{FF2B5EF4-FFF2-40B4-BE49-F238E27FC236}">
                <a16:creationId xmlns:a16="http://schemas.microsoft.com/office/drawing/2014/main" id="{E110ABA5-FE68-460D-902D-BB7A290A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610100"/>
            <a:ext cx="971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Episode 5</a:t>
            </a:r>
          </a:p>
        </p:txBody>
      </p:sp>
      <p:sp>
        <p:nvSpPr>
          <p:cNvPr id="49" name="card-Interpretation stance">
            <a:extLst xmlns:a="http://schemas.openxmlformats.org/drawingml/2006/main">
              <a:ext uri="{FF2B5EF4-FFF2-40B4-BE49-F238E27FC236}">
                <a16:creationId xmlns:a16="http://schemas.microsoft.com/office/drawing/2014/main" id="{C83D69D1-E48E-4EFE-B91A-F14A7EE8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19700"/>
            <a:ext cx="10001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0" name="heading-114-564-1018-26">
            <a:extLst xmlns:a="http://schemas.openxmlformats.org/drawingml/2006/main">
              <a:ext uri="{FF2B5EF4-FFF2-40B4-BE49-F238E27FC236}">
                <a16:creationId xmlns:a16="http://schemas.microsoft.com/office/drawing/2014/main" id="{AB833BDB-3A48-4D13-9B3F-DC24322F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72100"/>
            <a:ext cx="9696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Interpretation stance</a:t>
            </a:r>
          </a:p>
        </p:txBody>
      </p:sp>
      <p:sp>
        <p:nvSpPr>
          <p:cNvPr id="51" name="body-114-596-1018-10">
            <a:extLst xmlns:a="http://schemas.openxmlformats.org/drawingml/2006/main">
              <a:ext uri="{FF2B5EF4-FFF2-40B4-BE49-F238E27FC236}">
                <a16:creationId xmlns:a16="http://schemas.microsoft.com/office/drawing/2014/main" id="{BB9804CC-301A-45DA-BC03-28637B3B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76900"/>
            <a:ext cx="9696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Episode profiles are repeated within residents. Status comparisons must account for repeated measures, lineage structure, and the sparse operational UTI denominator.</a:t>
            </a:r>
          </a:p>
        </p:txBody>
      </p:sp>
    </p:spTree>
    <p:extLst>
      <p:ext uri="{BB962C8B-B14F-4D97-AF65-F5344CB8AC3E}">
        <p14:creationId xmlns:p14="http://schemas.microsoft.com/office/powerpoint/2010/main" val="176327213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94DEE425-F7A9-4CF5-9DA9-CE9D3683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2B3726FB-FA8D-4F5B-BBD5-3BC86E57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0ACE73AB-75CE-4400-87DC-DA413ED4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VF REPRESENTATION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669E11B-4F66-4845-811D-BDE6925E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VF features are summarised as genes, curated modules, and longitudinal similarity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1D8B1559-B158-4F84-AF02-E9D29DCB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Module and score outputs support interpretation; they are not validated disease-causality measures.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0A73EFD2-0C02-415B-80DD-B98EDB08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C80C5B2-2F47-44F0-A8B4-EEDF2C3B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329D4DCB-DC94-4D5D-B67B-8EF458AE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B933DB6-63A2-4F96-9E02-02FD6AEA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10" name="framework-1">
            <a:extLst xmlns:a="http://schemas.openxmlformats.org/drawingml/2006/main">
              <a:ext uri="{FF2B5EF4-FFF2-40B4-BE49-F238E27FC236}">
                <a16:creationId xmlns:a16="http://schemas.microsoft.com/office/drawing/2014/main" id="{A3EF6661-BF20-4FF4-BCAB-2C754A96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81375" y="2438400"/>
            <a:ext cx="119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framework-1-head">
            <a:extLst xmlns:a="http://schemas.openxmlformats.org/drawingml/2006/main">
              <a:ext uri="{FF2B5EF4-FFF2-40B4-BE49-F238E27FC236}">
                <a16:creationId xmlns:a16="http://schemas.microsoft.com/office/drawing/2014/main" id="{9CFCB0BF-A6F2-46EC-83C9-7020061D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505325" y="240030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framework-2">
            <a:extLst xmlns:a="http://schemas.openxmlformats.org/drawingml/2006/main">
              <a:ext uri="{FF2B5EF4-FFF2-40B4-BE49-F238E27FC236}">
                <a16:creationId xmlns:a16="http://schemas.microsoft.com/office/drawing/2014/main" id="{8F9D7D88-6DA2-4BE3-AA58-BA20144A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72375" y="2438400"/>
            <a:ext cx="119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framework-2-head">
            <a:extLst xmlns:a="http://schemas.openxmlformats.org/drawingml/2006/main">
              <a:ext uri="{FF2B5EF4-FFF2-40B4-BE49-F238E27FC236}">
                <a16:creationId xmlns:a16="http://schemas.microsoft.com/office/drawing/2014/main" id="{A28C835D-686F-41C9-9C0C-BC4607CC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96325" y="240030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card-Binary VF gene matrix">
            <a:extLst xmlns:a="http://schemas.openxmlformats.org/drawingml/2006/main">
              <a:ext uri="{FF2B5EF4-FFF2-40B4-BE49-F238E27FC236}">
                <a16:creationId xmlns:a16="http://schemas.microsoft.com/office/drawing/2014/main" id="{986F0F77-C46E-4795-B99F-928BF3D0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26670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B9D5F0"/>
            </a:solidFill>
            <a:prstDash val="solid"/>
          </a:ln>
        </p:spPr>
      </p:sp>
      <p:sp>
        <p:nvSpPr>
          <p:cNvPr id="15" name="heading-90-204-248-26">
            <a:extLst xmlns:a="http://schemas.openxmlformats.org/drawingml/2006/main">
              <a:ext uri="{FF2B5EF4-FFF2-40B4-BE49-F238E27FC236}">
                <a16:creationId xmlns:a16="http://schemas.microsoft.com/office/drawing/2014/main" id="{C460427D-A529-4752-88F5-840BC334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2362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Binary VF gene matrix</a:t>
            </a:r>
          </a:p>
        </p:txBody>
      </p:sp>
      <p:sp>
        <p:nvSpPr>
          <p:cNvPr id="16" name="body-90-236-248-76">
            <a:extLst xmlns:a="http://schemas.openxmlformats.org/drawingml/2006/main">
              <a:ext uri="{FF2B5EF4-FFF2-40B4-BE49-F238E27FC236}">
                <a16:creationId xmlns:a16="http://schemas.microsoft.com/office/drawing/2014/main" id="{CECB2D2B-747D-41AF-B252-5631C02F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2362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227 presence/absence features per selected episode-level genome.</a:t>
            </a:r>
          </a:p>
        </p:txBody>
      </p:sp>
      <p:sp>
        <p:nvSpPr>
          <p:cNvPr id="17" name="card-Curated biological modules">
            <a:extLst xmlns:a="http://schemas.openxmlformats.org/drawingml/2006/main">
              <a:ext uri="{FF2B5EF4-FFF2-40B4-BE49-F238E27FC236}">
                <a16:creationId xmlns:a16="http://schemas.microsoft.com/office/drawing/2014/main" id="{31EADE86-0C9C-442B-9EC8-3CC8E9FD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90700"/>
            <a:ext cx="300037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CE4C9"/>
            </a:solidFill>
            <a:prstDash val="solid"/>
          </a:ln>
        </p:spPr>
      </p:sp>
      <p:sp>
        <p:nvSpPr>
          <p:cNvPr id="18" name="heading-496-204-283-26">
            <a:extLst xmlns:a="http://schemas.openxmlformats.org/drawingml/2006/main">
              <a:ext uri="{FF2B5EF4-FFF2-40B4-BE49-F238E27FC236}">
                <a16:creationId xmlns:a16="http://schemas.microsoft.com/office/drawing/2014/main" id="{AC7128BD-C731-4814-865B-2DE61C45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943100"/>
            <a:ext cx="269557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Curated biological modules</a:t>
            </a:r>
          </a:p>
        </p:txBody>
      </p:sp>
      <p:sp>
        <p:nvSpPr>
          <p:cNvPr id="19" name="body-496-236-283-76">
            <a:extLst xmlns:a="http://schemas.openxmlformats.org/drawingml/2006/main">
              <a:ext uri="{FF2B5EF4-FFF2-40B4-BE49-F238E27FC236}">
                <a16:creationId xmlns:a16="http://schemas.microsoft.com/office/drawing/2014/main" id="{AF27563E-79F2-467B-A673-7EFA78E5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47900"/>
            <a:ext cx="26955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Genes are grouped to make repertoire patterns navigable without changing the underlying binary evidence.</a:t>
            </a:r>
          </a:p>
        </p:txBody>
      </p:sp>
      <p:sp>
        <p:nvSpPr>
          <p:cNvPr id="20" name="card-Longitudinal outputs">
            <a:extLst xmlns:a="http://schemas.openxmlformats.org/drawingml/2006/main">
              <a:ext uri="{FF2B5EF4-FFF2-40B4-BE49-F238E27FC236}">
                <a16:creationId xmlns:a16="http://schemas.microsoft.com/office/drawing/2014/main" id="{7FA55AB8-927B-49F0-B316-9B6C206F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2714625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F4C98A"/>
            </a:solidFill>
            <a:prstDash val="solid"/>
          </a:ln>
        </p:spPr>
      </p:sp>
      <p:sp>
        <p:nvSpPr>
          <p:cNvPr id="21" name="heading-936-204-253-26">
            <a:extLst xmlns:a="http://schemas.openxmlformats.org/drawingml/2006/main">
              <a:ext uri="{FF2B5EF4-FFF2-40B4-BE49-F238E27FC236}">
                <a16:creationId xmlns:a16="http://schemas.microsoft.com/office/drawing/2014/main" id="{99C0A55C-B951-46A4-B80C-76BC861B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43100"/>
            <a:ext cx="24098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Longitudinal outputs</a:t>
            </a:r>
          </a:p>
        </p:txBody>
      </p:sp>
      <p:sp>
        <p:nvSpPr>
          <p:cNvPr id="22" name="body-936-236-253-76">
            <a:extLst xmlns:a="http://schemas.openxmlformats.org/drawingml/2006/main">
              <a:ext uri="{FF2B5EF4-FFF2-40B4-BE49-F238E27FC236}">
                <a16:creationId xmlns:a16="http://schemas.microsoft.com/office/drawing/2014/main" id="{9899CD29-7394-462A-B3F8-62F45135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47900"/>
            <a:ext cx="24098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Prevalence, Jaccard similarity, gain/loss summaries, and exploratory clinical overlays.</a:t>
            </a:r>
          </a:p>
        </p:txBody>
      </p:sp>
      <p:sp>
        <p:nvSpPr>
          <p:cNvPr id="23" name="matrix-0-0">
            <a:extLst xmlns:a="http://schemas.openxmlformats.org/drawingml/2006/main">
              <a:ext uri="{FF2B5EF4-FFF2-40B4-BE49-F238E27FC236}">
                <a16:creationId xmlns:a16="http://schemas.microsoft.com/office/drawing/2014/main" id="{A76ECE8D-932A-4960-AAA4-37BC5615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338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matrix-0-1">
            <a:extLst xmlns:a="http://schemas.openxmlformats.org/drawingml/2006/main">
              <a:ext uri="{FF2B5EF4-FFF2-40B4-BE49-F238E27FC236}">
                <a16:creationId xmlns:a16="http://schemas.microsoft.com/office/drawing/2014/main" id="{A3D60AEC-A662-4400-AAFD-B44BEEBD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37338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matrix-0-2">
            <a:extLst xmlns:a="http://schemas.openxmlformats.org/drawingml/2006/main">
              <a:ext uri="{FF2B5EF4-FFF2-40B4-BE49-F238E27FC236}">
                <a16:creationId xmlns:a16="http://schemas.microsoft.com/office/drawing/2014/main" id="{8726E229-7589-4EF6-A3EC-821B2A24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7338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matrix-0-3">
            <a:extLst xmlns:a="http://schemas.openxmlformats.org/drawingml/2006/main">
              <a:ext uri="{FF2B5EF4-FFF2-40B4-BE49-F238E27FC236}">
                <a16:creationId xmlns:a16="http://schemas.microsoft.com/office/drawing/2014/main" id="{CA509677-ED97-4D79-879C-2389B70E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7338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matrix-0-4">
            <a:extLst xmlns:a="http://schemas.openxmlformats.org/drawingml/2006/main">
              <a:ext uri="{FF2B5EF4-FFF2-40B4-BE49-F238E27FC236}">
                <a16:creationId xmlns:a16="http://schemas.microsoft.com/office/drawing/2014/main" id="{00470A1C-CA41-40FE-9817-7EA7BE47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7338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matrix-0-5">
            <a:extLst xmlns:a="http://schemas.openxmlformats.org/drawingml/2006/main">
              <a:ext uri="{FF2B5EF4-FFF2-40B4-BE49-F238E27FC236}">
                <a16:creationId xmlns:a16="http://schemas.microsoft.com/office/drawing/2014/main" id="{92E95943-60F3-486B-A0BC-566CDD89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37338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matrix-0-6">
            <a:extLst xmlns:a="http://schemas.openxmlformats.org/drawingml/2006/main">
              <a:ext uri="{FF2B5EF4-FFF2-40B4-BE49-F238E27FC236}">
                <a16:creationId xmlns:a16="http://schemas.microsoft.com/office/drawing/2014/main" id="{F6EC9642-670D-4844-A5A9-2F5FE2E2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338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matrix-0-7">
            <a:extLst xmlns:a="http://schemas.openxmlformats.org/drawingml/2006/main">
              <a:ext uri="{FF2B5EF4-FFF2-40B4-BE49-F238E27FC236}">
                <a16:creationId xmlns:a16="http://schemas.microsoft.com/office/drawing/2014/main" id="{67B4B029-18DB-4FB2-AF77-5E6CDCD4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7338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matrix-0-8">
            <a:extLst xmlns:a="http://schemas.openxmlformats.org/drawingml/2006/main">
              <a:ext uri="{FF2B5EF4-FFF2-40B4-BE49-F238E27FC236}">
                <a16:creationId xmlns:a16="http://schemas.microsoft.com/office/drawing/2014/main" id="{7BA17868-09E2-44CB-A0B4-64FE419D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7338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matrix-0-9">
            <a:extLst xmlns:a="http://schemas.openxmlformats.org/drawingml/2006/main">
              <a:ext uri="{FF2B5EF4-FFF2-40B4-BE49-F238E27FC236}">
                <a16:creationId xmlns:a16="http://schemas.microsoft.com/office/drawing/2014/main" id="{BC49286D-5FE0-48AE-8C14-A6B50545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7338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matrix-0-10">
            <a:extLst xmlns:a="http://schemas.openxmlformats.org/drawingml/2006/main">
              <a:ext uri="{FF2B5EF4-FFF2-40B4-BE49-F238E27FC236}">
                <a16:creationId xmlns:a16="http://schemas.microsoft.com/office/drawing/2014/main" id="{FB5F5E95-A7AF-4374-8AA9-E36EE637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338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matrix-1-0">
            <a:extLst xmlns:a="http://schemas.openxmlformats.org/drawingml/2006/main">
              <a:ext uri="{FF2B5EF4-FFF2-40B4-BE49-F238E27FC236}">
                <a16:creationId xmlns:a16="http://schemas.microsoft.com/office/drawing/2014/main" id="{6C802518-FC86-4AE5-B117-70620598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957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matrix-1-1">
            <a:extLst xmlns:a="http://schemas.openxmlformats.org/drawingml/2006/main">
              <a:ext uri="{FF2B5EF4-FFF2-40B4-BE49-F238E27FC236}">
                <a16:creationId xmlns:a16="http://schemas.microsoft.com/office/drawing/2014/main" id="{41DECFBD-E990-423D-90C2-93F37D6E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38957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matrix-1-2">
            <a:extLst xmlns:a="http://schemas.openxmlformats.org/drawingml/2006/main">
              <a:ext uri="{FF2B5EF4-FFF2-40B4-BE49-F238E27FC236}">
                <a16:creationId xmlns:a16="http://schemas.microsoft.com/office/drawing/2014/main" id="{B02C297C-91C5-4FCB-99B3-2C58C79F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8957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matrix-1-3">
            <a:extLst xmlns:a="http://schemas.openxmlformats.org/drawingml/2006/main">
              <a:ext uri="{FF2B5EF4-FFF2-40B4-BE49-F238E27FC236}">
                <a16:creationId xmlns:a16="http://schemas.microsoft.com/office/drawing/2014/main" id="{8D4373E3-9A38-4F9A-8FC0-7708F5F2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8957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matrix-1-4">
            <a:extLst xmlns:a="http://schemas.openxmlformats.org/drawingml/2006/main">
              <a:ext uri="{FF2B5EF4-FFF2-40B4-BE49-F238E27FC236}">
                <a16:creationId xmlns:a16="http://schemas.microsoft.com/office/drawing/2014/main" id="{A826E4BD-2E84-417A-93E4-2BAAF90A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957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matrix-1-5">
            <a:extLst xmlns:a="http://schemas.openxmlformats.org/drawingml/2006/main">
              <a:ext uri="{FF2B5EF4-FFF2-40B4-BE49-F238E27FC236}">
                <a16:creationId xmlns:a16="http://schemas.microsoft.com/office/drawing/2014/main" id="{04790E72-9C65-42AC-91AA-D7C5FF3B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38957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matrix-1-6">
            <a:extLst xmlns:a="http://schemas.openxmlformats.org/drawingml/2006/main">
              <a:ext uri="{FF2B5EF4-FFF2-40B4-BE49-F238E27FC236}">
                <a16:creationId xmlns:a16="http://schemas.microsoft.com/office/drawing/2014/main" id="{C65E3041-29F2-4931-BAC9-15E73241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8957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matrix-1-7">
            <a:extLst xmlns:a="http://schemas.openxmlformats.org/drawingml/2006/main">
              <a:ext uri="{FF2B5EF4-FFF2-40B4-BE49-F238E27FC236}">
                <a16:creationId xmlns:a16="http://schemas.microsoft.com/office/drawing/2014/main" id="{15118E03-4422-41D3-A553-EA6E1848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8957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matrix-1-8">
            <a:extLst xmlns:a="http://schemas.openxmlformats.org/drawingml/2006/main">
              <a:ext uri="{FF2B5EF4-FFF2-40B4-BE49-F238E27FC236}">
                <a16:creationId xmlns:a16="http://schemas.microsoft.com/office/drawing/2014/main" id="{D74DDE95-083F-4BFA-B50B-8C9A9235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8957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matrix-1-9">
            <a:extLst xmlns:a="http://schemas.openxmlformats.org/drawingml/2006/main">
              <a:ext uri="{FF2B5EF4-FFF2-40B4-BE49-F238E27FC236}">
                <a16:creationId xmlns:a16="http://schemas.microsoft.com/office/drawing/2014/main" id="{81916FC7-3E01-49BB-BCB4-D93BF299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957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matrix-1-10">
            <a:extLst xmlns:a="http://schemas.openxmlformats.org/drawingml/2006/main">
              <a:ext uri="{FF2B5EF4-FFF2-40B4-BE49-F238E27FC236}">
                <a16:creationId xmlns:a16="http://schemas.microsoft.com/office/drawing/2014/main" id="{416C4D94-E29C-4AE3-8AED-384F08D6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8957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matrix-2-0">
            <a:extLst xmlns:a="http://schemas.openxmlformats.org/drawingml/2006/main">
              <a:ext uri="{FF2B5EF4-FFF2-40B4-BE49-F238E27FC236}">
                <a16:creationId xmlns:a16="http://schemas.microsoft.com/office/drawing/2014/main" id="{94585D38-633C-4877-BE66-959C8B30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5765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matrix-2-1">
            <a:extLst xmlns:a="http://schemas.openxmlformats.org/drawingml/2006/main">
              <a:ext uri="{FF2B5EF4-FFF2-40B4-BE49-F238E27FC236}">
                <a16:creationId xmlns:a16="http://schemas.microsoft.com/office/drawing/2014/main" id="{98590AAB-3E5B-4B96-8443-5A742209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05765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matrix-2-2">
            <a:extLst xmlns:a="http://schemas.openxmlformats.org/drawingml/2006/main">
              <a:ext uri="{FF2B5EF4-FFF2-40B4-BE49-F238E27FC236}">
                <a16:creationId xmlns:a16="http://schemas.microsoft.com/office/drawing/2014/main" id="{9FEB0F9E-A36F-4C0A-A955-1A9CF8B8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5765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matrix-2-3">
            <a:extLst xmlns:a="http://schemas.openxmlformats.org/drawingml/2006/main">
              <a:ext uri="{FF2B5EF4-FFF2-40B4-BE49-F238E27FC236}">
                <a16:creationId xmlns:a16="http://schemas.microsoft.com/office/drawing/2014/main" id="{F3243889-295B-4EFD-BBC5-4FDF0D7B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05765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matrix-2-4">
            <a:extLst xmlns:a="http://schemas.openxmlformats.org/drawingml/2006/main">
              <a:ext uri="{FF2B5EF4-FFF2-40B4-BE49-F238E27FC236}">
                <a16:creationId xmlns:a16="http://schemas.microsoft.com/office/drawing/2014/main" id="{9759D00F-FB70-47E4-A4C6-AE20C7878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05765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matrix-2-5">
            <a:extLst xmlns:a="http://schemas.openxmlformats.org/drawingml/2006/main">
              <a:ext uri="{FF2B5EF4-FFF2-40B4-BE49-F238E27FC236}">
                <a16:creationId xmlns:a16="http://schemas.microsoft.com/office/drawing/2014/main" id="{FF9F30EF-9282-4E37-876D-EA83899D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405765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matrix-2-6">
            <a:extLst xmlns:a="http://schemas.openxmlformats.org/drawingml/2006/main">
              <a:ext uri="{FF2B5EF4-FFF2-40B4-BE49-F238E27FC236}">
                <a16:creationId xmlns:a16="http://schemas.microsoft.com/office/drawing/2014/main" id="{6FF575A1-92D4-4EF0-9D21-9DB064F9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05765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matrix-2-7">
            <a:extLst xmlns:a="http://schemas.openxmlformats.org/drawingml/2006/main">
              <a:ext uri="{FF2B5EF4-FFF2-40B4-BE49-F238E27FC236}">
                <a16:creationId xmlns:a16="http://schemas.microsoft.com/office/drawing/2014/main" id="{B49650EC-7498-440E-8D6A-48C12900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05765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matrix-2-8">
            <a:extLst xmlns:a="http://schemas.openxmlformats.org/drawingml/2006/main">
              <a:ext uri="{FF2B5EF4-FFF2-40B4-BE49-F238E27FC236}">
                <a16:creationId xmlns:a16="http://schemas.microsoft.com/office/drawing/2014/main" id="{615FCECA-95D5-4A36-9212-39D6C1F9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5765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matrix-2-9">
            <a:extLst xmlns:a="http://schemas.openxmlformats.org/drawingml/2006/main">
              <a:ext uri="{FF2B5EF4-FFF2-40B4-BE49-F238E27FC236}">
                <a16:creationId xmlns:a16="http://schemas.microsoft.com/office/drawing/2014/main" id="{D5762B8B-E586-4F05-BD00-6DB8A9DE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05765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matrix-2-10">
            <a:extLst xmlns:a="http://schemas.openxmlformats.org/drawingml/2006/main">
              <a:ext uri="{FF2B5EF4-FFF2-40B4-BE49-F238E27FC236}">
                <a16:creationId xmlns:a16="http://schemas.microsoft.com/office/drawing/2014/main" id="{92BE8232-53B8-4300-8B24-166EB89E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5765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matrix-3-0">
            <a:extLst xmlns:a="http://schemas.openxmlformats.org/drawingml/2006/main">
              <a:ext uri="{FF2B5EF4-FFF2-40B4-BE49-F238E27FC236}">
                <a16:creationId xmlns:a16="http://schemas.microsoft.com/office/drawing/2014/main" id="{185A6829-C0E1-4EC4-A51D-DB617D97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1957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matrix-3-1">
            <a:extLst xmlns:a="http://schemas.openxmlformats.org/drawingml/2006/main">
              <a:ext uri="{FF2B5EF4-FFF2-40B4-BE49-F238E27FC236}">
                <a16:creationId xmlns:a16="http://schemas.microsoft.com/office/drawing/2014/main" id="{27B0B833-3AA1-4857-AA5A-FF215C1A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21957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matrix-3-2">
            <a:extLst xmlns:a="http://schemas.openxmlformats.org/drawingml/2006/main">
              <a:ext uri="{FF2B5EF4-FFF2-40B4-BE49-F238E27FC236}">
                <a16:creationId xmlns:a16="http://schemas.microsoft.com/office/drawing/2014/main" id="{F1CBF6A8-C581-4DB2-9B5F-E38F778A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1957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matrix-3-3">
            <a:extLst xmlns:a="http://schemas.openxmlformats.org/drawingml/2006/main">
              <a:ext uri="{FF2B5EF4-FFF2-40B4-BE49-F238E27FC236}">
                <a16:creationId xmlns:a16="http://schemas.microsoft.com/office/drawing/2014/main" id="{52D1CA7B-EEA0-4D80-B65D-BBD2C1B9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21957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matrix-3-4">
            <a:extLst xmlns:a="http://schemas.openxmlformats.org/drawingml/2006/main">
              <a:ext uri="{FF2B5EF4-FFF2-40B4-BE49-F238E27FC236}">
                <a16:creationId xmlns:a16="http://schemas.microsoft.com/office/drawing/2014/main" id="{50C23B0D-868A-404B-92C9-C3357579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1957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matrix-3-5">
            <a:extLst xmlns:a="http://schemas.openxmlformats.org/drawingml/2006/main">
              <a:ext uri="{FF2B5EF4-FFF2-40B4-BE49-F238E27FC236}">
                <a16:creationId xmlns:a16="http://schemas.microsoft.com/office/drawing/2014/main" id="{533FB273-17C7-42D7-BCFB-67AF2A65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421957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matrix-3-6">
            <a:extLst xmlns:a="http://schemas.openxmlformats.org/drawingml/2006/main">
              <a:ext uri="{FF2B5EF4-FFF2-40B4-BE49-F238E27FC236}">
                <a16:creationId xmlns:a16="http://schemas.microsoft.com/office/drawing/2014/main" id="{232837DA-1A42-4EB0-99EC-EBC90F4A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1957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matrix-3-7">
            <a:extLst xmlns:a="http://schemas.openxmlformats.org/drawingml/2006/main">
              <a:ext uri="{FF2B5EF4-FFF2-40B4-BE49-F238E27FC236}">
                <a16:creationId xmlns:a16="http://schemas.microsoft.com/office/drawing/2014/main" id="{B017AD6C-7B4C-4C0B-B1F4-78551508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21957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matrix-3-8">
            <a:extLst xmlns:a="http://schemas.openxmlformats.org/drawingml/2006/main">
              <a:ext uri="{FF2B5EF4-FFF2-40B4-BE49-F238E27FC236}">
                <a16:creationId xmlns:a16="http://schemas.microsoft.com/office/drawing/2014/main" id="{F84A937D-D911-42C2-A318-1B2EF97E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21957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matrix-3-9">
            <a:extLst xmlns:a="http://schemas.openxmlformats.org/drawingml/2006/main">
              <a:ext uri="{FF2B5EF4-FFF2-40B4-BE49-F238E27FC236}">
                <a16:creationId xmlns:a16="http://schemas.microsoft.com/office/drawing/2014/main" id="{234BF172-1EFC-4ACF-99FB-D050DDBC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21957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matrix-3-10">
            <a:extLst xmlns:a="http://schemas.openxmlformats.org/drawingml/2006/main">
              <a:ext uri="{FF2B5EF4-FFF2-40B4-BE49-F238E27FC236}">
                <a16:creationId xmlns:a16="http://schemas.microsoft.com/office/drawing/2014/main" id="{9B7AFD49-BF09-4DC2-BCBB-B2DA3237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1957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matrix-4-0">
            <a:extLst xmlns:a="http://schemas.openxmlformats.org/drawingml/2006/main">
              <a:ext uri="{FF2B5EF4-FFF2-40B4-BE49-F238E27FC236}">
                <a16:creationId xmlns:a16="http://schemas.microsoft.com/office/drawing/2014/main" id="{FE0BDF84-1CCD-4875-9D91-B5F21827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815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matrix-4-1">
            <a:extLst xmlns:a="http://schemas.openxmlformats.org/drawingml/2006/main">
              <a:ext uri="{FF2B5EF4-FFF2-40B4-BE49-F238E27FC236}">
                <a16:creationId xmlns:a16="http://schemas.microsoft.com/office/drawing/2014/main" id="{7A1DA8C2-1171-47F9-938E-5A5887AD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3815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matrix-4-2">
            <a:extLst xmlns:a="http://schemas.openxmlformats.org/drawingml/2006/main">
              <a:ext uri="{FF2B5EF4-FFF2-40B4-BE49-F238E27FC236}">
                <a16:creationId xmlns:a16="http://schemas.microsoft.com/office/drawing/2014/main" id="{65B28004-3A30-4A9E-82E3-6E52CA92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matrix-4-3">
            <a:extLst xmlns:a="http://schemas.openxmlformats.org/drawingml/2006/main">
              <a:ext uri="{FF2B5EF4-FFF2-40B4-BE49-F238E27FC236}">
                <a16:creationId xmlns:a16="http://schemas.microsoft.com/office/drawing/2014/main" id="{AB0E94EE-C18A-4AFD-9FB9-73B1B921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3815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matrix-4-4">
            <a:extLst xmlns:a="http://schemas.openxmlformats.org/drawingml/2006/main">
              <a:ext uri="{FF2B5EF4-FFF2-40B4-BE49-F238E27FC236}">
                <a16:creationId xmlns:a16="http://schemas.microsoft.com/office/drawing/2014/main" id="{DDAA8717-4F35-4FA4-AD03-D108F44CC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815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matrix-4-5">
            <a:extLst xmlns:a="http://schemas.openxmlformats.org/drawingml/2006/main">
              <a:ext uri="{FF2B5EF4-FFF2-40B4-BE49-F238E27FC236}">
                <a16:creationId xmlns:a16="http://schemas.microsoft.com/office/drawing/2014/main" id="{A7D4681B-FE25-4767-AC5F-6E08BC92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43815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matrix-4-6">
            <a:extLst xmlns:a="http://schemas.openxmlformats.org/drawingml/2006/main">
              <a:ext uri="{FF2B5EF4-FFF2-40B4-BE49-F238E27FC236}">
                <a16:creationId xmlns:a16="http://schemas.microsoft.com/office/drawing/2014/main" id="{739D8090-AE51-4BB4-8ACA-AA6F3ECB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815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4" name="matrix-4-7">
            <a:extLst xmlns:a="http://schemas.openxmlformats.org/drawingml/2006/main">
              <a:ext uri="{FF2B5EF4-FFF2-40B4-BE49-F238E27FC236}">
                <a16:creationId xmlns:a16="http://schemas.microsoft.com/office/drawing/2014/main" id="{6A3268F7-9B56-4677-A9F6-A6371F87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3815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matrix-4-8">
            <a:extLst xmlns:a="http://schemas.openxmlformats.org/drawingml/2006/main">
              <a:ext uri="{FF2B5EF4-FFF2-40B4-BE49-F238E27FC236}">
                <a16:creationId xmlns:a16="http://schemas.microsoft.com/office/drawing/2014/main" id="{F80DB1E5-D36B-4967-A454-F6F9F129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3815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matrix-4-9">
            <a:extLst xmlns:a="http://schemas.openxmlformats.org/drawingml/2006/main">
              <a:ext uri="{FF2B5EF4-FFF2-40B4-BE49-F238E27FC236}">
                <a16:creationId xmlns:a16="http://schemas.microsoft.com/office/drawing/2014/main" id="{44102022-880B-4001-8D36-45F460D0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3815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matrix-4-10">
            <a:extLst xmlns:a="http://schemas.openxmlformats.org/drawingml/2006/main">
              <a:ext uri="{FF2B5EF4-FFF2-40B4-BE49-F238E27FC236}">
                <a16:creationId xmlns:a16="http://schemas.microsoft.com/office/drawing/2014/main" id="{0240CBA4-8E85-4A86-8A03-9EC458A5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381500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8" name="matrix-5-0">
            <a:extLst xmlns:a="http://schemas.openxmlformats.org/drawingml/2006/main">
              <a:ext uri="{FF2B5EF4-FFF2-40B4-BE49-F238E27FC236}">
                <a16:creationId xmlns:a16="http://schemas.microsoft.com/office/drawing/2014/main" id="{C2662FEB-365D-4DD9-8896-29562928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434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matrix-5-1">
            <a:extLst xmlns:a="http://schemas.openxmlformats.org/drawingml/2006/main">
              <a:ext uri="{FF2B5EF4-FFF2-40B4-BE49-F238E27FC236}">
                <a16:creationId xmlns:a16="http://schemas.microsoft.com/office/drawing/2014/main" id="{84FEADDD-9F44-40F7-BA4B-9B039180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5434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0" name="matrix-5-2">
            <a:extLst xmlns:a="http://schemas.openxmlformats.org/drawingml/2006/main">
              <a:ext uri="{FF2B5EF4-FFF2-40B4-BE49-F238E27FC236}">
                <a16:creationId xmlns:a16="http://schemas.microsoft.com/office/drawing/2014/main" id="{50DDE25D-4435-4CC8-8313-73D15984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434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matrix-5-3">
            <a:extLst xmlns:a="http://schemas.openxmlformats.org/drawingml/2006/main">
              <a:ext uri="{FF2B5EF4-FFF2-40B4-BE49-F238E27FC236}">
                <a16:creationId xmlns:a16="http://schemas.microsoft.com/office/drawing/2014/main" id="{C3B3E617-7847-4A95-A9C7-372BC054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5434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matrix-5-4">
            <a:extLst xmlns:a="http://schemas.openxmlformats.org/drawingml/2006/main">
              <a:ext uri="{FF2B5EF4-FFF2-40B4-BE49-F238E27FC236}">
                <a16:creationId xmlns:a16="http://schemas.microsoft.com/office/drawing/2014/main" id="{7ABF28C2-F14F-4E1D-B73D-2732D0E7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434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matrix-5-5">
            <a:extLst xmlns:a="http://schemas.openxmlformats.org/drawingml/2006/main">
              <a:ext uri="{FF2B5EF4-FFF2-40B4-BE49-F238E27FC236}">
                <a16:creationId xmlns:a16="http://schemas.microsoft.com/office/drawing/2014/main" id="{3F02AD64-943B-4A1D-AB27-95573C83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45434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4" name="matrix-5-6">
            <a:extLst xmlns:a="http://schemas.openxmlformats.org/drawingml/2006/main">
              <a:ext uri="{FF2B5EF4-FFF2-40B4-BE49-F238E27FC236}">
                <a16:creationId xmlns:a16="http://schemas.microsoft.com/office/drawing/2014/main" id="{BDC00560-2497-4C88-B227-744FF5F6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5434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5" name="matrix-5-7">
            <a:extLst xmlns:a="http://schemas.openxmlformats.org/drawingml/2006/main">
              <a:ext uri="{FF2B5EF4-FFF2-40B4-BE49-F238E27FC236}">
                <a16:creationId xmlns:a16="http://schemas.microsoft.com/office/drawing/2014/main" id="{759E447F-14A9-43BD-9BAD-5F22DA56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5434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matrix-5-8">
            <a:extLst xmlns:a="http://schemas.openxmlformats.org/drawingml/2006/main">
              <a:ext uri="{FF2B5EF4-FFF2-40B4-BE49-F238E27FC236}">
                <a16:creationId xmlns:a16="http://schemas.microsoft.com/office/drawing/2014/main" id="{295D1DF5-C490-4E6A-BE12-D931B05B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434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7" name="matrix-5-9">
            <a:extLst xmlns:a="http://schemas.openxmlformats.org/drawingml/2006/main">
              <a:ext uri="{FF2B5EF4-FFF2-40B4-BE49-F238E27FC236}">
                <a16:creationId xmlns:a16="http://schemas.microsoft.com/office/drawing/2014/main" id="{30AE24C2-58C9-4162-887F-65B3A8FE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5434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8" name="matrix-5-10">
            <a:extLst xmlns:a="http://schemas.openxmlformats.org/drawingml/2006/main">
              <a:ext uri="{FF2B5EF4-FFF2-40B4-BE49-F238E27FC236}">
                <a16:creationId xmlns:a16="http://schemas.microsoft.com/office/drawing/2014/main" id="{70D7E887-67E8-4675-A5C5-6FB4F98B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43425"/>
            <a:ext cx="133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9" name="label-Adhesion">
            <a:extLst xmlns:a="http://schemas.openxmlformats.org/drawingml/2006/main">
              <a:ext uri="{FF2B5EF4-FFF2-40B4-BE49-F238E27FC236}">
                <a16:creationId xmlns:a16="http://schemas.microsoft.com/office/drawing/2014/main" id="{B4F1E8FE-C656-432A-8083-97042EDD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19500"/>
            <a:ext cx="12001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label-508-385-110-21">
            <a:extLst xmlns:a="http://schemas.openxmlformats.org/drawingml/2006/main">
              <a:ext uri="{FF2B5EF4-FFF2-40B4-BE49-F238E27FC236}">
                <a16:creationId xmlns:a16="http://schemas.microsoft.com/office/drawing/2014/main" id="{022D61E0-5BD0-4FA2-A720-CD9F832B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67125"/>
            <a:ext cx="1047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Adhesion</a:t>
            </a:r>
          </a:p>
        </p:txBody>
      </p:sp>
      <p:sp>
        <p:nvSpPr>
          <p:cNvPr id="91" name="label-Iron acquisition">
            <a:extLst xmlns:a="http://schemas.openxmlformats.org/drawingml/2006/main">
              <a:ext uri="{FF2B5EF4-FFF2-40B4-BE49-F238E27FC236}">
                <a16:creationId xmlns:a16="http://schemas.microsoft.com/office/drawing/2014/main" id="{E201A032-67D4-4C98-ACAA-9E04494C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619500"/>
            <a:ext cx="12001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2" name="label-653-385-110-21">
            <a:extLst xmlns:a="http://schemas.openxmlformats.org/drawingml/2006/main">
              <a:ext uri="{FF2B5EF4-FFF2-40B4-BE49-F238E27FC236}">
                <a16:creationId xmlns:a16="http://schemas.microsoft.com/office/drawing/2014/main" id="{E949F286-DF3B-49D3-B9CC-72A85B42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667125"/>
            <a:ext cx="1047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Iron acquisition</a:t>
            </a:r>
          </a:p>
        </p:txBody>
      </p:sp>
      <p:sp>
        <p:nvSpPr>
          <p:cNvPr id="93" name="label-Secretion">
            <a:extLst xmlns:a="http://schemas.openxmlformats.org/drawingml/2006/main">
              <a:ext uri="{FF2B5EF4-FFF2-40B4-BE49-F238E27FC236}">
                <a16:creationId xmlns:a16="http://schemas.microsoft.com/office/drawing/2014/main" id="{49814F5B-0E0C-4DE7-980A-C38F6BA0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48125"/>
            <a:ext cx="12001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label-508-430-110-21">
            <a:extLst xmlns:a="http://schemas.openxmlformats.org/drawingml/2006/main">
              <a:ext uri="{FF2B5EF4-FFF2-40B4-BE49-F238E27FC236}">
                <a16:creationId xmlns:a16="http://schemas.microsoft.com/office/drawing/2014/main" id="{E82DB5C2-1D33-4FC3-8DE5-C4F1C2E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95750"/>
            <a:ext cx="1047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Secretion</a:t>
            </a:r>
          </a:p>
        </p:txBody>
      </p:sp>
      <p:sp>
        <p:nvSpPr>
          <p:cNvPr id="95" name="label-Toxin">
            <a:extLst xmlns:a="http://schemas.openxmlformats.org/drawingml/2006/main">
              <a:ext uri="{FF2B5EF4-FFF2-40B4-BE49-F238E27FC236}">
                <a16:creationId xmlns:a16="http://schemas.microsoft.com/office/drawing/2014/main" id="{E3D769A7-ACDD-4A22-9E47-E5001646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048125"/>
            <a:ext cx="12001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6" name="label-653-430-110-21">
            <a:extLst xmlns:a="http://schemas.openxmlformats.org/drawingml/2006/main">
              <a:ext uri="{FF2B5EF4-FFF2-40B4-BE49-F238E27FC236}">
                <a16:creationId xmlns:a16="http://schemas.microsoft.com/office/drawing/2014/main" id="{00A3F035-F3A5-43FF-B64C-5E1B07DA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95750"/>
            <a:ext cx="1047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Toxin</a:t>
            </a:r>
          </a:p>
        </p:txBody>
      </p:sp>
      <p:sp>
        <p:nvSpPr>
          <p:cNvPr id="97" name="label-Capsule">
            <a:extLst xmlns:a="http://schemas.openxmlformats.org/drawingml/2006/main">
              <a:ext uri="{FF2B5EF4-FFF2-40B4-BE49-F238E27FC236}">
                <a16:creationId xmlns:a16="http://schemas.microsoft.com/office/drawing/2014/main" id="{51419A81-FD4F-4647-AD06-07A82271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76750"/>
            <a:ext cx="12001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8" name="label-508-475-110-21">
            <a:extLst xmlns:a="http://schemas.openxmlformats.org/drawingml/2006/main">
              <a:ext uri="{FF2B5EF4-FFF2-40B4-BE49-F238E27FC236}">
                <a16:creationId xmlns:a16="http://schemas.microsoft.com/office/drawing/2014/main" id="{E6B45EBE-C770-4DAF-B3DE-1F09E8F0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524375"/>
            <a:ext cx="1047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Capsule</a:t>
            </a:r>
          </a:p>
        </p:txBody>
      </p:sp>
      <p:sp>
        <p:nvSpPr>
          <p:cNvPr id="99" name="label-Unassigned">
            <a:extLst xmlns:a="http://schemas.openxmlformats.org/drawingml/2006/main">
              <a:ext uri="{FF2B5EF4-FFF2-40B4-BE49-F238E27FC236}">
                <a16:creationId xmlns:a16="http://schemas.microsoft.com/office/drawing/2014/main" id="{3ACDBE46-9A18-4799-8ED1-3A46C1FC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476750"/>
            <a:ext cx="12001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0" name="label-653-475-110-21">
            <a:extLst xmlns:a="http://schemas.openxmlformats.org/drawingml/2006/main">
              <a:ext uri="{FF2B5EF4-FFF2-40B4-BE49-F238E27FC236}">
                <a16:creationId xmlns:a16="http://schemas.microsoft.com/office/drawing/2014/main" id="{0C241EE6-0106-4B16-842E-C978F8D7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524375"/>
            <a:ext cx="1047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Unassigned</a:t>
            </a:r>
          </a:p>
        </p:txBody>
      </p:sp>
      <p:sp>
        <p:nvSpPr>
          <p:cNvPr id="101" name="card-Interpretation caution">
            <a:extLst xmlns:a="http://schemas.openxmlformats.org/drawingml/2006/main">
              <a:ext uri="{FF2B5EF4-FFF2-40B4-BE49-F238E27FC236}">
                <a16:creationId xmlns:a16="http://schemas.microsoft.com/office/drawing/2014/main" id="{BE34215F-F9A2-4419-9AE7-6C1B291E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43300"/>
            <a:ext cx="290512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02" name="heading-916-388-273-26">
            <a:extLst xmlns:a="http://schemas.openxmlformats.org/drawingml/2006/main">
              <a:ext uri="{FF2B5EF4-FFF2-40B4-BE49-F238E27FC236}">
                <a16:creationId xmlns:a16="http://schemas.microsoft.com/office/drawing/2014/main" id="{DF455E12-92FE-4D22-9377-2DD1F588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95700"/>
            <a:ext cx="26003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Interpretation caution</a:t>
            </a:r>
          </a:p>
        </p:txBody>
      </p:sp>
      <p:sp>
        <p:nvSpPr>
          <p:cNvPr id="103" name="body-916-420-273-83">
            <a:extLst xmlns:a="http://schemas.openxmlformats.org/drawingml/2006/main">
              <a:ext uri="{FF2B5EF4-FFF2-40B4-BE49-F238E27FC236}">
                <a16:creationId xmlns:a16="http://schemas.microsoft.com/office/drawing/2014/main" id="{A6E81FAE-3BD0-4637-9999-FA8FFB31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60032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Gene presence does not establish expression, activity, disease mechanism, or a causal clinical-state effect.</a:t>
            </a:r>
          </a:p>
        </p:txBody>
      </p:sp>
      <p:sp>
        <p:nvSpPr>
          <p:cNvPr id="104" name="label-Descriptive feature framework">
            <a:extLst xmlns:a="http://schemas.openxmlformats.org/drawingml/2006/main">
              <a:ext uri="{FF2B5EF4-FFF2-40B4-BE49-F238E27FC236}">
                <a16:creationId xmlns:a16="http://schemas.microsoft.com/office/drawing/2014/main" id="{798DA7D3-48EF-4D93-B7F6-C9EB7059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314950"/>
            <a:ext cx="22860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5" name="label-528-563-224-22">
            <a:extLst xmlns:a="http://schemas.openxmlformats.org/drawingml/2006/main">
              <a:ext uri="{FF2B5EF4-FFF2-40B4-BE49-F238E27FC236}">
                <a16:creationId xmlns:a16="http://schemas.microsoft.com/office/drawing/2014/main" id="{6817B188-D0E7-449C-AEDF-B409A433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362575"/>
            <a:ext cx="2133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Descriptive feature framework</a:t>
            </a:r>
          </a:p>
        </p:txBody>
      </p:sp>
    </p:spTree>
    <p:extLst>
      <p:ext uri="{BB962C8B-B14F-4D97-AF65-F5344CB8AC3E}">
        <p14:creationId xmlns:p14="http://schemas.microsoft.com/office/powerpoint/2010/main" val="54676811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293D142-FEE7-4113-8893-F26B3403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D256270-B799-44E3-A5B2-7EC909D8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007FC416-C3BC-464F-811F-3B2C06EB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VF FRAMEWORK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B174FC5-6718-4203-A584-91116C4F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VF repertoire is summarised as genes and curated modules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AA57ECDC-4A6B-4348-B262-B9C3ACF9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Both plots describe the selected analytical cohort; neither plot is a causal clinical model.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EE61DA9C-2D5F-42F8-A3C9-68952D74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D5F8D5C-BF50-4274-AD3C-0D0F6424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EC091139-BB73-4EAF-BC42-E6DC7DA9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0A319EC-3F8D-410E-A82A-DD8DF393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figure-frame-vf_top_gene_prevalence.png">
            <a:extLst xmlns:a="http://schemas.openxmlformats.org/drawingml/2006/main">
              <a:ext uri="{FF2B5EF4-FFF2-40B4-BE49-F238E27FC236}">
                <a16:creationId xmlns:a16="http://schemas.microsoft.com/office/drawing/2014/main" id="{CE3BA8B4-288C-4E31-B86D-94CB50D7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552575"/>
            <a:ext cx="5391150" cy="413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8a5856c03849d1"/>
          <a:stretch xmlns:a="http://schemas.openxmlformats.org/drawingml/2006/main"/>
        </p:blipFill>
        <p:spPr>
          <a:xfrm xmlns:a="http://schemas.openxmlformats.org/drawingml/2006/main">
            <a:off x="1403350" y="1619250"/>
            <a:ext cx="3556000" cy="4000500"/>
          </a:xfrm>
          <a:prstGeom xmlns:a="http://schemas.openxmlformats.org/drawingml/2006/main" prst="rect">
            <a:avLst/>
          </a:prstGeom>
        </p:spPr>
      </p:pic>
      <p:sp>
        <p:nvSpPr>
          <p:cNvPr id="12" name="figure-frame-module_gene_counts.png">
            <a:extLst xmlns:a="http://schemas.openxmlformats.org/drawingml/2006/main">
              <a:ext uri="{FF2B5EF4-FFF2-40B4-BE49-F238E27FC236}">
                <a16:creationId xmlns:a16="http://schemas.microsoft.com/office/drawing/2014/main" id="{4D82F465-FD6E-4B9D-B82E-681D12B1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552575"/>
            <a:ext cx="5391150" cy="413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69578709db42ca"/>
          <a:stretch xmlns:a="http://schemas.openxmlformats.org/drawingml/2006/main"/>
        </p:blipFill>
        <p:spPr>
          <a:xfrm xmlns:a="http://schemas.openxmlformats.org/drawingml/2006/main">
            <a:off x="6927056" y="1619250"/>
            <a:ext cx="4167188" cy="4000500"/>
          </a:xfrm>
          <a:prstGeom xmlns:a="http://schemas.openxmlformats.org/drawingml/2006/main" prst="rect">
            <a:avLst/>
          </a:prstGeom>
        </p:spPr>
      </p:pic>
      <p:sp>
        <p:nvSpPr>
          <p:cNvPr id="14" name="label-227 binary VF features">
            <a:extLst xmlns:a="http://schemas.openxmlformats.org/drawingml/2006/main">
              <a:ext uri="{FF2B5EF4-FFF2-40B4-BE49-F238E27FC236}">
                <a16:creationId xmlns:a16="http://schemas.microsoft.com/office/drawing/2014/main" id="{B40C7C5F-340B-4CE9-A71A-34ED96D6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810250"/>
            <a:ext cx="2667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label-136-615-264-20">
            <a:extLst xmlns:a="http://schemas.openxmlformats.org/drawingml/2006/main">
              <a:ext uri="{FF2B5EF4-FFF2-40B4-BE49-F238E27FC236}">
                <a16:creationId xmlns:a16="http://schemas.microsoft.com/office/drawing/2014/main" id="{F8C1190E-C79C-4AB5-9A26-C4A89A9C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57875"/>
            <a:ext cx="2514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227 binary VF features</a:t>
            </a:r>
          </a:p>
        </p:txBody>
      </p:sp>
      <p:sp>
        <p:nvSpPr>
          <p:cNvPr id="16" name="label-Curated module framework">
            <a:extLst xmlns:a="http://schemas.openxmlformats.org/drawingml/2006/main">
              <a:ext uri="{FF2B5EF4-FFF2-40B4-BE49-F238E27FC236}">
                <a16:creationId xmlns:a16="http://schemas.microsoft.com/office/drawing/2014/main" id="{60425DE9-C035-4BE4-BC60-530FDD09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810250"/>
            <a:ext cx="2667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label-814-615-264-20">
            <a:extLst xmlns:a="http://schemas.openxmlformats.org/drawingml/2006/main">
              <a:ext uri="{FF2B5EF4-FFF2-40B4-BE49-F238E27FC236}">
                <a16:creationId xmlns:a16="http://schemas.microsoft.com/office/drawing/2014/main" id="{193DAAB7-4247-44A1-827A-EE6DA969F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857875"/>
            <a:ext cx="2514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Curated module framework</a:t>
            </a:r>
          </a:p>
        </p:txBody>
      </p:sp>
    </p:spTree>
    <p:extLst>
      <p:ext uri="{BB962C8B-B14F-4D97-AF65-F5344CB8AC3E}">
        <p14:creationId xmlns:p14="http://schemas.microsoft.com/office/powerpoint/2010/main" val="115413455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C00A5A0-14F9-4CB5-9FC1-7376A63F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ECF29691-8B34-491B-A4AB-31D63AC7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48DF4F8B-3086-4D26-9C1E-FE4F9FC1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LONGITUDINAL STABILITY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D6D9D6B-C855-41DE-B9D6-D960D8E7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Repeated within-resident VF profiles are assessed on the explicit pair layers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DA6F5128-7400-42F0-BC80-F0419F16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893 direct pairs; 371 adjacent transitions from 139 residents.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78CAD7E4-271F-4075-8B29-FB9B2CDC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9488E33-9F76-47DB-9B8C-CB25191F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896A83D1-B994-427D-BF20-A9A81C9F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EC34554-27EB-4E61-8882-8C6FC8E19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figure-frame-vf_within_host_jaccard_distribution.png">
            <a:extLst xmlns:a="http://schemas.openxmlformats.org/drawingml/2006/main">
              <a:ext uri="{FF2B5EF4-FFF2-40B4-BE49-F238E27FC236}">
                <a16:creationId xmlns:a16="http://schemas.microsoft.com/office/drawing/2014/main" id="{DB55BBA6-EB18-4C40-A1B3-0E152CB1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38275"/>
            <a:ext cx="880110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db1c773bf34cce"/>
          <a:stretch xmlns:a="http://schemas.openxmlformats.org/drawingml/2006/main"/>
        </p:blipFill>
        <p:spPr>
          <a:xfrm xmlns:a="http://schemas.openxmlformats.org/drawingml/2006/main">
            <a:off x="1762654" y="1504950"/>
            <a:ext cx="6323542" cy="4552950"/>
          </a:xfrm>
          <a:prstGeom xmlns:a="http://schemas.openxmlformats.org/drawingml/2006/main" prst="rect">
            <a:avLst/>
          </a:prstGeom>
        </p:spPr>
      </p:pic>
      <p:sp>
        <p:nvSpPr>
          <p:cNvPr id="12" name="card-Central reading">
            <a:extLst xmlns:a="http://schemas.openxmlformats.org/drawingml/2006/main">
              <a:ext uri="{FF2B5EF4-FFF2-40B4-BE49-F238E27FC236}">
                <a16:creationId xmlns:a16="http://schemas.microsoft.com/office/drawing/2014/main" id="{406C8682-9DF7-47CE-8647-86D0CD04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790700"/>
            <a:ext cx="1885950" cy="194310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CE4C9"/>
            </a:solidFill>
            <a:prstDash val="solid"/>
          </a:ln>
        </p:spPr>
      </p:sp>
      <p:sp>
        <p:nvSpPr>
          <p:cNvPr id="13" name="heading-1020-204-166-26">
            <a:extLst xmlns:a="http://schemas.openxmlformats.org/drawingml/2006/main">
              <a:ext uri="{FF2B5EF4-FFF2-40B4-BE49-F238E27FC236}">
                <a16:creationId xmlns:a16="http://schemas.microsoft.com/office/drawing/2014/main" id="{D0720F4F-3247-4198-A968-B8718293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943100"/>
            <a:ext cx="15811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Central reading</a:t>
            </a:r>
          </a:p>
        </p:txBody>
      </p:sp>
      <p:sp>
        <p:nvSpPr>
          <p:cNvPr id="14" name="body-1020-236-166-142">
            <a:extLst xmlns:a="http://schemas.openxmlformats.org/drawingml/2006/main">
              <a:ext uri="{FF2B5EF4-FFF2-40B4-BE49-F238E27FC236}">
                <a16:creationId xmlns:a16="http://schemas.microsoft.com/office/drawing/2014/main" id="{F2233168-36B1-4C19-A838-037CEB20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247900"/>
            <a:ext cx="1581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Profile stability is descriptive evidence. Use adjacent transitions and lineage context before interpreting change.</a:t>
            </a:r>
          </a:p>
        </p:txBody>
      </p:sp>
      <p:sp>
        <p:nvSpPr>
          <p:cNvPr id="15" name="label-Descriptive">
            <a:extLst xmlns:a="http://schemas.openxmlformats.org/drawingml/2006/main">
              <a:ext uri="{FF2B5EF4-FFF2-40B4-BE49-F238E27FC236}">
                <a16:creationId xmlns:a16="http://schemas.microsoft.com/office/drawing/2014/main" id="{B3F0AA29-8A4F-4564-A954-E77AFFB6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095750"/>
            <a:ext cx="16954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label-1022-435-162-22">
            <a:extLst xmlns:a="http://schemas.openxmlformats.org/drawingml/2006/main">
              <a:ext uri="{FF2B5EF4-FFF2-40B4-BE49-F238E27FC236}">
                <a16:creationId xmlns:a16="http://schemas.microsoft.com/office/drawing/2014/main" id="{7803B58B-7234-416A-B802-0437D75F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143375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Descriptive</a:t>
            </a:r>
          </a:p>
        </p:txBody>
      </p:sp>
    </p:spTree>
    <p:extLst>
      <p:ext uri="{BB962C8B-B14F-4D97-AF65-F5344CB8AC3E}">
        <p14:creationId xmlns:p14="http://schemas.microsoft.com/office/powerpoint/2010/main" val="187290242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BB8BC34-F334-41EB-8406-5EBC9733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2F24671C-9E8F-4E77-B549-E219D3B7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8645C2FA-8734-47D3-8CD2-72007E70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LONGITUDINAL CHANGE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321ABF0-72CA-468C-955E-B3BA4550B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Gain/loss summaries flag candidates for follow-up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41649CFF-92DC-4E46-929A-20A7DA0D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Observed changes are reported on 371 adjacent transitions and require lineage plus genome-distance context.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037E0C68-7E92-492D-913A-E5787E52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DA5DA9B-6D14-4590-9E4A-99D34A50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3235C768-C44C-4321-AFF5-FAB19EDDF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3453E26-7CC8-487B-8B3A-CCE43C7D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figure-frame-vf_gene_gain_loss_consecutive_pairs.png">
            <a:extLst xmlns:a="http://schemas.openxmlformats.org/drawingml/2006/main">
              <a:ext uri="{FF2B5EF4-FFF2-40B4-BE49-F238E27FC236}">
                <a16:creationId xmlns:a16="http://schemas.microsoft.com/office/drawing/2014/main" id="{F808EBDE-83FA-41C5-B306-981C1D11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38275"/>
            <a:ext cx="975360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fafb5f5f6d4d92"/>
          <a:stretch xmlns:a="http://schemas.openxmlformats.org/drawingml/2006/main"/>
        </p:blipFill>
        <p:spPr>
          <a:xfrm xmlns:a="http://schemas.openxmlformats.org/drawingml/2006/main">
            <a:off x="2110468" y="1504950"/>
            <a:ext cx="6504214" cy="4552950"/>
          </a:xfrm>
          <a:prstGeom xmlns:a="http://schemas.openxmlformats.org/drawingml/2006/main" prst="rect">
            <a:avLst/>
          </a:prstGeom>
        </p:spPr>
      </p:pic>
      <p:sp>
        <p:nvSpPr>
          <p:cNvPr id="12" name="card-Caution">
            <a:extLst xmlns:a="http://schemas.openxmlformats.org/drawingml/2006/main">
              <a:ext uri="{FF2B5EF4-FFF2-40B4-BE49-F238E27FC236}">
                <a16:creationId xmlns:a16="http://schemas.microsoft.com/office/drawing/2014/main" id="{E3EBCC91-CF13-42BC-802D-A39EC240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1790700"/>
            <a:ext cx="1219200" cy="20955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heading-1108-204-96-26">
            <a:extLst xmlns:a="http://schemas.openxmlformats.org/drawingml/2006/main">
              <a:ext uri="{FF2B5EF4-FFF2-40B4-BE49-F238E27FC236}">
                <a16:creationId xmlns:a16="http://schemas.microsoft.com/office/drawing/2014/main" id="{2BD50907-917D-4EBB-A0D1-EDC8D77D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943100"/>
            <a:ext cx="9144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Caution</a:t>
            </a:r>
          </a:p>
        </p:txBody>
      </p:sp>
      <p:sp>
        <p:nvSpPr>
          <p:cNvPr id="14" name="body-1108-236-96-158">
            <a:extLst xmlns:a="http://schemas.openxmlformats.org/drawingml/2006/main">
              <a:ext uri="{FF2B5EF4-FFF2-40B4-BE49-F238E27FC236}">
                <a16:creationId xmlns:a16="http://schemas.microsoft.com/office/drawing/2014/main" id="{37AD6F1D-6D04-4915-BB02-689FF61B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247900"/>
            <a:ext cx="9144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Change may reflect lineage replacement, calling differences, or true gene-content change.</a:t>
            </a:r>
          </a:p>
        </p:txBody>
      </p:sp>
    </p:spTree>
    <p:extLst>
      <p:ext uri="{BB962C8B-B14F-4D97-AF65-F5344CB8AC3E}">
        <p14:creationId xmlns:p14="http://schemas.microsoft.com/office/powerpoint/2010/main" val="64853481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E4C36F0-D4F7-4FC7-B61E-2CBEB0FF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E1AFC1B-DB9F-41A7-A130-8F293699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1CB1BEF1-1BD9-4F44-895C-5D7128ED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LINEAGE CONTEXT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6387383-1A30-4D5E-A817-A14894E7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Sequence-type context helps interpret VF similarity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55017E31-3AD9-4587-BF54-2594EE7F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493 selected episodes have preferred MLST labels spanning 76 distinct labels.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C0C635E-5CEC-4FDB-A149-3EBB337D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439A895-5A62-4973-9755-C42FBA65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F96F2808-711C-405F-A5F3-CD22C087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4435EFF-81A6-4DE5-B617-3C64141B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figure-frame-vf_jaccard_same_vs_different_st.png">
            <a:extLst xmlns:a="http://schemas.openxmlformats.org/drawingml/2006/main">
              <a:ext uri="{FF2B5EF4-FFF2-40B4-BE49-F238E27FC236}">
                <a16:creationId xmlns:a16="http://schemas.microsoft.com/office/drawing/2014/main" id="{79037186-00DA-49AD-94C3-5119BC06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38275"/>
            <a:ext cx="870585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323835e29446c9"/>
          <a:stretch xmlns:a="http://schemas.openxmlformats.org/drawingml/2006/main"/>
        </p:blipFill>
        <p:spPr>
          <a:xfrm xmlns:a="http://schemas.openxmlformats.org/drawingml/2006/main">
            <a:off x="2031206" y="1504950"/>
            <a:ext cx="5691188" cy="4552950"/>
          </a:xfrm>
          <a:prstGeom xmlns:a="http://schemas.openxmlformats.org/drawingml/2006/main" prst="rect">
            <a:avLst/>
          </a:prstGeom>
        </p:spPr>
      </p:pic>
      <p:sp>
        <p:nvSpPr>
          <p:cNvPr id="12" name="card-Diagnostic use">
            <a:extLst xmlns:a="http://schemas.openxmlformats.org/drawingml/2006/main">
              <a:ext uri="{FF2B5EF4-FFF2-40B4-BE49-F238E27FC236}">
                <a16:creationId xmlns:a16="http://schemas.microsoft.com/office/drawing/2014/main" id="{68B5D446-E757-47C8-BD87-89486599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90700"/>
            <a:ext cx="1924050" cy="196215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heading-1016-204-170-26">
            <a:extLst xmlns:a="http://schemas.openxmlformats.org/drawingml/2006/main">
              <a:ext uri="{FF2B5EF4-FFF2-40B4-BE49-F238E27FC236}">
                <a16:creationId xmlns:a16="http://schemas.microsoft.com/office/drawing/2014/main" id="{29D46823-951B-4D6D-8D6B-33139AE1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9431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Diagnostic use</a:t>
            </a:r>
          </a:p>
        </p:txBody>
      </p:sp>
      <p:sp>
        <p:nvSpPr>
          <p:cNvPr id="14" name="body-1016-236-170-144">
            <a:extLst xmlns:a="http://schemas.openxmlformats.org/drawingml/2006/main">
              <a:ext uri="{FF2B5EF4-FFF2-40B4-BE49-F238E27FC236}">
                <a16:creationId xmlns:a16="http://schemas.microsoft.com/office/drawing/2014/main" id="{F733F225-D752-4F5C-ADC3-38C325FC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47900"/>
            <a:ext cx="16192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ST agreement is context, not proof of the same strain. Pairwise genome distance remains essential.</a:t>
            </a:r>
          </a:p>
        </p:txBody>
      </p:sp>
    </p:spTree>
    <p:extLst>
      <p:ext uri="{BB962C8B-B14F-4D97-AF65-F5344CB8AC3E}">
        <p14:creationId xmlns:p14="http://schemas.microsoft.com/office/powerpoint/2010/main" val="163978555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EC917CF-F45C-4B4A-A1BB-D498935C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D8EA055F-3B2C-4AB1-B3FC-CBE41DF5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EF2C20AC-BABF-4DCE-B510-B53E2A44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CLINICAL ANNOTATION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B9B6875-7DF5-4602-BDF5-886BA009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Clinical-status VF signals remain exploratory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061B917A-7A34-4C3A-8F10-6482E2595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16 operational UTI and 516 operational Not_UTI selected episodes; no causal interpretation.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D44C1D5-940C-488F-BF4C-7A8FF5A1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A242F28-8D9D-406C-B2AA-85F9C21D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C7C5ABB8-9CD7-466E-B1F4-B2689C61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5F61B6F-A58C-4CB9-A44D-482631E1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10" name="figure-frame-vf_gene_screening_vs_model_evidence.png">
            <a:extLst xmlns:a="http://schemas.openxmlformats.org/drawingml/2006/main">
              <a:ext uri="{FF2B5EF4-FFF2-40B4-BE49-F238E27FC236}">
                <a16:creationId xmlns:a16="http://schemas.microsoft.com/office/drawing/2014/main" id="{A1CBF156-3627-4442-85F0-DDB6F5F2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38275"/>
            <a:ext cx="8705850" cy="468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f48ed37d1541a0"/>
          <a:stretch xmlns:a="http://schemas.openxmlformats.org/drawingml/2006/main"/>
        </p:blipFill>
        <p:spPr>
          <a:xfrm xmlns:a="http://schemas.openxmlformats.org/drawingml/2006/main">
            <a:off x="1024304" y="1504950"/>
            <a:ext cx="7704992" cy="4552950"/>
          </a:xfrm>
          <a:prstGeom xmlns:a="http://schemas.openxmlformats.org/drawingml/2006/main" prst="rect">
            <a:avLst/>
          </a:prstGeom>
        </p:spPr>
      </p:pic>
      <p:sp>
        <p:nvSpPr>
          <p:cNvPr id="12" name="card-Safe claim">
            <a:extLst xmlns:a="http://schemas.openxmlformats.org/drawingml/2006/main">
              <a:ext uri="{FF2B5EF4-FFF2-40B4-BE49-F238E27FC236}">
                <a16:creationId xmlns:a16="http://schemas.microsoft.com/office/drawing/2014/main" id="{9BD774CE-590E-4288-8161-B23F5290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90700"/>
            <a:ext cx="1924050" cy="207645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F4C98A"/>
            </a:solidFill>
            <a:prstDash val="solid"/>
          </a:ln>
        </p:spPr>
      </p:sp>
      <p:sp>
        <p:nvSpPr>
          <p:cNvPr id="13" name="heading-1016-204-170-26">
            <a:extLst xmlns:a="http://schemas.openxmlformats.org/drawingml/2006/main">
              <a:ext uri="{FF2B5EF4-FFF2-40B4-BE49-F238E27FC236}">
                <a16:creationId xmlns:a16="http://schemas.microsoft.com/office/drawing/2014/main" id="{C91B18ED-8C61-4242-AE73-61792572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9431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Safe claim</a:t>
            </a:r>
          </a:p>
        </p:txBody>
      </p:sp>
      <p:sp>
        <p:nvSpPr>
          <p:cNvPr id="14" name="body-1016-236-170-156">
            <a:extLst xmlns:a="http://schemas.openxmlformats.org/drawingml/2006/main">
              <a:ext uri="{FF2B5EF4-FFF2-40B4-BE49-F238E27FC236}">
                <a16:creationId xmlns:a16="http://schemas.microsoft.com/office/drawing/2014/main" id="{A96B65BD-C1A0-4611-A11F-19A0369F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47900"/>
            <a:ext cx="1619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Nominal screens and model diagnostics generate hypotheses; they do not establish a robust status association.</a:t>
            </a:r>
          </a:p>
        </p:txBody>
      </p:sp>
      <p:sp>
        <p:nvSpPr>
          <p:cNvPr id="15" name="label-Exploratory overlay">
            <a:extLst xmlns:a="http://schemas.openxmlformats.org/drawingml/2006/main">
              <a:ext uri="{FF2B5EF4-FFF2-40B4-BE49-F238E27FC236}">
                <a16:creationId xmlns:a16="http://schemas.microsoft.com/office/drawing/2014/main" id="{8F5737AF-F17A-4843-BD53-41639E64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171950"/>
            <a:ext cx="19240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label-1008-443-186-22">
            <a:extLst xmlns:a="http://schemas.openxmlformats.org/drawingml/2006/main">
              <a:ext uri="{FF2B5EF4-FFF2-40B4-BE49-F238E27FC236}">
                <a16:creationId xmlns:a16="http://schemas.microsoft.com/office/drawing/2014/main" id="{F89D1DCF-6863-4FA5-8808-F386DF43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19575"/>
            <a:ext cx="1771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Exploratory overlay</a:t>
            </a:r>
          </a:p>
        </p:txBody>
      </p:sp>
    </p:spTree>
    <p:extLst>
      <p:ext uri="{BB962C8B-B14F-4D97-AF65-F5344CB8AC3E}">
        <p14:creationId xmlns:p14="http://schemas.microsoft.com/office/powerpoint/2010/main" val="66671635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B78DADB-7574-4831-A6EF-750D01C5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00FFAE07-4EBA-48FF-9D05-2746A6DD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C32C4ECE-7DBE-4109-9857-E62BAA4F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CLINICAL TRANSITION APPLICATION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AD16270-7B0B-4C8E-A18D-9B10AFB8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Focused transition evidence is aggregate, linked, and deliberately cautious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615827CF-0AD2-40B5-BE79-E172C802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release reports the full focused casebook; it does not elevate one anecdote into a mechanism claim.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0D0D5800-6E08-4239-8649-763D9A7D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D4A4637-0C87-4CAE-AECF-A525D852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AB260568-12E5-4F7E-8BF8-0E9B5FC4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456CE4B-8313-4BB4-AF89-0CFF4634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ransition-1">
            <a:extLst xmlns:a="http://schemas.openxmlformats.org/drawingml/2006/main">
              <a:ext uri="{FF2B5EF4-FFF2-40B4-BE49-F238E27FC236}">
                <a16:creationId xmlns:a16="http://schemas.microsoft.com/office/drawing/2014/main" id="{E7C71417-9D13-4041-8970-D05FE0823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1400" y="2943225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transition-1-head">
            <a:extLst xmlns:a="http://schemas.openxmlformats.org/drawingml/2006/main">
              <a:ext uri="{FF2B5EF4-FFF2-40B4-BE49-F238E27FC236}">
                <a16:creationId xmlns:a16="http://schemas.microsoft.com/office/drawing/2014/main" id="{806FE70F-95A3-45C1-A43C-DADE91C3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43375" y="29051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transition-2">
            <a:extLst xmlns:a="http://schemas.openxmlformats.org/drawingml/2006/main">
              <a:ext uri="{FF2B5EF4-FFF2-40B4-BE49-F238E27FC236}">
                <a16:creationId xmlns:a16="http://schemas.microsoft.com/office/drawing/2014/main" id="{F3417EBC-B90A-4A4E-B431-21474BDCF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58100" y="2943225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ransition-2-head">
            <a:extLst xmlns:a="http://schemas.openxmlformats.org/drawingml/2006/main">
              <a:ext uri="{FF2B5EF4-FFF2-40B4-BE49-F238E27FC236}">
                <a16:creationId xmlns:a16="http://schemas.microsoft.com/office/drawing/2014/main" id="{B3D17224-8702-4585-8731-E90F6FA1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20075" y="29051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card-Focused Not_UTI→UTI transitions">
            <a:extLst xmlns:a="http://schemas.openxmlformats.org/drawingml/2006/main">
              <a:ext uri="{FF2B5EF4-FFF2-40B4-BE49-F238E27FC236}">
                <a16:creationId xmlns:a16="http://schemas.microsoft.com/office/drawing/2014/main" id="{9CE86052-D3C6-4399-A890-BFC8F2EB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52650"/>
            <a:ext cx="27432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F4C98A"/>
            </a:solidFill>
            <a:prstDash val="solid"/>
          </a:ln>
        </p:spPr>
      </p:sp>
      <p:sp>
        <p:nvSpPr>
          <p:cNvPr id="15" name="heading-104-242-256-48">
            <a:extLst xmlns:a="http://schemas.openxmlformats.org/drawingml/2006/main">
              <a:ext uri="{FF2B5EF4-FFF2-40B4-BE49-F238E27FC236}">
                <a16:creationId xmlns:a16="http://schemas.microsoft.com/office/drawing/2014/main" id="{28A02493-69B9-4D78-9787-3E6D4DAC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Focused Not_UTI→UTI transitions</a:t>
            </a:r>
          </a:p>
        </p:txBody>
      </p:sp>
      <p:sp>
        <p:nvSpPr>
          <p:cNvPr id="16" name="body-104-296-256-86">
            <a:extLst xmlns:a="http://schemas.openxmlformats.org/drawingml/2006/main">
              <a:ext uri="{FF2B5EF4-FFF2-40B4-BE49-F238E27FC236}">
                <a16:creationId xmlns:a16="http://schemas.microsoft.com/office/drawing/2014/main" id="{96BA6DED-7A4F-4C59-8370-1CDC4215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19400"/>
            <a:ext cx="24384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9 adjacent transitions enter the focused clinical-transition view.</a:t>
            </a:r>
          </a:p>
        </p:txBody>
      </p:sp>
      <p:sp>
        <p:nvSpPr>
          <p:cNvPr id="17" name="card-At or below 25 SNPs">
            <a:extLst xmlns:a="http://schemas.openxmlformats.org/drawingml/2006/main">
              <a:ext uri="{FF2B5EF4-FFF2-40B4-BE49-F238E27FC236}">
                <a16:creationId xmlns:a16="http://schemas.microsoft.com/office/drawing/2014/main" id="{4939B9A9-C927-4C84-91CC-574DEB77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152650"/>
            <a:ext cx="34480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CE4C9"/>
            </a:solidFill>
            <a:prstDash val="solid"/>
          </a:ln>
        </p:spPr>
      </p:sp>
      <p:sp>
        <p:nvSpPr>
          <p:cNvPr id="18" name="heading-458-242-330-26">
            <a:extLst xmlns:a="http://schemas.openxmlformats.org/drawingml/2006/main">
              <a:ext uri="{FF2B5EF4-FFF2-40B4-BE49-F238E27FC236}">
                <a16:creationId xmlns:a16="http://schemas.microsoft.com/office/drawing/2014/main" id="{0ECF734B-2B35-4297-93F5-32C65005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0505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At or below 25 SNPs</a:t>
            </a:r>
          </a:p>
        </p:txBody>
      </p:sp>
      <p:sp>
        <p:nvSpPr>
          <p:cNvPr id="19" name="body-458-274-330-108">
            <a:extLst xmlns:a="http://schemas.openxmlformats.org/drawingml/2006/main">
              <a:ext uri="{FF2B5EF4-FFF2-40B4-BE49-F238E27FC236}">
                <a16:creationId xmlns:a16="http://schemas.microsoft.com/office/drawing/2014/main" id="{F84657D3-5516-49F7-9EA5-6FF25014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09850"/>
            <a:ext cx="31432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 of 9 focused transitions fall at or below the operational genome-distance threshold.</a:t>
            </a:r>
          </a:p>
        </p:txBody>
      </p:sp>
      <p:sp>
        <p:nvSpPr>
          <p:cNvPr id="20" name="card-Mechanism casebook">
            <a:extLst xmlns:a="http://schemas.openxmlformats.org/drawingml/2006/main">
              <a:ext uri="{FF2B5EF4-FFF2-40B4-BE49-F238E27FC236}">
                <a16:creationId xmlns:a16="http://schemas.microsoft.com/office/drawing/2014/main" id="{191AA48D-419F-4A97-9919-34E0C006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952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BDD7EE"/>
            </a:solidFill>
            <a:prstDash val="solid"/>
          </a:ln>
        </p:spPr>
      </p:sp>
      <p:sp>
        <p:nvSpPr>
          <p:cNvPr id="21" name="heading-886-242-278-26">
            <a:extLst xmlns:a="http://schemas.openxmlformats.org/drawingml/2006/main">
              <a:ext uri="{FF2B5EF4-FFF2-40B4-BE49-F238E27FC236}">
                <a16:creationId xmlns:a16="http://schemas.microsoft.com/office/drawing/2014/main" id="{F7376E7E-D910-4F62-A67E-9EF95C27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05050"/>
            <a:ext cx="26479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Mechanism casebook</a:t>
            </a:r>
          </a:p>
        </p:txBody>
      </p:sp>
      <p:sp>
        <p:nvSpPr>
          <p:cNvPr id="22" name="body-886-274-278-108">
            <a:extLst xmlns:a="http://schemas.openxmlformats.org/drawingml/2006/main">
              <a:ext uri="{FF2B5EF4-FFF2-40B4-BE49-F238E27FC236}">
                <a16:creationId xmlns:a16="http://schemas.microsoft.com/office/drawing/2014/main" id="{6C34AC39-C7EA-4DE7-8325-74C2B52C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9850"/>
            <a:ext cx="2647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9 cases; 9 linked; 0 missing endpoints.</a:t>
            </a:r>
          </a:p>
        </p:txBody>
      </p:sp>
      <p:sp>
        <p:nvSpPr>
          <p:cNvPr id="23" name="card-Interpretation boundary">
            <a:extLst xmlns:a="http://schemas.openxmlformats.org/drawingml/2006/main">
              <a:ext uri="{FF2B5EF4-FFF2-40B4-BE49-F238E27FC236}">
                <a16:creationId xmlns:a16="http://schemas.microsoft.com/office/drawing/2014/main" id="{7376B960-3F15-47D2-95BD-45C8BDD4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686300"/>
            <a:ext cx="8953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heading-186-508-908-26">
            <a:extLst xmlns:a="http://schemas.openxmlformats.org/drawingml/2006/main">
              <a:ext uri="{FF2B5EF4-FFF2-40B4-BE49-F238E27FC236}">
                <a16:creationId xmlns:a16="http://schemas.microsoft.com/office/drawing/2014/main" id="{6F11997A-ED55-4F53-82BE-32FF2E15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38700"/>
            <a:ext cx="8648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Interpretation boundary</a:t>
            </a:r>
          </a:p>
        </p:txBody>
      </p:sp>
      <p:sp>
        <p:nvSpPr>
          <p:cNvPr id="25" name="body-186-540-908-20">
            <a:extLst xmlns:a="http://schemas.openxmlformats.org/drawingml/2006/main">
              <a:ext uri="{FF2B5EF4-FFF2-40B4-BE49-F238E27FC236}">
                <a16:creationId xmlns:a16="http://schemas.microsoft.com/office/drawing/2014/main" id="{8F037058-8689-4DC9-A7C5-A41BDF2D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43500"/>
            <a:ext cx="8648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Low genome distance and stable VF content can support a stable-lineage interpretation, but they cannot by themselves identify host-state change, bacterial regulation, or clinical causation.</a:t>
            </a:r>
          </a:p>
        </p:txBody>
      </p:sp>
    </p:spTree>
    <p:extLst>
      <p:ext uri="{BB962C8B-B14F-4D97-AF65-F5344CB8AC3E}">
        <p14:creationId xmlns:p14="http://schemas.microsoft.com/office/powerpoint/2010/main" val="15495388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BFD6714C-BBD8-45F8-9C7B-792A5A32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5AABBD8A-AD29-4C2F-8CA5-86ABA0A3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2C822361-C076-4EAB-9CEE-51C01EBF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CLOSE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B06BF7A-4B9D-4518-BA3F-022F2A08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What the Longcycler-only review establishes and what remains uncertain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8AC66D28-895D-4ACD-A7F6-60754BD1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Use these as the three discussion anchors.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6ADE68D-9A4E-4D99-9453-0263CDBF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88ED43E-2072-46AC-9ACF-6142FA55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F34210AB-78EE-4DC4-9076-6198E173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3F055DC-3589-49F4-AB74-2B5B2DCF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card-Evidence">
            <a:extLst xmlns:a="http://schemas.openxmlformats.org/drawingml/2006/main">
              <a:ext uri="{FF2B5EF4-FFF2-40B4-BE49-F238E27FC236}">
                <a16:creationId xmlns:a16="http://schemas.microsoft.com/office/drawing/2014/main" id="{FF1DD0E4-1A60-494D-8183-ADEC205C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31432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B9D5F0"/>
            </a:solidFill>
            <a:prstDash val="solid"/>
          </a:ln>
        </p:spPr>
      </p:sp>
      <p:sp>
        <p:nvSpPr>
          <p:cNvPr id="11" name="heading-98-200-298-26">
            <a:extLst xmlns:a="http://schemas.openxmlformats.org/drawingml/2006/main">
              <a:ext uri="{FF2B5EF4-FFF2-40B4-BE49-F238E27FC236}">
                <a16:creationId xmlns:a16="http://schemas.microsoft.com/office/drawing/2014/main" id="{D76F749E-F8A0-427B-B538-1FC8D689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05000"/>
            <a:ext cx="2838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2" name="body-98-232-298-238">
            <a:extLst xmlns:a="http://schemas.openxmlformats.org/drawingml/2006/main">
              <a:ext uri="{FF2B5EF4-FFF2-40B4-BE49-F238E27FC236}">
                <a16:creationId xmlns:a16="http://schemas.microsoft.com/office/drawing/2014/main" id="{B3EE0D2F-7F6D-4116-9D08-9D321473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28384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532 selected profiles from 161 residents support 893 direct comparisons and 371 adjacent transitions. The mechanism casebook is complete (9/9 linked).</a:t>
            </a:r>
          </a:p>
        </p:txBody>
      </p:sp>
      <p:sp>
        <p:nvSpPr>
          <p:cNvPr id="13" name="card-Boundary">
            <a:extLst xmlns:a="http://schemas.openxmlformats.org/drawingml/2006/main">
              <a:ext uri="{FF2B5EF4-FFF2-40B4-BE49-F238E27FC236}">
                <a16:creationId xmlns:a16="http://schemas.microsoft.com/office/drawing/2014/main" id="{B82EB449-5E4E-4B5F-8CBB-CEB8F924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752600"/>
            <a:ext cx="31432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F4C98A"/>
            </a:solidFill>
            <a:prstDash val="solid"/>
          </a:ln>
        </p:spPr>
      </p:sp>
      <p:sp>
        <p:nvSpPr>
          <p:cNvPr id="14" name="heading-490-200-298-26">
            <a:extLst xmlns:a="http://schemas.openxmlformats.org/drawingml/2006/main">
              <a:ext uri="{FF2B5EF4-FFF2-40B4-BE49-F238E27FC236}">
                <a16:creationId xmlns:a16="http://schemas.microsoft.com/office/drawing/2014/main" id="{CB52834A-E5A1-404C-8029-A7807A34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2838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Boundary</a:t>
            </a:r>
          </a:p>
        </p:txBody>
      </p:sp>
      <p:sp>
        <p:nvSpPr>
          <p:cNvPr id="15" name="body-490-232-298-238">
            <a:extLst xmlns:a="http://schemas.openxmlformats.org/drawingml/2006/main">
              <a:ext uri="{FF2B5EF4-FFF2-40B4-BE49-F238E27FC236}">
                <a16:creationId xmlns:a16="http://schemas.microsoft.com/office/drawing/2014/main" id="{AF13332B-B8FD-4839-99FB-6B345722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09800"/>
            <a:ext cx="28384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Operational UTI is sparse (16/532). VF presence/absence does not measure expression, regulation, pathogenic activity, or a causal clinical-state effect.</a:t>
            </a:r>
          </a:p>
        </p:txBody>
      </p:sp>
      <p:sp>
        <p:nvSpPr>
          <p:cNvPr id="16" name="card-Next steps">
            <a:extLst xmlns:a="http://schemas.openxmlformats.org/drawingml/2006/main">
              <a:ext uri="{FF2B5EF4-FFF2-40B4-BE49-F238E27FC236}">
                <a16:creationId xmlns:a16="http://schemas.microsoft.com/office/drawing/2014/main" id="{FC000890-86D0-4EC6-85C9-ABC905CB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52600"/>
            <a:ext cx="31432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CE4C9"/>
            </a:solidFill>
            <a:prstDash val="solid"/>
          </a:ln>
        </p:spPr>
      </p:sp>
      <p:sp>
        <p:nvSpPr>
          <p:cNvPr id="17" name="heading-882-200-298-26">
            <a:extLst xmlns:a="http://schemas.openxmlformats.org/drawingml/2006/main">
              <a:ext uri="{FF2B5EF4-FFF2-40B4-BE49-F238E27FC236}">
                <a16:creationId xmlns:a16="http://schemas.microsoft.com/office/drawing/2014/main" id="{FEBE8196-12E6-4280-8E90-F1AE726A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05000"/>
            <a:ext cx="2838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F855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18" name="body-882-232-298-238">
            <a:extLst xmlns:a="http://schemas.openxmlformats.org/drawingml/2006/main">
              <a:ext uri="{FF2B5EF4-FFF2-40B4-BE49-F238E27FC236}">
                <a16:creationId xmlns:a16="http://schemas.microsoft.com/office/drawing/2014/main" id="{01957007-85CB-4FA2-807A-83D645C3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09800"/>
            <a:ext cx="28384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Prioritise lineage-aware longitudinal analyses, targeted transition review, and additional evidence that can separate bacterial change from host-state and sampling effects.</a:t>
            </a:r>
          </a:p>
        </p:txBody>
      </p:sp>
      <p:sp>
        <p:nvSpPr>
          <p:cNvPr id="19" name="body-100-542-1080-32">
            <a:extLst xmlns:a="http://schemas.openxmlformats.org/drawingml/2006/main">
              <a:ext uri="{FF2B5EF4-FFF2-40B4-BE49-F238E27FC236}">
                <a16:creationId xmlns:a16="http://schemas.microsoft.com/office/drawing/2014/main" id="{BC951B84-C0B9-4FA1-97C8-3D45B813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6255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Discussion: what extra evidence would distinguish stable carriage plus host-state change from unmeasured bacterial regulation?</a:t>
            </a:r>
          </a:p>
        </p:txBody>
      </p:sp>
    </p:spTree>
    <p:extLst>
      <p:ext uri="{BB962C8B-B14F-4D97-AF65-F5344CB8AC3E}">
        <p14:creationId xmlns:p14="http://schemas.microsoft.com/office/powerpoint/2010/main" val="3927473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38D2FF5-EC7E-4389-A37B-BD574747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28951A1-E603-48BE-8FBA-D2E6956A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4C29318C-8375-4482-8EC4-09CFFD94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APPENDIX / HANDOVER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1AAF3B7-7A3D-4D13-A5CD-BFCB97A0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Practical map: where to enter and rerun the Longcycler-only pipeline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89A8DB92-1974-4B73-A320-0036458C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numbered research-question layer runs from RQ01 through RQ10.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7E1E0A95-7AC8-4CA0-B7CC-3643CD84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9430B55-F338-45B0-BDE0-DC352E23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B7AA319-18F4-45BB-AFBA-7E1DC9B9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1E99517-4789-492D-B0C2-1F848BFF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handover-row-1">
            <a:extLst xmlns:a="http://schemas.openxmlformats.org/drawingml/2006/main">
              <a:ext uri="{FF2B5EF4-FFF2-40B4-BE49-F238E27FC236}">
                <a16:creationId xmlns:a16="http://schemas.microsoft.com/office/drawing/2014/main" id="{0D1364E4-E623-4E78-9712-FE12EC0B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label-96-166-170-34">
            <a:extLst xmlns:a="http://schemas.openxmlformats.org/drawingml/2006/main">
              <a:ext uri="{FF2B5EF4-FFF2-40B4-BE49-F238E27FC236}">
                <a16:creationId xmlns:a16="http://schemas.microsoft.com/office/drawing/2014/main" id="{23C224C6-E561-41B3-8C6D-5891DC99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811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Selected manifest</a:t>
            </a:r>
          </a:p>
        </p:txBody>
      </p:sp>
      <p:sp>
        <p:nvSpPr>
          <p:cNvPr id="12" name="body-286-166-410-36">
            <a:extLst xmlns:a="http://schemas.openxmlformats.org/drawingml/2006/main">
              <a:ext uri="{FF2B5EF4-FFF2-40B4-BE49-F238E27FC236}">
                <a16:creationId xmlns:a16="http://schemas.microsoft.com/office/drawing/2014/main" id="{8721A4E5-6503-4037-A323-B7A895B4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811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results/assembly/canonical_assembly_selection.csv</a:t>
            </a:r>
          </a:p>
        </p:txBody>
      </p:sp>
      <p:sp>
        <p:nvSpPr>
          <p:cNvPr id="13" name="body-720-166-410-36">
            <a:extLst xmlns:a="http://schemas.openxmlformats.org/drawingml/2006/main">
              <a:ext uri="{FF2B5EF4-FFF2-40B4-BE49-F238E27FC236}">
                <a16:creationId xmlns:a16="http://schemas.microsoft.com/office/drawing/2014/main" id="{97053D65-2AB9-4399-A4A7-D857DE04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811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One QC-passing Longcycler assembly per episode</a:t>
            </a:r>
          </a:p>
        </p:txBody>
      </p:sp>
      <p:sp>
        <p:nvSpPr>
          <p:cNvPr id="14" name="handover-row-2">
            <a:extLst xmlns:a="http://schemas.openxmlformats.org/drawingml/2006/main">
              <a:ext uri="{FF2B5EF4-FFF2-40B4-BE49-F238E27FC236}">
                <a16:creationId xmlns:a16="http://schemas.microsoft.com/office/drawing/2014/main" id="{810689F1-C079-49E8-861B-1522751E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label-96-234-170-34">
            <a:extLst xmlns:a="http://schemas.openxmlformats.org/drawingml/2006/main">
              <a:ext uri="{FF2B5EF4-FFF2-40B4-BE49-F238E27FC236}">
                <a16:creationId xmlns:a16="http://schemas.microsoft.com/office/drawing/2014/main" id="{AD3D1587-D5D0-44E0-9A97-BA22522E3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Clinical key</a:t>
            </a:r>
          </a:p>
        </p:txBody>
      </p:sp>
      <p:sp>
        <p:nvSpPr>
          <p:cNvPr id="16" name="body-286-234-410-36">
            <a:extLst xmlns:a="http://schemas.openxmlformats.org/drawingml/2006/main">
              <a:ext uri="{FF2B5EF4-FFF2-40B4-BE49-F238E27FC236}">
                <a16:creationId xmlns:a16="http://schemas.microsoft.com/office/drawing/2014/main" id="{2A499D04-F405-4524-AEBB-D9551AE6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2288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results/clinical/status_map.csv</a:t>
            </a:r>
          </a:p>
        </p:txBody>
      </p:sp>
      <p:sp>
        <p:nvSpPr>
          <p:cNvPr id="17" name="body-720-234-410-36">
            <a:extLst xmlns:a="http://schemas.openxmlformats.org/drawingml/2006/main">
              <a:ext uri="{FF2B5EF4-FFF2-40B4-BE49-F238E27FC236}">
                <a16:creationId xmlns:a16="http://schemas.microsoft.com/office/drawing/2014/main" id="{154BAFA3-189B-42FC-9EA7-B5D954F8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288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Operational UTI annotation and audit fields</a:t>
            </a:r>
          </a:p>
        </p:txBody>
      </p:sp>
      <p:sp>
        <p:nvSpPr>
          <p:cNvPr id="18" name="handover-row-3">
            <a:extLst xmlns:a="http://schemas.openxmlformats.org/drawingml/2006/main">
              <a:ext uri="{FF2B5EF4-FFF2-40B4-BE49-F238E27FC236}">
                <a16:creationId xmlns:a16="http://schemas.microsoft.com/office/drawing/2014/main" id="{061CD6E9-0986-4FAE-B79D-DAD8E437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label-96-302-170-34">
            <a:extLst xmlns:a="http://schemas.openxmlformats.org/drawingml/2006/main">
              <a:ext uri="{FF2B5EF4-FFF2-40B4-BE49-F238E27FC236}">
                <a16:creationId xmlns:a16="http://schemas.microsoft.com/office/drawing/2014/main" id="{0CAF5480-53E0-4619-8B84-9DE611EC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VF matrix</a:t>
            </a:r>
          </a:p>
        </p:txBody>
      </p:sp>
      <p:sp>
        <p:nvSpPr>
          <p:cNvPr id="20" name="body-286-302-410-36">
            <a:extLst xmlns:a="http://schemas.openxmlformats.org/drawingml/2006/main">
              <a:ext uri="{FF2B5EF4-FFF2-40B4-BE49-F238E27FC236}">
                <a16:creationId xmlns:a16="http://schemas.microsoft.com/office/drawing/2014/main" id="{67E1DC3D-FF24-4DC8-BF2C-8A621409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765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results/vf/vf_pa_all.csv</a:t>
            </a:r>
          </a:p>
        </p:txBody>
      </p:sp>
      <p:sp>
        <p:nvSpPr>
          <p:cNvPr id="21" name="body-720-302-410-36">
            <a:extLst xmlns:a="http://schemas.openxmlformats.org/drawingml/2006/main">
              <a:ext uri="{FF2B5EF4-FFF2-40B4-BE49-F238E27FC236}">
                <a16:creationId xmlns:a16="http://schemas.microsoft.com/office/drawing/2014/main" id="{A3D60371-B23E-4E6C-9EE6-73882978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765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Episode-level binary VF profiles</a:t>
            </a:r>
          </a:p>
        </p:txBody>
      </p:sp>
      <p:sp>
        <p:nvSpPr>
          <p:cNvPr id="22" name="handover-row-4">
            <a:extLst xmlns:a="http://schemas.openxmlformats.org/drawingml/2006/main">
              <a:ext uri="{FF2B5EF4-FFF2-40B4-BE49-F238E27FC236}">
                <a16:creationId xmlns:a16="http://schemas.microsoft.com/office/drawing/2014/main" id="{EC8DEAC8-B59B-46A3-A37B-F5806AE3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label-96-370-170-34">
            <a:extLst xmlns:a="http://schemas.openxmlformats.org/drawingml/2006/main">
              <a:ext uri="{FF2B5EF4-FFF2-40B4-BE49-F238E27FC236}">
                <a16:creationId xmlns:a16="http://schemas.microsoft.com/office/drawing/2014/main" id="{79690117-DCE9-433B-B05C-1B9CBFF8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Direct pairs</a:t>
            </a:r>
          </a:p>
        </p:txBody>
      </p:sp>
      <p:sp>
        <p:nvSpPr>
          <p:cNvPr id="24" name="body-286-370-410-36">
            <a:extLst xmlns:a="http://schemas.openxmlformats.org/drawingml/2006/main">
              <a:ext uri="{FF2B5EF4-FFF2-40B4-BE49-F238E27FC236}">
                <a16:creationId xmlns:a16="http://schemas.microsoft.com/office/drawing/2014/main" id="{9A326AFD-9091-48E9-8EA8-F092BC1C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242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results/strain/pairwise_metrics.csv</a:t>
            </a:r>
          </a:p>
        </p:txBody>
      </p:sp>
      <p:sp>
        <p:nvSpPr>
          <p:cNvPr id="25" name="body-720-370-410-36">
            <a:extLst xmlns:a="http://schemas.openxmlformats.org/drawingml/2006/main">
              <a:ext uri="{FF2B5EF4-FFF2-40B4-BE49-F238E27FC236}">
                <a16:creationId xmlns:a16="http://schemas.microsoft.com/office/drawing/2014/main" id="{8B0EE564-5F14-4D93-929A-8170FD1C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242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All within-resident comparisons</a:t>
            </a:r>
          </a:p>
        </p:txBody>
      </p:sp>
      <p:sp>
        <p:nvSpPr>
          <p:cNvPr id="26" name="handover-row-5">
            <a:extLst xmlns:a="http://schemas.openxmlformats.org/drawingml/2006/main">
              <a:ext uri="{FF2B5EF4-FFF2-40B4-BE49-F238E27FC236}">
                <a16:creationId xmlns:a16="http://schemas.microsoft.com/office/drawing/2014/main" id="{DE648894-2CD8-4439-84F7-D37843F5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7" name="label-96-438-170-34">
            <a:extLst xmlns:a="http://schemas.openxmlformats.org/drawingml/2006/main">
              <a:ext uri="{FF2B5EF4-FFF2-40B4-BE49-F238E27FC236}">
                <a16:creationId xmlns:a16="http://schemas.microsoft.com/office/drawing/2014/main" id="{547B727F-6792-40AC-B435-62E1524E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Adjacent transitions</a:t>
            </a:r>
          </a:p>
        </p:txBody>
      </p:sp>
      <p:sp>
        <p:nvSpPr>
          <p:cNvPr id="28" name="body-286-438-410-36">
            <a:extLst xmlns:a="http://schemas.openxmlformats.org/drawingml/2006/main">
              <a:ext uri="{FF2B5EF4-FFF2-40B4-BE49-F238E27FC236}">
                <a16:creationId xmlns:a16="http://schemas.microsoft.com/office/drawing/2014/main" id="{03B2A13A-0DEF-4E54-A8A5-02AE14DF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1719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results/longitudinal/longcycler_transitions.csv</a:t>
            </a:r>
          </a:p>
        </p:txBody>
      </p:sp>
      <p:sp>
        <p:nvSpPr>
          <p:cNvPr id="29" name="body-720-438-410-36">
            <a:extLst xmlns:a="http://schemas.openxmlformats.org/drawingml/2006/main">
              <a:ext uri="{FF2B5EF4-FFF2-40B4-BE49-F238E27FC236}">
                <a16:creationId xmlns:a16="http://schemas.microsoft.com/office/drawing/2014/main" id="{C87C90FE-9B50-4EA6-BBE1-71FF49E4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719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Temporally ordered comparisons</a:t>
            </a:r>
          </a:p>
        </p:txBody>
      </p:sp>
      <p:sp>
        <p:nvSpPr>
          <p:cNvPr id="30" name="handover-row-6">
            <a:extLst xmlns:a="http://schemas.openxmlformats.org/drawingml/2006/main">
              <a:ext uri="{FF2B5EF4-FFF2-40B4-BE49-F238E27FC236}">
                <a16:creationId xmlns:a16="http://schemas.microsoft.com/office/drawing/2014/main" id="{02C80079-6977-42B7-BD80-7B2D9997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4345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1" name="label-96-506-170-34">
            <a:extLst xmlns:a="http://schemas.openxmlformats.org/drawingml/2006/main">
              <a:ext uri="{FF2B5EF4-FFF2-40B4-BE49-F238E27FC236}">
                <a16:creationId xmlns:a16="http://schemas.microsoft.com/office/drawing/2014/main" id="{E377E485-15C5-420B-AF9E-1C49523C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96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Focused casebook</a:t>
            </a:r>
          </a:p>
        </p:txBody>
      </p:sp>
      <p:sp>
        <p:nvSpPr>
          <p:cNvPr id="32" name="body-286-506-410-36">
            <a:extLst xmlns:a="http://schemas.openxmlformats.org/drawingml/2006/main">
              <a:ext uri="{FF2B5EF4-FFF2-40B4-BE49-F238E27FC236}">
                <a16:creationId xmlns:a16="http://schemas.microsoft.com/office/drawing/2014/main" id="{838BC386-8E40-41CA-A478-9A562E4DF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8196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results/mechanism/not_uti_to_uti_casebook.csv</a:t>
            </a:r>
          </a:p>
        </p:txBody>
      </p:sp>
      <p:sp>
        <p:nvSpPr>
          <p:cNvPr id="33" name="body-720-506-410-36">
            <a:extLst xmlns:a="http://schemas.openxmlformats.org/drawingml/2006/main">
              <a:ext uri="{FF2B5EF4-FFF2-40B4-BE49-F238E27FC236}">
                <a16:creationId xmlns:a16="http://schemas.microsoft.com/office/drawing/2014/main" id="{C249361C-154C-45E0-939E-F64E41BA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196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Nine linked transition cases</a:t>
            </a:r>
          </a:p>
        </p:txBody>
      </p:sp>
      <p:sp>
        <p:nvSpPr>
          <p:cNvPr id="34" name="handover-row-7">
            <a:extLst xmlns:a="http://schemas.openxmlformats.org/drawingml/2006/main">
              <a:ext uri="{FF2B5EF4-FFF2-40B4-BE49-F238E27FC236}">
                <a16:creationId xmlns:a16="http://schemas.microsoft.com/office/drawing/2014/main" id="{1D6131EE-7EDD-42E9-A9DE-4048E349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35" name="label-96-574-170-34">
            <a:extLst xmlns:a="http://schemas.openxmlformats.org/drawingml/2006/main">
              <a:ext uri="{FF2B5EF4-FFF2-40B4-BE49-F238E27FC236}">
                <a16:creationId xmlns:a16="http://schemas.microsoft.com/office/drawing/2014/main" id="{4B5A9BBD-A6D4-4C1D-A19F-6F16AF99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73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B6CB0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Research questions</a:t>
            </a:r>
          </a:p>
        </p:txBody>
      </p:sp>
      <p:sp>
        <p:nvSpPr>
          <p:cNvPr id="36" name="body-286-574-410-36">
            <a:extLst xmlns:a="http://schemas.openxmlformats.org/drawingml/2006/main">
              <a:ext uri="{FF2B5EF4-FFF2-40B4-BE49-F238E27FC236}">
                <a16:creationId xmlns:a16="http://schemas.microsoft.com/office/drawing/2014/main" id="{4080DB54-A990-4B93-B182-E7C56C2F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4673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scripts/research_questions/run_all.R</a:t>
            </a:r>
          </a:p>
        </p:txBody>
      </p:sp>
      <p:sp>
        <p:nvSpPr>
          <p:cNvPr id="37" name="body-720-574-410-36">
            <a:extLst xmlns:a="http://schemas.openxmlformats.org/drawingml/2006/main">
              <a:ext uri="{FF2B5EF4-FFF2-40B4-BE49-F238E27FC236}">
                <a16:creationId xmlns:a16="http://schemas.microsoft.com/office/drawing/2014/main" id="{B35EFA67-0244-44CC-9CC7-DAC950B7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467350"/>
            <a:ext cx="3905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RQ01–RQ10 release layer</a:t>
            </a:r>
          </a:p>
        </p:txBody>
      </p:sp>
    </p:spTree>
    <p:extLst>
      <p:ext uri="{BB962C8B-B14F-4D97-AF65-F5344CB8AC3E}">
        <p14:creationId xmlns:p14="http://schemas.microsoft.com/office/powerpoint/2010/main" val="122909342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3D01535C-74E3-4B44-867F-155A2157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6D73207-DC7D-483A-B6D5-4A7EAC41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E9632EE2-DF6F-46C2-8325-DDC201F7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APPENDIX / PIPELINE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A4F6109-2A51-44D0-8AB5-5CA5A2FC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Numbered clinical-to-VF pipeline with validated handoff counts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9446358B-4519-4CAD-9C5E-BACF5B61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RQ01–RQ10 consume the same selected analytical cohort and current-run outputs.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6383C4E-677C-419E-8663-F865072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31E1E54-7A58-42FF-8C8F-66E88C86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8105F9B9-CA2A-4DDE-8EC2-CEB88F22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6CB9B65-F077-43BF-88B9-BCFAF130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stage-1">
            <a:extLst xmlns:a="http://schemas.openxmlformats.org/drawingml/2006/main">
              <a:ext uri="{FF2B5EF4-FFF2-40B4-BE49-F238E27FC236}">
                <a16:creationId xmlns:a16="http://schemas.microsoft.com/office/drawing/2014/main" id="{13B7CB99-DFAB-4CBC-895D-A9B6A208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52700" y="23907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stage-1-head">
            <a:extLst xmlns:a="http://schemas.openxmlformats.org/drawingml/2006/main">
              <a:ext uri="{FF2B5EF4-FFF2-40B4-BE49-F238E27FC236}">
                <a16:creationId xmlns:a16="http://schemas.microsoft.com/office/drawing/2014/main" id="{727D030F-A6E9-4E95-AD38-F3A348E8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38425" y="23526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stage-2">
            <a:extLst xmlns:a="http://schemas.openxmlformats.org/drawingml/2006/main">
              <a:ext uri="{FF2B5EF4-FFF2-40B4-BE49-F238E27FC236}">
                <a16:creationId xmlns:a16="http://schemas.microsoft.com/office/drawing/2014/main" id="{747329F2-DCC4-43B2-A562-D6EEF3BB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9650" y="23907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stage-2-head">
            <a:extLst xmlns:a="http://schemas.openxmlformats.org/drawingml/2006/main">
              <a:ext uri="{FF2B5EF4-FFF2-40B4-BE49-F238E27FC236}">
                <a16:creationId xmlns:a16="http://schemas.microsoft.com/office/drawing/2014/main" id="{B2D73022-8EC5-4764-B9CF-7EB2A134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905375" y="23526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stage-3">
            <a:extLst xmlns:a="http://schemas.openxmlformats.org/drawingml/2006/main">
              <a:ext uri="{FF2B5EF4-FFF2-40B4-BE49-F238E27FC236}">
                <a16:creationId xmlns:a16="http://schemas.microsoft.com/office/drawing/2014/main" id="{2B51FF55-26CF-4047-BB79-EDB36187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23907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stage-3-head">
            <a:extLst xmlns:a="http://schemas.openxmlformats.org/drawingml/2006/main">
              <a:ext uri="{FF2B5EF4-FFF2-40B4-BE49-F238E27FC236}">
                <a16:creationId xmlns:a16="http://schemas.microsoft.com/office/drawing/2014/main" id="{498E52B9-4574-4BA2-8B8A-592C9E9A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72325" y="23526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stage-4">
            <a:extLst xmlns:a="http://schemas.openxmlformats.org/drawingml/2006/main">
              <a:ext uri="{FF2B5EF4-FFF2-40B4-BE49-F238E27FC236}">
                <a16:creationId xmlns:a16="http://schemas.microsoft.com/office/drawing/2014/main" id="{49A49A92-C7CF-42E0-BD9A-23DA663E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53550" y="23907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stage-4-head">
            <a:extLst xmlns:a="http://schemas.openxmlformats.org/drawingml/2006/main">
              <a:ext uri="{FF2B5EF4-FFF2-40B4-BE49-F238E27FC236}">
                <a16:creationId xmlns:a16="http://schemas.microsoft.com/office/drawing/2014/main" id="{73EC46A2-743D-47FB-94DC-A3A06309B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439275" y="23526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stage-6">
            <a:extLst xmlns:a="http://schemas.openxmlformats.org/drawingml/2006/main">
              <a:ext uri="{FF2B5EF4-FFF2-40B4-BE49-F238E27FC236}">
                <a16:creationId xmlns:a16="http://schemas.microsoft.com/office/drawing/2014/main" id="{66D58990-2C3F-401E-BB02-A91A28A4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52700" y="439102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stage-6-head">
            <a:extLst xmlns:a="http://schemas.openxmlformats.org/drawingml/2006/main">
              <a:ext uri="{FF2B5EF4-FFF2-40B4-BE49-F238E27FC236}">
                <a16:creationId xmlns:a16="http://schemas.microsoft.com/office/drawing/2014/main" id="{424A4704-63B3-47ED-A869-B1655ED4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38425" y="43529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stage-7">
            <a:extLst xmlns:a="http://schemas.openxmlformats.org/drawingml/2006/main">
              <a:ext uri="{FF2B5EF4-FFF2-40B4-BE49-F238E27FC236}">
                <a16:creationId xmlns:a16="http://schemas.microsoft.com/office/drawing/2014/main" id="{79B423EB-A271-4426-9BCE-8FB4919C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9650" y="439102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stage-7-head">
            <a:extLst xmlns:a="http://schemas.openxmlformats.org/drawingml/2006/main">
              <a:ext uri="{FF2B5EF4-FFF2-40B4-BE49-F238E27FC236}">
                <a16:creationId xmlns:a16="http://schemas.microsoft.com/office/drawing/2014/main" id="{9FEDD3F0-B659-4531-8990-8BE761A8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905375" y="43529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stage-8">
            <a:extLst xmlns:a="http://schemas.openxmlformats.org/drawingml/2006/main">
              <a:ext uri="{FF2B5EF4-FFF2-40B4-BE49-F238E27FC236}">
                <a16:creationId xmlns:a16="http://schemas.microsoft.com/office/drawing/2014/main" id="{98E2776C-0EF8-41C4-BF37-F4AECCEE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439102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stage-8-head">
            <a:extLst xmlns:a="http://schemas.openxmlformats.org/drawingml/2006/main">
              <a:ext uri="{FF2B5EF4-FFF2-40B4-BE49-F238E27FC236}">
                <a16:creationId xmlns:a16="http://schemas.microsoft.com/office/drawing/2014/main" id="{B3B4596C-0749-4D3D-B30F-2588EEFC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72325" y="43529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stage-9">
            <a:extLst xmlns:a="http://schemas.openxmlformats.org/drawingml/2006/main">
              <a:ext uri="{FF2B5EF4-FFF2-40B4-BE49-F238E27FC236}">
                <a16:creationId xmlns:a16="http://schemas.microsoft.com/office/drawing/2014/main" id="{B9A2A665-8345-4806-91A9-EECFCBAF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53550" y="439102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stage-9-head">
            <a:extLst xmlns:a="http://schemas.openxmlformats.org/drawingml/2006/main">
              <a:ext uri="{FF2B5EF4-FFF2-40B4-BE49-F238E27FC236}">
                <a16:creationId xmlns:a16="http://schemas.microsoft.com/office/drawing/2014/main" id="{AC2832AF-94B6-44EB-8364-FE356AF2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439275" y="43529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pipeline-1">
            <a:extLst xmlns:a="http://schemas.openxmlformats.org/drawingml/2006/main">
              <a:ext uri="{FF2B5EF4-FFF2-40B4-BE49-F238E27FC236}">
                <a16:creationId xmlns:a16="http://schemas.microsoft.com/office/drawing/2014/main" id="{062958E3-BB8B-4701-9AFF-65D70C6E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2038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7" name="pipeline-number-1">
            <a:extLst xmlns:a="http://schemas.openxmlformats.org/drawingml/2006/main">
              <a:ext uri="{FF2B5EF4-FFF2-40B4-BE49-F238E27FC236}">
                <a16:creationId xmlns:a16="http://schemas.microsoft.com/office/drawing/2014/main" id="{CDBE0058-3E12-496B-834F-7A220DE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478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label-68-200-30-16">
            <a:extLst xmlns:a="http://schemas.openxmlformats.org/drawingml/2006/main">
              <a:ext uri="{FF2B5EF4-FFF2-40B4-BE49-F238E27FC236}">
                <a16:creationId xmlns:a16="http://schemas.microsoft.com/office/drawing/2014/main" id="{0AB9C51C-70FC-4CED-B884-BBD9764A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285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9" name="heading-108-193-145-44">
            <a:extLst xmlns:a="http://schemas.openxmlformats.org/drawingml/2006/main">
              <a:ext uri="{FF2B5EF4-FFF2-40B4-BE49-F238E27FC236}">
                <a16:creationId xmlns:a16="http://schemas.microsoft.com/office/drawing/2014/main" id="{7E37BF08-0304-4F03-A9C9-B09BF740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38325"/>
            <a:ext cx="1381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Source/QC context</a:t>
            </a:r>
          </a:p>
        </p:txBody>
      </p:sp>
      <p:sp>
        <p:nvSpPr>
          <p:cNvPr id="30" name="body-70-250-182-64">
            <a:extLst xmlns:a="http://schemas.openxmlformats.org/drawingml/2006/main">
              <a:ext uri="{FF2B5EF4-FFF2-40B4-BE49-F238E27FC236}">
                <a16:creationId xmlns:a16="http://schemas.microsoft.com/office/drawing/2014/main" id="{4CC418E4-EEF5-42D3-9913-38C38096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583 episodes; 166 residents</a:t>
            </a:r>
          </a:p>
        </p:txBody>
      </p:sp>
      <p:sp>
        <p:nvSpPr>
          <p:cNvPr id="31" name="pipeline-2">
            <a:extLst xmlns:a="http://schemas.openxmlformats.org/drawingml/2006/main">
              <a:ext uri="{FF2B5EF4-FFF2-40B4-BE49-F238E27FC236}">
                <a16:creationId xmlns:a16="http://schemas.microsoft.com/office/drawing/2014/main" id="{34043E0C-43FD-4504-AA63-D586EDEE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95450"/>
            <a:ext cx="2038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2" name="pipeline-number-2">
            <a:extLst xmlns:a="http://schemas.openxmlformats.org/drawingml/2006/main">
              <a:ext uri="{FF2B5EF4-FFF2-40B4-BE49-F238E27FC236}">
                <a16:creationId xmlns:a16="http://schemas.microsoft.com/office/drawing/2014/main" id="{2275D73F-1F73-4E80-B5C1-CE75E572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8478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label-306-200-30-16">
            <a:extLst xmlns:a="http://schemas.openxmlformats.org/drawingml/2006/main">
              <a:ext uri="{FF2B5EF4-FFF2-40B4-BE49-F238E27FC236}">
                <a16:creationId xmlns:a16="http://schemas.microsoft.com/office/drawing/2014/main" id="{FAD432D1-DE86-4057-9AEE-24CB87958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905000"/>
            <a:ext cx="285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4" name="heading-346-193-145-44">
            <a:extLst xmlns:a="http://schemas.openxmlformats.org/drawingml/2006/main">
              <a:ext uri="{FF2B5EF4-FFF2-40B4-BE49-F238E27FC236}">
                <a16:creationId xmlns:a16="http://schemas.microsoft.com/office/drawing/2014/main" id="{FB9C10B8-643A-4BDB-BECE-2D56861E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838325"/>
            <a:ext cx="1381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Selected cohort</a:t>
            </a:r>
          </a:p>
        </p:txBody>
      </p:sp>
      <p:sp>
        <p:nvSpPr>
          <p:cNvPr id="35" name="body-308-250-182-64">
            <a:extLst xmlns:a="http://schemas.openxmlformats.org/drawingml/2006/main">
              <a:ext uri="{FF2B5EF4-FFF2-40B4-BE49-F238E27FC236}">
                <a16:creationId xmlns:a16="http://schemas.microsoft.com/office/drawing/2014/main" id="{EFAD3B6C-B080-4D93-A815-F966D0E8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532 episodes; 161 residents</a:t>
            </a:r>
          </a:p>
        </p:txBody>
      </p:sp>
      <p:sp>
        <p:nvSpPr>
          <p:cNvPr id="36" name="pipeline-3">
            <a:extLst xmlns:a="http://schemas.openxmlformats.org/drawingml/2006/main">
              <a:ext uri="{FF2B5EF4-FFF2-40B4-BE49-F238E27FC236}">
                <a16:creationId xmlns:a16="http://schemas.microsoft.com/office/drawing/2014/main" id="{8839D512-C37E-4F99-BE3D-35B960F9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95450"/>
            <a:ext cx="2038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7" name="pipeline-number-3">
            <a:extLst xmlns:a="http://schemas.openxmlformats.org/drawingml/2006/main">
              <a:ext uri="{FF2B5EF4-FFF2-40B4-BE49-F238E27FC236}">
                <a16:creationId xmlns:a16="http://schemas.microsoft.com/office/drawing/2014/main" id="{6309841D-C044-4579-8E7B-87E5302B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8478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label-544-200-30-16">
            <a:extLst xmlns:a="http://schemas.openxmlformats.org/drawingml/2006/main">
              <a:ext uri="{FF2B5EF4-FFF2-40B4-BE49-F238E27FC236}">
                <a16:creationId xmlns:a16="http://schemas.microsoft.com/office/drawing/2014/main" id="{209D4AB7-F8EA-49E7-98AE-EAF8D718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905000"/>
            <a:ext cx="285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9" name="heading-584-193-145-44">
            <a:extLst xmlns:a="http://schemas.openxmlformats.org/drawingml/2006/main">
              <a:ext uri="{FF2B5EF4-FFF2-40B4-BE49-F238E27FC236}">
                <a16:creationId xmlns:a16="http://schemas.microsoft.com/office/drawing/2014/main" id="{B007933C-D993-494D-945D-EC90BAB8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838325"/>
            <a:ext cx="1381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Operational phenotype</a:t>
            </a:r>
          </a:p>
        </p:txBody>
      </p:sp>
      <p:sp>
        <p:nvSpPr>
          <p:cNvPr id="40" name="body-546-250-182-64">
            <a:extLst xmlns:a="http://schemas.openxmlformats.org/drawingml/2006/main">
              <a:ext uri="{FF2B5EF4-FFF2-40B4-BE49-F238E27FC236}">
                <a16:creationId xmlns:a16="http://schemas.microsoft.com/office/drawing/2014/main" id="{8D996980-8562-466C-B197-0F636577F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38125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16 UTI; 516 Not_UTI</a:t>
            </a:r>
          </a:p>
        </p:txBody>
      </p:sp>
      <p:sp>
        <p:nvSpPr>
          <p:cNvPr id="41" name="pipeline-4">
            <a:extLst xmlns:a="http://schemas.openxmlformats.org/drawingml/2006/main">
              <a:ext uri="{FF2B5EF4-FFF2-40B4-BE49-F238E27FC236}">
                <a16:creationId xmlns:a16="http://schemas.microsoft.com/office/drawing/2014/main" id="{BACF1932-8CC7-4E33-87DE-E4D18A1C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2038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2" name="pipeline-number-4">
            <a:extLst xmlns:a="http://schemas.openxmlformats.org/drawingml/2006/main">
              <a:ext uri="{FF2B5EF4-FFF2-40B4-BE49-F238E27FC236}">
                <a16:creationId xmlns:a16="http://schemas.microsoft.com/office/drawing/2014/main" id="{0981BC22-0521-4939-84E4-29EE4B50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478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label-782-200-30-16">
            <a:extLst xmlns:a="http://schemas.openxmlformats.org/drawingml/2006/main">
              <a:ext uri="{FF2B5EF4-FFF2-40B4-BE49-F238E27FC236}">
                <a16:creationId xmlns:a16="http://schemas.microsoft.com/office/drawing/2014/main" id="{0171917D-6070-4DE1-A020-A274CA63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05000"/>
            <a:ext cx="285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4" name="heading-822-193-145-44">
            <a:extLst xmlns:a="http://schemas.openxmlformats.org/drawingml/2006/main">
              <a:ext uri="{FF2B5EF4-FFF2-40B4-BE49-F238E27FC236}">
                <a16:creationId xmlns:a16="http://schemas.microsoft.com/office/drawing/2014/main" id="{42A96FF9-FA80-43A2-B83C-88540206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838325"/>
            <a:ext cx="1381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VF feature matrix</a:t>
            </a:r>
          </a:p>
        </p:txBody>
      </p:sp>
      <p:sp>
        <p:nvSpPr>
          <p:cNvPr id="45" name="body-784-250-182-64">
            <a:extLst xmlns:a="http://schemas.openxmlformats.org/drawingml/2006/main">
              <a:ext uri="{FF2B5EF4-FFF2-40B4-BE49-F238E27FC236}">
                <a16:creationId xmlns:a16="http://schemas.microsoft.com/office/drawing/2014/main" id="{9607E182-C69B-452D-8C66-90EAD437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8125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227 binary features</a:t>
            </a:r>
          </a:p>
        </p:txBody>
      </p:sp>
      <p:sp>
        <p:nvSpPr>
          <p:cNvPr id="46" name="pipeline-5">
            <a:extLst xmlns:a="http://schemas.openxmlformats.org/drawingml/2006/main">
              <a:ext uri="{FF2B5EF4-FFF2-40B4-BE49-F238E27FC236}">
                <a16:creationId xmlns:a16="http://schemas.microsoft.com/office/drawing/2014/main" id="{78478B3B-EE0B-4A8D-A19C-7EE2DA3D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695450"/>
            <a:ext cx="2038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7" name="pipeline-number-5">
            <a:extLst xmlns:a="http://schemas.openxmlformats.org/drawingml/2006/main">
              <a:ext uri="{FF2B5EF4-FFF2-40B4-BE49-F238E27FC236}">
                <a16:creationId xmlns:a16="http://schemas.microsoft.com/office/drawing/2014/main" id="{6A9F7B19-6909-4FE1-B04B-06DC1E33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478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label-1020-200-30-16">
            <a:extLst xmlns:a="http://schemas.openxmlformats.org/drawingml/2006/main">
              <a:ext uri="{FF2B5EF4-FFF2-40B4-BE49-F238E27FC236}">
                <a16:creationId xmlns:a16="http://schemas.microsoft.com/office/drawing/2014/main" id="{A3824050-4783-40B1-A070-7BABC1FA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905000"/>
            <a:ext cx="285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9" name="heading-1060-193-145-44">
            <a:extLst xmlns:a="http://schemas.openxmlformats.org/drawingml/2006/main">
              <a:ext uri="{FF2B5EF4-FFF2-40B4-BE49-F238E27FC236}">
                <a16:creationId xmlns:a16="http://schemas.microsoft.com/office/drawing/2014/main" id="{D76C70E6-AF4E-4D5F-8344-FEC934F4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38325"/>
            <a:ext cx="1381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MLST context</a:t>
            </a:r>
          </a:p>
        </p:txBody>
      </p:sp>
      <p:sp>
        <p:nvSpPr>
          <p:cNvPr id="50" name="body-1022-250-182-64">
            <a:extLst xmlns:a="http://schemas.openxmlformats.org/drawingml/2006/main">
              <a:ext uri="{FF2B5EF4-FFF2-40B4-BE49-F238E27FC236}">
                <a16:creationId xmlns:a16="http://schemas.microsoft.com/office/drawing/2014/main" id="{6997A312-9BD7-484E-9300-02CE9DD5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8125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493 typed episodes; 76 labels</a:t>
            </a:r>
          </a:p>
        </p:txBody>
      </p:sp>
      <p:sp>
        <p:nvSpPr>
          <p:cNvPr id="51" name="pipeline-6">
            <a:extLst xmlns:a="http://schemas.openxmlformats.org/drawingml/2006/main">
              <a:ext uri="{FF2B5EF4-FFF2-40B4-BE49-F238E27FC236}">
                <a16:creationId xmlns:a16="http://schemas.microsoft.com/office/drawing/2014/main" id="{65D654F6-8B70-4182-AFB1-63CC3307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95700"/>
            <a:ext cx="2038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8F1F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2" name="pipeline-number-6">
            <a:extLst xmlns:a="http://schemas.openxmlformats.org/drawingml/2006/main">
              <a:ext uri="{FF2B5EF4-FFF2-40B4-BE49-F238E27FC236}">
                <a16:creationId xmlns:a16="http://schemas.microsoft.com/office/drawing/2014/main" id="{B9CF3CE8-75CA-4A1B-921D-42515A27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481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label-68-410-30-16">
            <a:extLst xmlns:a="http://schemas.openxmlformats.org/drawingml/2006/main">
              <a:ext uri="{FF2B5EF4-FFF2-40B4-BE49-F238E27FC236}">
                <a16:creationId xmlns:a16="http://schemas.microsoft.com/office/drawing/2014/main" id="{CB59DC4B-17EB-42A6-A220-552FF699F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285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4" name="heading-108-403-145-44">
            <a:extLst xmlns:a="http://schemas.openxmlformats.org/drawingml/2006/main">
              <a:ext uri="{FF2B5EF4-FFF2-40B4-BE49-F238E27FC236}">
                <a16:creationId xmlns:a16="http://schemas.microsoft.com/office/drawing/2014/main" id="{FB2E836A-D45D-4FA8-9BCB-C76F19EF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38575"/>
            <a:ext cx="1381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Direct pairs</a:t>
            </a:r>
          </a:p>
        </p:txBody>
      </p:sp>
      <p:sp>
        <p:nvSpPr>
          <p:cNvPr id="55" name="body-70-460-182-64">
            <a:extLst xmlns:a="http://schemas.openxmlformats.org/drawingml/2006/main">
              <a:ext uri="{FF2B5EF4-FFF2-40B4-BE49-F238E27FC236}">
                <a16:creationId xmlns:a16="http://schemas.microsoft.com/office/drawing/2014/main" id="{9CFE8DD7-A2EB-4F9D-8CD2-30EB080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893 comparisons</a:t>
            </a:r>
          </a:p>
        </p:txBody>
      </p:sp>
      <p:sp>
        <p:nvSpPr>
          <p:cNvPr id="56" name="pipeline-7">
            <a:extLst xmlns:a="http://schemas.openxmlformats.org/drawingml/2006/main">
              <a:ext uri="{FF2B5EF4-FFF2-40B4-BE49-F238E27FC236}">
                <a16:creationId xmlns:a16="http://schemas.microsoft.com/office/drawing/2014/main" id="{2834D279-E8BE-404C-857D-88AD9A41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95700"/>
            <a:ext cx="2038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7" name="pipeline-number-7">
            <a:extLst xmlns:a="http://schemas.openxmlformats.org/drawingml/2006/main">
              <a:ext uri="{FF2B5EF4-FFF2-40B4-BE49-F238E27FC236}">
                <a16:creationId xmlns:a16="http://schemas.microsoft.com/office/drawing/2014/main" id="{3C364691-384E-4FD4-81CD-54AD0B76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8481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label-306-410-30-16">
            <a:extLst xmlns:a="http://schemas.openxmlformats.org/drawingml/2006/main">
              <a:ext uri="{FF2B5EF4-FFF2-40B4-BE49-F238E27FC236}">
                <a16:creationId xmlns:a16="http://schemas.microsoft.com/office/drawing/2014/main" id="{361D4B03-7A37-4117-9B63-8B796CC5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905250"/>
            <a:ext cx="285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9" name="heading-346-403-145-44">
            <a:extLst xmlns:a="http://schemas.openxmlformats.org/drawingml/2006/main">
              <a:ext uri="{FF2B5EF4-FFF2-40B4-BE49-F238E27FC236}">
                <a16:creationId xmlns:a16="http://schemas.microsoft.com/office/drawing/2014/main" id="{118F07AD-98E8-4919-BBF0-47E838C6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838575"/>
            <a:ext cx="1381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Adjacent transitions</a:t>
            </a:r>
          </a:p>
        </p:txBody>
      </p:sp>
      <p:sp>
        <p:nvSpPr>
          <p:cNvPr id="60" name="body-308-460-182-64">
            <a:extLst xmlns:a="http://schemas.openxmlformats.org/drawingml/2006/main">
              <a:ext uri="{FF2B5EF4-FFF2-40B4-BE49-F238E27FC236}">
                <a16:creationId xmlns:a16="http://schemas.microsoft.com/office/drawing/2014/main" id="{DF671A03-7100-4952-914E-FBD5C47F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8150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371 from 139 residents</a:t>
            </a:r>
          </a:p>
        </p:txBody>
      </p:sp>
      <p:sp>
        <p:nvSpPr>
          <p:cNvPr id="61" name="pipeline-8">
            <a:extLst xmlns:a="http://schemas.openxmlformats.org/drawingml/2006/main">
              <a:ext uri="{FF2B5EF4-FFF2-40B4-BE49-F238E27FC236}">
                <a16:creationId xmlns:a16="http://schemas.microsoft.com/office/drawing/2014/main" id="{9647F18F-59FD-4494-8E15-7646D27F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95700"/>
            <a:ext cx="2038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2" name="pipeline-number-8">
            <a:extLst xmlns:a="http://schemas.openxmlformats.org/drawingml/2006/main">
              <a:ext uri="{FF2B5EF4-FFF2-40B4-BE49-F238E27FC236}">
                <a16:creationId xmlns:a16="http://schemas.microsoft.com/office/drawing/2014/main" id="{15CFEA10-71F7-4870-89EA-0DE5F276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8481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label-544-410-30-16">
            <a:extLst xmlns:a="http://schemas.openxmlformats.org/drawingml/2006/main">
              <a:ext uri="{FF2B5EF4-FFF2-40B4-BE49-F238E27FC236}">
                <a16:creationId xmlns:a16="http://schemas.microsoft.com/office/drawing/2014/main" id="{28F9C205-59B7-4033-A179-864A7072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905250"/>
            <a:ext cx="285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64" name="heading-584-403-145-44">
            <a:extLst xmlns:a="http://schemas.openxmlformats.org/drawingml/2006/main">
              <a:ext uri="{FF2B5EF4-FFF2-40B4-BE49-F238E27FC236}">
                <a16:creationId xmlns:a16="http://schemas.microsoft.com/office/drawing/2014/main" id="{1BCAF8C9-D03D-4841-BCA2-3B531BC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838575"/>
            <a:ext cx="1381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Focused transition view</a:t>
            </a:r>
          </a:p>
        </p:txBody>
      </p:sp>
      <p:sp>
        <p:nvSpPr>
          <p:cNvPr id="65" name="body-546-460-182-64">
            <a:extLst xmlns:a="http://schemas.openxmlformats.org/drawingml/2006/main">
              <a:ext uri="{FF2B5EF4-FFF2-40B4-BE49-F238E27FC236}">
                <a16:creationId xmlns:a16="http://schemas.microsoft.com/office/drawing/2014/main" id="{A8D8566D-3874-4A80-A339-1C3E8444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38150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9 transitions; 5 ≤25 SNPs</a:t>
            </a:r>
          </a:p>
        </p:txBody>
      </p:sp>
      <p:sp>
        <p:nvSpPr>
          <p:cNvPr id="66" name="pipeline-9">
            <a:extLst xmlns:a="http://schemas.openxmlformats.org/drawingml/2006/main">
              <a:ext uri="{FF2B5EF4-FFF2-40B4-BE49-F238E27FC236}">
                <a16:creationId xmlns:a16="http://schemas.microsoft.com/office/drawing/2014/main" id="{25EEC62A-6965-4E21-B849-72D811B6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695700"/>
            <a:ext cx="2038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7" name="pipeline-number-9">
            <a:extLst xmlns:a="http://schemas.openxmlformats.org/drawingml/2006/main">
              <a:ext uri="{FF2B5EF4-FFF2-40B4-BE49-F238E27FC236}">
                <a16:creationId xmlns:a16="http://schemas.microsoft.com/office/drawing/2014/main" id="{49B2D654-8B72-45C6-843D-FF8B1A71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481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label-782-410-30-16">
            <a:extLst xmlns:a="http://schemas.openxmlformats.org/drawingml/2006/main">
              <a:ext uri="{FF2B5EF4-FFF2-40B4-BE49-F238E27FC236}">
                <a16:creationId xmlns:a16="http://schemas.microsoft.com/office/drawing/2014/main" id="{EA397560-FDB5-47A4-A5C8-E068628B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05250"/>
            <a:ext cx="285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69" name="heading-822-403-145-44">
            <a:extLst xmlns:a="http://schemas.openxmlformats.org/drawingml/2006/main">
              <a:ext uri="{FF2B5EF4-FFF2-40B4-BE49-F238E27FC236}">
                <a16:creationId xmlns:a16="http://schemas.microsoft.com/office/drawing/2014/main" id="{413AA18C-2B21-47DE-8B8B-9185C000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838575"/>
            <a:ext cx="1381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Mechanism casebook</a:t>
            </a:r>
          </a:p>
        </p:txBody>
      </p:sp>
      <p:sp>
        <p:nvSpPr>
          <p:cNvPr id="70" name="body-784-460-182-64">
            <a:extLst xmlns:a="http://schemas.openxmlformats.org/drawingml/2006/main">
              <a:ext uri="{FF2B5EF4-FFF2-40B4-BE49-F238E27FC236}">
                <a16:creationId xmlns:a16="http://schemas.microsoft.com/office/drawing/2014/main" id="{204DB719-537F-4E6B-9528-5BBCBA81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38150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9/9/0: cases/linked/missing</a:t>
            </a:r>
          </a:p>
        </p:txBody>
      </p:sp>
      <p:sp>
        <p:nvSpPr>
          <p:cNvPr id="71" name="pipeline-10">
            <a:extLst xmlns:a="http://schemas.openxmlformats.org/drawingml/2006/main">
              <a:ext uri="{FF2B5EF4-FFF2-40B4-BE49-F238E27FC236}">
                <a16:creationId xmlns:a16="http://schemas.microsoft.com/office/drawing/2014/main" id="{257A789A-FD4A-4EC2-915A-5662098A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695700"/>
            <a:ext cx="203835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2" name="pipeline-number-10">
            <a:extLst xmlns:a="http://schemas.openxmlformats.org/drawingml/2006/main">
              <a:ext uri="{FF2B5EF4-FFF2-40B4-BE49-F238E27FC236}">
                <a16:creationId xmlns:a16="http://schemas.microsoft.com/office/drawing/2014/main" id="{7C7E1035-2980-4683-9FA1-5B95EE99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8481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label-1020-410-30-16">
            <a:extLst xmlns:a="http://schemas.openxmlformats.org/drawingml/2006/main">
              <a:ext uri="{FF2B5EF4-FFF2-40B4-BE49-F238E27FC236}">
                <a16:creationId xmlns:a16="http://schemas.microsoft.com/office/drawing/2014/main" id="{CEB3A88A-5ADA-4A8A-99FD-27C793C1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905250"/>
            <a:ext cx="285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4" name="heading-1060-403-145-44">
            <a:extLst xmlns:a="http://schemas.openxmlformats.org/drawingml/2006/main">
              <a:ext uri="{FF2B5EF4-FFF2-40B4-BE49-F238E27FC236}">
                <a16:creationId xmlns:a16="http://schemas.microsoft.com/office/drawing/2014/main" id="{2FF34800-B062-46CB-90DC-F6BD040E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838575"/>
            <a:ext cx="13811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Research-question release</a:t>
            </a:r>
          </a:p>
        </p:txBody>
      </p:sp>
      <p:sp>
        <p:nvSpPr>
          <p:cNvPr id="75" name="body-1022-460-182-64">
            <a:extLst xmlns:a="http://schemas.openxmlformats.org/drawingml/2006/main">
              <a:ext uri="{FF2B5EF4-FFF2-40B4-BE49-F238E27FC236}">
                <a16:creationId xmlns:a16="http://schemas.microsoft.com/office/drawing/2014/main" id="{2956E568-B10A-4F46-BB69-622EEB70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38150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RQ01–RQ10; none retired</a:t>
            </a:r>
          </a:p>
        </p:txBody>
      </p:sp>
    </p:spTree>
    <p:extLst>
      <p:ext uri="{BB962C8B-B14F-4D97-AF65-F5344CB8AC3E}">
        <p14:creationId xmlns:p14="http://schemas.microsoft.com/office/powerpoint/2010/main" val="176857325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2EBDDEDB-9A51-47EB-AFDF-68E481F1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40AF676-FF63-495C-99A5-6CCFC38B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46FBD695-1468-4AD7-AF88-A59C3AA8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APPENDIX / TRANSITION EVIDENCE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69A8B58-0520-49BE-9E4D-1745E6A7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Full focused transition mechanism casebook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BD4A396C-C9F1-4C49-90D7-DA77695F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9 cases; 9 linked; 0 missing. Buckets organise evidence, not proof.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200B7DB-98A2-4DD9-B92B-306D5EDB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FAF2207-8250-460A-9939-051E6105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E2A40A58-CC1D-4A6F-A347-D036835C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E99E8D7-4186-4181-8D4C-8ACCE1EF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10" name="figure-frame-not_uti_to_uti_case_matrix.png">
            <a:extLst xmlns:a="http://schemas.openxmlformats.org/drawingml/2006/main">
              <a:ext uri="{FF2B5EF4-FFF2-40B4-BE49-F238E27FC236}">
                <a16:creationId xmlns:a16="http://schemas.microsoft.com/office/drawing/2014/main" id="{40EDFD01-7FA9-48AA-8B55-4DE5B338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38275"/>
            <a:ext cx="107061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a3959cc4ed45af"/>
          <a:stretch xmlns:a="http://schemas.openxmlformats.org/drawingml/2006/main"/>
        </p:blipFill>
        <p:spPr>
          <a:xfrm xmlns:a="http://schemas.openxmlformats.org/drawingml/2006/main">
            <a:off x="1992190" y="1504950"/>
            <a:ext cx="7769469" cy="4591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87856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086945C-A67E-4548-B845-671134E3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6E5ADF3-D228-40BF-8825-07210E02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D5AEA526-16BA-43D0-A9AB-C027A493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APPENDIX / INTERPRETATION CHECKS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8F58D0D-099D-4E50-B436-2B9D02EF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"/>
            <a:ext cx="1104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Robustness and lineage diagnostics stay as backup interpretation aids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9224ACC8-D712-4870-A05F-5E05582F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0125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17-row near-miss audit remains separate from operational UTI cases.</a:t>
            </a:r>
          </a:p>
        </p:txBody>
      </p:sp>
      <p:sp>
        <p:nvSpPr>
          <p:cNvPr id="6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5B211A8-ECB5-4C14-84FB-15530DD2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4B1E4DB-D920-4C6F-8B7D-261F9E87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104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ADC1B25-2D87-4F86-AC4B-5331B940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current review | operational UTI phenotype</a:t>
            </a:r>
          </a:p>
        </p:txBody>
      </p:sp>
      <p:sp>
        <p:nvSpPr>
          <p:cNvPr id="9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52CDCE4-9330-4089-94A7-A5990557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figure-frame-model_stability_flags.png">
            <a:extLst xmlns:a="http://schemas.openxmlformats.org/drawingml/2006/main">
              <a:ext uri="{FF2B5EF4-FFF2-40B4-BE49-F238E27FC236}">
                <a16:creationId xmlns:a16="http://schemas.microsoft.com/office/drawing/2014/main" id="{1EAD523A-2DFC-453B-8084-64AEACDF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1552575"/>
            <a:ext cx="539115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b9ec71c6c46b9"/>
          <a:stretch xmlns:a="http://schemas.openxmlformats.org/drawingml/2006/main"/>
        </p:blipFill>
        <p:spPr>
          <a:xfrm xmlns:a="http://schemas.openxmlformats.org/drawingml/2006/main">
            <a:off x="514350" y="1908922"/>
            <a:ext cx="5257800" cy="3402106"/>
          </a:xfrm>
          <a:prstGeom xmlns:a="http://schemas.openxmlformats.org/drawingml/2006/main" prst="rect">
            <a:avLst/>
          </a:prstGeom>
        </p:spPr>
      </p:pic>
      <p:sp>
        <p:nvSpPr>
          <p:cNvPr id="12" name="figure-frame-vf_pcoa_jaccard_ST.png">
            <a:extLst xmlns:a="http://schemas.openxmlformats.org/drawingml/2006/main">
              <a:ext uri="{FF2B5EF4-FFF2-40B4-BE49-F238E27FC236}">
                <a16:creationId xmlns:a16="http://schemas.microsoft.com/office/drawing/2014/main" id="{05DB5C35-5824-4BD5-90B6-6F089407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552575"/>
            <a:ext cx="539115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efc7b933e4425b"/>
          <a:stretch xmlns:a="http://schemas.openxmlformats.org/drawingml/2006/main"/>
        </p:blipFill>
        <p:spPr>
          <a:xfrm xmlns:a="http://schemas.openxmlformats.org/drawingml/2006/main">
            <a:off x="6381750" y="1901190"/>
            <a:ext cx="5257800" cy="3417570"/>
          </a:xfrm>
          <a:prstGeom xmlns:a="http://schemas.openxmlformats.org/drawingml/2006/main" prst="rect">
            <a:avLst/>
          </a:prstGeom>
        </p:spPr>
      </p:pic>
      <p:sp>
        <p:nvSpPr>
          <p:cNvPr id="14" name="label-16 operational UTI; exploratory">
            <a:extLst xmlns:a="http://schemas.openxmlformats.org/drawingml/2006/main">
              <a:ext uri="{FF2B5EF4-FFF2-40B4-BE49-F238E27FC236}">
                <a16:creationId xmlns:a16="http://schemas.microsoft.com/office/drawing/2014/main" id="{35B84389-53E8-4708-9298-838676BB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293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4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label-174-617-284-20">
            <a:extLst xmlns:a="http://schemas.openxmlformats.org/drawingml/2006/main">
              <a:ext uri="{FF2B5EF4-FFF2-40B4-BE49-F238E27FC236}">
                <a16:creationId xmlns:a16="http://schemas.microsoft.com/office/drawing/2014/main" id="{427C3144-519D-4DD5-BD46-4B439660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876925"/>
            <a:ext cx="2705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16 operational UTI; exploratory</a:t>
            </a:r>
          </a:p>
        </p:txBody>
      </p:sp>
      <p:sp>
        <p:nvSpPr>
          <p:cNvPr id="16" name="label-Lineage diagnostic">
            <a:extLst xmlns:a="http://schemas.openxmlformats.org/drawingml/2006/main">
              <a:ext uri="{FF2B5EF4-FFF2-40B4-BE49-F238E27FC236}">
                <a16:creationId xmlns:a16="http://schemas.microsoft.com/office/drawing/2014/main" id="{E94CDD5D-4849-4B26-9D85-737C0730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829300"/>
            <a:ext cx="2667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label-810-617-264-20">
            <a:extLst xmlns:a="http://schemas.openxmlformats.org/drawingml/2006/main">
              <a:ext uri="{FF2B5EF4-FFF2-40B4-BE49-F238E27FC236}">
                <a16:creationId xmlns:a16="http://schemas.microsoft.com/office/drawing/2014/main" id="{B125B7A7-BF0C-4FEE-84D3-7B19976C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876925"/>
            <a:ext cx="2514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Lineage diagnostic</a:t>
            </a:r>
          </a:p>
        </p:txBody>
      </p:sp>
    </p:spTree>
    <p:extLst>
      <p:ext uri="{BB962C8B-B14F-4D97-AF65-F5344CB8AC3E}">
        <p14:creationId xmlns:p14="http://schemas.microsoft.com/office/powerpoint/2010/main" val="1192798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2026-07-15T07:28:07.5500000Z</dcterms:created>
  <dcterms:modified xsi:type="dcterms:W3CDTF">2026-07-15T07:28:07.5500000Z</dcterms:modified>
</coreProperties>
</file>