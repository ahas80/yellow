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45" d="100"/>
          <a:sy n="145" d="100"/>
        </p:scale>
        <p:origin x="-208" y="-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17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8595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REVIEW / LONGITUDINAL VF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969264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Virulence-factor profiling of longitudinal urinary E. coli isolates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85216" y="1737360"/>
            <a:ext cx="9326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pipeline, core longitudinal VF results, and clinical-status overlay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2706624"/>
            <a:ext cx="3072384" cy="1243584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B9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834640"/>
            <a:ext cx="2743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1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749808" y="3054096"/>
            <a:ext cx="2743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VF repertoire is present?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3401568"/>
            <a:ext cx="27432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virulence-factor gene space and curated modules in 556 VF-ready urinary E. coli isolates.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023360" y="2706624"/>
            <a:ext cx="3072384" cy="1243584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CE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87952" y="2834640"/>
            <a:ext cx="2743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2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4187952" y="3054096"/>
            <a:ext cx="2743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stable are profiles over time?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87952" y="3401568"/>
            <a:ext cx="27432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consecutive within-resident comparisons to quantify VF similarity and gene gain/loss.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461504" y="2706624"/>
            <a:ext cx="3072384" cy="1243584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F4C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26096" y="2834640"/>
            <a:ext cx="27432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3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7626096" y="3054096"/>
            <a:ext cx="2743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clinical status be overlaid?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26096" y="3401568"/>
            <a:ext cx="27432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UTI versus Not_UTI as a sparse exploratory annotation, not the whole study frame.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1664208" y="4681728"/>
            <a:ext cx="1600200" cy="786384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37360" y="4809744"/>
            <a:ext cx="1453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556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755648" y="5157216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VF-ready episodes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75888" y="4681728"/>
            <a:ext cx="1600200" cy="786384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9040" y="4809744"/>
            <a:ext cx="1453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227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767328" y="5157216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gene columns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87568" y="4681728"/>
            <a:ext cx="1600200" cy="786384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60720" y="4809744"/>
            <a:ext cx="1453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779008" y="5157216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longitudinal pairs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699248" y="4681728"/>
            <a:ext cx="1600200" cy="786384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0" y="4809744"/>
            <a:ext cx="1453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790688" y="5157216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 annotations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ORIENTATION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YELLOW routine in one plain-English loop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episode becomes one bacterial genome profile, then repeated profiles are compared over 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93776" y="2029968"/>
            <a:ext cx="1627632" cy="1408176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" y="2176272"/>
            <a:ext cx="12984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episode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58368" y="2743200"/>
            <a:ext cx="129844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Urine-sampling moment with clinical context.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21792" y="2157984"/>
            <a:ext cx="228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8840" y="2724912"/>
            <a:ext cx="18288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77440" y="2029968"/>
            <a:ext cx="1627632" cy="1408176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00275" y="2176272"/>
            <a:ext cx="12984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Urinary E. coli isolate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2542032" y="2743200"/>
            <a:ext cx="129844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bacterium selected for sequencing.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05456" y="2157984"/>
            <a:ext cx="228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32504" y="2724912"/>
            <a:ext cx="18288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61104" y="2029968"/>
            <a:ext cx="1627632" cy="1408176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94210" y="2176272"/>
            <a:ext cx="12984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Genome assembly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425696" y="2743200"/>
            <a:ext cx="129844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WGS reads become a genome representation.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0" y="2157984"/>
            <a:ext cx="228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16168" y="2724912"/>
            <a:ext cx="18288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44768" y="2029968"/>
            <a:ext cx="1627632" cy="1408176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67802" y="2189989"/>
            <a:ext cx="12984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gene row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309360" y="2743200"/>
            <a:ext cx="129844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Detected or not detected across VF genes.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72784" y="2157984"/>
            <a:ext cx="228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99832" y="2724912"/>
            <a:ext cx="18288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28432" y="2029968"/>
            <a:ext cx="1627632" cy="1408176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61604" y="2176272"/>
            <a:ext cx="12984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outputs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8193024" y="2743200"/>
            <a:ext cx="129844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Modules, burden, similarity, gain/loss.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156448" y="2157984"/>
            <a:ext cx="228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683496" y="2724912"/>
            <a:ext cx="18288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912096" y="2029968"/>
            <a:ext cx="1627632" cy="1408176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154412" y="2191977"/>
            <a:ext cx="129844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overlay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10076688" y="2743200"/>
            <a:ext cx="129844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labels added cautiously.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040112" y="2157984"/>
            <a:ext cx="228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41248" y="4407408"/>
            <a:ext cx="2788920" cy="841248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B9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5840" y="4553712"/>
            <a:ext cx="245973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measure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005840" y="4901184"/>
            <a:ext cx="245973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gene presence/absence in each selected urinary E. coli assembly.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645152" y="4407408"/>
            <a:ext cx="2788920" cy="84124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CE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09744" y="4553712"/>
            <a:ext cx="245973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compare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809744" y="4901184"/>
            <a:ext cx="245973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VF profiles within residents: similarity, stability, and gain/loss.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8449056" y="4407408"/>
            <a:ext cx="2788920" cy="841248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F4C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613648" y="4553712"/>
            <a:ext cx="245973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status enters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613648" y="4901184"/>
            <a:ext cx="2459736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 versus Not_UTI is a exploratory clinical annotation.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ORIENTATION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changes explain denominator changes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count answers a different question: episode, assembly/profile, feature, pair, or transition.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969264" y="2761488"/>
            <a:ext cx="2377440" cy="384048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33856" y="2907792"/>
            <a:ext cx="204825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episodes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858768" y="2743200"/>
            <a:ext cx="14630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76672" y="2807208"/>
            <a:ext cx="4937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with primary clinical status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969264" y="3328416"/>
            <a:ext cx="2377440" cy="384048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33856" y="3474720"/>
            <a:ext cx="204825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VF-ready episodes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858768" y="3310128"/>
            <a:ext cx="14630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76672" y="3374136"/>
            <a:ext cx="4937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episode-level assemblies with VF evidence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969264" y="3895344"/>
            <a:ext cx="2377440" cy="38404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3856" y="4041648"/>
            <a:ext cx="204825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feature space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858768" y="3877056"/>
            <a:ext cx="14630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227 -&gt; 32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3941064"/>
            <a:ext cx="4937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 columns grouped into curated modules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969264" y="4462272"/>
            <a:ext cx="2377440" cy="38404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33856" y="4608576"/>
            <a:ext cx="204825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Longitudinal pairs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3858768" y="4443984"/>
            <a:ext cx="14630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76672" y="4507992"/>
            <a:ext cx="4937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consecutive within-resident comparisons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969264" y="5029200"/>
            <a:ext cx="2377440" cy="384048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33856" y="5175504"/>
            <a:ext cx="204825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transitions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3858768" y="5010912"/>
            <a:ext cx="14630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76672" y="5074920"/>
            <a:ext cx="4937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 -&gt; UTI application cases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7571232" y="5705856"/>
            <a:ext cx="2651760" cy="256032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26096" y="5760720"/>
            <a:ext cx="25420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pipeline, different analysis units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ANNOTATION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an episode becomes UTI in this project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UTI status requires culture support plus catheter-aware compatible symptoms.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786384" y="1737360"/>
            <a:ext cx="2889504" cy="1426464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B9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0976" y="1883664"/>
            <a:ext cx="2560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Culture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231136"/>
            <a:ext cx="25603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Urine culture evidence supports possible infection under the primary lower-threshold rule.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950976" y="2779776"/>
            <a:ext cx="2514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&gt;=10^3 CFU/mL where CFU data are available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160520" y="2331720"/>
            <a:ext cx="25603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828032" y="1737360"/>
            <a:ext cx="2889504" cy="1426464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CE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92624" y="1883664"/>
            <a:ext cx="25603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Symptom rule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92624" y="2231136"/>
            <a:ext cx="256032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Compatible symptoms are interpreted with different logic for catheter and non-catheter episodes.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5212080" y="2779776"/>
            <a:ext cx="2103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catheter-aware symptom definition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882128" y="2468880"/>
            <a:ext cx="768096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51392" y="1938528"/>
            <a:ext cx="2231136" cy="1005840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F4B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15984" y="2084832"/>
            <a:ext cx="190195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015984" y="2432304"/>
            <a:ext cx="190195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criteria met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2688" y="3986784"/>
            <a:ext cx="4736592" cy="950976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F4B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4133088"/>
            <a:ext cx="44074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clinical denominator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7280" y="4480560"/>
            <a:ext cx="4407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583 clinical episodes = 18 UTI + 565 Not_UTI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400800" y="3986784"/>
            <a:ext cx="4736592" cy="950976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65392" y="4133088"/>
            <a:ext cx="44074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 is a mixed comparator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65392" y="4480560"/>
            <a:ext cx="440740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Episodes that do not meet both criteria; includes heterogeneous clinical and culture contexts.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67328" y="5532120"/>
            <a:ext cx="1417320" cy="256032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22192" y="5586984"/>
            <a:ext cx="1307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266944" y="5660136"/>
            <a:ext cx="786384" cy="0"/>
          </a:xfrm>
          <a:prstGeom prst="line">
            <a:avLst/>
          </a:prstGeom>
          <a:noFill/>
          <a:ln w="2032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63056" y="5532120"/>
            <a:ext cx="1417320" cy="256032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0" y="5586984"/>
            <a:ext cx="13075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ASSET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VF-ready data link repeated urinary E. coli genomes to clinical episodes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Dataset-level counts are VF-ready denominators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768096" y="1755648"/>
            <a:ext cx="1609344" cy="786384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556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9536" y="2231136"/>
            <a:ext cx="14264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episode-level selected assemblies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79776" y="1755648"/>
            <a:ext cx="1609344" cy="786384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52928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871216" y="2231136"/>
            <a:ext cx="14264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in VF-ready dataset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91456" y="1755648"/>
            <a:ext cx="1609344" cy="786384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227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882896" y="2231136"/>
            <a:ext cx="14264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VF gene columns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1755648"/>
            <a:ext cx="1609344" cy="786384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76288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894576" y="2231136"/>
            <a:ext cx="14264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modules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814816" y="1755648"/>
            <a:ext cx="1609344" cy="786384"/>
          </a:xfrm>
          <a:prstGeom prst="roundRect">
            <a:avLst/>
          </a:prstGeom>
          <a:solidFill>
            <a:srgbClr val="FB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887968" y="1883664"/>
            <a:ext cx="1463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6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906256" y="2231136"/>
            <a:ext cx="14264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6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UPEC-candidate modules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32688" y="3182112"/>
            <a:ext cx="2743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Repeated-isolate design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408176" y="3913632"/>
            <a:ext cx="603504" cy="603504"/>
          </a:xfrm>
          <a:prstGeom prst="roundRect">
            <a:avLst/>
          </a:prstGeom>
          <a:solidFill>
            <a:srgbClr val="E8F1FA"/>
          </a:solidFill>
          <a:ln w="17780">
            <a:solidFill>
              <a:srgbClr val="9A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16736" y="4114800"/>
            <a:ext cx="78638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1243584" y="4700016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1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2121408" y="4215384"/>
            <a:ext cx="117043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19856" y="3913632"/>
            <a:ext cx="603504" cy="603504"/>
          </a:xfrm>
          <a:prstGeom prst="roundRect">
            <a:avLst/>
          </a:prstGeom>
          <a:solidFill>
            <a:srgbClr val="E8F1FA"/>
          </a:solidFill>
          <a:ln w="17780">
            <a:solidFill>
              <a:srgbClr val="9A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28416" y="4114800"/>
            <a:ext cx="78638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3255264" y="4700016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2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133088" y="4215384"/>
            <a:ext cx="117043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31536" y="3913632"/>
            <a:ext cx="603504" cy="603504"/>
          </a:xfrm>
          <a:prstGeom prst="roundRect">
            <a:avLst/>
          </a:prstGeom>
          <a:solidFill>
            <a:srgbClr val="E8F1FA"/>
          </a:solidFill>
          <a:ln w="17780">
            <a:solidFill>
              <a:srgbClr val="9A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40096" y="4114800"/>
            <a:ext cx="78638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5266944" y="4700016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3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144768" y="4215384"/>
            <a:ext cx="117043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443216" y="3913632"/>
            <a:ext cx="603504" cy="603504"/>
          </a:xfrm>
          <a:prstGeom prst="roundRect">
            <a:avLst/>
          </a:prstGeom>
          <a:solidFill>
            <a:srgbClr val="FFF4E6"/>
          </a:solidFill>
          <a:ln w="17780">
            <a:solidFill>
              <a:srgbClr val="F4B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51776" y="4114800"/>
            <a:ext cx="78638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278624" y="4700016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4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156448" y="4215384"/>
            <a:ext cx="117043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454896" y="3913632"/>
            <a:ext cx="603504" cy="603504"/>
          </a:xfrm>
          <a:prstGeom prst="roundRect">
            <a:avLst/>
          </a:prstGeom>
          <a:solidFill>
            <a:srgbClr val="E8F1FA"/>
          </a:solidFill>
          <a:ln w="17780">
            <a:solidFill>
              <a:srgbClr val="9A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363456" y="4114800"/>
            <a:ext cx="78638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9290304" y="4700016"/>
            <a:ext cx="932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5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932688" y="5504688"/>
            <a:ext cx="10149840" cy="60350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97280" y="5650992"/>
            <a:ext cx="982065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stance</a:t>
            </a:r>
            <a:endParaRPr lang="en-US" sz="970" dirty="0"/>
          </a:p>
        </p:txBody>
      </p:sp>
      <p:sp>
        <p:nvSpPr>
          <p:cNvPr id="48" name="Text 46"/>
          <p:cNvSpPr/>
          <p:nvPr/>
        </p:nvSpPr>
        <p:spPr>
          <a:xfrm>
            <a:off x="1097280" y="5760720"/>
            <a:ext cx="982065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unit of VF measurement is an episode-level isolate profile. Status labels can be overlaid, but repeated measures, lineage structure, and sparse UTI counts limit causal status claims.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584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REPRESENTATION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VF features: genes, curated modules, and longitudinal similarity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and score outputs help interpretation; they are not validated disease-causality scores.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749808" y="1755648"/>
            <a:ext cx="2651760" cy="1225296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B9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1901952"/>
            <a:ext cx="232257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VF gene matrix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49424"/>
            <a:ext cx="232257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227 presence/absence gene columns per episode-level isolate.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73168" y="1755648"/>
            <a:ext cx="2651760" cy="1225296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CE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901952"/>
            <a:ext cx="232257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modules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249424"/>
            <a:ext cx="232257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biological curation units, including 18 UPEC-candidate modules.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96528" y="1755648"/>
            <a:ext cx="2651760" cy="1225296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F4C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0" y="1901952"/>
            <a:ext cx="2322576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2249424"/>
            <a:ext cx="232257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Burden, prevalence, Jaccard similarity, gain/loss, and exploratory models.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2359152"/>
            <a:ext cx="1024128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89520" y="2359152"/>
            <a:ext cx="1024128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69264" y="3822192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3000" y="382219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16736" y="382219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90472" y="3822192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64208" y="382219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37944" y="382219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011680" y="3822192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185416" y="382219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359152" y="382219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32888" y="3822192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69264" y="3977640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43000" y="3977640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16736" y="3977640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490472" y="3977640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664208" y="3977640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837944" y="3977640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011680" y="3977640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185416" y="3977640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359152" y="3977640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32888" y="3977640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69264" y="4133088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143000" y="4133088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16736" y="4133088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90472" y="4133088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664208" y="4133088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837944" y="4133088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011680" y="4133088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185416" y="4133088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359152" y="4133088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532888" y="4133088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69264" y="4288536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143000" y="4288536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316736" y="4288536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90472" y="4288536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664208" y="4288536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837944" y="4288536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011680" y="4288536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185416" y="4288536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359152" y="4288536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532888" y="4288536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69264" y="4443984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143000" y="4443984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316736" y="4443984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490472" y="4443984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664208" y="4443984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837944" y="4443984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011680" y="4443984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185416" y="4443984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359152" y="4443984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532888" y="4443984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69264" y="459943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143000" y="459943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316736" y="4599432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490472" y="459943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664208" y="459943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837944" y="4599432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011680" y="459943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185416" y="459943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359152" y="4599432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532888" y="4599432"/>
            <a:ext cx="128016" cy="10972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49808" y="4956048"/>
            <a:ext cx="2743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are episode-level isolates; columns are VF genes detected from current selected assemblies.</a:t>
            </a:r>
            <a:endParaRPr lang="en-US" sz="880" dirty="0"/>
          </a:p>
        </p:txBody>
      </p:sp>
      <p:sp>
        <p:nvSpPr>
          <p:cNvPr id="83" name="Shape 81"/>
          <p:cNvSpPr/>
          <p:nvPr/>
        </p:nvSpPr>
        <p:spPr>
          <a:xfrm>
            <a:off x="4809744" y="3694176"/>
            <a:ext cx="1152144" cy="256032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864608" y="3749040"/>
            <a:ext cx="1042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Adhesion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181344" y="3694176"/>
            <a:ext cx="1152144" cy="256032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236208" y="3749040"/>
            <a:ext cx="1042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Iron acquisition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809744" y="4133088"/>
            <a:ext cx="1152144" cy="256032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864608" y="4187952"/>
            <a:ext cx="1042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Secretion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181344" y="4133088"/>
            <a:ext cx="1152144" cy="256032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236208" y="4187952"/>
            <a:ext cx="1042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Toxin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809744" y="4572000"/>
            <a:ext cx="1152144" cy="256032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4864608" y="4626864"/>
            <a:ext cx="1042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Capsule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181344" y="4572000"/>
            <a:ext cx="1152144" cy="256032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236208" y="4626864"/>
            <a:ext cx="10424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Unassigned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8577072" y="3621024"/>
            <a:ext cx="2761488" cy="1225296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8741664" y="3767328"/>
            <a:ext cx="24323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caution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8741664" y="4114800"/>
            <a:ext cx="243230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Unassigned genes are 25.1% of the VF matrix. Interpret total burden separately from curated and UPEC-candidate summaries.</a:t>
            </a:r>
            <a:endParaRPr lang="en-US" sz="930" dirty="0"/>
          </a:p>
        </p:txBody>
      </p:sp>
      <p:sp>
        <p:nvSpPr>
          <p:cNvPr id="98" name="Shape 96"/>
          <p:cNvSpPr/>
          <p:nvPr/>
        </p:nvSpPr>
        <p:spPr>
          <a:xfrm>
            <a:off x="8759952" y="5212080"/>
            <a:ext cx="1865376" cy="256032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8814816" y="5266944"/>
            <a:ext cx="175564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framework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347" y="27432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REPERTOIRE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VF repertoire is summarised as genes and curated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Prevalence and module counts describe what is present; they are not disease-association claims.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85216" y="1554480"/>
            <a:ext cx="5376672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Top VF gene preval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832" y="1591056"/>
            <a:ext cx="3901440" cy="43891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08192" y="1554480"/>
            <a:ext cx="5394960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VF module gene cou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591056"/>
            <a:ext cx="4572000" cy="43891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41248" y="5989320"/>
            <a:ext cx="1115568" cy="256032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96112" y="6044184"/>
            <a:ext cx="10058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345936" y="5989320"/>
            <a:ext cx="1609344" cy="256032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00800" y="6044184"/>
            <a:ext cx="14996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framework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16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LONGITUDINAL STABILITY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repeated within-resident VF profiles are highly stable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 consecutive comparisons from 144 participants; median Jaccard similarity 1.000; 62.4% no VF change.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66928" y="1481328"/>
            <a:ext cx="8714232" cy="453542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Most repeated within-resident VF profiles are highly s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244" y="1517904"/>
            <a:ext cx="6197600" cy="446227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747504" y="2002536"/>
            <a:ext cx="1719072" cy="1700784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CE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959848" y="2093975"/>
            <a:ext cx="138988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finding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912096" y="2468881"/>
            <a:ext cx="1389888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dominant pattern is VF profile conservation across repeated urinary E. coli isolates from the same resident.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9646920" y="1591056"/>
            <a:ext cx="1874520" cy="256032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701784" y="1645920"/>
            <a:ext cx="17647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longitudinal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LONGITUDINAL CHANGE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Gain/loss summaries flag candidates for follow-up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VF changes may reflect replacement, assembly/calling variation, or true gene-content change.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12064" y="1481328"/>
            <a:ext cx="9308592" cy="459028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Gain/loss summaries flag candidates for follow-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834" y="1517904"/>
            <a:ext cx="6453051" cy="451713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912096" y="3822192"/>
            <a:ext cx="1280160" cy="256032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966960" y="3877056"/>
            <a:ext cx="117043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CONTEXT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Sequence-type consistency helps interpret VF stability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Same-ST comparisons support persistent-lineage context, but ST agreement alone does not prove same strain.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66928" y="1481328"/>
            <a:ext cx="8714232" cy="453542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Sequence-type consistency helps interpret VF stabil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24" y="1517904"/>
            <a:ext cx="5577840" cy="446227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774936" y="1935987"/>
            <a:ext cx="1719072" cy="1755648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939528" y="2059938"/>
            <a:ext cx="138988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use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939528" y="2539490"/>
            <a:ext cx="1389888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context is essential before interpreting profile change or clinical-status contrast.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9646920" y="1591056"/>
            <a:ext cx="1874520" cy="256032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701784" y="1645920"/>
            <a:ext cx="176479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/ descriptive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2">
            <a:extLst>
              <a:ext uri="{FF2B5EF4-FFF2-40B4-BE49-F238E27FC236}">
                <a16:creationId xmlns:a16="http://schemas.microsoft.com/office/drawing/2014/main" id="{236FEBB3-7E63-6DBE-530F-F6933F0628D9}"/>
              </a:ext>
            </a:extLst>
          </p:cNvPr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ANNOTATION</a:t>
            </a:r>
            <a:endParaRPr lang="en-US" sz="850" dirty="0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2255E575-F992-E53F-DA18-7D4B7DA2B841}"/>
              </a:ext>
            </a:extLst>
          </p:cNvPr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Clinical-status VF signals remain exploratory</a:t>
            </a:r>
            <a:endParaRPr lang="en-US" sz="2050" dirty="0"/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E5CC70A4-AF2C-AE17-9503-B0C634734310}"/>
              </a:ext>
            </a:extLst>
          </p:cNvPr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status overlay is useful for hypothesis generation, but it is not a confirmed global VF association result.</a:t>
            </a:r>
            <a:endParaRPr lang="en-US" sz="1150" dirty="0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D5E5EE4F-B36A-8C0A-E07C-0AC9324FA85F}"/>
              </a:ext>
            </a:extLst>
          </p:cNvPr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5D50F40F-CBF2-63A4-237F-C2635E145306}"/>
              </a:ext>
            </a:extLst>
          </p:cNvPr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227B08EA-B828-4717-3D2A-94380EDB2131}"/>
              </a:ext>
            </a:extLst>
          </p:cNvPr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2F40D274-12E5-B6C7-0382-0888BB241792}"/>
              </a:ext>
            </a:extLst>
          </p:cNvPr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60" dirty="0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17766312-153F-CF5F-39C5-B85F443B956B}"/>
              </a:ext>
            </a:extLst>
          </p:cNvPr>
          <p:cNvSpPr/>
          <p:nvPr/>
        </p:nvSpPr>
        <p:spPr>
          <a:xfrm>
            <a:off x="658368" y="1536192"/>
            <a:ext cx="2084832" cy="256032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7EF4A643-402E-7C54-0D62-63EB00B07525}"/>
              </a:ext>
            </a:extLst>
          </p:cNvPr>
          <p:cNvSpPr/>
          <p:nvPr/>
        </p:nvSpPr>
        <p:spPr>
          <a:xfrm>
            <a:off x="713232" y="1591056"/>
            <a:ext cx="197510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phenotype overlay</a:t>
            </a:r>
            <a:endParaRPr lang="en-US" sz="750" dirty="0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452AB187-F1EE-B423-432F-2F187DDB90D1}"/>
              </a:ext>
            </a:extLst>
          </p:cNvPr>
          <p:cNvSpPr/>
          <p:nvPr/>
        </p:nvSpPr>
        <p:spPr>
          <a:xfrm>
            <a:off x="3072384" y="1389888"/>
            <a:ext cx="1389888" cy="786384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C329D5F1-4BF7-3B2F-F505-6B6DABEE0C9F}"/>
              </a:ext>
            </a:extLst>
          </p:cNvPr>
          <p:cNvSpPr/>
          <p:nvPr/>
        </p:nvSpPr>
        <p:spPr>
          <a:xfrm>
            <a:off x="3145536" y="1517904"/>
            <a:ext cx="12435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900" dirty="0"/>
          </a:p>
        </p:txBody>
      </p:sp>
      <p:sp>
        <p:nvSpPr>
          <p:cNvPr id="70" name="Text 13">
            <a:extLst>
              <a:ext uri="{FF2B5EF4-FFF2-40B4-BE49-F238E27FC236}">
                <a16:creationId xmlns:a16="http://schemas.microsoft.com/office/drawing/2014/main" id="{9F3EC22C-930F-A3F7-F585-570C3F88B25B}"/>
              </a:ext>
            </a:extLst>
          </p:cNvPr>
          <p:cNvSpPr/>
          <p:nvPr/>
        </p:nvSpPr>
        <p:spPr>
          <a:xfrm>
            <a:off x="3163824" y="1865376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 episodes</a:t>
            </a:r>
            <a:endParaRPr lang="en-US" sz="850" dirty="0"/>
          </a:p>
        </p:txBody>
      </p:sp>
      <p:sp>
        <p:nvSpPr>
          <p:cNvPr id="71" name="Shape 14">
            <a:extLst>
              <a:ext uri="{FF2B5EF4-FFF2-40B4-BE49-F238E27FC236}">
                <a16:creationId xmlns:a16="http://schemas.microsoft.com/office/drawing/2014/main" id="{4DC1E71C-988E-A09B-B2D7-239EC997F593}"/>
              </a:ext>
            </a:extLst>
          </p:cNvPr>
          <p:cNvSpPr/>
          <p:nvPr/>
        </p:nvSpPr>
        <p:spPr>
          <a:xfrm>
            <a:off x="4663440" y="1389888"/>
            <a:ext cx="1389888" cy="786384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D1B74F79-FF97-1DEB-26D7-E76C082730F8}"/>
              </a:ext>
            </a:extLst>
          </p:cNvPr>
          <p:cNvSpPr/>
          <p:nvPr/>
        </p:nvSpPr>
        <p:spPr>
          <a:xfrm>
            <a:off x="4736592" y="1517904"/>
            <a:ext cx="12435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539</a:t>
            </a:r>
            <a:endParaRPr lang="en-US" sz="1900" dirty="0"/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D5541478-2E80-82CA-3B31-93B47F9113F0}"/>
              </a:ext>
            </a:extLst>
          </p:cNvPr>
          <p:cNvSpPr/>
          <p:nvPr/>
        </p:nvSpPr>
        <p:spPr>
          <a:xfrm>
            <a:off x="4754880" y="1865376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 episodes</a:t>
            </a:r>
            <a:endParaRPr lang="en-US" sz="850" dirty="0"/>
          </a:p>
        </p:txBody>
      </p:sp>
      <p:sp>
        <p:nvSpPr>
          <p:cNvPr id="74" name="Shape 17">
            <a:extLst>
              <a:ext uri="{FF2B5EF4-FFF2-40B4-BE49-F238E27FC236}">
                <a16:creationId xmlns:a16="http://schemas.microsoft.com/office/drawing/2014/main" id="{3837C83C-8476-828B-5B97-8E94ECB1C324}"/>
              </a:ext>
            </a:extLst>
          </p:cNvPr>
          <p:cNvSpPr/>
          <p:nvPr/>
        </p:nvSpPr>
        <p:spPr>
          <a:xfrm>
            <a:off x="6254496" y="1389888"/>
            <a:ext cx="1389888" cy="786384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11A6E8C0-53D9-88B6-5535-98782F5A084F}"/>
              </a:ext>
            </a:extLst>
          </p:cNvPr>
          <p:cNvSpPr/>
          <p:nvPr/>
        </p:nvSpPr>
        <p:spPr>
          <a:xfrm>
            <a:off x="6327648" y="1517904"/>
            <a:ext cx="12435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900" dirty="0"/>
          </a:p>
        </p:txBody>
      </p:sp>
      <p:sp>
        <p:nvSpPr>
          <p:cNvPr id="76" name="Text 19">
            <a:extLst>
              <a:ext uri="{FF2B5EF4-FFF2-40B4-BE49-F238E27FC236}">
                <a16:creationId xmlns:a16="http://schemas.microsoft.com/office/drawing/2014/main" id="{73932028-6EDF-0CFF-0E91-D9D6260E4D78}"/>
              </a:ext>
            </a:extLst>
          </p:cNvPr>
          <p:cNvSpPr/>
          <p:nvPr/>
        </p:nvSpPr>
        <p:spPr>
          <a:xfrm>
            <a:off x="6345936" y="1865376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FDR-significant global VF hits</a:t>
            </a:r>
            <a:endParaRPr lang="en-US" sz="850" dirty="0"/>
          </a:p>
        </p:txBody>
      </p:sp>
      <p:sp>
        <p:nvSpPr>
          <p:cNvPr id="77" name="Shape 20">
            <a:extLst>
              <a:ext uri="{FF2B5EF4-FFF2-40B4-BE49-F238E27FC236}">
                <a16:creationId xmlns:a16="http://schemas.microsoft.com/office/drawing/2014/main" id="{E60CE031-448D-0577-0B76-3BC357CE06C0}"/>
              </a:ext>
            </a:extLst>
          </p:cNvPr>
          <p:cNvSpPr/>
          <p:nvPr/>
        </p:nvSpPr>
        <p:spPr>
          <a:xfrm>
            <a:off x="7845552" y="1389888"/>
            <a:ext cx="1389888" cy="786384"/>
          </a:xfrm>
          <a:prstGeom prst="roundRect">
            <a:avLst/>
          </a:prstGeom>
          <a:solidFill>
            <a:srgbClr val="FB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796AE767-FD2C-AE04-92BE-26157A118A30}"/>
              </a:ext>
            </a:extLst>
          </p:cNvPr>
          <p:cNvSpPr/>
          <p:nvPr/>
        </p:nvSpPr>
        <p:spPr>
          <a:xfrm>
            <a:off x="7918704" y="1517904"/>
            <a:ext cx="124358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B6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900" dirty="0"/>
          </a:p>
        </p:txBody>
      </p:sp>
      <p:sp>
        <p:nvSpPr>
          <p:cNvPr id="79" name="Text 22">
            <a:extLst>
              <a:ext uri="{FF2B5EF4-FFF2-40B4-BE49-F238E27FC236}">
                <a16:creationId xmlns:a16="http://schemas.microsoft.com/office/drawing/2014/main" id="{EFC2C52F-1F0E-CB55-A1E9-A366000D4B70}"/>
              </a:ext>
            </a:extLst>
          </p:cNvPr>
          <p:cNvSpPr/>
          <p:nvPr/>
        </p:nvSpPr>
        <p:spPr>
          <a:xfrm>
            <a:off x="7936992" y="1865376"/>
            <a:ext cx="12070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65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sparse/separation flags</a:t>
            </a:r>
            <a:endParaRPr lang="en-US" sz="850" dirty="0"/>
          </a:p>
        </p:txBody>
      </p:sp>
      <p:sp>
        <p:nvSpPr>
          <p:cNvPr id="80" name="Shape 23">
            <a:extLst>
              <a:ext uri="{FF2B5EF4-FFF2-40B4-BE49-F238E27FC236}">
                <a16:creationId xmlns:a16="http://schemas.microsoft.com/office/drawing/2014/main" id="{8B1C1B5A-F41C-339C-4383-6012EBDF97CC}"/>
              </a:ext>
            </a:extLst>
          </p:cNvPr>
          <p:cNvSpPr/>
          <p:nvPr/>
        </p:nvSpPr>
        <p:spPr>
          <a:xfrm>
            <a:off x="749808" y="2834640"/>
            <a:ext cx="2907792" cy="1353312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F4C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CC3E4E3C-9A8E-7FA7-4D16-5386BB2CC8E0}"/>
              </a:ext>
            </a:extLst>
          </p:cNvPr>
          <p:cNvSpPr/>
          <p:nvPr/>
        </p:nvSpPr>
        <p:spPr>
          <a:xfrm>
            <a:off x="914400" y="2980944"/>
            <a:ext cx="25786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Initial screen</a:t>
            </a:r>
            <a:endParaRPr lang="en-US" sz="1250" dirty="0"/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09228B2C-49E3-BFA0-7F60-F75D6A95B021}"/>
              </a:ext>
            </a:extLst>
          </p:cNvPr>
          <p:cNvSpPr/>
          <p:nvPr/>
        </p:nvSpPr>
        <p:spPr>
          <a:xfrm>
            <a:off x="914400" y="3328416"/>
            <a:ext cx="257860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VF genes can look different in simple UTI versus Not_UTI screens.</a:t>
            </a:r>
            <a:endParaRPr lang="en-US" sz="960" dirty="0"/>
          </a:p>
        </p:txBody>
      </p:sp>
      <p:sp>
        <p:nvSpPr>
          <p:cNvPr id="83" name="Shape 26">
            <a:extLst>
              <a:ext uri="{FF2B5EF4-FFF2-40B4-BE49-F238E27FC236}">
                <a16:creationId xmlns:a16="http://schemas.microsoft.com/office/drawing/2014/main" id="{B9EC8441-F2FE-DB28-5108-5E1E75F9530F}"/>
              </a:ext>
            </a:extLst>
          </p:cNvPr>
          <p:cNvSpPr/>
          <p:nvPr/>
        </p:nvSpPr>
        <p:spPr>
          <a:xfrm>
            <a:off x="1051560" y="3803904"/>
            <a:ext cx="1060704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27">
            <a:extLst>
              <a:ext uri="{FF2B5EF4-FFF2-40B4-BE49-F238E27FC236}">
                <a16:creationId xmlns:a16="http://schemas.microsoft.com/office/drawing/2014/main" id="{686187F6-1EE5-D262-00BC-1ADD4DFCA5D0}"/>
              </a:ext>
            </a:extLst>
          </p:cNvPr>
          <p:cNvSpPr/>
          <p:nvPr/>
        </p:nvSpPr>
        <p:spPr>
          <a:xfrm>
            <a:off x="1106424" y="3858768"/>
            <a:ext cx="95097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nominal only</a:t>
            </a:r>
            <a:endParaRPr lang="en-US" sz="750" dirty="0"/>
          </a:p>
        </p:txBody>
      </p:sp>
      <p:sp>
        <p:nvSpPr>
          <p:cNvPr id="85" name="Shape 28">
            <a:extLst>
              <a:ext uri="{FF2B5EF4-FFF2-40B4-BE49-F238E27FC236}">
                <a16:creationId xmlns:a16="http://schemas.microsoft.com/office/drawing/2014/main" id="{50AA03F5-761B-CC12-B741-2CB3E5952738}"/>
              </a:ext>
            </a:extLst>
          </p:cNvPr>
          <p:cNvSpPr/>
          <p:nvPr/>
        </p:nvSpPr>
        <p:spPr>
          <a:xfrm>
            <a:off x="4645152" y="2834640"/>
            <a:ext cx="2907792" cy="1353312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29">
            <a:extLst>
              <a:ext uri="{FF2B5EF4-FFF2-40B4-BE49-F238E27FC236}">
                <a16:creationId xmlns:a16="http://schemas.microsoft.com/office/drawing/2014/main" id="{585AE3A8-CBC6-A8DF-5C00-A06D27E3AFA1}"/>
              </a:ext>
            </a:extLst>
          </p:cNvPr>
          <p:cNvSpPr/>
          <p:nvPr/>
        </p:nvSpPr>
        <p:spPr>
          <a:xfrm>
            <a:off x="4809744" y="2980944"/>
            <a:ext cx="25786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Model check</a:t>
            </a:r>
            <a:endParaRPr lang="en-US" sz="1250" dirty="0"/>
          </a:p>
        </p:txBody>
      </p:sp>
      <p:sp>
        <p:nvSpPr>
          <p:cNvPr id="87" name="Text 30">
            <a:extLst>
              <a:ext uri="{FF2B5EF4-FFF2-40B4-BE49-F238E27FC236}">
                <a16:creationId xmlns:a16="http://schemas.microsoft.com/office/drawing/2014/main" id="{9F51D7AD-01D8-2466-E75A-CE581E81F6CD}"/>
              </a:ext>
            </a:extLst>
          </p:cNvPr>
          <p:cNvSpPr/>
          <p:nvPr/>
        </p:nvSpPr>
        <p:spPr>
          <a:xfrm>
            <a:off x="4809744" y="3328416"/>
            <a:ext cx="257860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participant-aware modelling and FDR correction, no global VF association remains significant.</a:t>
            </a:r>
            <a:endParaRPr lang="en-US" sz="940" dirty="0"/>
          </a:p>
        </p:txBody>
      </p:sp>
      <p:sp>
        <p:nvSpPr>
          <p:cNvPr id="88" name="Shape 31">
            <a:extLst>
              <a:ext uri="{FF2B5EF4-FFF2-40B4-BE49-F238E27FC236}">
                <a16:creationId xmlns:a16="http://schemas.microsoft.com/office/drawing/2014/main" id="{995F6CBA-FF04-DC2B-06AC-2404CB019D7C}"/>
              </a:ext>
            </a:extLst>
          </p:cNvPr>
          <p:cNvSpPr/>
          <p:nvPr/>
        </p:nvSpPr>
        <p:spPr>
          <a:xfrm>
            <a:off x="4974336" y="3803904"/>
            <a:ext cx="1335024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32">
            <a:extLst>
              <a:ext uri="{FF2B5EF4-FFF2-40B4-BE49-F238E27FC236}">
                <a16:creationId xmlns:a16="http://schemas.microsoft.com/office/drawing/2014/main" id="{780D2B57-BDB3-38EB-91D0-E4C8594DA6EC}"/>
              </a:ext>
            </a:extLst>
          </p:cNvPr>
          <p:cNvSpPr/>
          <p:nvPr/>
        </p:nvSpPr>
        <p:spPr>
          <a:xfrm>
            <a:off x="5029200" y="3858768"/>
            <a:ext cx="122529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corrected hits</a:t>
            </a:r>
            <a:endParaRPr lang="en-US" sz="750" dirty="0"/>
          </a:p>
        </p:txBody>
      </p:sp>
      <p:sp>
        <p:nvSpPr>
          <p:cNvPr id="90" name="Shape 33">
            <a:extLst>
              <a:ext uri="{FF2B5EF4-FFF2-40B4-BE49-F238E27FC236}">
                <a16:creationId xmlns:a16="http://schemas.microsoft.com/office/drawing/2014/main" id="{4A91DEE0-BD42-3427-A93F-92A316001174}"/>
              </a:ext>
            </a:extLst>
          </p:cNvPr>
          <p:cNvSpPr/>
          <p:nvPr/>
        </p:nvSpPr>
        <p:spPr>
          <a:xfrm>
            <a:off x="8540496" y="2834640"/>
            <a:ext cx="2907792" cy="1353312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CE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34">
            <a:extLst>
              <a:ext uri="{FF2B5EF4-FFF2-40B4-BE49-F238E27FC236}">
                <a16:creationId xmlns:a16="http://schemas.microsoft.com/office/drawing/2014/main" id="{BAF9C857-14C9-C739-B911-CCD17A9BDCF6}"/>
              </a:ext>
            </a:extLst>
          </p:cNvPr>
          <p:cNvSpPr/>
          <p:nvPr/>
        </p:nvSpPr>
        <p:spPr>
          <a:xfrm>
            <a:off x="8705088" y="2980944"/>
            <a:ext cx="257860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Interpretation</a:t>
            </a:r>
            <a:endParaRPr lang="en-US" sz="1250" dirty="0"/>
          </a:p>
        </p:txBody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E382FB41-88D8-8E0A-2928-11B5EDCE9348}"/>
              </a:ext>
            </a:extLst>
          </p:cNvPr>
          <p:cNvSpPr/>
          <p:nvPr/>
        </p:nvSpPr>
        <p:spPr>
          <a:xfrm>
            <a:off x="8705088" y="3328416"/>
            <a:ext cx="257860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sparse UTI denominator and repeated/lineage structure make this a prioritisation layer, not a discovery claim.</a:t>
            </a:r>
            <a:endParaRPr lang="en-US" sz="920" dirty="0"/>
          </a:p>
        </p:txBody>
      </p:sp>
      <p:sp>
        <p:nvSpPr>
          <p:cNvPr id="93" name="Shape 36">
            <a:extLst>
              <a:ext uri="{FF2B5EF4-FFF2-40B4-BE49-F238E27FC236}">
                <a16:creationId xmlns:a16="http://schemas.microsoft.com/office/drawing/2014/main" id="{80635660-F1A3-C984-8269-4445FC701534}"/>
              </a:ext>
            </a:extLst>
          </p:cNvPr>
          <p:cNvSpPr/>
          <p:nvPr/>
        </p:nvSpPr>
        <p:spPr>
          <a:xfrm>
            <a:off x="8869680" y="3803904"/>
            <a:ext cx="1609344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6C53C251-D2B9-A677-EEE0-E1AE5BE0B3A3}"/>
              </a:ext>
            </a:extLst>
          </p:cNvPr>
          <p:cNvSpPr/>
          <p:nvPr/>
        </p:nvSpPr>
        <p:spPr>
          <a:xfrm>
            <a:off x="8924544" y="3858768"/>
            <a:ext cx="149961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hypothesis-generating</a:t>
            </a:r>
            <a:endParaRPr lang="en-US" sz="750" dirty="0"/>
          </a:p>
        </p:txBody>
      </p:sp>
      <p:sp>
        <p:nvSpPr>
          <p:cNvPr id="95" name="Shape 38">
            <a:extLst>
              <a:ext uri="{FF2B5EF4-FFF2-40B4-BE49-F238E27FC236}">
                <a16:creationId xmlns:a16="http://schemas.microsoft.com/office/drawing/2014/main" id="{FA310DA6-A7CA-627C-BBF7-85C53C9538E4}"/>
              </a:ext>
            </a:extLst>
          </p:cNvPr>
          <p:cNvSpPr/>
          <p:nvPr/>
        </p:nvSpPr>
        <p:spPr>
          <a:xfrm>
            <a:off x="3803904" y="3511296"/>
            <a:ext cx="6583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39">
            <a:extLst>
              <a:ext uri="{FF2B5EF4-FFF2-40B4-BE49-F238E27FC236}">
                <a16:creationId xmlns:a16="http://schemas.microsoft.com/office/drawing/2014/main" id="{1DAB7242-454D-C997-54FE-1CAF6AC646A9}"/>
              </a:ext>
            </a:extLst>
          </p:cNvPr>
          <p:cNvSpPr/>
          <p:nvPr/>
        </p:nvSpPr>
        <p:spPr>
          <a:xfrm>
            <a:off x="7699248" y="3511296"/>
            <a:ext cx="6583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40">
            <a:extLst>
              <a:ext uri="{FF2B5EF4-FFF2-40B4-BE49-F238E27FC236}">
                <a16:creationId xmlns:a16="http://schemas.microsoft.com/office/drawing/2014/main" id="{00347EA0-1AEF-8D9E-4C5B-1C8542B7AB73}"/>
              </a:ext>
            </a:extLst>
          </p:cNvPr>
          <p:cNvSpPr/>
          <p:nvPr/>
        </p:nvSpPr>
        <p:spPr>
          <a:xfrm>
            <a:off x="987552" y="4956048"/>
            <a:ext cx="100584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41">
            <a:extLst>
              <a:ext uri="{FF2B5EF4-FFF2-40B4-BE49-F238E27FC236}">
                <a16:creationId xmlns:a16="http://schemas.microsoft.com/office/drawing/2014/main" id="{387485BD-E858-F7BA-A6C4-3B118F8DB76B}"/>
              </a:ext>
            </a:extLst>
          </p:cNvPr>
          <p:cNvSpPr/>
          <p:nvPr/>
        </p:nvSpPr>
        <p:spPr>
          <a:xfrm>
            <a:off x="1243584" y="5193792"/>
            <a:ext cx="15727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Take-home message</a:t>
            </a:r>
            <a:endParaRPr lang="en-US" sz="1020" dirty="0"/>
          </a:p>
        </p:txBody>
      </p:sp>
      <p:sp>
        <p:nvSpPr>
          <p:cNvPr id="99" name="Text 42">
            <a:extLst>
              <a:ext uri="{FF2B5EF4-FFF2-40B4-BE49-F238E27FC236}">
                <a16:creationId xmlns:a16="http://schemas.microsoft.com/office/drawing/2014/main" id="{02116B33-5FE3-F904-3A8F-94FF500881CD}"/>
              </a:ext>
            </a:extLst>
          </p:cNvPr>
          <p:cNvSpPr/>
          <p:nvPr/>
        </p:nvSpPr>
        <p:spPr>
          <a:xfrm>
            <a:off x="2834640" y="5138928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clinical overlay helps decide which VF features or cases deserve follow-up, but the current population-level evidence does not support a robust UTI-associated VF signature.</a:t>
            </a:r>
            <a:endParaRPr lang="en-US" sz="1020" dirty="0"/>
          </a:p>
        </p:txBody>
      </p:sp>
      <p:sp>
        <p:nvSpPr>
          <p:cNvPr id="100" name="Shape 1">
            <a:extLst>
              <a:ext uri="{FF2B5EF4-FFF2-40B4-BE49-F238E27FC236}">
                <a16:creationId xmlns:a16="http://schemas.microsoft.com/office/drawing/2014/main" id="{DCBB349A-5C11-6F06-E7C1-D12737432932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APPLICATION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Participant 20026: stable VF profile despite symptom emergence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example applies the VF pipeline to a clinical transition; it does not prove mechanism.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1133856" y="2926080"/>
            <a:ext cx="9180576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91056" y="2468880"/>
            <a:ext cx="1481328" cy="841248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9AC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55648" y="2615184"/>
            <a:ext cx="115214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55648" y="2962656"/>
            <a:ext cx="11521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47888" y="2468880"/>
            <a:ext cx="1481328" cy="841248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F4B1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2615184"/>
            <a:ext cx="115214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UTI-1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2962656"/>
            <a:ext cx="11521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2926080"/>
            <a:ext cx="491947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0" y="2560320"/>
            <a:ext cx="969264" cy="256032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84064" y="2615184"/>
            <a:ext cx="859536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days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828800" y="4023360"/>
            <a:ext cx="1444752" cy="786384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901952" y="4151376"/>
            <a:ext cx="1298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920240" y="4498848"/>
            <a:ext cx="12618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30752" y="4023360"/>
            <a:ext cx="1444752" cy="786384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03904" y="4151376"/>
            <a:ext cx="1298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+0/-0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822192" y="4498848"/>
            <a:ext cx="12618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genes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32704" y="4023360"/>
            <a:ext cx="1444752" cy="786384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05856" y="4151376"/>
            <a:ext cx="1298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724144" y="4498848"/>
            <a:ext cx="12618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modules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534656" y="4023360"/>
            <a:ext cx="1444752" cy="786384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07808" y="4151376"/>
            <a:ext cx="129844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626096" y="4498848"/>
            <a:ext cx="126187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same-strain evidence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68096" y="5285232"/>
            <a:ext cx="5047488" cy="6583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2688" y="5431536"/>
            <a:ext cx="47183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casebook context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2688" y="5577840"/>
            <a:ext cx="47183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clinical Not_UTI -&gt; UTI transitions; 10 WGS/VF-linked; 1 missing endpoint.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199632" y="5285232"/>
            <a:ext cx="5047488" cy="6583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64224" y="5431536"/>
            <a:ext cx="47183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summary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64224" y="5577840"/>
            <a:ext cx="47183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stable-profile transitions and 3 replacement-consistent transitions; evidence buckets organise cases, not proof.</a:t>
            </a:r>
            <a:endParaRPr lang="en-US" sz="8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VF-first review establishes and what remains uncertain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786384" y="1755648"/>
            <a:ext cx="3127248" cy="2505456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B9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0976" y="1901952"/>
            <a:ext cx="279806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249424"/>
            <a:ext cx="2798064" cy="1975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pipeline produces a coherent VF-ready longitudinal dataset: 556 isolate profiles, 227 VF gene columns, 32 modules, and 394 consecutive within-resident comparisons.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535424" y="1755648"/>
            <a:ext cx="3127248" cy="2505456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F4C9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0016" y="1901952"/>
            <a:ext cx="279806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0016" y="2249424"/>
            <a:ext cx="2798064" cy="1975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profiles are often stable, but presence/absence does not measure expression or activity. Clinical status associations remain exploratory.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284464" y="1755648"/>
            <a:ext cx="3127248" cy="2505456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CE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49056" y="1901952"/>
            <a:ext cx="279806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49056" y="2249424"/>
            <a:ext cx="2798064" cy="1975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outputs to prioritise lineage-aware longitudinal follow-up, expression/regulation hypotheses, and targeted review of transition cases.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/ DETAILED MAP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Numbered clinical-to-VF pipeline with validated handoff counts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version for behind-the-scenes questions.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676656" y="1627632"/>
            <a:ext cx="3218688" cy="987552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1755648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classification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841248" y="2194560"/>
            <a:ext cx="28895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585 classified episodes before manual exclusions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786384" y="1737360"/>
            <a:ext cx="25603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1783080"/>
            <a:ext cx="25603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52144" y="1993392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00a / 00b</a:t>
            </a:r>
            <a:endParaRPr lang="en-US" sz="690" dirty="0"/>
          </a:p>
        </p:txBody>
      </p:sp>
      <p:sp>
        <p:nvSpPr>
          <p:cNvPr id="17" name="Shape 15"/>
          <p:cNvSpPr/>
          <p:nvPr/>
        </p:nvSpPr>
        <p:spPr>
          <a:xfrm>
            <a:off x="3931920" y="2121408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0" y="1627632"/>
            <a:ext cx="3218688" cy="987552"/>
          </a:xfrm>
          <a:prstGeom prst="roundRect">
            <a:avLst/>
          </a:prstGeom>
          <a:solidFill>
            <a:srgbClr val="FFF4E6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82896" y="1773936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inclusion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553712" y="2194560"/>
            <a:ext cx="28895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583 included: 18 UTI, 565 Not_UTI; 2 excluded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4498848" y="1737360"/>
            <a:ext cx="25603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98848" y="1783080"/>
            <a:ext cx="25603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864608" y="1993392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status_map.csv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7644384" y="2121408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01584" y="1627632"/>
            <a:ext cx="3218688" cy="98755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77072" y="1755865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QC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8266176" y="2194560"/>
            <a:ext cx="28895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1,291 QC records incl. assembler alternatives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8211312" y="1737360"/>
            <a:ext cx="25603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11312" y="1783080"/>
            <a:ext cx="25603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8577072" y="1993392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12a_wgs_qc.R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676656" y="3035808"/>
            <a:ext cx="3218688" cy="98755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52144" y="3165564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selection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841248" y="3602736"/>
            <a:ext cx="28895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556 selected episode-level assemblies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786384" y="3145536"/>
            <a:ext cx="25603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6384" y="3191256"/>
            <a:ext cx="25603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152144" y="3401568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canonical_assembly_selection.csv</a:t>
            </a:r>
            <a:endParaRPr lang="en-US" sz="690" dirty="0"/>
          </a:p>
        </p:txBody>
      </p:sp>
      <p:sp>
        <p:nvSpPr>
          <p:cNvPr id="37" name="Shape 35"/>
          <p:cNvSpPr/>
          <p:nvPr/>
        </p:nvSpPr>
        <p:spPr>
          <a:xfrm>
            <a:off x="3931920" y="3529584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89120" y="3035808"/>
            <a:ext cx="3218688" cy="98755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51981" y="3182111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 P/A matrix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4553712" y="3602736"/>
            <a:ext cx="28895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556 episode-level VF rows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4443984" y="3127248"/>
            <a:ext cx="25603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98848" y="3191256"/>
            <a:ext cx="25603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4864608" y="3401568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02_gene_presence_analysis.R</a:t>
            </a:r>
            <a:endParaRPr lang="en-US" sz="690" dirty="0"/>
          </a:p>
        </p:txBody>
      </p:sp>
      <p:sp>
        <p:nvSpPr>
          <p:cNvPr id="44" name="Shape 42"/>
          <p:cNvSpPr/>
          <p:nvPr/>
        </p:nvSpPr>
        <p:spPr>
          <a:xfrm>
            <a:off x="7644384" y="3529584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101584" y="3035808"/>
            <a:ext cx="3218688" cy="98755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516112" y="3137697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VF/model-ready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8266176" y="3602736"/>
            <a:ext cx="28895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556 episodes: 17 UTI, 539 Not_UTI; 27 clinical episodes lack VF-ready evidence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8211312" y="3145536"/>
            <a:ext cx="25603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211312" y="3191256"/>
            <a:ext cx="25603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8577072" y="3401568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22_vf_build_analysis_dataset.R</a:t>
            </a:r>
            <a:endParaRPr lang="en-US" sz="690" dirty="0"/>
          </a:p>
        </p:txBody>
      </p:sp>
      <p:sp>
        <p:nvSpPr>
          <p:cNvPr id="51" name="Shape 49"/>
          <p:cNvSpPr/>
          <p:nvPr/>
        </p:nvSpPr>
        <p:spPr>
          <a:xfrm>
            <a:off x="676656" y="4443984"/>
            <a:ext cx="3218688" cy="987552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146919" y="4590288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framework</a:t>
            </a:r>
            <a:endParaRPr lang="en-US" sz="1040" dirty="0"/>
          </a:p>
        </p:txBody>
      </p:sp>
      <p:sp>
        <p:nvSpPr>
          <p:cNvPr id="53" name="Text 51"/>
          <p:cNvSpPr/>
          <p:nvPr/>
        </p:nvSpPr>
        <p:spPr>
          <a:xfrm>
            <a:off x="841248" y="5010912"/>
            <a:ext cx="28895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227 VF genes -&gt; 32 modules, incl. 18 UPEC-candidate modules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786384" y="4553712"/>
            <a:ext cx="25603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86384" y="4599432"/>
            <a:ext cx="25603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1152144" y="4809744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26_vf_define_gene_modules.R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3931920" y="493776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389120" y="4443984"/>
            <a:ext cx="3218688" cy="987552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98136" y="4590288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Longitudinal pairs</a:t>
            </a:r>
            <a:endParaRPr lang="en-US" sz="1040" dirty="0"/>
          </a:p>
        </p:txBody>
      </p:sp>
      <p:sp>
        <p:nvSpPr>
          <p:cNvPr id="60" name="Text 58"/>
          <p:cNvSpPr/>
          <p:nvPr/>
        </p:nvSpPr>
        <p:spPr>
          <a:xfrm>
            <a:off x="4553712" y="5010912"/>
            <a:ext cx="28895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 consecutive comparisons from 144 participants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4498848" y="4553712"/>
            <a:ext cx="25603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498848" y="4599432"/>
            <a:ext cx="25603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4864608" y="4809744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24_vf_longitudinal_dynamics.R</a:t>
            </a:r>
            <a:endParaRPr lang="en-US" sz="690" dirty="0"/>
          </a:p>
        </p:txBody>
      </p:sp>
      <p:sp>
        <p:nvSpPr>
          <p:cNvPr id="64" name="Shape 62"/>
          <p:cNvSpPr/>
          <p:nvPr/>
        </p:nvSpPr>
        <p:spPr>
          <a:xfrm>
            <a:off x="7644384" y="493776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101584" y="4443984"/>
            <a:ext cx="3218688" cy="987552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577072" y="4598561"/>
            <a:ext cx="288950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application</a:t>
            </a:r>
            <a:endParaRPr lang="en-US" sz="1040" dirty="0"/>
          </a:p>
        </p:txBody>
      </p:sp>
      <p:sp>
        <p:nvSpPr>
          <p:cNvPr id="67" name="Text 65"/>
          <p:cNvSpPr/>
          <p:nvPr/>
        </p:nvSpPr>
        <p:spPr>
          <a:xfrm>
            <a:off x="8266176" y="5010912"/>
            <a:ext cx="288950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Not_UTI -&gt; UTI transitions; 10 WGS/VF-linked; 1 missing endpoint</a:t>
            </a:r>
            <a:endParaRPr lang="en-US" sz="810" dirty="0"/>
          </a:p>
        </p:txBody>
      </p:sp>
      <p:sp>
        <p:nvSpPr>
          <p:cNvPr id="68" name="Shape 66"/>
          <p:cNvSpPr/>
          <p:nvPr/>
        </p:nvSpPr>
        <p:spPr>
          <a:xfrm>
            <a:off x="8211312" y="4553712"/>
            <a:ext cx="256032" cy="25603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211312" y="4599432"/>
            <a:ext cx="256032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8577072" y="4809744"/>
            <a:ext cx="2560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casebook outputs</a:t>
            </a:r>
            <a:endParaRPr lang="en-US" sz="6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/ TRANSITION EVIDENCE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transition mechanism casebook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Not_UTI</a:t>
            </a: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-&gt; UTI transitions; buckets organise evidence, not proof.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10314432" cy="459028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Full transition mechanism case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94" y="1517904"/>
            <a:ext cx="8813924" cy="451713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08592" y="1591056"/>
            <a:ext cx="1847088" cy="256032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363456" y="1645920"/>
            <a:ext cx="17373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Descriptive casebook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2064" y="274320"/>
            <a:ext cx="8412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/ INTERPRETATION CHECKS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12064" y="530352"/>
            <a:ext cx="10881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 and lineage diagnostics stay as backup interpretation aids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106984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clinical signals and lineage structure.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1344168"/>
            <a:ext cx="1113739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6437376"/>
            <a:ext cx="111373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6510528"/>
            <a:ext cx="81381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pipeline outputs | VF analysis of longitudinal urinary E. coli isolates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927080" y="6510528"/>
            <a:ext cx="7132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66928" y="1554480"/>
            <a:ext cx="5358384" cy="440740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Main Fig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172614"/>
            <a:ext cx="5285232" cy="317113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08192" y="1554480"/>
            <a:ext cx="5358384" cy="4407408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VF Jaccard PCoA by 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040484"/>
            <a:ext cx="5285232" cy="343540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41248" y="5989320"/>
            <a:ext cx="2121408" cy="256032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96112" y="6044184"/>
            <a:ext cx="2011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global VF FDR signal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5989320"/>
            <a:ext cx="2011680" cy="256032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55664" y="6044184"/>
            <a:ext cx="1901952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diagnostic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A34675E4-C2CD-6117-9A88-701E54604F0F}"/>
              </a:ext>
            </a:extLst>
          </p:cNvPr>
          <p:cNvSpPr/>
          <p:nvPr/>
        </p:nvSpPr>
        <p:spPr>
          <a:xfrm>
            <a:off x="6367461" y="728664"/>
            <a:ext cx="4984813" cy="315708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Aptos Display" panose="020B0004020202020204" pitchFamily="34" charset="0"/>
                <a:ea typeface="+mj-ea"/>
                <a:cs typeface="+mj-cs"/>
              </a:rPr>
              <a:t>Full Longitudinal lookup (contextual only)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39BB4A-4A0F-3049-F64E-FA80BC1E2E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9" r="2" b="1966"/>
          <a:stretch>
            <a:fillRect/>
          </a:stretch>
        </p:blipFill>
        <p:spPr>
          <a:xfrm>
            <a:off x="0" y="32201"/>
            <a:ext cx="6095999" cy="696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3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1604</Words>
  <Application>Microsoft Macintosh PowerPoint</Application>
  <PresentationFormat>Widescreen</PresentationFormat>
  <Paragraphs>296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rUTI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Longitudinal urinary E. coli VF pipeline review compact onboarding</dc:title>
  <dc:subject>Compact editable VF onboarding deck</dc:subject>
  <dc:creator>Aamir / Codex</dc:creator>
  <cp:lastModifiedBy>Hasan, M.A. (Aamir)</cp:lastModifiedBy>
  <cp:revision>4</cp:revision>
  <dcterms:created xsi:type="dcterms:W3CDTF">2026-05-28T09:42:56Z</dcterms:created>
  <dcterms:modified xsi:type="dcterms:W3CDTF">2026-05-28T14:25:57Z</dcterms:modified>
</cp:coreProperties>
</file>