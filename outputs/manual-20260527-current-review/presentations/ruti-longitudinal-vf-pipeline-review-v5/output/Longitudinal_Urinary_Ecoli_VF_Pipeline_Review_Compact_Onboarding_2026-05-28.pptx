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5f49c87e9c4b13" /><Relationship Type="http://schemas.openxmlformats.org/officeDocument/2006/relationships/extended-properties" Target="/docProps/app.xml" Id="R151fdccd2f9c4f18" /><Relationship Type="http://schemas.openxmlformats.org/officeDocument/2006/relationships/officeDocument" Target="/ppt/presentation.xml" Id="Rf1e46b4ae4b44e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5c04d1f3ec404c"/>
  </p:sldMasterIdLst>
  <p:notesMasterIdLst>
    <p:notesMasterId xmlns:r="http://schemas.openxmlformats.org/officeDocument/2006/relationships" r:id="Reedc73b7b6ef44e9"/>
  </p:notesMasterIdLst>
  <p:sldIdLst>
    <p:sldId xmlns:r="http://schemas.openxmlformats.org/officeDocument/2006/relationships" id="256" r:id="R7fa0db36bf0842e2"/>
    <p:sldId xmlns:r="http://schemas.openxmlformats.org/officeDocument/2006/relationships" id="257" r:id="R51e2cab02eb74b73"/>
    <p:sldId xmlns:r="http://schemas.openxmlformats.org/officeDocument/2006/relationships" id="258" r:id="R566b6126627d4169"/>
    <p:sldId xmlns:r="http://schemas.openxmlformats.org/officeDocument/2006/relationships" id="259" r:id="Rcf1673f308dd454a"/>
    <p:sldId xmlns:r="http://schemas.openxmlformats.org/officeDocument/2006/relationships" id="260" r:id="Rd2f87faa92e34c95"/>
    <p:sldId xmlns:r="http://schemas.openxmlformats.org/officeDocument/2006/relationships" id="261" r:id="R5e2ad1f9e3de4864"/>
    <p:sldId xmlns:r="http://schemas.openxmlformats.org/officeDocument/2006/relationships" id="262" r:id="Rc05a1f70e5ea47f6"/>
    <p:sldId xmlns:r="http://schemas.openxmlformats.org/officeDocument/2006/relationships" id="263" r:id="R2f74dfaa547b4d2d"/>
    <p:sldId xmlns:r="http://schemas.openxmlformats.org/officeDocument/2006/relationships" id="264" r:id="Rc6cff62119244f3b"/>
    <p:sldId xmlns:r="http://schemas.openxmlformats.org/officeDocument/2006/relationships" id="265" r:id="Rfc4df7d58055489e"/>
    <p:sldId xmlns:r="http://schemas.openxmlformats.org/officeDocument/2006/relationships" id="266" r:id="R251aa71d394f45b4"/>
    <p:sldId xmlns:r="http://schemas.openxmlformats.org/officeDocument/2006/relationships" id="267" r:id="R842d43b61f0a4698"/>
    <p:sldId xmlns:r="http://schemas.openxmlformats.org/officeDocument/2006/relationships" id="268" r:id="Rba7c9061aedc467c"/>
    <p:sldId xmlns:r="http://schemas.openxmlformats.org/officeDocument/2006/relationships" id="269" r:id="Rb81a6a7162864a46"/>
    <p:sldId xmlns:r="http://schemas.openxmlformats.org/officeDocument/2006/relationships" id="270" r:id="R0afc0f331fb14e60"/>
    <p:sldId xmlns:r="http://schemas.openxmlformats.org/officeDocument/2006/relationships" id="271" r:id="R9c8c0808a34a4e6f"/>
    <p:sldId xmlns:r="http://schemas.openxmlformats.org/officeDocument/2006/relationships" id="272" r:id="R330aed4e252a41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eadf833fe145ac" /><Relationship Type="http://schemas.openxmlformats.org/officeDocument/2006/relationships/slideMaster" Target="/ppt/slideMasters/slideMaster1.xml" Id="R4d5c04d1f3ec404c" /><Relationship Type="http://schemas.openxmlformats.org/officeDocument/2006/relationships/notesMaster" Target="/ppt/notesMasters/notesMaster1.xml" Id="Reedc73b7b6ef44e9" /><Relationship Type="http://schemas.openxmlformats.org/officeDocument/2006/relationships/presProps" Target="/ppt/presProps.xml" Id="Rdeb2b9ca01c54caa" /><Relationship Type="http://schemas.openxmlformats.org/officeDocument/2006/relationships/tableStyles" Target="/ppt/tableStyles.xml" Id="R3043a003e94845c9" /><Relationship Type="http://schemas.openxmlformats.org/officeDocument/2006/relationships/slide" Target="/ppt/slides/slide1.xml" Id="R7fa0db36bf0842e2" /><Relationship Type="http://schemas.openxmlformats.org/officeDocument/2006/relationships/slide" Target="/ppt/slides/slide2.xml" Id="R51e2cab02eb74b73" /><Relationship Type="http://schemas.openxmlformats.org/officeDocument/2006/relationships/slide" Target="/ppt/slides/slide3.xml" Id="R566b6126627d4169" /><Relationship Type="http://schemas.openxmlformats.org/officeDocument/2006/relationships/slide" Target="/ppt/slides/slide4.xml" Id="Rcf1673f308dd454a" /><Relationship Type="http://schemas.openxmlformats.org/officeDocument/2006/relationships/slide" Target="/ppt/slides/slide5.xml" Id="Rd2f87faa92e34c95" /><Relationship Type="http://schemas.openxmlformats.org/officeDocument/2006/relationships/slide" Target="/ppt/slides/slide6.xml" Id="R5e2ad1f9e3de4864" /><Relationship Type="http://schemas.openxmlformats.org/officeDocument/2006/relationships/slide" Target="/ppt/slides/slide7.xml" Id="Rc05a1f70e5ea47f6" /><Relationship Type="http://schemas.openxmlformats.org/officeDocument/2006/relationships/slide" Target="/ppt/slides/slide8.xml" Id="R2f74dfaa547b4d2d" /><Relationship Type="http://schemas.openxmlformats.org/officeDocument/2006/relationships/slide" Target="/ppt/slides/slide9.xml" Id="Rc6cff62119244f3b" /><Relationship Type="http://schemas.openxmlformats.org/officeDocument/2006/relationships/slide" Target="/ppt/slides/slide10.xml" Id="Rfc4df7d58055489e" /><Relationship Type="http://schemas.openxmlformats.org/officeDocument/2006/relationships/slide" Target="/ppt/slides/slide11.xml" Id="R251aa71d394f45b4" /><Relationship Type="http://schemas.openxmlformats.org/officeDocument/2006/relationships/slide" Target="/ppt/slides/slide12.xml" Id="R842d43b61f0a4698" /><Relationship Type="http://schemas.openxmlformats.org/officeDocument/2006/relationships/slide" Target="/ppt/slides/slide13.xml" Id="Rba7c9061aedc467c" /><Relationship Type="http://schemas.openxmlformats.org/officeDocument/2006/relationships/slide" Target="/ppt/slides/slide14.xml" Id="Rb81a6a7162864a46" /><Relationship Type="http://schemas.openxmlformats.org/officeDocument/2006/relationships/slide" Target="/ppt/slides/slide15.xml" Id="R0afc0f331fb14e60" /><Relationship Type="http://schemas.openxmlformats.org/officeDocument/2006/relationships/slide" Target="/ppt/slides/slide16.xml" Id="R9c8c0808a34a4e6f" /><Relationship Type="http://schemas.openxmlformats.org/officeDocument/2006/relationships/slide" Target="/ppt/slides/slide17.xml" Id="R330aed4e252a41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9d6ded4f1d4e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74be16e9ff44e4" /><Relationship Type="http://schemas.openxmlformats.org/officeDocument/2006/relationships/notesMaster" Target="/ppt/notesMasters/notesMaster1.xml" Id="R41cbcf618de84a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7f1b8891984271" /><Relationship Type="http://schemas.openxmlformats.org/officeDocument/2006/relationships/notesMaster" Target="/ppt/notesMasters/notesMaster1.xml" Id="Rd27e2b7e3b294d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f031af46e44ad4" /><Relationship Type="http://schemas.openxmlformats.org/officeDocument/2006/relationships/notesMaster" Target="/ppt/notesMasters/notesMaster1.xml" Id="R490700ef038541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5b2488aa994475" /><Relationship Type="http://schemas.openxmlformats.org/officeDocument/2006/relationships/notesMaster" Target="/ppt/notesMasters/notesMaster1.xml" Id="Rd9c00bc13d0e47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a5681766fe447b" /><Relationship Type="http://schemas.openxmlformats.org/officeDocument/2006/relationships/notesMaster" Target="/ppt/notesMasters/notesMaster1.xml" Id="R343444acd48f4e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9ca2db375c4ae9" /><Relationship Type="http://schemas.openxmlformats.org/officeDocument/2006/relationships/notesMaster" Target="/ppt/notesMasters/notesMaster1.xml" Id="R736724de65494a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876beada53475e" /><Relationship Type="http://schemas.openxmlformats.org/officeDocument/2006/relationships/notesMaster" Target="/ppt/notesMasters/notesMaster1.xml" Id="R813c680935b54e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8fb95414ed47b5" /><Relationship Type="http://schemas.openxmlformats.org/officeDocument/2006/relationships/notesMaster" Target="/ppt/notesMasters/notesMaster1.xml" Id="R4e6bb7e1f46f4e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4d0747c2cb4af6" /><Relationship Type="http://schemas.openxmlformats.org/officeDocument/2006/relationships/notesMaster" Target="/ppt/notesMasters/notesMaster1.xml" Id="R1c80d52b89c54a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d4bc88416a4bd9" /><Relationship Type="http://schemas.openxmlformats.org/officeDocument/2006/relationships/notesMaster" Target="/ppt/notesMasters/notesMaster1.xml" Id="R4a7d55a9e3ee4d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3b20c8d2834be6" /><Relationship Type="http://schemas.openxmlformats.org/officeDocument/2006/relationships/notesMaster" Target="/ppt/notesMasters/notesMaster1.xml" Id="R01b00310de3640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55d176ef304fcf" /><Relationship Type="http://schemas.openxmlformats.org/officeDocument/2006/relationships/notesMaster" Target="/ppt/notesMasters/notesMaster1.xml" Id="Rd281e2e1332449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ad117a588844e0" /><Relationship Type="http://schemas.openxmlformats.org/officeDocument/2006/relationships/notesMaster" Target="/ppt/notesMasters/notesMaster1.xml" Id="R2ace84137a0f44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a32674f1d744e0" /><Relationship Type="http://schemas.openxmlformats.org/officeDocument/2006/relationships/notesMaster" Target="/ppt/notesMasters/notesMaster1.xml" Id="R61995aa52b7844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bbfaad3a5e4754" /><Relationship Type="http://schemas.openxmlformats.org/officeDocument/2006/relationships/notesMaster" Target="/ppt/notesMasters/notesMaster1.xml" Id="R6d0c3fa71eb04c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3f54a4cea54dc0" /><Relationship Type="http://schemas.openxmlformats.org/officeDocument/2006/relationships/notesMaster" Target="/ppt/notesMasters/notesMaster1.xml" Id="Rae605649952f42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e218bd2c194cf5" /><Relationship Type="http://schemas.openxmlformats.org/officeDocument/2006/relationships/notesMaster" Target="/ppt/notesMasters/notesMaster1.xml" Id="R040b060e705c48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Title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Set the scope immediately: selected QC-passing Longcycler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Operational UTI is an exploratory annotation.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Plain-English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Orient the audience before showing analytical plots.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Keep the selected assembly and operational phenotype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Explain why counts change when the unit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583 source episodes are attrition/QC context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Operational phenotype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Define how the project labels episodes.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The label is not a universal clinical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Selected cohort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Anchor the analytical denominator.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All analytical genome content comes from selected Longcycler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VF representation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Explain genes, modules, and longitudinal summaries.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Presence/absence is not expression or function.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Paired repertoire 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Show gene-level and module-level views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Treat modules as curation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Stability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the explicit direct and adjacent pair denominators.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Profile stability is descriptive.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Gain/loss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Flag candidates for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Change needs lineage and genome-distance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Lineage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MLST as a diagnostic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ST agreement does not prove the same strain.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Clinical overlay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Keep the sparse operational phenotype denominator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Exploratory observational analysis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Focused transitions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Report 9 transitions, 5 at threshold, and a complete 9-case casebook.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Do not infer mechanism from low SNP distance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Summarise evidence, boundary, and next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Keep causality outside the supported claim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Handover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Show the operational entry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Research questions run RQ01 through 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the numbered release pipeline for behind-the-scenes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All stages consume the selected analytical cohort.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Casebook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Use the complete nine-case casebook for transition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Buckets organise evidence; they do not prove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SLIDE: Robustness and lineage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Keep these two diagnostic aids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BOUNDARY: Near-miss rows are not operational UTI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4a49f615e4d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0d5cb3283745cf" /><Relationship Type="http://schemas.openxmlformats.org/officeDocument/2006/relationships/slideLayout" Target="/ppt/slideLayouts/slideLayout1.xml" Id="Re9f06863c46a41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f06863c46a41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899b22c664f15" /><Relationship Type="http://schemas.openxmlformats.org/officeDocument/2006/relationships/notesSlide" Target="/ppt/notesSlides/notesSlide1.xml" Id="R28bfcf33ea4449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d2c5d34e34178" /><Relationship Type="http://schemas.openxmlformats.org/officeDocument/2006/relationships/notesSlide" Target="/ppt/notesSlides/notesSlide2.xml" Id="Rd705ee87ae024f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32891720f4529" /><Relationship Type="http://schemas.openxmlformats.org/officeDocument/2006/relationships/notesSlide" Target="/ppt/notesSlides/notesSlide3.xml" Id="R4836e9413a5d41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bd1c0b2ed4c98" /><Relationship Type="http://schemas.openxmlformats.org/officeDocument/2006/relationships/notesSlide" Target="/ppt/notesSlides/notesSlide4.xml" Id="R654f56f5191c46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b406362404daf" /><Relationship Type="http://schemas.openxmlformats.org/officeDocument/2006/relationships/notesSlide" Target="/ppt/notesSlides/notesSlide5.xml" Id="R290936c8256148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a2265afe8408a" /><Relationship Type="http://schemas.openxmlformats.org/officeDocument/2006/relationships/notesSlide" Target="/ppt/notesSlides/notesSlide6.xml" Id="R5bce209b59f247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fae5ff38544d8" /><Relationship Type="http://schemas.openxmlformats.org/officeDocument/2006/relationships/image" Target="/ppt/media/image.png" Id="R3e67100ffddf4c10" /><Relationship Type="http://schemas.openxmlformats.org/officeDocument/2006/relationships/image" Target="/ppt/media/image2.png" Id="R148bb53528ea48c0" /><Relationship Type="http://schemas.openxmlformats.org/officeDocument/2006/relationships/notesSlide" Target="/ppt/notesSlides/notesSlide7.xml" Id="R62f7063f81f640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f1015b04240b7" /><Relationship Type="http://schemas.openxmlformats.org/officeDocument/2006/relationships/image" Target="/ppt/media/image3.png" Id="R3f5eeb71258647a9" /><Relationship Type="http://schemas.openxmlformats.org/officeDocument/2006/relationships/notesSlide" Target="/ppt/notesSlides/notesSlide8.xml" Id="R5f3012169e004e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5d4fd52814ffe" /><Relationship Type="http://schemas.openxmlformats.org/officeDocument/2006/relationships/image" Target="/ppt/media/image4.png" Id="R9656cd94cd484f12" /><Relationship Type="http://schemas.openxmlformats.org/officeDocument/2006/relationships/notesSlide" Target="/ppt/notesSlides/notesSlide9.xml" Id="Re1eb809879fd41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ce84863d14ba6" /><Relationship Type="http://schemas.openxmlformats.org/officeDocument/2006/relationships/image" Target="/ppt/media/image5.png" Id="R9e0b71018eb442cc" /><Relationship Type="http://schemas.openxmlformats.org/officeDocument/2006/relationships/notesSlide" Target="/ppt/notesSlides/notesSlide10.xml" Id="R6d462caa057e4d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7735d99524192" /><Relationship Type="http://schemas.openxmlformats.org/officeDocument/2006/relationships/image" Target="/ppt/media/image6.png" Id="R0fd6225161b04455" /><Relationship Type="http://schemas.openxmlformats.org/officeDocument/2006/relationships/notesSlide" Target="/ppt/notesSlides/notesSlide11.xml" Id="R27db92ec6e5448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598c4bd494675" /><Relationship Type="http://schemas.openxmlformats.org/officeDocument/2006/relationships/notesSlide" Target="/ppt/notesSlides/notesSlide12.xml" Id="Rd5ee600f83b946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21dff6e5d4048" /><Relationship Type="http://schemas.openxmlformats.org/officeDocument/2006/relationships/notesSlide" Target="/ppt/notesSlides/notesSlide13.xml" Id="Re25dd6a58aec43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b895c9223434f" /><Relationship Type="http://schemas.openxmlformats.org/officeDocument/2006/relationships/notesSlide" Target="/ppt/notesSlides/notesSlide14.xml" Id="R586c98e9cf8040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76ae580c84391" /><Relationship Type="http://schemas.openxmlformats.org/officeDocument/2006/relationships/notesSlide" Target="/ppt/notesSlides/notesSlide15.xml" Id="R98faad29819442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e0f76335d4595" /><Relationship Type="http://schemas.openxmlformats.org/officeDocument/2006/relationships/image" Target="/ppt/media/image7.png" Id="R8a5cbf33552746ac" /><Relationship Type="http://schemas.openxmlformats.org/officeDocument/2006/relationships/notesSlide" Target="/ppt/notesSlides/notesSlide16.xml" Id="R7136dbea5dc848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a122886204caa" /><Relationship Type="http://schemas.openxmlformats.org/officeDocument/2006/relationships/image" Target="/ppt/media/image8.png" Id="R53d15b6ab2804725" /><Relationship Type="http://schemas.openxmlformats.org/officeDocument/2006/relationships/image" Target="/ppt/media/image9.png" Id="Rb0462ed78aa14f67" /><Relationship Type="http://schemas.openxmlformats.org/officeDocument/2006/relationships/notesSlide" Target="/ppt/notesSlides/notesSlide17.xml" Id="Rfce24f8cb2ae47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D04EA21-5F28-42EF-A732-17F3C16E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0C29D692-DB33-46FC-AAC8-5EC947C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chrome-62-54-1080-22">
            <a:extLst xmlns:a="http://schemas.openxmlformats.org/drawingml/2006/main">
              <a:ext uri="{FF2B5EF4-FFF2-40B4-BE49-F238E27FC236}">
                <a16:creationId xmlns:a16="http://schemas.microsoft.com/office/drawing/2014/main" id="{1ABEF236-E53F-44A4-8B4C-087364B8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REVIEW  /  SELECTED LONGCYCLER ANALYSIS</a:t>
            </a:r>
          </a:p>
        </p:txBody>
      </p:sp>
      <p:sp>
        <p:nvSpPr>
          <p:cNvPr id="4" name="body-62-92-1120-90">
            <a:extLst xmlns:a="http://schemas.openxmlformats.org/drawingml/2006/main">
              <a:ext uri="{FF2B5EF4-FFF2-40B4-BE49-F238E27FC236}">
                <a16:creationId xmlns:a16="http://schemas.microsoft.com/office/drawing/2014/main" id="{7BE6EBB7-FEDE-4B76-AF7E-A119FA53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Virulence-factor profiling of longitudinal urinary E. coli isolates</a:t>
            </a:r>
          </a:p>
        </p:txBody>
      </p:sp>
      <p:sp>
        <p:nvSpPr>
          <p:cNvPr id="5" name="body-62-190-1000-28">
            <a:extLst xmlns:a="http://schemas.openxmlformats.org/drawingml/2006/main">
              <a:ext uri="{FF2B5EF4-FFF2-40B4-BE49-F238E27FC236}">
                <a16:creationId xmlns:a16="http://schemas.microsoft.com/office/drawing/2014/main" id="{5520956B-BBFF-44DD-97FC-38E1C4B9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selected QC-passing assembly per episode; operational UTI overlay remains exploratory</a:t>
            </a:r>
          </a:p>
        </p:txBody>
      </p:sp>
      <p:sp>
        <p:nvSpPr>
          <p:cNvPr id="6" name="card-What VF repertoire is present?">
            <a:extLst xmlns:a="http://schemas.openxmlformats.org/drawingml/2006/main">
              <a:ext uri="{FF2B5EF4-FFF2-40B4-BE49-F238E27FC236}">
                <a16:creationId xmlns:a16="http://schemas.microsoft.com/office/drawing/2014/main" id="{0B2F82E2-2E59-4264-B506-486F8FC7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E8F1FA"/>
            </a:solidFill>
            <a:prstDash val="solid"/>
          </a:ln>
        </p:spPr>
      </p:sp>
      <p:sp>
        <p:nvSpPr>
          <p:cNvPr id="7" name="label-80-294-308-18">
            <a:extLst xmlns:a="http://schemas.openxmlformats.org/drawingml/2006/main">
              <a:ext uri="{FF2B5EF4-FFF2-40B4-BE49-F238E27FC236}">
                <a16:creationId xmlns:a16="http://schemas.microsoft.com/office/drawing/2014/main" id="{33630289-6E98-48BF-9281-41535A01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Question 1</a:t>
            </a:r>
          </a:p>
        </p:txBody>
      </p:sp>
      <p:sp>
        <p:nvSpPr>
          <p:cNvPr id="8" name="heading-80-318-308-26">
            <a:extLst xmlns:a="http://schemas.openxmlformats.org/drawingml/2006/main">
              <a:ext uri="{FF2B5EF4-FFF2-40B4-BE49-F238E27FC236}">
                <a16:creationId xmlns:a16="http://schemas.microsoft.com/office/drawing/2014/main" id="{12707AE9-ECAD-41F0-AE00-89F9EE4F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What VF repertoire is present?</a:t>
            </a:r>
          </a:p>
        </p:txBody>
      </p:sp>
      <p:sp>
        <p:nvSpPr>
          <p:cNvPr id="9" name="body-80-350-308-59">
            <a:extLst xmlns:a="http://schemas.openxmlformats.org/drawingml/2006/main">
              <a:ext uri="{FF2B5EF4-FFF2-40B4-BE49-F238E27FC236}">
                <a16:creationId xmlns:a16="http://schemas.microsoft.com/office/drawing/2014/main" id="{C5839ABF-6F5C-4E8F-8CB6-C19AE68F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9337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selected episodes; 227 binary VF features.</a:t>
            </a:r>
          </a:p>
        </p:txBody>
      </p:sp>
      <p:sp>
        <p:nvSpPr>
          <p:cNvPr id="10" name="card-How stable are profiles over time?">
            <a:extLst xmlns:a="http://schemas.openxmlformats.org/drawingml/2006/main">
              <a:ext uri="{FF2B5EF4-FFF2-40B4-BE49-F238E27FC236}">
                <a16:creationId xmlns:a16="http://schemas.microsoft.com/office/drawing/2014/main" id="{B893F592-642B-4F8E-BA86-54493F7E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EAF7EF"/>
            </a:solidFill>
            <a:prstDash val="solid"/>
          </a:ln>
        </p:spPr>
      </p:sp>
      <p:sp>
        <p:nvSpPr>
          <p:cNvPr id="11" name="label-478-294-308-18">
            <a:extLst xmlns:a="http://schemas.openxmlformats.org/drawingml/2006/main">
              <a:ext uri="{FF2B5EF4-FFF2-40B4-BE49-F238E27FC236}">
                <a16:creationId xmlns:a16="http://schemas.microsoft.com/office/drawing/2014/main" id="{B9130AAD-9140-46C3-8734-B2B01C0B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Question 2</a:t>
            </a:r>
          </a:p>
        </p:txBody>
      </p:sp>
      <p:sp>
        <p:nvSpPr>
          <p:cNvPr id="12" name="heading-478-318-308-26">
            <a:extLst xmlns:a="http://schemas.openxmlformats.org/drawingml/2006/main">
              <a:ext uri="{FF2B5EF4-FFF2-40B4-BE49-F238E27FC236}">
                <a16:creationId xmlns:a16="http://schemas.microsoft.com/office/drawing/2014/main" id="{BF2141BA-6C14-4417-8C53-0DAA648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How stable are profiles over time?</a:t>
            </a:r>
          </a:p>
        </p:txBody>
      </p:sp>
      <p:sp>
        <p:nvSpPr>
          <p:cNvPr id="13" name="body-478-350-308-59">
            <a:extLst xmlns:a="http://schemas.openxmlformats.org/drawingml/2006/main">
              <a:ext uri="{FF2B5EF4-FFF2-40B4-BE49-F238E27FC236}">
                <a16:creationId xmlns:a16="http://schemas.microsoft.com/office/drawing/2014/main" id="{46019DBB-275F-46A9-A427-4C7DDA91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9337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893 direct pairs; 371 adjacent transitions.</a:t>
            </a:r>
          </a:p>
        </p:txBody>
      </p:sp>
      <p:sp>
        <p:nvSpPr>
          <p:cNvPr id="14" name="card-How should clinical status be overlaid?">
            <a:extLst xmlns:a="http://schemas.openxmlformats.org/drawingml/2006/main">
              <a:ext uri="{FF2B5EF4-FFF2-40B4-BE49-F238E27FC236}">
                <a16:creationId xmlns:a16="http://schemas.microsoft.com/office/drawing/2014/main" id="{964070B7-2271-4974-98B1-C507076F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FF4E6"/>
            </a:solidFill>
            <a:prstDash val="solid"/>
          </a:ln>
        </p:spPr>
      </p:sp>
      <p:sp>
        <p:nvSpPr>
          <p:cNvPr id="15" name="label-876-294-308-18">
            <a:extLst xmlns:a="http://schemas.openxmlformats.org/drawingml/2006/main">
              <a:ext uri="{FF2B5EF4-FFF2-40B4-BE49-F238E27FC236}">
                <a16:creationId xmlns:a16="http://schemas.microsoft.com/office/drawing/2014/main" id="{3A906A5E-E3F1-4F8E-85A7-4EEE3C5F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003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Question 3</a:t>
            </a:r>
          </a:p>
        </p:txBody>
      </p:sp>
      <p:sp>
        <p:nvSpPr>
          <p:cNvPr id="16" name="heading-876-318-308-26">
            <a:extLst xmlns:a="http://schemas.openxmlformats.org/drawingml/2006/main">
              <a:ext uri="{FF2B5EF4-FFF2-40B4-BE49-F238E27FC236}">
                <a16:creationId xmlns:a16="http://schemas.microsoft.com/office/drawing/2014/main" id="{D599EF8D-2DFA-4EFF-B79A-526C50CF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How should clinical status be overlaid?</a:t>
            </a:r>
          </a:p>
        </p:txBody>
      </p:sp>
      <p:sp>
        <p:nvSpPr>
          <p:cNvPr id="17" name="body-876-350-308-59">
            <a:extLst xmlns:a="http://schemas.openxmlformats.org/drawingml/2006/main">
              <a:ext uri="{FF2B5EF4-FFF2-40B4-BE49-F238E27FC236}">
                <a16:creationId xmlns:a16="http://schemas.microsoft.com/office/drawing/2014/main" id="{C2F1E77D-DF8D-4573-8E7C-BE2BD3C4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9337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operational UTI and 516 operational Not_UTI episodes.</a:t>
            </a:r>
          </a:p>
        </p:txBody>
      </p:sp>
      <p:sp>
        <p:nvSpPr>
          <p:cNvPr id="18" name="metric-selected episodes">
            <a:extLst xmlns:a="http://schemas.openxmlformats.org/drawingml/2006/main">
              <a:ext uri="{FF2B5EF4-FFF2-40B4-BE49-F238E27FC236}">
                <a16:creationId xmlns:a16="http://schemas.microsoft.com/office/drawing/2014/main" id="{CEB54103-F1C7-4553-B499-C527ACB3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heading-200-512-165-31">
            <a:extLst xmlns:a="http://schemas.openxmlformats.org/drawingml/2006/main">
              <a:ext uri="{FF2B5EF4-FFF2-40B4-BE49-F238E27FC236}">
                <a16:creationId xmlns:a16="http://schemas.microsoft.com/office/drawing/2014/main" id="{BA00FEFA-121E-4C80-9360-ED7C6E52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532</a:t>
            </a:r>
          </a:p>
        </p:txBody>
      </p:sp>
      <p:sp>
        <p:nvSpPr>
          <p:cNvPr id="20" name="body-200-550-165-32">
            <a:extLst xmlns:a="http://schemas.openxmlformats.org/drawingml/2006/main">
              <a:ext uri="{FF2B5EF4-FFF2-40B4-BE49-F238E27FC236}">
                <a16:creationId xmlns:a16="http://schemas.microsoft.com/office/drawing/2014/main" id="{E777937E-E5FF-49AF-996F-0AE8CC1A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episodes</a:t>
            </a:r>
          </a:p>
        </p:txBody>
      </p:sp>
      <p:sp>
        <p:nvSpPr>
          <p:cNvPr id="21" name="metric-residents">
            <a:extLst xmlns:a="http://schemas.openxmlformats.org/drawingml/2006/main">
              <a:ext uri="{FF2B5EF4-FFF2-40B4-BE49-F238E27FC236}">
                <a16:creationId xmlns:a16="http://schemas.microsoft.com/office/drawing/2014/main" id="{8913A8FF-17E4-4365-8262-B21EDCF9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heading-425-512-165-31">
            <a:extLst xmlns:a="http://schemas.openxmlformats.org/drawingml/2006/main">
              <a:ext uri="{FF2B5EF4-FFF2-40B4-BE49-F238E27FC236}">
                <a16:creationId xmlns:a16="http://schemas.microsoft.com/office/drawing/2014/main" id="{87D584D6-716D-4A90-B74D-D286A55E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161</a:t>
            </a:r>
          </a:p>
        </p:txBody>
      </p:sp>
      <p:sp>
        <p:nvSpPr>
          <p:cNvPr id="23" name="body-425-550-165-32">
            <a:extLst xmlns:a="http://schemas.openxmlformats.org/drawingml/2006/main">
              <a:ext uri="{FF2B5EF4-FFF2-40B4-BE49-F238E27FC236}">
                <a16:creationId xmlns:a16="http://schemas.microsoft.com/office/drawing/2014/main" id="{4418746C-7971-4DB4-B99D-BE05E4F6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residents</a:t>
            </a:r>
          </a:p>
        </p:txBody>
      </p:sp>
      <p:sp>
        <p:nvSpPr>
          <p:cNvPr id="24" name="metric-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534DBE5C-0197-4CE0-B398-485C0EF1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heading-650-512-165-31">
            <a:extLst xmlns:a="http://schemas.openxmlformats.org/drawingml/2006/main">
              <a:ext uri="{FF2B5EF4-FFF2-40B4-BE49-F238E27FC236}">
                <a16:creationId xmlns:a16="http://schemas.microsoft.com/office/drawing/2014/main" id="{4006DC34-CFA1-4FF5-92D1-28FA5DD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371</a:t>
            </a:r>
          </a:p>
        </p:txBody>
      </p:sp>
      <p:sp>
        <p:nvSpPr>
          <p:cNvPr id="26" name="body-650-550-165-32">
            <a:extLst xmlns:a="http://schemas.openxmlformats.org/drawingml/2006/main">
              <a:ext uri="{FF2B5EF4-FFF2-40B4-BE49-F238E27FC236}">
                <a16:creationId xmlns:a16="http://schemas.microsoft.com/office/drawing/2014/main" id="{BB3915D4-B988-4206-9F85-52438B38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F855A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27" name="metric-operational UTI">
            <a:extLst xmlns:a="http://schemas.openxmlformats.org/drawingml/2006/main">
              <a:ext uri="{FF2B5EF4-FFF2-40B4-BE49-F238E27FC236}">
                <a16:creationId xmlns:a16="http://schemas.microsoft.com/office/drawing/2014/main" id="{E3AE88A7-880B-42B7-84FA-4810F1F5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17621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heading-875-512-165-31">
            <a:extLst xmlns:a="http://schemas.openxmlformats.org/drawingml/2006/main">
              <a:ext uri="{FF2B5EF4-FFF2-40B4-BE49-F238E27FC236}">
                <a16:creationId xmlns:a16="http://schemas.microsoft.com/office/drawing/2014/main" id="{7E9F604A-CF40-4836-BC55-73C1309D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76800"/>
            <a:ext cx="157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9" name="body-875-550-165-32">
            <a:extLst xmlns:a="http://schemas.openxmlformats.org/drawingml/2006/main">
              <a:ext uri="{FF2B5EF4-FFF2-40B4-BE49-F238E27FC236}">
                <a16:creationId xmlns:a16="http://schemas.microsoft.com/office/drawing/2014/main" id="{59A62C02-8FD7-4165-9BA2-CBD6878C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38750"/>
            <a:ext cx="1571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7706"/>
                </a:solidFill>
                <a:latin typeface="Aptos"/>
                <a:ea typeface="Aptos"/>
                <a:cs typeface="Aptos"/>
              </a:rPr>
              <a:t>operational UTI</a:t>
            </a:r>
          </a:p>
        </p:txBody>
      </p:sp>
      <p:sp>
        <p:nvSpPr>
          <p:cNvPr id="30" name="chrome-62-682-1020-18">
            <a:extLst xmlns:a="http://schemas.openxmlformats.org/drawingml/2006/main">
              <a:ext uri="{FF2B5EF4-FFF2-40B4-BE49-F238E27FC236}">
                <a16:creationId xmlns:a16="http://schemas.microsoft.com/office/drawing/2014/main" id="{6CB78A29-32EF-4360-84EF-86E0956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31" name="chrome-1150-682-76-18">
            <a:extLst xmlns:a="http://schemas.openxmlformats.org/drawingml/2006/main">
              <a:ext uri="{FF2B5EF4-FFF2-40B4-BE49-F238E27FC236}">
                <a16:creationId xmlns:a16="http://schemas.microsoft.com/office/drawing/2014/main" id="{67CB7611-9BA0-4388-8F36-D1191FB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3838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17E7DC6-3CA6-4AD9-8E58-7149475F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2AE44C76-1BDE-4593-82CA-0D5204A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CFFE1AE-B99F-4578-97BE-B547DB93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PROJECT ORIENTATION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2613F8-880D-432F-950A-74C07494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review follows one plain-English loop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52A01BB-5B58-4073-BE6E-F90769BF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episode becomes one selected genome profile, then repeated profiles are compared over time.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CA065B0-A606-4F60-B355-F0978026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00E16F3-5016-43AD-8E62-1C3CFFEA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81F9EED-FF95-45F2-B846-BAC3C58E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5CE9ECD-E7C1-4449-8513-D41B328C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loop-1">
            <a:extLst xmlns:a="http://schemas.openxmlformats.org/drawingml/2006/main">
              <a:ext uri="{FF2B5EF4-FFF2-40B4-BE49-F238E27FC236}">
                <a16:creationId xmlns:a16="http://schemas.microsoft.com/office/drawing/2014/main" id="{B2835044-5A59-4F74-B551-241BB930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2771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loop-1-head">
            <a:extLst xmlns:a="http://schemas.openxmlformats.org/drawingml/2006/main">
              <a:ext uri="{FF2B5EF4-FFF2-40B4-BE49-F238E27FC236}">
                <a16:creationId xmlns:a16="http://schemas.microsoft.com/office/drawing/2014/main" id="{A449877A-C1D3-49F0-A3E6-A8A8CD89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76525" y="2733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loop-2">
            <a:extLst xmlns:a="http://schemas.openxmlformats.org/drawingml/2006/main">
              <a:ext uri="{FF2B5EF4-FFF2-40B4-BE49-F238E27FC236}">
                <a16:creationId xmlns:a16="http://schemas.microsoft.com/office/drawing/2014/main" id="{4DF4BDA8-B1D1-4E13-92DA-850B3FD4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771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loop-2-head">
            <a:extLst xmlns:a="http://schemas.openxmlformats.org/drawingml/2006/main">
              <a:ext uri="{FF2B5EF4-FFF2-40B4-BE49-F238E27FC236}">
                <a16:creationId xmlns:a16="http://schemas.microsoft.com/office/drawing/2014/main" id="{328B48A7-AF57-4502-A5DE-58161EA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24425" y="2733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loop-3">
            <a:extLst xmlns:a="http://schemas.openxmlformats.org/drawingml/2006/main">
              <a:ext uri="{FF2B5EF4-FFF2-40B4-BE49-F238E27FC236}">
                <a16:creationId xmlns:a16="http://schemas.microsoft.com/office/drawing/2014/main" id="{EE7492C0-440A-4FE1-8A33-6C9B7A4A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771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loop-3-head">
            <a:extLst xmlns:a="http://schemas.openxmlformats.org/drawingml/2006/main">
              <a:ext uri="{FF2B5EF4-FFF2-40B4-BE49-F238E27FC236}">
                <a16:creationId xmlns:a16="http://schemas.microsoft.com/office/drawing/2014/main" id="{12C4C7E0-53FF-4F68-910D-8AA0EDB3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72325" y="2733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oop-4">
            <a:extLst xmlns:a="http://schemas.openxmlformats.org/drawingml/2006/main">
              <a:ext uri="{FF2B5EF4-FFF2-40B4-BE49-F238E27FC236}">
                <a16:creationId xmlns:a16="http://schemas.microsoft.com/office/drawing/2014/main" id="{002D82A2-AB4A-4605-9966-950F4BCA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771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loop-4-head">
            <a:extLst xmlns:a="http://schemas.openxmlformats.org/drawingml/2006/main">
              <a:ext uri="{FF2B5EF4-FFF2-40B4-BE49-F238E27FC236}">
                <a16:creationId xmlns:a16="http://schemas.microsoft.com/office/drawing/2014/main" id="{59755192-C8E9-4869-B9B5-4C8FE94C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20225" y="2733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card-Clinical episode">
            <a:extLst xmlns:a="http://schemas.openxmlformats.org/drawingml/2006/main">
              <a:ext uri="{FF2B5EF4-FFF2-40B4-BE49-F238E27FC236}">
                <a16:creationId xmlns:a16="http://schemas.microsoft.com/office/drawing/2014/main" id="{BCF535B6-CBC7-45B5-AB16-EB2941F4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84785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FF4E6"/>
            </a:solidFill>
            <a:prstDash val="solid"/>
          </a:ln>
        </p:spPr>
      </p:sp>
      <p:sp>
        <p:nvSpPr>
          <p:cNvPr id="19" name="heading-70-240-162-26">
            <a:extLst xmlns:a="http://schemas.openxmlformats.org/drawingml/2006/main">
              <a:ext uri="{FF2B5EF4-FFF2-40B4-BE49-F238E27FC236}">
                <a16:creationId xmlns:a16="http://schemas.microsoft.com/office/drawing/2014/main" id="{F3EC8166-7BEF-47A5-BC3B-A4AADBAB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Clinical episode</a:t>
            </a:r>
          </a:p>
        </p:txBody>
      </p:sp>
      <p:sp>
        <p:nvSpPr>
          <p:cNvPr id="20" name="body-70-272-162-75">
            <a:extLst xmlns:a="http://schemas.openxmlformats.org/drawingml/2006/main">
              <a:ext uri="{FF2B5EF4-FFF2-40B4-BE49-F238E27FC236}">
                <a16:creationId xmlns:a16="http://schemas.microsoft.com/office/drawing/2014/main" id="{987FF382-04FB-4024-BA85-8F96F6A6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543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Apply the operational clinical definition</a:t>
            </a:r>
          </a:p>
        </p:txBody>
      </p:sp>
      <p:sp>
        <p:nvSpPr>
          <p:cNvPr id="21" name="card-Selected genome">
            <a:extLst xmlns:a="http://schemas.openxmlformats.org/drawingml/2006/main">
              <a:ext uri="{FF2B5EF4-FFF2-40B4-BE49-F238E27FC236}">
                <a16:creationId xmlns:a16="http://schemas.microsoft.com/office/drawing/2014/main" id="{E9BEB595-73F6-4CBB-A364-096705A3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184785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E8F1FA"/>
            </a:solidFill>
            <a:prstDash val="solid"/>
          </a:ln>
        </p:spPr>
      </p:sp>
      <p:sp>
        <p:nvSpPr>
          <p:cNvPr id="22" name="heading-306-240-162-26">
            <a:extLst xmlns:a="http://schemas.openxmlformats.org/drawingml/2006/main">
              <a:ext uri="{FF2B5EF4-FFF2-40B4-BE49-F238E27FC236}">
                <a16:creationId xmlns:a16="http://schemas.microsoft.com/office/drawing/2014/main" id="{426D3591-8C6B-4841-BDF8-5D06388B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genome</a:t>
            </a:r>
          </a:p>
        </p:txBody>
      </p:sp>
      <p:sp>
        <p:nvSpPr>
          <p:cNvPr id="23" name="body-306-272-162-75">
            <a:extLst xmlns:a="http://schemas.openxmlformats.org/drawingml/2006/main">
              <a:ext uri="{FF2B5EF4-FFF2-40B4-BE49-F238E27FC236}">
                <a16:creationId xmlns:a16="http://schemas.microsoft.com/office/drawing/2014/main" id="{86F114E9-C176-494D-9387-6273A7E4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90800"/>
            <a:ext cx="1543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the QC-passing Longcycler assembly</a:t>
            </a:r>
          </a:p>
        </p:txBody>
      </p:sp>
      <p:sp>
        <p:nvSpPr>
          <p:cNvPr id="24" name="card-VF gene row">
            <a:extLst xmlns:a="http://schemas.openxmlformats.org/drawingml/2006/main">
              <a:ext uri="{FF2B5EF4-FFF2-40B4-BE49-F238E27FC236}">
                <a16:creationId xmlns:a16="http://schemas.microsoft.com/office/drawing/2014/main" id="{5772D95E-DA94-4EF9-B8F7-E30E18CA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33600"/>
            <a:ext cx="184785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EAF7EF"/>
            </a:solidFill>
            <a:prstDash val="solid"/>
          </a:ln>
        </p:spPr>
      </p:sp>
      <p:sp>
        <p:nvSpPr>
          <p:cNvPr id="25" name="heading-542-240-162-26">
            <a:extLst xmlns:a="http://schemas.openxmlformats.org/drawingml/2006/main">
              <a:ext uri="{FF2B5EF4-FFF2-40B4-BE49-F238E27FC236}">
                <a16:creationId xmlns:a16="http://schemas.microsoft.com/office/drawing/2014/main" id="{3B7B7890-EECE-4F24-84E1-B2C2647E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VF gene row</a:t>
            </a:r>
          </a:p>
        </p:txBody>
      </p:sp>
      <p:sp>
        <p:nvSpPr>
          <p:cNvPr id="26" name="body-542-272-162-75">
            <a:extLst xmlns:a="http://schemas.openxmlformats.org/drawingml/2006/main">
              <a:ext uri="{FF2B5EF4-FFF2-40B4-BE49-F238E27FC236}">
                <a16:creationId xmlns:a16="http://schemas.microsoft.com/office/drawing/2014/main" id="{F235733B-5E7D-47CD-B32F-0BE07791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1543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Record binary VF feature presence</a:t>
            </a:r>
          </a:p>
        </p:txBody>
      </p:sp>
      <p:sp>
        <p:nvSpPr>
          <p:cNvPr id="27" name="card-Longitudinal pair">
            <a:extLst xmlns:a="http://schemas.openxmlformats.org/drawingml/2006/main">
              <a:ext uri="{FF2B5EF4-FFF2-40B4-BE49-F238E27FC236}">
                <a16:creationId xmlns:a16="http://schemas.microsoft.com/office/drawing/2014/main" id="{5CBCEBBD-9B6F-44E6-8B6D-3BC186BD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184785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EEF3F8"/>
            </a:solidFill>
            <a:prstDash val="solid"/>
          </a:ln>
        </p:spPr>
      </p:sp>
      <p:sp>
        <p:nvSpPr>
          <p:cNvPr id="28" name="heading-778-240-162-26">
            <a:extLst xmlns:a="http://schemas.openxmlformats.org/drawingml/2006/main">
              <a:ext uri="{FF2B5EF4-FFF2-40B4-BE49-F238E27FC236}">
                <a16:creationId xmlns:a16="http://schemas.microsoft.com/office/drawing/2014/main" id="{D14A2B62-620E-4982-AE81-86D738AF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Longitudinal pair</a:t>
            </a:r>
          </a:p>
        </p:txBody>
      </p:sp>
      <p:sp>
        <p:nvSpPr>
          <p:cNvPr id="29" name="body-778-272-162-75">
            <a:extLst xmlns:a="http://schemas.openxmlformats.org/drawingml/2006/main">
              <a:ext uri="{FF2B5EF4-FFF2-40B4-BE49-F238E27FC236}">
                <a16:creationId xmlns:a16="http://schemas.microsoft.com/office/drawing/2014/main" id="{6D2F138F-5A56-4F69-8FDA-6C1878CD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1543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Compare profiles within resident</a:t>
            </a:r>
          </a:p>
        </p:txBody>
      </p:sp>
      <p:sp>
        <p:nvSpPr>
          <p:cNvPr id="30" name="card-Clinical overlay">
            <a:extLst xmlns:a="http://schemas.openxmlformats.org/drawingml/2006/main">
              <a:ext uri="{FF2B5EF4-FFF2-40B4-BE49-F238E27FC236}">
                <a16:creationId xmlns:a16="http://schemas.microsoft.com/office/drawing/2014/main" id="{892270ED-EB95-4224-8DDB-10721C4D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184785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FF4E6"/>
            </a:solidFill>
            <a:prstDash val="solid"/>
          </a:ln>
        </p:spPr>
      </p:sp>
      <p:sp>
        <p:nvSpPr>
          <p:cNvPr id="31" name="heading-1014-240-162-26">
            <a:extLst xmlns:a="http://schemas.openxmlformats.org/drawingml/2006/main">
              <a:ext uri="{FF2B5EF4-FFF2-40B4-BE49-F238E27FC236}">
                <a16:creationId xmlns:a16="http://schemas.microsoft.com/office/drawing/2014/main" id="{5B03E6F6-4B9B-4531-BECD-C5F4DE5A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860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Clinical overlay</a:t>
            </a:r>
          </a:p>
        </p:txBody>
      </p:sp>
      <p:sp>
        <p:nvSpPr>
          <p:cNvPr id="32" name="body-1014-272-162-75">
            <a:extLst xmlns:a="http://schemas.openxmlformats.org/drawingml/2006/main">
              <a:ext uri="{FF2B5EF4-FFF2-40B4-BE49-F238E27FC236}">
                <a16:creationId xmlns:a16="http://schemas.microsoft.com/office/drawing/2014/main" id="{CC0108DC-78C2-4D71-96A2-B966C62D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43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Interpret status cautiously</a:t>
            </a:r>
          </a:p>
        </p:txBody>
      </p:sp>
      <p:sp>
        <p:nvSpPr>
          <p:cNvPr id="33" name="card-What we measure">
            <a:extLst xmlns:a="http://schemas.openxmlformats.org/drawingml/2006/main">
              <a:ext uri="{FF2B5EF4-FFF2-40B4-BE49-F238E27FC236}">
                <a16:creationId xmlns:a16="http://schemas.microsoft.com/office/drawing/2014/main" id="{DF6DD52F-E813-42EA-8DBB-7A4BD4E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34" name="heading-128-454-268-26">
            <a:extLst xmlns:a="http://schemas.openxmlformats.org/drawingml/2006/main">
              <a:ext uri="{FF2B5EF4-FFF2-40B4-BE49-F238E27FC236}">
                <a16:creationId xmlns:a16="http://schemas.microsoft.com/office/drawing/2014/main" id="{193D2C8B-3275-489A-A657-B1D18DEC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43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we measure</a:t>
            </a:r>
          </a:p>
        </p:txBody>
      </p:sp>
      <p:sp>
        <p:nvSpPr>
          <p:cNvPr id="35" name="body-128-486-268-43">
            <a:extLst xmlns:a="http://schemas.openxmlformats.org/drawingml/2006/main">
              <a:ext uri="{FF2B5EF4-FFF2-40B4-BE49-F238E27FC236}">
                <a16:creationId xmlns:a16="http://schemas.microsoft.com/office/drawing/2014/main" id="{B587CB0D-40BE-481E-812C-E9AEDB1F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VF gene presence/absence in each selected episode-level genome.</a:t>
            </a:r>
          </a:p>
        </p:txBody>
      </p:sp>
      <p:sp>
        <p:nvSpPr>
          <p:cNvPr id="36" name="card-What we compare">
            <a:extLst xmlns:a="http://schemas.openxmlformats.org/drawingml/2006/main">
              <a:ext uri="{FF2B5EF4-FFF2-40B4-BE49-F238E27FC236}">
                <a16:creationId xmlns:a16="http://schemas.microsoft.com/office/drawing/2014/main" id="{24E326E9-7A46-4F89-9966-4C40ECFF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37" name="heading-506-454-268-26">
            <a:extLst xmlns:a="http://schemas.openxmlformats.org/drawingml/2006/main">
              <a:ext uri="{FF2B5EF4-FFF2-40B4-BE49-F238E27FC236}">
                <a16:creationId xmlns:a16="http://schemas.microsoft.com/office/drawing/2014/main" id="{3359EC2C-5E66-4733-93BF-A97F3A8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243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we compare</a:t>
            </a:r>
          </a:p>
        </p:txBody>
      </p:sp>
      <p:sp>
        <p:nvSpPr>
          <p:cNvPr id="38" name="body-506-486-268-43">
            <a:extLst xmlns:a="http://schemas.openxmlformats.org/drawingml/2006/main">
              <a:ext uri="{FF2B5EF4-FFF2-40B4-BE49-F238E27FC236}">
                <a16:creationId xmlns:a16="http://schemas.microsoft.com/office/drawing/2014/main" id="{D07B287E-91A2-4EA8-8506-EE1D06CC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29150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Repeated profiles within residents, directly and as adjacent transitions.</a:t>
            </a:r>
          </a:p>
        </p:txBody>
      </p:sp>
      <p:sp>
        <p:nvSpPr>
          <p:cNvPr id="39" name="card-Where status enters">
            <a:extLst xmlns:a="http://schemas.openxmlformats.org/drawingml/2006/main">
              <a:ext uri="{FF2B5EF4-FFF2-40B4-BE49-F238E27FC236}">
                <a16:creationId xmlns:a16="http://schemas.microsoft.com/office/drawing/2014/main" id="{3477C1F9-2CA1-4A69-8BF1-880C0F91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40" name="heading-884-454-268-26">
            <a:extLst xmlns:a="http://schemas.openxmlformats.org/drawingml/2006/main">
              <a:ext uri="{FF2B5EF4-FFF2-40B4-BE49-F238E27FC236}">
                <a16:creationId xmlns:a16="http://schemas.microsoft.com/office/drawing/2014/main" id="{3D1EB605-103E-4F0A-B8E8-C78C3127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Where status enters</a:t>
            </a:r>
          </a:p>
        </p:txBody>
      </p:sp>
      <p:sp>
        <p:nvSpPr>
          <p:cNvPr id="41" name="body-884-486-268-43">
            <a:extLst xmlns:a="http://schemas.openxmlformats.org/drawingml/2006/main">
              <a:ext uri="{FF2B5EF4-FFF2-40B4-BE49-F238E27FC236}">
                <a16:creationId xmlns:a16="http://schemas.microsoft.com/office/drawing/2014/main" id="{D650AC90-3F4A-4FE7-AF71-C85369E0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Only after the genomic and temporal denominators are explicit.</a:t>
            </a:r>
          </a:p>
        </p:txBody>
      </p:sp>
    </p:spTree>
    <p:extLst>
      <p:ext uri="{BB962C8B-B14F-4D97-AF65-F5344CB8AC3E}">
        <p14:creationId xmlns:p14="http://schemas.microsoft.com/office/powerpoint/2010/main" val="7424018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857EBE8-338F-408A-81EA-AAB5939A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9E97F07E-97A2-4EB0-9BD7-C713B731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389319E-F64B-4756-904D-96ED568C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PROJECT ORIENTATION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C0C4B9-D2E8-4129-A7C6-1F1B3323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Unit changes explain denominator changes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A875646-BCBC-435C-A37E-3DD9CD57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Each count answers a different question: episode, resident, profile, pair, or transition.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9BE7DC6-B4D1-4D66-963F-D2E33418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B88F3BB-63D4-4862-88E7-ED7C2D7D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C722580-F7FB-4FBC-8C29-2AAC5449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64E698-CD17-4BEE-B0E3-065FB94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label-Source clinical episodes">
            <a:extLst xmlns:a="http://schemas.openxmlformats.org/drawingml/2006/main">
              <a:ext uri="{FF2B5EF4-FFF2-40B4-BE49-F238E27FC236}">
                <a16:creationId xmlns:a16="http://schemas.microsoft.com/office/drawing/2014/main" id="{F2AB0E92-84EB-4C2C-B542-59F57509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label-158-180-244-26">
            <a:extLst xmlns:a="http://schemas.openxmlformats.org/drawingml/2006/main">
              <a:ext uri="{FF2B5EF4-FFF2-40B4-BE49-F238E27FC236}">
                <a16:creationId xmlns:a16="http://schemas.microsoft.com/office/drawing/2014/main" id="{46F4CFC9-1103-4096-B76B-0C6557A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145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Source clinical episodes</a:t>
            </a:r>
          </a:p>
        </p:txBody>
      </p:sp>
      <p:sp>
        <p:nvSpPr>
          <p:cNvPr id="12" name="body-454-173-110-38">
            <a:extLst xmlns:a="http://schemas.openxmlformats.org/drawingml/2006/main">
              <a:ext uri="{FF2B5EF4-FFF2-40B4-BE49-F238E27FC236}">
                <a16:creationId xmlns:a16="http://schemas.microsoft.com/office/drawing/2014/main" id="{B83BAEE0-87C8-42AA-B332-B0E37CF0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4782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583</a:t>
            </a:r>
          </a:p>
        </p:txBody>
      </p:sp>
      <p:sp>
        <p:nvSpPr>
          <p:cNvPr id="13" name="body-616-177-530-34">
            <a:extLst xmlns:a="http://schemas.openxmlformats.org/drawingml/2006/main">
              <a:ext uri="{FF2B5EF4-FFF2-40B4-BE49-F238E27FC236}">
                <a16:creationId xmlns:a16="http://schemas.microsoft.com/office/drawing/2014/main" id="{CAB9CA54-5C9D-4E5F-A65E-F363C400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8592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166 residents; retained for attrition/QC only</a:t>
            </a:r>
          </a:p>
        </p:txBody>
      </p:sp>
      <p:sp>
        <p:nvSpPr>
          <p:cNvPr id="14" name="label-Selected analytical episodes">
            <a:extLst xmlns:a="http://schemas.openxmlformats.org/drawingml/2006/main">
              <a:ext uri="{FF2B5EF4-FFF2-40B4-BE49-F238E27FC236}">
                <a16:creationId xmlns:a16="http://schemas.microsoft.com/office/drawing/2014/main" id="{313A8916-CF5E-4139-9EE8-7BD493C4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label-158-265-244-26">
            <a:extLst xmlns:a="http://schemas.openxmlformats.org/drawingml/2006/main">
              <a:ext uri="{FF2B5EF4-FFF2-40B4-BE49-F238E27FC236}">
                <a16:creationId xmlns:a16="http://schemas.microsoft.com/office/drawing/2014/main" id="{1902CFC9-1FCC-4CAB-83C2-DCEB2315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24125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analytical episodes</a:t>
            </a:r>
          </a:p>
        </p:txBody>
      </p:sp>
      <p:sp>
        <p:nvSpPr>
          <p:cNvPr id="16" name="body-454-258-110-38">
            <a:extLst xmlns:a="http://schemas.openxmlformats.org/drawingml/2006/main">
              <a:ext uri="{FF2B5EF4-FFF2-40B4-BE49-F238E27FC236}">
                <a16:creationId xmlns:a16="http://schemas.microsoft.com/office/drawing/2014/main" id="{123DCD9A-3A26-4832-8D72-150E2F7A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532</a:t>
            </a:r>
          </a:p>
        </p:txBody>
      </p:sp>
      <p:sp>
        <p:nvSpPr>
          <p:cNvPr id="17" name="body-616-262-530-34">
            <a:extLst xmlns:a="http://schemas.openxmlformats.org/drawingml/2006/main">
              <a:ext uri="{FF2B5EF4-FFF2-40B4-BE49-F238E27FC236}">
                <a16:creationId xmlns:a16="http://schemas.microsoft.com/office/drawing/2014/main" id="{D792B1BD-8BF3-4B76-84D9-5833FAA8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955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161 residents; one selected genome per episode</a:t>
            </a:r>
          </a:p>
        </p:txBody>
      </p:sp>
      <p:sp>
        <p:nvSpPr>
          <p:cNvPr id="18" name="label-Direct within-resident pairs">
            <a:extLst xmlns:a="http://schemas.openxmlformats.org/drawingml/2006/main">
              <a:ext uri="{FF2B5EF4-FFF2-40B4-BE49-F238E27FC236}">
                <a16:creationId xmlns:a16="http://schemas.microsoft.com/office/drawing/2014/main" id="{A6CC102B-B5E9-4EFC-9AAB-EC8B4809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label-158-350-244-26">
            <a:extLst xmlns:a="http://schemas.openxmlformats.org/drawingml/2006/main">
              <a:ext uri="{FF2B5EF4-FFF2-40B4-BE49-F238E27FC236}">
                <a16:creationId xmlns:a16="http://schemas.microsoft.com/office/drawing/2014/main" id="{8110A3A3-447C-4FFB-98B5-1A9766B9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within-resident pairs</a:t>
            </a:r>
          </a:p>
        </p:txBody>
      </p:sp>
      <p:sp>
        <p:nvSpPr>
          <p:cNvPr id="20" name="body-454-343-110-38">
            <a:extLst xmlns:a="http://schemas.openxmlformats.org/drawingml/2006/main">
              <a:ext uri="{FF2B5EF4-FFF2-40B4-BE49-F238E27FC236}">
                <a16:creationId xmlns:a16="http://schemas.microsoft.com/office/drawing/2014/main" id="{0171E2AC-F9D7-471F-97AB-273781F2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6707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893</a:t>
            </a:r>
          </a:p>
        </p:txBody>
      </p:sp>
      <p:sp>
        <p:nvSpPr>
          <p:cNvPr id="21" name="body-616-347-530-34">
            <a:extLst xmlns:a="http://schemas.openxmlformats.org/drawingml/2006/main">
              <a:ext uri="{FF2B5EF4-FFF2-40B4-BE49-F238E27FC236}">
                <a16:creationId xmlns:a16="http://schemas.microsoft.com/office/drawing/2014/main" id="{FA0B8A09-4DEC-49A3-8863-3EC7954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0517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available within-resident comparisons</a:t>
            </a:r>
          </a:p>
        </p:txBody>
      </p:sp>
      <p:sp>
        <p:nvSpPr>
          <p:cNvPr id="22" name="label-Adjacent transitions">
            <a:extLst xmlns:a="http://schemas.openxmlformats.org/drawingml/2006/main">
              <a:ext uri="{FF2B5EF4-FFF2-40B4-BE49-F238E27FC236}">
                <a16:creationId xmlns:a16="http://schemas.microsoft.com/office/drawing/2014/main" id="{91A866DC-03FE-4C43-ACB1-530D37DD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label-158-435-244-26">
            <a:extLst xmlns:a="http://schemas.openxmlformats.org/drawingml/2006/main">
              <a:ext uri="{FF2B5EF4-FFF2-40B4-BE49-F238E27FC236}">
                <a16:creationId xmlns:a16="http://schemas.microsoft.com/office/drawing/2014/main" id="{26386BC2-E210-4230-8372-5E034918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43375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24" name="body-454-428-110-38">
            <a:extLst xmlns:a="http://schemas.openxmlformats.org/drawingml/2006/main">
              <a:ext uri="{FF2B5EF4-FFF2-40B4-BE49-F238E27FC236}">
                <a16:creationId xmlns:a16="http://schemas.microsoft.com/office/drawing/2014/main" id="{FA88DF2A-FAAB-414E-94D7-F670110B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767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371</a:t>
            </a:r>
          </a:p>
        </p:txBody>
      </p:sp>
      <p:sp>
        <p:nvSpPr>
          <p:cNvPr id="25" name="body-616-432-530-34">
            <a:extLst xmlns:a="http://schemas.openxmlformats.org/drawingml/2006/main">
              <a:ext uri="{FF2B5EF4-FFF2-40B4-BE49-F238E27FC236}">
                <a16:creationId xmlns:a16="http://schemas.microsoft.com/office/drawing/2014/main" id="{6AFAA64E-7633-4FE6-8834-869344FB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148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139 residents; 140 at or below 25 SNPs</a:t>
            </a:r>
          </a:p>
        </p:txBody>
      </p:sp>
      <p:sp>
        <p:nvSpPr>
          <p:cNvPr id="26" name="label-Focused Not_UTI→UTI">
            <a:extLst xmlns:a="http://schemas.openxmlformats.org/drawingml/2006/main">
              <a:ext uri="{FF2B5EF4-FFF2-40B4-BE49-F238E27FC236}">
                <a16:creationId xmlns:a16="http://schemas.microsoft.com/office/drawing/2014/main" id="{F41FDA97-27FB-44B9-A2C0-B2E021FF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label-158-520-244-26">
            <a:extLst xmlns:a="http://schemas.openxmlformats.org/drawingml/2006/main">
              <a:ext uri="{FF2B5EF4-FFF2-40B4-BE49-F238E27FC236}">
                <a16:creationId xmlns:a16="http://schemas.microsoft.com/office/drawing/2014/main" id="{93727A42-D419-4686-A9DA-32CBE6A0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Focused Not_UTI→UTI</a:t>
            </a:r>
          </a:p>
        </p:txBody>
      </p:sp>
      <p:sp>
        <p:nvSpPr>
          <p:cNvPr id="28" name="body-454-513-110-38">
            <a:extLst xmlns:a="http://schemas.openxmlformats.org/drawingml/2006/main">
              <a:ext uri="{FF2B5EF4-FFF2-40B4-BE49-F238E27FC236}">
                <a16:creationId xmlns:a16="http://schemas.microsoft.com/office/drawing/2014/main" id="{37D81B63-636A-4F83-9ED3-E21BBC5C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86325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9" name="body-616-517-530-34">
            <a:extLst xmlns:a="http://schemas.openxmlformats.org/drawingml/2006/main">
              <a:ext uri="{FF2B5EF4-FFF2-40B4-BE49-F238E27FC236}">
                <a16:creationId xmlns:a16="http://schemas.microsoft.com/office/drawing/2014/main" id="{2006AA09-30BE-4F48-A391-021956D5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24425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 at or below 25 SNPs</a:t>
            </a:r>
          </a:p>
        </p:txBody>
      </p:sp>
      <p:sp>
        <p:nvSpPr>
          <p:cNvPr id="30" name="label-Always name the unit beside the count">
            <a:extLst xmlns:a="http://schemas.openxmlformats.org/drawingml/2006/main">
              <a:ext uri="{FF2B5EF4-FFF2-40B4-BE49-F238E27FC236}">
                <a16:creationId xmlns:a16="http://schemas.microsoft.com/office/drawing/2014/main" id="{D8F31C73-7F30-4F51-8918-94DF2707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10250"/>
            <a:ext cx="36576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label-456-615-368-23">
            <a:extLst xmlns:a="http://schemas.openxmlformats.org/drawingml/2006/main">
              <a:ext uri="{FF2B5EF4-FFF2-40B4-BE49-F238E27FC236}">
                <a16:creationId xmlns:a16="http://schemas.microsoft.com/office/drawing/2014/main" id="{F00EB852-B172-4EC9-9BDA-06E4AFC2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57875"/>
            <a:ext cx="3505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Always name the unit beside the count</a:t>
            </a:r>
          </a:p>
        </p:txBody>
      </p:sp>
    </p:spTree>
    <p:extLst>
      <p:ext uri="{BB962C8B-B14F-4D97-AF65-F5344CB8AC3E}">
        <p14:creationId xmlns:p14="http://schemas.microsoft.com/office/powerpoint/2010/main" val="7428766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1EB7642-3C72-499B-AED1-5BE1912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2796DE34-60FC-462C-B6E7-5C727454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7F60A9F-2038-4D9E-9596-1D580EBC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CLINICAL ANNOTATION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309E39-4EFE-4FC2-94B0-98A0A8BD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How an episode becomes operational UTI in this project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2683B50-8C4B-4364-BE67-CA87F3BB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operational label is a study annotation, not a universal clinical diagnosis.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05A907D-8EAB-46F2-B009-1D4118E7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8FA49A2-62BA-4D48-A1F2-F4133931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18C3307-7335-4D8F-8C00-7AC098F3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96FCB13-CB0F-4D21-94A8-4F2557C8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phenotype-1">
            <a:extLst xmlns:a="http://schemas.openxmlformats.org/drawingml/2006/main">
              <a:ext uri="{FF2B5EF4-FFF2-40B4-BE49-F238E27FC236}">
                <a16:creationId xmlns:a16="http://schemas.microsoft.com/office/drawing/2014/main" id="{C81C9D86-1932-4AE1-B64B-AAC98E8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2705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henotype-1-head">
            <a:extLst xmlns:a="http://schemas.openxmlformats.org/drawingml/2006/main">
              <a:ext uri="{FF2B5EF4-FFF2-40B4-BE49-F238E27FC236}">
                <a16:creationId xmlns:a16="http://schemas.microsoft.com/office/drawing/2014/main" id="{35FF85CB-B2D6-4E53-AD33-E62C5244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76725" y="26670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henotype-2">
            <a:extLst xmlns:a="http://schemas.openxmlformats.org/drawingml/2006/main">
              <a:ext uri="{FF2B5EF4-FFF2-40B4-BE49-F238E27FC236}">
                <a16:creationId xmlns:a16="http://schemas.microsoft.com/office/drawing/2014/main" id="{709CC96B-7C67-4C72-A200-DA994A05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705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henotype-2-head">
            <a:extLst xmlns:a="http://schemas.openxmlformats.org/drawingml/2006/main">
              <a:ext uri="{FF2B5EF4-FFF2-40B4-BE49-F238E27FC236}">
                <a16:creationId xmlns:a16="http://schemas.microsoft.com/office/drawing/2014/main" id="{47CDCE54-BC14-4439-B432-02C660D8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24825" y="26670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ard-1. Culture support">
            <a:extLst xmlns:a="http://schemas.openxmlformats.org/drawingml/2006/main">
              <a:ext uri="{FF2B5EF4-FFF2-40B4-BE49-F238E27FC236}">
                <a16:creationId xmlns:a16="http://schemas.microsoft.com/office/drawing/2014/main" id="{AD8B4AA7-9E1B-41A0-93AA-509CC815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933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15" name="heading-98-226-276-26">
            <a:extLst xmlns:a="http://schemas.openxmlformats.org/drawingml/2006/main">
              <a:ext uri="{FF2B5EF4-FFF2-40B4-BE49-F238E27FC236}">
                <a16:creationId xmlns:a16="http://schemas.microsoft.com/office/drawing/2014/main" id="{7BDDF112-014F-44F6-9BCA-931F5C30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1. Culture support</a:t>
            </a:r>
          </a:p>
        </p:txBody>
      </p:sp>
      <p:sp>
        <p:nvSpPr>
          <p:cNvPr id="16" name="body-98-258-276-88">
            <a:extLst xmlns:a="http://schemas.openxmlformats.org/drawingml/2006/main">
              <a:ext uri="{FF2B5EF4-FFF2-40B4-BE49-F238E27FC236}">
                <a16:creationId xmlns:a16="http://schemas.microsoft.com/office/drawing/2014/main" id="{CCF27354-7A93-4D6B-BE6E-5BB8D3DC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628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episode passes the project’s culture and isolate evidence rules.</a:t>
            </a:r>
          </a:p>
        </p:txBody>
      </p:sp>
      <p:sp>
        <p:nvSpPr>
          <p:cNvPr id="17" name="card-2. Symptom rule">
            <a:extLst xmlns:a="http://schemas.openxmlformats.org/drawingml/2006/main">
              <a:ext uri="{FF2B5EF4-FFF2-40B4-BE49-F238E27FC236}">
                <a16:creationId xmlns:a16="http://schemas.microsoft.com/office/drawing/2014/main" id="{FA4F37BB-E7EC-498E-BE17-86C8520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3219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8" name="heading-472-226-306-26">
            <a:extLst xmlns:a="http://schemas.openxmlformats.org/drawingml/2006/main">
              <a:ext uri="{FF2B5EF4-FFF2-40B4-BE49-F238E27FC236}">
                <a16:creationId xmlns:a16="http://schemas.microsoft.com/office/drawing/2014/main" id="{BFF45097-2D86-41FA-9B0B-A678B36B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2. Symptom rule</a:t>
            </a:r>
          </a:p>
        </p:txBody>
      </p:sp>
      <p:sp>
        <p:nvSpPr>
          <p:cNvPr id="19" name="body-472-258-306-88">
            <a:extLst xmlns:a="http://schemas.openxmlformats.org/drawingml/2006/main">
              <a:ext uri="{FF2B5EF4-FFF2-40B4-BE49-F238E27FC236}">
                <a16:creationId xmlns:a16="http://schemas.microsoft.com/office/drawing/2014/main" id="{13B6089B-1C39-4715-845A-844E17CE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Compatible symptoms are interpreted with the operational definition and available episode context.</a:t>
            </a:r>
          </a:p>
        </p:txBody>
      </p:sp>
      <p:sp>
        <p:nvSpPr>
          <p:cNvPr id="20" name="card-Operational UTI">
            <a:extLst xmlns:a="http://schemas.openxmlformats.org/drawingml/2006/main">
              <a:ext uri="{FF2B5EF4-FFF2-40B4-BE49-F238E27FC236}">
                <a16:creationId xmlns:a16="http://schemas.microsoft.com/office/drawing/2014/main" id="{C537DA2B-B588-4A3B-A719-17134896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21" name="heading-876-246-238-26">
            <a:extLst xmlns:a="http://schemas.openxmlformats.org/drawingml/2006/main">
              <a:ext uri="{FF2B5EF4-FFF2-40B4-BE49-F238E27FC236}">
                <a16:creationId xmlns:a16="http://schemas.microsoft.com/office/drawing/2014/main" id="{DAB9BAFA-3D0C-44B8-B6B6-2D121357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Operational UTI</a:t>
            </a:r>
          </a:p>
        </p:txBody>
      </p:sp>
      <p:sp>
        <p:nvSpPr>
          <p:cNvPr id="22" name="body-876-278-238-48">
            <a:extLst xmlns:a="http://schemas.openxmlformats.org/drawingml/2006/main">
              <a:ext uri="{FF2B5EF4-FFF2-40B4-BE49-F238E27FC236}">
                <a16:creationId xmlns:a16="http://schemas.microsoft.com/office/drawing/2014/main" id="{90F6C415-0A78-4411-928E-1695464C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selected analytical episodes</a:t>
            </a:r>
          </a:p>
        </p:txBody>
      </p:sp>
      <p:sp>
        <p:nvSpPr>
          <p:cNvPr id="23" name="card-Selected analytical denominator">
            <a:extLst xmlns:a="http://schemas.openxmlformats.org/drawingml/2006/main">
              <a:ext uri="{FF2B5EF4-FFF2-40B4-BE49-F238E27FC236}">
                <a16:creationId xmlns:a16="http://schemas.microsoft.com/office/drawing/2014/main" id="{A40465BF-8300-4409-BBDD-79526615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4667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24" name="heading-122-456-458-26">
            <a:extLst xmlns:a="http://schemas.openxmlformats.org/drawingml/2006/main">
              <a:ext uri="{FF2B5EF4-FFF2-40B4-BE49-F238E27FC236}">
                <a16:creationId xmlns:a16="http://schemas.microsoft.com/office/drawing/2014/main" id="{AAFC6C05-01A7-4AAD-9412-6BE75B8A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436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Selected analytical denominator</a:t>
            </a:r>
          </a:p>
        </p:txBody>
      </p:sp>
      <p:sp>
        <p:nvSpPr>
          <p:cNvPr id="25" name="body-122-488-458-43">
            <a:extLst xmlns:a="http://schemas.openxmlformats.org/drawingml/2006/main">
              <a:ext uri="{FF2B5EF4-FFF2-40B4-BE49-F238E27FC236}">
                <a16:creationId xmlns:a16="http://schemas.microsoft.com/office/drawing/2014/main" id="{9E680D11-BA66-425F-A75F-6C50861C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4362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episodes: 16 operational UTI and 516 operational Not_UTI.</a:t>
            </a:r>
          </a:p>
        </p:txBody>
      </p:sp>
      <p:sp>
        <p:nvSpPr>
          <p:cNvPr id="26" name="card-Not_UTI is a mixed comparator">
            <a:extLst xmlns:a="http://schemas.openxmlformats.org/drawingml/2006/main">
              <a:ext uri="{FF2B5EF4-FFF2-40B4-BE49-F238E27FC236}">
                <a16:creationId xmlns:a16="http://schemas.microsoft.com/office/drawing/2014/main" id="{2A804D45-DAF9-4C67-98A4-3EF6F699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4667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heading-698-456-458-26">
            <a:extLst xmlns:a="http://schemas.openxmlformats.org/drawingml/2006/main">
              <a:ext uri="{FF2B5EF4-FFF2-40B4-BE49-F238E27FC236}">
                <a16:creationId xmlns:a16="http://schemas.microsoft.com/office/drawing/2014/main" id="{4D50AE03-E3A5-4998-A3BF-4FB9AB4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43400"/>
            <a:ext cx="436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Not_UTI is a mixed comparator</a:t>
            </a:r>
          </a:p>
        </p:txBody>
      </p:sp>
      <p:sp>
        <p:nvSpPr>
          <p:cNvPr id="28" name="body-698-488-458-43">
            <a:extLst xmlns:a="http://schemas.openxmlformats.org/drawingml/2006/main">
              <a:ext uri="{FF2B5EF4-FFF2-40B4-BE49-F238E27FC236}">
                <a16:creationId xmlns:a16="http://schemas.microsoft.com/office/drawing/2014/main" id="{766F656A-4194-468E-919B-B1453C01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48200"/>
            <a:ext cx="4362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It means the episode did not meet the operational UTI label; it is not a single biological state.</a:t>
            </a:r>
          </a:p>
        </p:txBody>
      </p:sp>
    </p:spTree>
    <p:extLst>
      <p:ext uri="{BB962C8B-B14F-4D97-AF65-F5344CB8AC3E}">
        <p14:creationId xmlns:p14="http://schemas.microsoft.com/office/powerpoint/2010/main" val="11539805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D47BFE8-B28F-4E7E-A18D-67545EC9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7EC0BE5-D83E-4E5F-A341-4383F03D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F6340B6-613B-483E-984A-65EA43FA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 ASSET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0FB7A5-B2DC-4372-AC4B-B01B3596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VF-ready data link selected genomes to repeated clinical episodes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21E0F2D-BBFE-4DA5-9DAA-136FE113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analytical denominators are selected Longcycler outputs; source counts appear only as QC context.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3362A17-319D-43BA-BC91-81005156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EC4885-EF61-4021-A60B-382FB596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4042FFA-A434-412D-B806-C67F6D25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98BE4E6-5646-4036-93EC-031C624E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metric-selected episodes">
            <a:extLst xmlns:a="http://schemas.openxmlformats.org/drawingml/2006/main">
              <a:ext uri="{FF2B5EF4-FFF2-40B4-BE49-F238E27FC236}">
                <a16:creationId xmlns:a16="http://schemas.microsoft.com/office/drawing/2014/main" id="{348FCDE6-640B-4F0F-A395-A6F4688B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heading-76-188-170-31">
            <a:extLst xmlns:a="http://schemas.openxmlformats.org/drawingml/2006/main">
              <a:ext uri="{FF2B5EF4-FFF2-40B4-BE49-F238E27FC236}">
                <a16:creationId xmlns:a16="http://schemas.microsoft.com/office/drawing/2014/main" id="{5FE199DF-219C-46A7-96E7-D2F66676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532</a:t>
            </a:r>
          </a:p>
        </p:txBody>
      </p:sp>
      <p:sp>
        <p:nvSpPr>
          <p:cNvPr id="12" name="body-76-226-170-32">
            <a:extLst xmlns:a="http://schemas.openxmlformats.org/drawingml/2006/main">
              <a:ext uri="{FF2B5EF4-FFF2-40B4-BE49-F238E27FC236}">
                <a16:creationId xmlns:a16="http://schemas.microsoft.com/office/drawing/2014/main" id="{6C6EBDCD-1D3D-41B6-8493-E1000FA4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episodes</a:t>
            </a:r>
          </a:p>
        </p:txBody>
      </p:sp>
      <p:sp>
        <p:nvSpPr>
          <p:cNvPr id="13" name="metric-residents">
            <a:extLst xmlns:a="http://schemas.openxmlformats.org/drawingml/2006/main">
              <a:ext uri="{FF2B5EF4-FFF2-40B4-BE49-F238E27FC236}">
                <a16:creationId xmlns:a16="http://schemas.microsoft.com/office/drawing/2014/main" id="{FCE86E2D-C0DC-4421-8547-C9529A26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heading-312-188-170-31">
            <a:extLst xmlns:a="http://schemas.openxmlformats.org/drawingml/2006/main">
              <a:ext uri="{FF2B5EF4-FFF2-40B4-BE49-F238E27FC236}">
                <a16:creationId xmlns:a16="http://schemas.microsoft.com/office/drawing/2014/main" id="{A53F2454-F920-425C-991F-D0CCCDFD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161</a:t>
            </a:r>
          </a:p>
        </p:txBody>
      </p:sp>
      <p:sp>
        <p:nvSpPr>
          <p:cNvPr id="15" name="body-312-226-170-32">
            <a:extLst xmlns:a="http://schemas.openxmlformats.org/drawingml/2006/main">
              <a:ext uri="{FF2B5EF4-FFF2-40B4-BE49-F238E27FC236}">
                <a16:creationId xmlns:a16="http://schemas.microsoft.com/office/drawing/2014/main" id="{8D84F801-9799-49B5-A0DF-35A7A8B7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residents</a:t>
            </a:r>
          </a:p>
        </p:txBody>
      </p:sp>
      <p:sp>
        <p:nvSpPr>
          <p:cNvPr id="16" name="metric-binary VF features">
            <a:extLst xmlns:a="http://schemas.openxmlformats.org/drawingml/2006/main">
              <a:ext uri="{FF2B5EF4-FFF2-40B4-BE49-F238E27FC236}">
                <a16:creationId xmlns:a16="http://schemas.microsoft.com/office/drawing/2014/main" id="{E7A9E004-1D34-4623-BA81-78770A19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heading-548-188-170-31">
            <a:extLst xmlns:a="http://schemas.openxmlformats.org/drawingml/2006/main">
              <a:ext uri="{FF2B5EF4-FFF2-40B4-BE49-F238E27FC236}">
                <a16:creationId xmlns:a16="http://schemas.microsoft.com/office/drawing/2014/main" id="{C51FE27F-801E-49F8-8675-C87151E1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227</a:t>
            </a:r>
          </a:p>
        </p:txBody>
      </p:sp>
      <p:sp>
        <p:nvSpPr>
          <p:cNvPr id="18" name="body-548-226-170-32">
            <a:extLst xmlns:a="http://schemas.openxmlformats.org/drawingml/2006/main">
              <a:ext uri="{FF2B5EF4-FFF2-40B4-BE49-F238E27FC236}">
                <a16:creationId xmlns:a16="http://schemas.microsoft.com/office/drawing/2014/main" id="{2210ADC2-F657-40A0-A2E0-DD1CF448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F855A"/>
                </a:solidFill>
                <a:latin typeface="Aptos"/>
                <a:ea typeface="Aptos"/>
                <a:cs typeface="Aptos"/>
              </a:rPr>
              <a:t>binary VF features</a:t>
            </a:r>
          </a:p>
        </p:txBody>
      </p:sp>
      <p:sp>
        <p:nvSpPr>
          <p:cNvPr id="19" name="metric-operational UTI">
            <a:extLst xmlns:a="http://schemas.openxmlformats.org/drawingml/2006/main">
              <a:ext uri="{FF2B5EF4-FFF2-40B4-BE49-F238E27FC236}">
                <a16:creationId xmlns:a16="http://schemas.microsoft.com/office/drawing/2014/main" id="{1DF061BB-261A-4ACC-BFE5-E52FC7AD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heading-784-188-170-31">
            <a:extLst xmlns:a="http://schemas.openxmlformats.org/drawingml/2006/main">
              <a:ext uri="{FF2B5EF4-FFF2-40B4-BE49-F238E27FC236}">
                <a16:creationId xmlns:a16="http://schemas.microsoft.com/office/drawing/2014/main" id="{E4362D6D-4D3B-4E6C-9C1D-79E93592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" name="body-784-226-170-32">
            <a:extLst xmlns:a="http://schemas.openxmlformats.org/drawingml/2006/main">
              <a:ext uri="{FF2B5EF4-FFF2-40B4-BE49-F238E27FC236}">
                <a16:creationId xmlns:a16="http://schemas.microsoft.com/office/drawing/2014/main" id="{51EF3C8B-6FDB-4D7A-A0A2-3EEFCD14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7706"/>
                </a:solidFill>
                <a:latin typeface="Aptos"/>
                <a:ea typeface="Aptos"/>
                <a:cs typeface="Aptos"/>
              </a:rPr>
              <a:t>operational UTI</a:t>
            </a:r>
          </a:p>
        </p:txBody>
      </p:sp>
      <p:sp>
        <p:nvSpPr>
          <p:cNvPr id="22" name="metric-operational Not_UTI">
            <a:extLst xmlns:a="http://schemas.openxmlformats.org/drawingml/2006/main">
              <a:ext uri="{FF2B5EF4-FFF2-40B4-BE49-F238E27FC236}">
                <a16:creationId xmlns:a16="http://schemas.microsoft.com/office/drawing/2014/main" id="{ACA11CEC-E3B7-48ED-9B96-8101A6F0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764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heading-1020-188-170-31">
            <a:extLst xmlns:a="http://schemas.openxmlformats.org/drawingml/2006/main">
              <a:ext uri="{FF2B5EF4-FFF2-40B4-BE49-F238E27FC236}">
                <a16:creationId xmlns:a16="http://schemas.microsoft.com/office/drawing/2014/main" id="{9C84C296-130F-4B7E-B046-5A8FA452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90700"/>
            <a:ext cx="1619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65A3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65A3C"/>
                </a:solidFill>
                <a:latin typeface="Aptos"/>
                <a:ea typeface="Aptos"/>
                <a:cs typeface="Aptos"/>
              </a:rPr>
              <a:t>516</a:t>
            </a:r>
          </a:p>
        </p:txBody>
      </p:sp>
      <p:sp>
        <p:nvSpPr>
          <p:cNvPr id="24" name="body-1020-226-170-32">
            <a:extLst xmlns:a="http://schemas.openxmlformats.org/drawingml/2006/main">
              <a:ext uri="{FF2B5EF4-FFF2-40B4-BE49-F238E27FC236}">
                <a16:creationId xmlns:a16="http://schemas.microsoft.com/office/drawing/2014/main" id="{013C1E8B-BCCC-4AF5-AABF-3A87D7E1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526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65A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5A3C"/>
                </a:solidFill>
                <a:latin typeface="Aptos"/>
                <a:ea typeface="Aptos"/>
                <a:cs typeface="Aptos"/>
              </a:rPr>
              <a:t>operational Not_UTI</a:t>
            </a:r>
          </a:p>
        </p:txBody>
      </p:sp>
      <p:sp>
        <p:nvSpPr>
          <p:cNvPr id="25" name="body-98-326-360-24">
            <a:extLst xmlns:a="http://schemas.openxmlformats.org/drawingml/2006/main">
              <a:ext uri="{FF2B5EF4-FFF2-40B4-BE49-F238E27FC236}">
                <a16:creationId xmlns:a16="http://schemas.microsoft.com/office/drawing/2014/main" id="{BA192950-EC01-4D2D-8242-BBA6B923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Repeated-isolate design</a:t>
            </a:r>
          </a:p>
        </p:txBody>
      </p:sp>
      <p:sp>
        <p:nvSpPr>
          <p:cNvPr id="26" name="episode-1">
            <a:extLst xmlns:a="http://schemas.openxmlformats.org/drawingml/2006/main">
              <a:ext uri="{FF2B5EF4-FFF2-40B4-BE49-F238E27FC236}">
                <a16:creationId xmlns:a16="http://schemas.microsoft.com/office/drawing/2014/main" id="{048A13D9-C9F0-4121-B980-F89F66BD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episode-1-head">
            <a:extLst xmlns:a="http://schemas.openxmlformats.org/drawingml/2006/main">
              <a:ext uri="{FF2B5EF4-FFF2-40B4-BE49-F238E27FC236}">
                <a16:creationId xmlns:a16="http://schemas.microsoft.com/office/drawing/2014/main" id="{084FC4DB-B2A1-4B3D-B721-68AD91D0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623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episode-2">
            <a:extLst xmlns:a="http://schemas.openxmlformats.org/drawingml/2006/main">
              <a:ext uri="{FF2B5EF4-FFF2-40B4-BE49-F238E27FC236}">
                <a16:creationId xmlns:a16="http://schemas.microsoft.com/office/drawing/2014/main" id="{2434808B-4723-4A22-98B3-9B1FA26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episode-2-head">
            <a:extLst xmlns:a="http://schemas.openxmlformats.org/drawingml/2006/main">
              <a:ext uri="{FF2B5EF4-FFF2-40B4-BE49-F238E27FC236}">
                <a16:creationId xmlns:a16="http://schemas.microsoft.com/office/drawing/2014/main" id="{AB2D76B4-EC2A-49C6-9015-1F1A95FC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578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episode-3">
            <a:extLst xmlns:a="http://schemas.openxmlformats.org/drawingml/2006/main">
              <a:ext uri="{FF2B5EF4-FFF2-40B4-BE49-F238E27FC236}">
                <a16:creationId xmlns:a16="http://schemas.microsoft.com/office/drawing/2014/main" id="{06C8AF23-5DCE-4750-A92D-2AFF110F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episode-3-head">
            <a:extLst xmlns:a="http://schemas.openxmlformats.org/drawingml/2006/main">
              <a:ext uri="{FF2B5EF4-FFF2-40B4-BE49-F238E27FC236}">
                <a16:creationId xmlns:a16="http://schemas.microsoft.com/office/drawing/2014/main" id="{4E566B0E-4458-4ABE-BE19-E4E3164D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533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pisode-4">
            <a:extLst xmlns:a="http://schemas.openxmlformats.org/drawingml/2006/main">
              <a:ext uri="{FF2B5EF4-FFF2-40B4-BE49-F238E27FC236}">
                <a16:creationId xmlns:a16="http://schemas.microsoft.com/office/drawing/2014/main" id="{C9456068-EB91-41AA-ACF9-0E38724A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1529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episode-4-head">
            <a:extLst xmlns:a="http://schemas.openxmlformats.org/drawingml/2006/main">
              <a:ext uri="{FF2B5EF4-FFF2-40B4-BE49-F238E27FC236}">
                <a16:creationId xmlns:a16="http://schemas.microsoft.com/office/drawing/2014/main" id="{C8BCF62F-B7A5-4946-96B2-F911D9C8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48825" y="4114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episode-node-1">
            <a:extLst xmlns:a="http://schemas.openxmlformats.org/drawingml/2006/main">
              <a:ext uri="{FF2B5EF4-FFF2-40B4-BE49-F238E27FC236}">
                <a16:creationId xmlns:a16="http://schemas.microsoft.com/office/drawing/2014/main" id="{A4EC4AB1-60DF-4D78-8C94-1E5D2CED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35" name="label-142-426-86-18">
            <a:extLst xmlns:a="http://schemas.openxmlformats.org/drawingml/2006/main">
              <a:ext uri="{FF2B5EF4-FFF2-40B4-BE49-F238E27FC236}">
                <a16:creationId xmlns:a16="http://schemas.microsoft.com/office/drawing/2014/main" id="{E9E5AF3D-FAC1-4C93-9A0B-C314F53F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36" name="label-134-484-102-18">
            <a:extLst xmlns:a="http://schemas.openxmlformats.org/drawingml/2006/main">
              <a:ext uri="{FF2B5EF4-FFF2-40B4-BE49-F238E27FC236}">
                <a16:creationId xmlns:a16="http://schemas.microsoft.com/office/drawing/2014/main" id="{A94CCC11-B226-423E-AC7F-C7A5A556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1</a:t>
            </a:r>
          </a:p>
        </p:txBody>
      </p:sp>
      <p:sp>
        <p:nvSpPr>
          <p:cNvPr id="37" name="episode-node-2">
            <a:extLst xmlns:a="http://schemas.openxmlformats.org/drawingml/2006/main">
              <a:ext uri="{FF2B5EF4-FFF2-40B4-BE49-F238E27FC236}">
                <a16:creationId xmlns:a16="http://schemas.microsoft.com/office/drawing/2014/main" id="{ECFB1626-665B-411F-83D7-547870D5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38" name="label-362-426-86-18">
            <a:extLst xmlns:a="http://schemas.openxmlformats.org/drawingml/2006/main">
              <a:ext uri="{FF2B5EF4-FFF2-40B4-BE49-F238E27FC236}">
                <a16:creationId xmlns:a16="http://schemas.microsoft.com/office/drawing/2014/main" id="{45167870-6899-4C95-9834-40698C8B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39" name="label-354-484-102-18">
            <a:extLst xmlns:a="http://schemas.openxmlformats.org/drawingml/2006/main">
              <a:ext uri="{FF2B5EF4-FFF2-40B4-BE49-F238E27FC236}">
                <a16:creationId xmlns:a16="http://schemas.microsoft.com/office/drawing/2014/main" id="{50ED5BE9-1CC9-4E93-9CAE-7282375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2</a:t>
            </a:r>
          </a:p>
        </p:txBody>
      </p:sp>
      <p:sp>
        <p:nvSpPr>
          <p:cNvPr id="40" name="episode-node-3">
            <a:extLst xmlns:a="http://schemas.openxmlformats.org/drawingml/2006/main">
              <a:ext uri="{FF2B5EF4-FFF2-40B4-BE49-F238E27FC236}">
                <a16:creationId xmlns:a16="http://schemas.microsoft.com/office/drawing/2014/main" id="{71EA6D55-9E1C-4C2A-BA25-B729D669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41" name="label-582-426-86-18">
            <a:extLst xmlns:a="http://schemas.openxmlformats.org/drawingml/2006/main">
              <a:ext uri="{FF2B5EF4-FFF2-40B4-BE49-F238E27FC236}">
                <a16:creationId xmlns:a16="http://schemas.microsoft.com/office/drawing/2014/main" id="{32928178-1CA0-48F5-9511-41511054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42" name="label-574-484-102-18">
            <a:extLst xmlns:a="http://schemas.openxmlformats.org/drawingml/2006/main">
              <a:ext uri="{FF2B5EF4-FFF2-40B4-BE49-F238E27FC236}">
                <a16:creationId xmlns:a16="http://schemas.microsoft.com/office/drawing/2014/main" id="{A2D97CB7-B5AA-42F3-806E-B85B8720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3</a:t>
            </a:r>
          </a:p>
        </p:txBody>
      </p:sp>
      <p:sp>
        <p:nvSpPr>
          <p:cNvPr id="43" name="episode-node-4">
            <a:extLst xmlns:a="http://schemas.openxmlformats.org/drawingml/2006/main">
              <a:ext uri="{FF2B5EF4-FFF2-40B4-BE49-F238E27FC236}">
                <a16:creationId xmlns:a16="http://schemas.microsoft.com/office/drawing/2014/main" id="{0DE24811-BB5C-49EB-9381-9A6B1EC9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19050">
            <a:solidFill>
              <a:srgbClr val="F4B15F"/>
            </a:solidFill>
            <a:prstDash val="solid"/>
          </a:ln>
        </p:spPr>
      </p:sp>
      <p:sp>
        <p:nvSpPr>
          <p:cNvPr id="44" name="label-802-426-86-18">
            <a:extLst xmlns:a="http://schemas.openxmlformats.org/drawingml/2006/main">
              <a:ext uri="{FF2B5EF4-FFF2-40B4-BE49-F238E27FC236}">
                <a16:creationId xmlns:a16="http://schemas.microsoft.com/office/drawing/2014/main" id="{76A79EC0-5E45-4BF7-81E6-E4D71240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45" name="label-794-484-102-18">
            <a:extLst xmlns:a="http://schemas.openxmlformats.org/drawingml/2006/main">
              <a:ext uri="{FF2B5EF4-FFF2-40B4-BE49-F238E27FC236}">
                <a16:creationId xmlns:a16="http://schemas.microsoft.com/office/drawing/2014/main" id="{B5B3FC8D-87CB-4146-A6B0-9C995BB7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4</a:t>
            </a:r>
          </a:p>
        </p:txBody>
      </p:sp>
      <p:sp>
        <p:nvSpPr>
          <p:cNvPr id="46" name="episode-node-5">
            <a:extLst xmlns:a="http://schemas.openxmlformats.org/drawingml/2006/main">
              <a:ext uri="{FF2B5EF4-FFF2-40B4-BE49-F238E27FC236}">
                <a16:creationId xmlns:a16="http://schemas.microsoft.com/office/drawing/2014/main" id="{8389B714-779D-46FC-BBB4-58C9A078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9AC1E6"/>
            </a:solidFill>
            <a:prstDash val="solid"/>
          </a:ln>
        </p:spPr>
      </p:sp>
      <p:sp>
        <p:nvSpPr>
          <p:cNvPr id="47" name="label-1022-426-86-18">
            <a:extLst xmlns:a="http://schemas.openxmlformats.org/drawingml/2006/main">
              <a:ext uri="{FF2B5EF4-FFF2-40B4-BE49-F238E27FC236}">
                <a16:creationId xmlns:a16="http://schemas.microsoft.com/office/drawing/2014/main" id="{AE2CFE22-6C08-4672-8CF7-185FE88B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57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48" name="label-1014-484-102-18">
            <a:extLst xmlns:a="http://schemas.openxmlformats.org/drawingml/2006/main">
              <a:ext uri="{FF2B5EF4-FFF2-40B4-BE49-F238E27FC236}">
                <a16:creationId xmlns:a16="http://schemas.microsoft.com/office/drawing/2014/main" id="{1528445B-98FE-4264-9DBF-B66565BE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101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5</a:t>
            </a:r>
          </a:p>
        </p:txBody>
      </p:sp>
      <p:sp>
        <p:nvSpPr>
          <p:cNvPr id="49" name="card-Interpretation stance">
            <a:extLst xmlns:a="http://schemas.openxmlformats.org/drawingml/2006/main">
              <a:ext uri="{FF2B5EF4-FFF2-40B4-BE49-F238E27FC236}">
                <a16:creationId xmlns:a16="http://schemas.microsoft.com/office/drawing/2014/main" id="{05043CB3-4B01-4C31-AA8A-000D9A84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000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heading-114-564-1018-26">
            <a:extLst xmlns:a="http://schemas.openxmlformats.org/drawingml/2006/main">
              <a:ext uri="{FF2B5EF4-FFF2-40B4-BE49-F238E27FC236}">
                <a16:creationId xmlns:a16="http://schemas.microsoft.com/office/drawing/2014/main" id="{B0606802-B9E2-4313-8B1A-142D895D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969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 stance</a:t>
            </a:r>
          </a:p>
        </p:txBody>
      </p:sp>
      <p:sp>
        <p:nvSpPr>
          <p:cNvPr id="51" name="body-114-596-1018-10">
            <a:extLst xmlns:a="http://schemas.openxmlformats.org/drawingml/2006/main">
              <a:ext uri="{FF2B5EF4-FFF2-40B4-BE49-F238E27FC236}">
                <a16:creationId xmlns:a16="http://schemas.microsoft.com/office/drawing/2014/main" id="{E5C066D0-1619-46E4-B81C-741D1A1D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76900"/>
            <a:ext cx="969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 profiles are repeated within residents. Status comparisons must account for repeated measures, lineage structure, and the sparse operational UTI denominator.</a:t>
            </a:r>
          </a:p>
        </p:txBody>
      </p:sp>
    </p:spTree>
    <p:extLst>
      <p:ext uri="{BB962C8B-B14F-4D97-AF65-F5344CB8AC3E}">
        <p14:creationId xmlns:p14="http://schemas.microsoft.com/office/powerpoint/2010/main" val="8794564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8F270D-60F1-4F27-8A6D-BC1FA755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8B16515-27C8-4B7F-8CD1-1B7E0AB1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58E9A59-91C8-4CDB-958A-40B16728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VF REPRESENTATION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66A5A9-927A-4E20-A5A9-E7658940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VF features are summarised as genes, curated modules, and longitudinal similarity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C1FD48F-B832-4685-952F-D73646F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Module and score outputs support interpretation; they are not validated disease-causality measures.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0A56EB4-97E1-49ED-A493-97F25B6D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618C5F-A157-4513-B8F5-C3C7164D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15566F7-386F-44F6-A95B-806373E4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0D3C67-6CBE-4C42-9F9A-2A256504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0" name="framework-1">
            <a:extLst xmlns:a="http://schemas.openxmlformats.org/drawingml/2006/main">
              <a:ext uri="{FF2B5EF4-FFF2-40B4-BE49-F238E27FC236}">
                <a16:creationId xmlns:a16="http://schemas.microsoft.com/office/drawing/2014/main" id="{3F5AB4EC-AA9F-49AC-9B35-268F506F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4384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ramework-1-head">
            <a:extLst xmlns:a="http://schemas.openxmlformats.org/drawingml/2006/main">
              <a:ext uri="{FF2B5EF4-FFF2-40B4-BE49-F238E27FC236}">
                <a16:creationId xmlns:a16="http://schemas.microsoft.com/office/drawing/2014/main" id="{133380BC-57CE-44E6-9420-F4A3D86D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05325" y="2400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framework-2">
            <a:extLst xmlns:a="http://schemas.openxmlformats.org/drawingml/2006/main">
              <a:ext uri="{FF2B5EF4-FFF2-40B4-BE49-F238E27FC236}">
                <a16:creationId xmlns:a16="http://schemas.microsoft.com/office/drawing/2014/main" id="{71805062-BCD0-48AD-A294-EA38E634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4384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framework-2-head">
            <a:extLst xmlns:a="http://schemas.openxmlformats.org/drawingml/2006/main">
              <a:ext uri="{FF2B5EF4-FFF2-40B4-BE49-F238E27FC236}">
                <a16:creationId xmlns:a16="http://schemas.microsoft.com/office/drawing/2014/main" id="{DB9DDD14-B6B5-46AF-B094-31696860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96325" y="2400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ard-Binary VF gene matrix">
            <a:extLst xmlns:a="http://schemas.openxmlformats.org/drawingml/2006/main">
              <a:ext uri="{FF2B5EF4-FFF2-40B4-BE49-F238E27FC236}">
                <a16:creationId xmlns:a16="http://schemas.microsoft.com/office/drawing/2014/main" id="{5E853265-9378-44FC-8D55-59707E78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667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9D5F0"/>
            </a:solidFill>
            <a:prstDash val="solid"/>
          </a:ln>
        </p:spPr>
      </p:sp>
      <p:sp>
        <p:nvSpPr>
          <p:cNvPr id="15" name="heading-90-204-248-26">
            <a:extLst xmlns:a="http://schemas.openxmlformats.org/drawingml/2006/main">
              <a:ext uri="{FF2B5EF4-FFF2-40B4-BE49-F238E27FC236}">
                <a16:creationId xmlns:a16="http://schemas.microsoft.com/office/drawing/2014/main" id="{E7A0BAFF-32CF-493A-B31D-1A3BDD5F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362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Binary VF gene matrix</a:t>
            </a:r>
          </a:p>
        </p:txBody>
      </p:sp>
      <p:sp>
        <p:nvSpPr>
          <p:cNvPr id="16" name="body-90-236-248-76">
            <a:extLst xmlns:a="http://schemas.openxmlformats.org/drawingml/2006/main">
              <a:ext uri="{FF2B5EF4-FFF2-40B4-BE49-F238E27FC236}">
                <a16:creationId xmlns:a16="http://schemas.microsoft.com/office/drawing/2014/main" id="{D98C6418-3445-4EC0-8D20-866B9385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362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227 presence/absence features per selected episode-level genome.</a:t>
            </a:r>
          </a:p>
        </p:txBody>
      </p:sp>
      <p:sp>
        <p:nvSpPr>
          <p:cNvPr id="17" name="card-Curated biological modules">
            <a:extLst xmlns:a="http://schemas.openxmlformats.org/drawingml/2006/main">
              <a:ext uri="{FF2B5EF4-FFF2-40B4-BE49-F238E27FC236}">
                <a16:creationId xmlns:a16="http://schemas.microsoft.com/office/drawing/2014/main" id="{99437138-C2DD-4CE0-8567-806CBE1B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300037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8" name="heading-496-204-283-26">
            <a:extLst xmlns:a="http://schemas.openxmlformats.org/drawingml/2006/main">
              <a:ext uri="{FF2B5EF4-FFF2-40B4-BE49-F238E27FC236}">
                <a16:creationId xmlns:a16="http://schemas.microsoft.com/office/drawing/2014/main" id="{BA251CF8-C82E-445F-B8F2-B55EF300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43100"/>
            <a:ext cx="2695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Curated biological modules</a:t>
            </a:r>
          </a:p>
        </p:txBody>
      </p:sp>
      <p:sp>
        <p:nvSpPr>
          <p:cNvPr id="19" name="body-496-236-283-76">
            <a:extLst xmlns:a="http://schemas.openxmlformats.org/drawingml/2006/main">
              <a:ext uri="{FF2B5EF4-FFF2-40B4-BE49-F238E27FC236}">
                <a16:creationId xmlns:a16="http://schemas.microsoft.com/office/drawing/2014/main" id="{0EE779E5-82B9-487A-BFD7-048D38AB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Genes are grouped to make repertoire patterns navigable without changing the underlying binary evidence.</a:t>
            </a:r>
          </a:p>
        </p:txBody>
      </p:sp>
      <p:sp>
        <p:nvSpPr>
          <p:cNvPr id="20" name="card-Longitudinal outputs">
            <a:extLst xmlns:a="http://schemas.openxmlformats.org/drawingml/2006/main">
              <a:ext uri="{FF2B5EF4-FFF2-40B4-BE49-F238E27FC236}">
                <a16:creationId xmlns:a16="http://schemas.microsoft.com/office/drawing/2014/main" id="{289B00DC-07CC-4E60-8023-753A5ECC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2714625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21" name="heading-936-204-253-26">
            <a:extLst xmlns:a="http://schemas.openxmlformats.org/drawingml/2006/main">
              <a:ext uri="{FF2B5EF4-FFF2-40B4-BE49-F238E27FC236}">
                <a16:creationId xmlns:a16="http://schemas.microsoft.com/office/drawing/2014/main" id="{0BAD1C94-9CE2-4829-A55A-2249BF7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2409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Longitudinal outputs</a:t>
            </a:r>
          </a:p>
        </p:txBody>
      </p:sp>
      <p:sp>
        <p:nvSpPr>
          <p:cNvPr id="22" name="body-936-236-253-76">
            <a:extLst xmlns:a="http://schemas.openxmlformats.org/drawingml/2006/main">
              <a:ext uri="{FF2B5EF4-FFF2-40B4-BE49-F238E27FC236}">
                <a16:creationId xmlns:a16="http://schemas.microsoft.com/office/drawing/2014/main" id="{43498945-5D68-48E0-950F-878C7053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4098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Prevalence, Jaccard similarity, gain/loss summaries, and exploratory clinical overlays.</a:t>
            </a:r>
          </a:p>
        </p:txBody>
      </p:sp>
      <p:sp>
        <p:nvSpPr>
          <p:cNvPr id="23" name="matrix-0-0">
            <a:extLst xmlns:a="http://schemas.openxmlformats.org/drawingml/2006/main">
              <a:ext uri="{FF2B5EF4-FFF2-40B4-BE49-F238E27FC236}">
                <a16:creationId xmlns:a16="http://schemas.microsoft.com/office/drawing/2014/main" id="{BA387562-2FFF-4E09-AECC-4C25F5F6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matrix-0-1">
            <a:extLst xmlns:a="http://schemas.openxmlformats.org/drawingml/2006/main">
              <a:ext uri="{FF2B5EF4-FFF2-40B4-BE49-F238E27FC236}">
                <a16:creationId xmlns:a16="http://schemas.microsoft.com/office/drawing/2014/main" id="{E1EBF19F-64D9-47F4-81EE-46617834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matrix-0-2">
            <a:extLst xmlns:a="http://schemas.openxmlformats.org/drawingml/2006/main">
              <a:ext uri="{FF2B5EF4-FFF2-40B4-BE49-F238E27FC236}">
                <a16:creationId xmlns:a16="http://schemas.microsoft.com/office/drawing/2014/main" id="{2468FEAE-BF6E-4442-A665-1EF4154D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matrix-0-3">
            <a:extLst xmlns:a="http://schemas.openxmlformats.org/drawingml/2006/main">
              <a:ext uri="{FF2B5EF4-FFF2-40B4-BE49-F238E27FC236}">
                <a16:creationId xmlns:a16="http://schemas.microsoft.com/office/drawing/2014/main" id="{CA00C9F6-0435-47D5-B7AA-C2CAE5DF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matrix-0-4">
            <a:extLst xmlns:a="http://schemas.openxmlformats.org/drawingml/2006/main">
              <a:ext uri="{FF2B5EF4-FFF2-40B4-BE49-F238E27FC236}">
                <a16:creationId xmlns:a16="http://schemas.microsoft.com/office/drawing/2014/main" id="{F9C96BC2-EFA9-4BFC-88D5-1B422652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matrix-0-5">
            <a:extLst xmlns:a="http://schemas.openxmlformats.org/drawingml/2006/main">
              <a:ext uri="{FF2B5EF4-FFF2-40B4-BE49-F238E27FC236}">
                <a16:creationId xmlns:a16="http://schemas.microsoft.com/office/drawing/2014/main" id="{74CCD3D8-1366-4F6B-9D17-641B573C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matrix-0-6">
            <a:extLst xmlns:a="http://schemas.openxmlformats.org/drawingml/2006/main">
              <a:ext uri="{FF2B5EF4-FFF2-40B4-BE49-F238E27FC236}">
                <a16:creationId xmlns:a16="http://schemas.microsoft.com/office/drawing/2014/main" id="{5AC0D96C-87DB-4710-B280-6FEC67DE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matrix-0-7">
            <a:extLst xmlns:a="http://schemas.openxmlformats.org/drawingml/2006/main">
              <a:ext uri="{FF2B5EF4-FFF2-40B4-BE49-F238E27FC236}">
                <a16:creationId xmlns:a16="http://schemas.microsoft.com/office/drawing/2014/main" id="{4E3E94B0-3122-44B6-BAD5-29BCD299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matrix-0-8">
            <a:extLst xmlns:a="http://schemas.openxmlformats.org/drawingml/2006/main">
              <a:ext uri="{FF2B5EF4-FFF2-40B4-BE49-F238E27FC236}">
                <a16:creationId xmlns:a16="http://schemas.microsoft.com/office/drawing/2014/main" id="{644C7FDD-AD0C-49FC-8470-3D9AB177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matrix-0-9">
            <a:extLst xmlns:a="http://schemas.openxmlformats.org/drawingml/2006/main">
              <a:ext uri="{FF2B5EF4-FFF2-40B4-BE49-F238E27FC236}">
                <a16:creationId xmlns:a16="http://schemas.microsoft.com/office/drawing/2014/main" id="{01804B7F-673A-4DFA-983D-59DE246E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matrix-0-10">
            <a:extLst xmlns:a="http://schemas.openxmlformats.org/drawingml/2006/main">
              <a:ext uri="{FF2B5EF4-FFF2-40B4-BE49-F238E27FC236}">
                <a16:creationId xmlns:a16="http://schemas.microsoft.com/office/drawing/2014/main" id="{07BA640A-C0EF-4AC2-B64F-A32A10BD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338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matrix-1-0">
            <a:extLst xmlns:a="http://schemas.openxmlformats.org/drawingml/2006/main">
              <a:ext uri="{FF2B5EF4-FFF2-40B4-BE49-F238E27FC236}">
                <a16:creationId xmlns:a16="http://schemas.microsoft.com/office/drawing/2014/main" id="{15772C95-F17A-4C7D-AF8D-775EB728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matrix-1-1">
            <a:extLst xmlns:a="http://schemas.openxmlformats.org/drawingml/2006/main">
              <a:ext uri="{FF2B5EF4-FFF2-40B4-BE49-F238E27FC236}">
                <a16:creationId xmlns:a16="http://schemas.microsoft.com/office/drawing/2014/main" id="{5DEEEC62-D5C9-40A3-8B72-23777CFB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matrix-1-2">
            <a:extLst xmlns:a="http://schemas.openxmlformats.org/drawingml/2006/main">
              <a:ext uri="{FF2B5EF4-FFF2-40B4-BE49-F238E27FC236}">
                <a16:creationId xmlns:a16="http://schemas.microsoft.com/office/drawing/2014/main" id="{116DEFA2-E2DD-4451-8D4D-E40EF3C6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matrix-1-3">
            <a:extLst xmlns:a="http://schemas.openxmlformats.org/drawingml/2006/main">
              <a:ext uri="{FF2B5EF4-FFF2-40B4-BE49-F238E27FC236}">
                <a16:creationId xmlns:a16="http://schemas.microsoft.com/office/drawing/2014/main" id="{F11795D9-30B8-4CAA-A6FE-A230471B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matrix-1-4">
            <a:extLst xmlns:a="http://schemas.openxmlformats.org/drawingml/2006/main">
              <a:ext uri="{FF2B5EF4-FFF2-40B4-BE49-F238E27FC236}">
                <a16:creationId xmlns:a16="http://schemas.microsoft.com/office/drawing/2014/main" id="{F10811B3-6C3F-4570-A866-202743E0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matrix-1-5">
            <a:extLst xmlns:a="http://schemas.openxmlformats.org/drawingml/2006/main">
              <a:ext uri="{FF2B5EF4-FFF2-40B4-BE49-F238E27FC236}">
                <a16:creationId xmlns:a16="http://schemas.microsoft.com/office/drawing/2014/main" id="{C389E3E3-A3ED-4C21-8EC3-7CA0A008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matrix-1-6">
            <a:extLst xmlns:a="http://schemas.openxmlformats.org/drawingml/2006/main">
              <a:ext uri="{FF2B5EF4-FFF2-40B4-BE49-F238E27FC236}">
                <a16:creationId xmlns:a16="http://schemas.microsoft.com/office/drawing/2014/main" id="{3752F331-C963-46E4-9095-7F36AD5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matrix-1-7">
            <a:extLst xmlns:a="http://schemas.openxmlformats.org/drawingml/2006/main">
              <a:ext uri="{FF2B5EF4-FFF2-40B4-BE49-F238E27FC236}">
                <a16:creationId xmlns:a16="http://schemas.microsoft.com/office/drawing/2014/main" id="{2F6DC99F-1216-49B8-938A-FB7C76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matrix-1-8">
            <a:extLst xmlns:a="http://schemas.openxmlformats.org/drawingml/2006/main">
              <a:ext uri="{FF2B5EF4-FFF2-40B4-BE49-F238E27FC236}">
                <a16:creationId xmlns:a16="http://schemas.microsoft.com/office/drawing/2014/main" id="{5D86212F-16C3-4CB6-813E-60C4D174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matrix-1-9">
            <a:extLst xmlns:a="http://schemas.openxmlformats.org/drawingml/2006/main">
              <a:ext uri="{FF2B5EF4-FFF2-40B4-BE49-F238E27FC236}">
                <a16:creationId xmlns:a16="http://schemas.microsoft.com/office/drawing/2014/main" id="{75F704D0-4A6B-4F2F-8D10-93D8597F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matrix-1-10">
            <a:extLst xmlns:a="http://schemas.openxmlformats.org/drawingml/2006/main">
              <a:ext uri="{FF2B5EF4-FFF2-40B4-BE49-F238E27FC236}">
                <a16:creationId xmlns:a16="http://schemas.microsoft.com/office/drawing/2014/main" id="{0A96E0BB-BFAA-4E8C-A8A8-75AF3643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957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matrix-2-0">
            <a:extLst xmlns:a="http://schemas.openxmlformats.org/drawingml/2006/main">
              <a:ext uri="{FF2B5EF4-FFF2-40B4-BE49-F238E27FC236}">
                <a16:creationId xmlns:a16="http://schemas.microsoft.com/office/drawing/2014/main" id="{5068AC74-91E1-4F98-8F38-3530AB93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matrix-2-1">
            <a:extLst xmlns:a="http://schemas.openxmlformats.org/drawingml/2006/main">
              <a:ext uri="{FF2B5EF4-FFF2-40B4-BE49-F238E27FC236}">
                <a16:creationId xmlns:a16="http://schemas.microsoft.com/office/drawing/2014/main" id="{B9EFD1DB-BE42-4C76-AE67-648E5027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matrix-2-2">
            <a:extLst xmlns:a="http://schemas.openxmlformats.org/drawingml/2006/main">
              <a:ext uri="{FF2B5EF4-FFF2-40B4-BE49-F238E27FC236}">
                <a16:creationId xmlns:a16="http://schemas.microsoft.com/office/drawing/2014/main" id="{69D6B6C7-BD36-457F-986E-FC3ABBFB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matrix-2-3">
            <a:extLst xmlns:a="http://schemas.openxmlformats.org/drawingml/2006/main">
              <a:ext uri="{FF2B5EF4-FFF2-40B4-BE49-F238E27FC236}">
                <a16:creationId xmlns:a16="http://schemas.microsoft.com/office/drawing/2014/main" id="{74A11677-BE76-4818-8E13-8145C6C7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matrix-2-4">
            <a:extLst xmlns:a="http://schemas.openxmlformats.org/drawingml/2006/main">
              <a:ext uri="{FF2B5EF4-FFF2-40B4-BE49-F238E27FC236}">
                <a16:creationId xmlns:a16="http://schemas.microsoft.com/office/drawing/2014/main" id="{F8F30BAA-2390-4B4D-8818-77E12622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matrix-2-5">
            <a:extLst xmlns:a="http://schemas.openxmlformats.org/drawingml/2006/main">
              <a:ext uri="{FF2B5EF4-FFF2-40B4-BE49-F238E27FC236}">
                <a16:creationId xmlns:a16="http://schemas.microsoft.com/office/drawing/2014/main" id="{BF9BF438-0C13-48D4-8580-0207B0E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matrix-2-6">
            <a:extLst xmlns:a="http://schemas.openxmlformats.org/drawingml/2006/main">
              <a:ext uri="{FF2B5EF4-FFF2-40B4-BE49-F238E27FC236}">
                <a16:creationId xmlns:a16="http://schemas.microsoft.com/office/drawing/2014/main" id="{445B81C2-8F42-4B12-A80F-B9BE5523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matrix-2-7">
            <a:extLst xmlns:a="http://schemas.openxmlformats.org/drawingml/2006/main">
              <a:ext uri="{FF2B5EF4-FFF2-40B4-BE49-F238E27FC236}">
                <a16:creationId xmlns:a16="http://schemas.microsoft.com/office/drawing/2014/main" id="{5380858B-E9C7-404A-8C05-0D34B036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matrix-2-8">
            <a:extLst xmlns:a="http://schemas.openxmlformats.org/drawingml/2006/main">
              <a:ext uri="{FF2B5EF4-FFF2-40B4-BE49-F238E27FC236}">
                <a16:creationId xmlns:a16="http://schemas.microsoft.com/office/drawing/2014/main" id="{D5E74B2D-0D8F-4C6B-ACA3-67086294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matrix-2-9">
            <a:extLst xmlns:a="http://schemas.openxmlformats.org/drawingml/2006/main">
              <a:ext uri="{FF2B5EF4-FFF2-40B4-BE49-F238E27FC236}">
                <a16:creationId xmlns:a16="http://schemas.microsoft.com/office/drawing/2014/main" id="{C1360DDE-BAD9-4BBE-A030-B55FC457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matrix-2-10">
            <a:extLst xmlns:a="http://schemas.openxmlformats.org/drawingml/2006/main">
              <a:ext uri="{FF2B5EF4-FFF2-40B4-BE49-F238E27FC236}">
                <a16:creationId xmlns:a16="http://schemas.microsoft.com/office/drawing/2014/main" id="{1BCC2057-495D-4E42-A195-BDBE0B5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576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matrix-3-0">
            <a:extLst xmlns:a="http://schemas.openxmlformats.org/drawingml/2006/main">
              <a:ext uri="{FF2B5EF4-FFF2-40B4-BE49-F238E27FC236}">
                <a16:creationId xmlns:a16="http://schemas.microsoft.com/office/drawing/2014/main" id="{30D0BE43-AC89-4B7F-B4C6-54DAFB95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matrix-3-1">
            <a:extLst xmlns:a="http://schemas.openxmlformats.org/drawingml/2006/main">
              <a:ext uri="{FF2B5EF4-FFF2-40B4-BE49-F238E27FC236}">
                <a16:creationId xmlns:a16="http://schemas.microsoft.com/office/drawing/2014/main" id="{003EDEFF-57E6-4428-A607-08A55321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matrix-3-2">
            <a:extLst xmlns:a="http://schemas.openxmlformats.org/drawingml/2006/main">
              <a:ext uri="{FF2B5EF4-FFF2-40B4-BE49-F238E27FC236}">
                <a16:creationId xmlns:a16="http://schemas.microsoft.com/office/drawing/2014/main" id="{6A1A8D14-BE49-44D4-A17E-E51F9A93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matrix-3-3">
            <a:extLst xmlns:a="http://schemas.openxmlformats.org/drawingml/2006/main">
              <a:ext uri="{FF2B5EF4-FFF2-40B4-BE49-F238E27FC236}">
                <a16:creationId xmlns:a16="http://schemas.microsoft.com/office/drawing/2014/main" id="{75E63B6E-6552-43F5-BD8A-FF128D32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matrix-3-4">
            <a:extLst xmlns:a="http://schemas.openxmlformats.org/drawingml/2006/main">
              <a:ext uri="{FF2B5EF4-FFF2-40B4-BE49-F238E27FC236}">
                <a16:creationId xmlns:a16="http://schemas.microsoft.com/office/drawing/2014/main" id="{945F9098-3901-4921-B695-A7951A5C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matrix-3-5">
            <a:extLst xmlns:a="http://schemas.openxmlformats.org/drawingml/2006/main">
              <a:ext uri="{FF2B5EF4-FFF2-40B4-BE49-F238E27FC236}">
                <a16:creationId xmlns:a16="http://schemas.microsoft.com/office/drawing/2014/main" id="{A3167DE3-7C8B-484B-8F73-2C3068AA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matrix-3-6">
            <a:extLst xmlns:a="http://schemas.openxmlformats.org/drawingml/2006/main">
              <a:ext uri="{FF2B5EF4-FFF2-40B4-BE49-F238E27FC236}">
                <a16:creationId xmlns:a16="http://schemas.microsoft.com/office/drawing/2014/main" id="{2EA3C8B5-8C9A-43A0-9844-599A4246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matrix-3-7">
            <a:extLst xmlns:a="http://schemas.openxmlformats.org/drawingml/2006/main">
              <a:ext uri="{FF2B5EF4-FFF2-40B4-BE49-F238E27FC236}">
                <a16:creationId xmlns:a16="http://schemas.microsoft.com/office/drawing/2014/main" id="{F329C329-84FB-4605-900D-79CDD173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matrix-3-8">
            <a:extLst xmlns:a="http://schemas.openxmlformats.org/drawingml/2006/main">
              <a:ext uri="{FF2B5EF4-FFF2-40B4-BE49-F238E27FC236}">
                <a16:creationId xmlns:a16="http://schemas.microsoft.com/office/drawing/2014/main" id="{D21F92AE-1324-48DB-BF48-D7A00A76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matrix-3-9">
            <a:extLst xmlns:a="http://schemas.openxmlformats.org/drawingml/2006/main">
              <a:ext uri="{FF2B5EF4-FFF2-40B4-BE49-F238E27FC236}">
                <a16:creationId xmlns:a16="http://schemas.microsoft.com/office/drawing/2014/main" id="{32F428CC-3704-4E42-9888-A335DD99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matrix-3-10">
            <a:extLst xmlns:a="http://schemas.openxmlformats.org/drawingml/2006/main">
              <a:ext uri="{FF2B5EF4-FFF2-40B4-BE49-F238E27FC236}">
                <a16:creationId xmlns:a16="http://schemas.microsoft.com/office/drawing/2014/main" id="{C3E867DE-1F3E-4F26-92A3-88955D6C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1957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matrix-4-0">
            <a:extLst xmlns:a="http://schemas.openxmlformats.org/drawingml/2006/main">
              <a:ext uri="{FF2B5EF4-FFF2-40B4-BE49-F238E27FC236}">
                <a16:creationId xmlns:a16="http://schemas.microsoft.com/office/drawing/2014/main" id="{D89CE319-C4D2-422F-8687-15105F21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matrix-4-1">
            <a:extLst xmlns:a="http://schemas.openxmlformats.org/drawingml/2006/main">
              <a:ext uri="{FF2B5EF4-FFF2-40B4-BE49-F238E27FC236}">
                <a16:creationId xmlns:a16="http://schemas.microsoft.com/office/drawing/2014/main" id="{ADFEE618-C9AE-47FA-AB8F-359470A3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matrix-4-2">
            <a:extLst xmlns:a="http://schemas.openxmlformats.org/drawingml/2006/main">
              <a:ext uri="{FF2B5EF4-FFF2-40B4-BE49-F238E27FC236}">
                <a16:creationId xmlns:a16="http://schemas.microsoft.com/office/drawing/2014/main" id="{25DD5FA5-EB77-4377-A80C-D2EB589B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matrix-4-3">
            <a:extLst xmlns:a="http://schemas.openxmlformats.org/drawingml/2006/main">
              <a:ext uri="{FF2B5EF4-FFF2-40B4-BE49-F238E27FC236}">
                <a16:creationId xmlns:a16="http://schemas.microsoft.com/office/drawing/2014/main" id="{25B812EB-01B6-4557-A781-92CECA65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matrix-4-4">
            <a:extLst xmlns:a="http://schemas.openxmlformats.org/drawingml/2006/main">
              <a:ext uri="{FF2B5EF4-FFF2-40B4-BE49-F238E27FC236}">
                <a16:creationId xmlns:a16="http://schemas.microsoft.com/office/drawing/2014/main" id="{ECE51458-3EF3-44F2-8E64-EC2886B9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matrix-4-5">
            <a:extLst xmlns:a="http://schemas.openxmlformats.org/drawingml/2006/main">
              <a:ext uri="{FF2B5EF4-FFF2-40B4-BE49-F238E27FC236}">
                <a16:creationId xmlns:a16="http://schemas.microsoft.com/office/drawing/2014/main" id="{78FA8009-3AC6-4BB3-9BD1-82C7C245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matrix-4-6">
            <a:extLst xmlns:a="http://schemas.openxmlformats.org/drawingml/2006/main">
              <a:ext uri="{FF2B5EF4-FFF2-40B4-BE49-F238E27FC236}">
                <a16:creationId xmlns:a16="http://schemas.microsoft.com/office/drawing/2014/main" id="{38DED7D1-8E95-4AD4-ADC2-C3D3D814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matrix-4-7">
            <a:extLst xmlns:a="http://schemas.openxmlformats.org/drawingml/2006/main">
              <a:ext uri="{FF2B5EF4-FFF2-40B4-BE49-F238E27FC236}">
                <a16:creationId xmlns:a16="http://schemas.microsoft.com/office/drawing/2014/main" id="{582B94B8-67B3-4128-B9BD-C24C16D2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matrix-4-8">
            <a:extLst xmlns:a="http://schemas.openxmlformats.org/drawingml/2006/main">
              <a:ext uri="{FF2B5EF4-FFF2-40B4-BE49-F238E27FC236}">
                <a16:creationId xmlns:a16="http://schemas.microsoft.com/office/drawing/2014/main" id="{44087006-9EF3-48C3-ACF9-D56ED02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matrix-4-9">
            <a:extLst xmlns:a="http://schemas.openxmlformats.org/drawingml/2006/main">
              <a:ext uri="{FF2B5EF4-FFF2-40B4-BE49-F238E27FC236}">
                <a16:creationId xmlns:a16="http://schemas.microsoft.com/office/drawing/2014/main" id="{DB2389E6-E766-4B31-9BC4-DD98BCB4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matrix-4-10">
            <a:extLst xmlns:a="http://schemas.openxmlformats.org/drawingml/2006/main">
              <a:ext uri="{FF2B5EF4-FFF2-40B4-BE49-F238E27FC236}">
                <a16:creationId xmlns:a16="http://schemas.microsoft.com/office/drawing/2014/main" id="{CD0E4A0E-0C6E-46B9-9CE6-0277F0FB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815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matrix-5-0">
            <a:extLst xmlns:a="http://schemas.openxmlformats.org/drawingml/2006/main">
              <a:ext uri="{FF2B5EF4-FFF2-40B4-BE49-F238E27FC236}">
                <a16:creationId xmlns:a16="http://schemas.microsoft.com/office/drawing/2014/main" id="{39D2C538-19CB-4080-9C71-07ACF3A5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matrix-5-1">
            <a:extLst xmlns:a="http://schemas.openxmlformats.org/drawingml/2006/main">
              <a:ext uri="{FF2B5EF4-FFF2-40B4-BE49-F238E27FC236}">
                <a16:creationId xmlns:a16="http://schemas.microsoft.com/office/drawing/2014/main" id="{A55A68FE-164C-4EC7-8FF4-D82C9D28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matrix-5-2">
            <a:extLst xmlns:a="http://schemas.openxmlformats.org/drawingml/2006/main">
              <a:ext uri="{FF2B5EF4-FFF2-40B4-BE49-F238E27FC236}">
                <a16:creationId xmlns:a16="http://schemas.microsoft.com/office/drawing/2014/main" id="{F37F5158-A039-4E1D-9818-31738F98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matrix-5-3">
            <a:extLst xmlns:a="http://schemas.openxmlformats.org/drawingml/2006/main">
              <a:ext uri="{FF2B5EF4-FFF2-40B4-BE49-F238E27FC236}">
                <a16:creationId xmlns:a16="http://schemas.microsoft.com/office/drawing/2014/main" id="{D385284F-EEEB-4E0D-8799-89727EE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matrix-5-4">
            <a:extLst xmlns:a="http://schemas.openxmlformats.org/drawingml/2006/main">
              <a:ext uri="{FF2B5EF4-FFF2-40B4-BE49-F238E27FC236}">
                <a16:creationId xmlns:a16="http://schemas.microsoft.com/office/drawing/2014/main" id="{962C79D5-BE71-4E2A-B6AE-047883F9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matrix-5-5">
            <a:extLst xmlns:a="http://schemas.openxmlformats.org/drawingml/2006/main">
              <a:ext uri="{FF2B5EF4-FFF2-40B4-BE49-F238E27FC236}">
                <a16:creationId xmlns:a16="http://schemas.microsoft.com/office/drawing/2014/main" id="{C734C161-F417-4489-957B-001B55D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matrix-5-6">
            <a:extLst xmlns:a="http://schemas.openxmlformats.org/drawingml/2006/main">
              <a:ext uri="{FF2B5EF4-FFF2-40B4-BE49-F238E27FC236}">
                <a16:creationId xmlns:a16="http://schemas.microsoft.com/office/drawing/2014/main" id="{DB0C7634-00AF-42B9-A5DF-BB32805D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matrix-5-7">
            <a:extLst xmlns:a="http://schemas.openxmlformats.org/drawingml/2006/main">
              <a:ext uri="{FF2B5EF4-FFF2-40B4-BE49-F238E27FC236}">
                <a16:creationId xmlns:a16="http://schemas.microsoft.com/office/drawing/2014/main" id="{18EAECDD-6E4E-4B03-AEAB-0EC6F6D3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atrix-5-8">
            <a:extLst xmlns:a="http://schemas.openxmlformats.org/drawingml/2006/main">
              <a:ext uri="{FF2B5EF4-FFF2-40B4-BE49-F238E27FC236}">
                <a16:creationId xmlns:a16="http://schemas.microsoft.com/office/drawing/2014/main" id="{2CE4A397-BA33-4844-BAC9-B8699D27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matrix-5-9">
            <a:extLst xmlns:a="http://schemas.openxmlformats.org/drawingml/2006/main">
              <a:ext uri="{FF2B5EF4-FFF2-40B4-BE49-F238E27FC236}">
                <a16:creationId xmlns:a16="http://schemas.microsoft.com/office/drawing/2014/main" id="{57842298-5C23-463A-A0C5-30B87C1B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matrix-5-10">
            <a:extLst xmlns:a="http://schemas.openxmlformats.org/drawingml/2006/main">
              <a:ext uri="{FF2B5EF4-FFF2-40B4-BE49-F238E27FC236}">
                <a16:creationId xmlns:a16="http://schemas.microsoft.com/office/drawing/2014/main" id="{40F8A281-0397-41EB-992A-452424D9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43425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label-Adhesion">
            <a:extLst xmlns:a="http://schemas.openxmlformats.org/drawingml/2006/main">
              <a:ext uri="{FF2B5EF4-FFF2-40B4-BE49-F238E27FC236}">
                <a16:creationId xmlns:a16="http://schemas.microsoft.com/office/drawing/2014/main" id="{B14C8917-E397-4543-8563-09B764EB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label-508-385-110-21">
            <a:extLst xmlns:a="http://schemas.openxmlformats.org/drawingml/2006/main">
              <a:ext uri="{FF2B5EF4-FFF2-40B4-BE49-F238E27FC236}">
                <a16:creationId xmlns:a16="http://schemas.microsoft.com/office/drawing/2014/main" id="{0A490E4C-5A0B-4345-A567-A2A7B95F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6712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Adhesion</a:t>
            </a:r>
          </a:p>
        </p:txBody>
      </p:sp>
      <p:sp>
        <p:nvSpPr>
          <p:cNvPr id="91" name="label-Iron acquisition">
            <a:extLst xmlns:a="http://schemas.openxmlformats.org/drawingml/2006/main">
              <a:ext uri="{FF2B5EF4-FFF2-40B4-BE49-F238E27FC236}">
                <a16:creationId xmlns:a16="http://schemas.microsoft.com/office/drawing/2014/main" id="{367EDD38-3848-4B8B-A67B-D1640C2A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1950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label-653-385-110-21">
            <a:extLst xmlns:a="http://schemas.openxmlformats.org/drawingml/2006/main">
              <a:ext uri="{FF2B5EF4-FFF2-40B4-BE49-F238E27FC236}">
                <a16:creationId xmlns:a16="http://schemas.microsoft.com/office/drawing/2014/main" id="{B9FD4922-8237-4042-9212-4EE82897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6712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Iron acquisition</a:t>
            </a:r>
          </a:p>
        </p:txBody>
      </p:sp>
      <p:sp>
        <p:nvSpPr>
          <p:cNvPr id="93" name="label-Secretion">
            <a:extLst xmlns:a="http://schemas.openxmlformats.org/drawingml/2006/main">
              <a:ext uri="{FF2B5EF4-FFF2-40B4-BE49-F238E27FC236}">
                <a16:creationId xmlns:a16="http://schemas.microsoft.com/office/drawing/2014/main" id="{50C70FE2-4146-4E25-80AB-1B1068F9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48125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label-508-430-110-21">
            <a:extLst xmlns:a="http://schemas.openxmlformats.org/drawingml/2006/main">
              <a:ext uri="{FF2B5EF4-FFF2-40B4-BE49-F238E27FC236}">
                <a16:creationId xmlns:a16="http://schemas.microsoft.com/office/drawing/2014/main" id="{D8070F5B-2069-4D8D-825B-2DD55A0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95750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Secretion</a:t>
            </a:r>
          </a:p>
        </p:txBody>
      </p:sp>
      <p:sp>
        <p:nvSpPr>
          <p:cNvPr id="95" name="label-Toxin">
            <a:extLst xmlns:a="http://schemas.openxmlformats.org/drawingml/2006/main">
              <a:ext uri="{FF2B5EF4-FFF2-40B4-BE49-F238E27FC236}">
                <a16:creationId xmlns:a16="http://schemas.microsoft.com/office/drawing/2014/main" id="{7769622F-13C9-4995-9F19-4642E4DC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48125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label-653-430-110-21">
            <a:extLst xmlns:a="http://schemas.openxmlformats.org/drawingml/2006/main">
              <a:ext uri="{FF2B5EF4-FFF2-40B4-BE49-F238E27FC236}">
                <a16:creationId xmlns:a16="http://schemas.microsoft.com/office/drawing/2014/main" id="{B998E228-5345-495C-AE68-C249B840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95750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Toxin</a:t>
            </a:r>
          </a:p>
        </p:txBody>
      </p:sp>
      <p:sp>
        <p:nvSpPr>
          <p:cNvPr id="97" name="label-Capsule">
            <a:extLst xmlns:a="http://schemas.openxmlformats.org/drawingml/2006/main">
              <a:ext uri="{FF2B5EF4-FFF2-40B4-BE49-F238E27FC236}">
                <a16:creationId xmlns:a16="http://schemas.microsoft.com/office/drawing/2014/main" id="{191CCF17-D40E-4827-83C1-0C63ACF1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label-508-475-110-21">
            <a:extLst xmlns:a="http://schemas.openxmlformats.org/drawingml/2006/main">
              <a:ext uri="{FF2B5EF4-FFF2-40B4-BE49-F238E27FC236}">
                <a16:creationId xmlns:a16="http://schemas.microsoft.com/office/drawing/2014/main" id="{A10A76C8-1C02-477E-8E09-BC87BF57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2437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Capsule</a:t>
            </a:r>
          </a:p>
        </p:txBody>
      </p:sp>
      <p:sp>
        <p:nvSpPr>
          <p:cNvPr id="99" name="label-Unassigned">
            <a:extLst xmlns:a="http://schemas.openxmlformats.org/drawingml/2006/main">
              <a:ext uri="{FF2B5EF4-FFF2-40B4-BE49-F238E27FC236}">
                <a16:creationId xmlns:a16="http://schemas.microsoft.com/office/drawing/2014/main" id="{7009CFCE-A851-4178-82CE-2203112C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76750"/>
            <a:ext cx="12001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label-653-475-110-21">
            <a:extLst xmlns:a="http://schemas.openxmlformats.org/drawingml/2006/main">
              <a:ext uri="{FF2B5EF4-FFF2-40B4-BE49-F238E27FC236}">
                <a16:creationId xmlns:a16="http://schemas.microsoft.com/office/drawing/2014/main" id="{5C86C6F1-F655-47D4-87EA-06D66586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524375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Unassigned</a:t>
            </a:r>
          </a:p>
        </p:txBody>
      </p:sp>
      <p:sp>
        <p:nvSpPr>
          <p:cNvPr id="101" name="card-Interpretation caution">
            <a:extLst xmlns:a="http://schemas.openxmlformats.org/drawingml/2006/main">
              <a:ext uri="{FF2B5EF4-FFF2-40B4-BE49-F238E27FC236}">
                <a16:creationId xmlns:a16="http://schemas.microsoft.com/office/drawing/2014/main" id="{98482C61-028D-4000-A89B-EE583171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905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02" name="heading-916-388-273-26">
            <a:extLst xmlns:a="http://schemas.openxmlformats.org/drawingml/2006/main">
              <a:ext uri="{FF2B5EF4-FFF2-40B4-BE49-F238E27FC236}">
                <a16:creationId xmlns:a16="http://schemas.microsoft.com/office/drawing/2014/main" id="{D065143D-4B2D-49DA-800B-7A45556D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26003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Interpretation caution</a:t>
            </a:r>
          </a:p>
        </p:txBody>
      </p:sp>
      <p:sp>
        <p:nvSpPr>
          <p:cNvPr id="103" name="body-916-420-273-83">
            <a:extLst xmlns:a="http://schemas.openxmlformats.org/drawingml/2006/main">
              <a:ext uri="{FF2B5EF4-FFF2-40B4-BE49-F238E27FC236}">
                <a16:creationId xmlns:a16="http://schemas.microsoft.com/office/drawing/2014/main" id="{128447CB-9C14-45D5-821A-91576BBF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6003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 presence does not establish expression, activity, disease mechanism, or a causal clinical-state effect.</a:t>
            </a:r>
          </a:p>
        </p:txBody>
      </p:sp>
      <p:sp>
        <p:nvSpPr>
          <p:cNvPr id="104" name="label-Descriptive feature framework">
            <a:extLst xmlns:a="http://schemas.openxmlformats.org/drawingml/2006/main">
              <a:ext uri="{FF2B5EF4-FFF2-40B4-BE49-F238E27FC236}">
                <a16:creationId xmlns:a16="http://schemas.microsoft.com/office/drawing/2014/main" id="{C50CFC34-056D-4B8F-B489-3B2B8383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label-528-563-224-22">
            <a:extLst xmlns:a="http://schemas.openxmlformats.org/drawingml/2006/main">
              <a:ext uri="{FF2B5EF4-FFF2-40B4-BE49-F238E27FC236}">
                <a16:creationId xmlns:a16="http://schemas.microsoft.com/office/drawing/2014/main" id="{7B3E8850-956F-4FF8-956D-8E5BAB93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62575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Descriptive feature framework</a:t>
            </a:r>
          </a:p>
        </p:txBody>
      </p:sp>
    </p:spTree>
    <p:extLst>
      <p:ext uri="{BB962C8B-B14F-4D97-AF65-F5344CB8AC3E}">
        <p14:creationId xmlns:p14="http://schemas.microsoft.com/office/powerpoint/2010/main" val="3388392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53E23D4-48A8-4056-A070-89BA75EB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FCCB337D-7BDC-487C-8591-950A7DE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1E4B7B1-E3A5-46BD-8751-515DAC8A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VF FRAMEWORK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0377F3-46D4-47A7-983D-CFE169B2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VF repertoire is summarised as genes and curated modules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B2C9703-841D-4562-B1F0-12DC52B4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Both plots describe the selected analytical cohort; neither plot is a causal clinical model.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30B3C70-8EB7-4139-870B-3F9B4107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8C36C23-9918-4A9F-A91B-9619D74D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3FBB004-57AF-40B2-9B1A-92361723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4AE316-DFC2-43AA-A8E1-012D3302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figure-frame-vf_top_gene_prevalence.png">
            <a:extLst xmlns:a="http://schemas.openxmlformats.org/drawingml/2006/main">
              <a:ext uri="{FF2B5EF4-FFF2-40B4-BE49-F238E27FC236}">
                <a16:creationId xmlns:a16="http://schemas.microsoft.com/office/drawing/2014/main" id="{6A4E02D7-E32F-4F03-A904-A03168B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552575"/>
            <a:ext cx="539115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7100ffddf4c10"/>
          <a:stretch xmlns:a="http://schemas.openxmlformats.org/drawingml/2006/main"/>
        </p:blipFill>
        <p:spPr>
          <a:xfrm xmlns:a="http://schemas.openxmlformats.org/drawingml/2006/main">
            <a:off x="1403350" y="1619250"/>
            <a:ext cx="3556000" cy="4000500"/>
          </a:xfrm>
          <a:prstGeom xmlns:a="http://schemas.openxmlformats.org/drawingml/2006/main" prst="rect">
            <a:avLst/>
          </a:prstGeom>
        </p:spPr>
      </p:pic>
      <p:sp>
        <p:nvSpPr>
          <p:cNvPr id="12" name="figure-frame-module_gene_counts.png">
            <a:extLst xmlns:a="http://schemas.openxmlformats.org/drawingml/2006/main">
              <a:ext uri="{FF2B5EF4-FFF2-40B4-BE49-F238E27FC236}">
                <a16:creationId xmlns:a16="http://schemas.microsoft.com/office/drawing/2014/main" id="{B8CF68B2-DF75-4310-9EA8-8B578E9D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552575"/>
            <a:ext cx="539115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bb53528ea48c0"/>
          <a:stretch xmlns:a="http://schemas.openxmlformats.org/drawingml/2006/main"/>
        </p:blipFill>
        <p:spPr>
          <a:xfrm xmlns:a="http://schemas.openxmlformats.org/drawingml/2006/main">
            <a:off x="6927056" y="1619250"/>
            <a:ext cx="4167188" cy="4000500"/>
          </a:xfrm>
          <a:prstGeom xmlns:a="http://schemas.openxmlformats.org/drawingml/2006/main" prst="rect">
            <a:avLst/>
          </a:prstGeom>
        </p:spPr>
      </p:pic>
      <p:sp>
        <p:nvSpPr>
          <p:cNvPr id="14" name="label-227 binary VF features">
            <a:extLst xmlns:a="http://schemas.openxmlformats.org/drawingml/2006/main">
              <a:ext uri="{FF2B5EF4-FFF2-40B4-BE49-F238E27FC236}">
                <a16:creationId xmlns:a16="http://schemas.microsoft.com/office/drawing/2014/main" id="{F60A4DA5-44DE-4ADF-AFE8-016C6ADE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10250"/>
            <a:ext cx="2667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label-136-615-264-20">
            <a:extLst xmlns:a="http://schemas.openxmlformats.org/drawingml/2006/main">
              <a:ext uri="{FF2B5EF4-FFF2-40B4-BE49-F238E27FC236}">
                <a16:creationId xmlns:a16="http://schemas.microsoft.com/office/drawing/2014/main" id="{F34D9DAD-B1EA-4934-912B-02572DE0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5787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227 binary VF features</a:t>
            </a:r>
          </a:p>
        </p:txBody>
      </p:sp>
      <p:sp>
        <p:nvSpPr>
          <p:cNvPr id="16" name="label-Curated module framework">
            <a:extLst xmlns:a="http://schemas.openxmlformats.org/drawingml/2006/main">
              <a:ext uri="{FF2B5EF4-FFF2-40B4-BE49-F238E27FC236}">
                <a16:creationId xmlns:a16="http://schemas.microsoft.com/office/drawing/2014/main" id="{1857363E-83DA-4E02-B922-AE126827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810250"/>
            <a:ext cx="2667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label-814-615-264-20">
            <a:extLst xmlns:a="http://schemas.openxmlformats.org/drawingml/2006/main">
              <a:ext uri="{FF2B5EF4-FFF2-40B4-BE49-F238E27FC236}">
                <a16:creationId xmlns:a16="http://schemas.microsoft.com/office/drawing/2014/main" id="{42CE9744-072A-4026-A609-A8D93EE3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5787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Curated module framework</a:t>
            </a:r>
          </a:p>
        </p:txBody>
      </p:sp>
    </p:spTree>
    <p:extLst>
      <p:ext uri="{BB962C8B-B14F-4D97-AF65-F5344CB8AC3E}">
        <p14:creationId xmlns:p14="http://schemas.microsoft.com/office/powerpoint/2010/main" val="7085639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37368F1-BA06-4AB4-BC1D-28DF89B1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DFC934EB-D0C1-4E18-8171-5F6F53F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8530C40-8F59-46D3-8129-FCAEEE55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LONGITUDINAL STABILITY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261A8B-17FF-4C5A-88AF-DCE06640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Repeated within-resident VF profiles are assessed on the explicit pair layers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8753EAA-41CF-4124-8065-D387C095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893 direct pairs; 371 adjacent transitions from 139 residents.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B11760-1DC8-413C-8882-054A35AD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93E4894-6A77-4F59-957D-2B20073F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FC73AA4-0FBB-48A3-93DE-4E26D9B2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FB3E69-D079-4A79-8D22-9F023F5E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figure-frame-vf_within_host_jaccard_distribution.png">
            <a:extLst xmlns:a="http://schemas.openxmlformats.org/drawingml/2006/main">
              <a:ext uri="{FF2B5EF4-FFF2-40B4-BE49-F238E27FC236}">
                <a16:creationId xmlns:a16="http://schemas.microsoft.com/office/drawing/2014/main" id="{51D3E556-AA87-45BB-B01A-C603DE3F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8011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eeb71258647a9"/>
          <a:stretch xmlns:a="http://schemas.openxmlformats.org/drawingml/2006/main"/>
        </p:blipFill>
        <p:spPr>
          <a:xfrm xmlns:a="http://schemas.openxmlformats.org/drawingml/2006/main">
            <a:off x="1762654" y="1504950"/>
            <a:ext cx="6323542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Central reading">
            <a:extLst xmlns:a="http://schemas.openxmlformats.org/drawingml/2006/main">
              <a:ext uri="{FF2B5EF4-FFF2-40B4-BE49-F238E27FC236}">
                <a16:creationId xmlns:a16="http://schemas.microsoft.com/office/drawing/2014/main" id="{814C75E9-812A-4110-85FE-0FC47D5E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90700"/>
            <a:ext cx="1885950" cy="19431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3" name="heading-1020-204-166-26">
            <a:extLst xmlns:a="http://schemas.openxmlformats.org/drawingml/2006/main">
              <a:ext uri="{FF2B5EF4-FFF2-40B4-BE49-F238E27FC236}">
                <a16:creationId xmlns:a16="http://schemas.microsoft.com/office/drawing/2014/main" id="{57166B2A-A620-42AF-A1D4-7A1E1F27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431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Central reading</a:t>
            </a:r>
          </a:p>
        </p:txBody>
      </p:sp>
      <p:sp>
        <p:nvSpPr>
          <p:cNvPr id="14" name="body-1020-236-166-142">
            <a:extLst xmlns:a="http://schemas.openxmlformats.org/drawingml/2006/main">
              <a:ext uri="{FF2B5EF4-FFF2-40B4-BE49-F238E27FC236}">
                <a16:creationId xmlns:a16="http://schemas.microsoft.com/office/drawing/2014/main" id="{52A7CE3B-5850-483D-B712-7170B985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47900"/>
            <a:ext cx="1581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Profile stability is descriptive evidence. Use adjacent transitions and lineage context before interpreting change.</a:t>
            </a:r>
          </a:p>
        </p:txBody>
      </p:sp>
      <p:sp>
        <p:nvSpPr>
          <p:cNvPr id="15" name="label-Descriptive">
            <a:extLst xmlns:a="http://schemas.openxmlformats.org/drawingml/2006/main">
              <a:ext uri="{FF2B5EF4-FFF2-40B4-BE49-F238E27FC236}">
                <a16:creationId xmlns:a16="http://schemas.microsoft.com/office/drawing/2014/main" id="{C8D82E6A-90F9-4941-9D32-73737A50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9575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abel-1022-435-162-22">
            <a:extLst xmlns:a="http://schemas.openxmlformats.org/drawingml/2006/main">
              <a:ext uri="{FF2B5EF4-FFF2-40B4-BE49-F238E27FC236}">
                <a16:creationId xmlns:a16="http://schemas.microsoft.com/office/drawing/2014/main" id="{6FA06A22-770F-4D36-84CC-59211037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433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Descriptive</a:t>
            </a:r>
          </a:p>
        </p:txBody>
      </p:sp>
    </p:spTree>
    <p:extLst>
      <p:ext uri="{BB962C8B-B14F-4D97-AF65-F5344CB8AC3E}">
        <p14:creationId xmlns:p14="http://schemas.microsoft.com/office/powerpoint/2010/main" val="3913500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B299008-453D-4FCA-A23A-87F259F5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ED97485A-13E1-4572-9D25-E2420636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242FF9B-DD28-4A3F-9867-FA511761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LONGITUDINAL CHANGE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AF9157-4B33-4FA5-884D-C9BA5589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Gain/loss summaries flag candidates for follow-up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03E13F3-3ED5-4E0C-8A1E-639832F9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Observed changes are reported on 371 adjacent transitions and require lineage plus genome-distance context.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89E35E7-9040-45DC-9E54-A79FD5B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C163AE1-B72F-4EE5-AA37-A369273C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9D37703-B6FD-4E45-BD26-F3DEF47A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47F223-B926-497C-A3DF-60445668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figure-frame-vf_gene_gain_loss_consecutive_pairs.png">
            <a:extLst xmlns:a="http://schemas.openxmlformats.org/drawingml/2006/main">
              <a:ext uri="{FF2B5EF4-FFF2-40B4-BE49-F238E27FC236}">
                <a16:creationId xmlns:a16="http://schemas.microsoft.com/office/drawing/2014/main" id="{6A7A18DB-42B6-40E6-A034-32567526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38275"/>
            <a:ext cx="97536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6cd94cd484f12"/>
          <a:stretch xmlns:a="http://schemas.openxmlformats.org/drawingml/2006/main"/>
        </p:blipFill>
        <p:spPr>
          <a:xfrm xmlns:a="http://schemas.openxmlformats.org/drawingml/2006/main">
            <a:off x="2110468" y="1504950"/>
            <a:ext cx="6504214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Caution">
            <a:extLst xmlns:a="http://schemas.openxmlformats.org/drawingml/2006/main">
              <a:ext uri="{FF2B5EF4-FFF2-40B4-BE49-F238E27FC236}">
                <a16:creationId xmlns:a16="http://schemas.microsoft.com/office/drawing/2014/main" id="{C1EC0007-34B7-49F6-BE85-BEC6AD24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90700"/>
            <a:ext cx="1219200" cy="20955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heading-1108-204-96-26">
            <a:extLst xmlns:a="http://schemas.openxmlformats.org/drawingml/2006/main">
              <a:ext uri="{FF2B5EF4-FFF2-40B4-BE49-F238E27FC236}">
                <a16:creationId xmlns:a16="http://schemas.microsoft.com/office/drawing/2014/main" id="{ED603E0A-ACDE-4073-8AAB-955071BF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431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Caution</a:t>
            </a:r>
          </a:p>
        </p:txBody>
      </p:sp>
      <p:sp>
        <p:nvSpPr>
          <p:cNvPr id="14" name="body-1108-236-96-158">
            <a:extLst xmlns:a="http://schemas.openxmlformats.org/drawingml/2006/main">
              <a:ext uri="{FF2B5EF4-FFF2-40B4-BE49-F238E27FC236}">
                <a16:creationId xmlns:a16="http://schemas.microsoft.com/office/drawing/2014/main" id="{1B505FEC-4721-48CD-8CFC-95FA5147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47900"/>
            <a:ext cx="9144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Change may reflect lineage replacement, calling differences, or true gene-content change.</a:t>
            </a:r>
          </a:p>
        </p:txBody>
      </p:sp>
    </p:spTree>
    <p:extLst>
      <p:ext uri="{BB962C8B-B14F-4D97-AF65-F5344CB8AC3E}">
        <p14:creationId xmlns:p14="http://schemas.microsoft.com/office/powerpoint/2010/main" val="631912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6D7B9BF-04E2-4F55-BE9A-4BC09785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F0CD011-33AC-4824-8BD5-09FCA65F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0AD6EC0-31D0-4CCF-876F-02020B9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LINEAGE CONTEXT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3591CB-313F-4A38-8003-8C5BDDB5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Sequence-type context helps interpret VF similarity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008C491-9669-4D39-8759-BAFB3C08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493 selected episodes have preferred MLST labels spanning 76 distinct labels.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1C1DBD3-4CDA-466F-B2FB-58535B04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E582CBE-8740-4A65-BCE4-5646350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52CBF96-57B4-4362-8791-B3FD3140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40A4E1F-C474-4930-903B-85B01728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figure-frame-vf_jaccard_same_vs_different_st.png">
            <a:extLst xmlns:a="http://schemas.openxmlformats.org/drawingml/2006/main">
              <a:ext uri="{FF2B5EF4-FFF2-40B4-BE49-F238E27FC236}">
                <a16:creationId xmlns:a16="http://schemas.microsoft.com/office/drawing/2014/main" id="{01B5A49C-E901-408A-BBDA-6AE537F6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7058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b71018eb442cc"/>
          <a:stretch xmlns:a="http://schemas.openxmlformats.org/drawingml/2006/main"/>
        </p:blipFill>
        <p:spPr>
          <a:xfrm xmlns:a="http://schemas.openxmlformats.org/drawingml/2006/main">
            <a:off x="2031206" y="1504950"/>
            <a:ext cx="5691188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Diagnostic use">
            <a:extLst xmlns:a="http://schemas.openxmlformats.org/drawingml/2006/main">
              <a:ext uri="{FF2B5EF4-FFF2-40B4-BE49-F238E27FC236}">
                <a16:creationId xmlns:a16="http://schemas.microsoft.com/office/drawing/2014/main" id="{A60CFD47-3C54-411E-AB48-A7D72A1F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924050" cy="19621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heading-1016-204-170-26">
            <a:extLst xmlns:a="http://schemas.openxmlformats.org/drawingml/2006/main">
              <a:ext uri="{FF2B5EF4-FFF2-40B4-BE49-F238E27FC236}">
                <a16:creationId xmlns:a16="http://schemas.microsoft.com/office/drawing/2014/main" id="{C618526B-1CB1-4418-8E7D-D6AA4F7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431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Diagnostic use</a:t>
            </a:r>
          </a:p>
        </p:txBody>
      </p:sp>
      <p:sp>
        <p:nvSpPr>
          <p:cNvPr id="14" name="body-1016-236-170-144">
            <a:extLst xmlns:a="http://schemas.openxmlformats.org/drawingml/2006/main">
              <a:ext uri="{FF2B5EF4-FFF2-40B4-BE49-F238E27FC236}">
                <a16:creationId xmlns:a16="http://schemas.microsoft.com/office/drawing/2014/main" id="{022CA66C-50CB-4E0E-B7C0-3882B004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47900"/>
            <a:ext cx="1619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 agreement is context, not proof of the same strain. Pairwise genome distance remains essential.</a:t>
            </a:r>
          </a:p>
        </p:txBody>
      </p:sp>
    </p:spTree>
    <p:extLst>
      <p:ext uri="{BB962C8B-B14F-4D97-AF65-F5344CB8AC3E}">
        <p14:creationId xmlns:p14="http://schemas.microsoft.com/office/powerpoint/2010/main" val="12082288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C9A970C-8CBA-4A72-A6F7-EEDC3D75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3E3770D4-1958-4C1B-AA59-123983FB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8EF9257-1E43-47DB-8026-E601A33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CLINICAL ANNOTATION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A9B6AC-AFD2-4FEC-83D7-0C25AF90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Clinical-status VF signals remain exploratory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3A8492A-B6E8-44C1-BB88-F78C56FE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operational UTI and 516 operational Not_UTI selected episodes; no causal interpretation.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CC98712-637B-4984-B997-C3A084D7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857F1F1-DB8D-4C86-8C0D-C3B73C05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C9387FF-7635-4A6B-AE63-8A1C99B9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882DD1-D35D-41B5-854A-7DB849E8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0" name="figure-frame-vf_gene_screening_vs_model_evidence.png">
            <a:extLst xmlns:a="http://schemas.openxmlformats.org/drawingml/2006/main">
              <a:ext uri="{FF2B5EF4-FFF2-40B4-BE49-F238E27FC236}">
                <a16:creationId xmlns:a16="http://schemas.microsoft.com/office/drawing/2014/main" id="{5E023832-4BFC-4627-A94E-8F3FDBC9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87058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6225161b04455"/>
          <a:stretch xmlns:a="http://schemas.openxmlformats.org/drawingml/2006/main"/>
        </p:blipFill>
        <p:spPr>
          <a:xfrm xmlns:a="http://schemas.openxmlformats.org/drawingml/2006/main">
            <a:off x="1024304" y="1504950"/>
            <a:ext cx="7704992" cy="4552950"/>
          </a:xfrm>
          <a:prstGeom xmlns:a="http://schemas.openxmlformats.org/drawingml/2006/main" prst="rect">
            <a:avLst/>
          </a:prstGeom>
        </p:spPr>
      </p:pic>
      <p:sp>
        <p:nvSpPr>
          <p:cNvPr id="12" name="card-Safe claim">
            <a:extLst xmlns:a="http://schemas.openxmlformats.org/drawingml/2006/main">
              <a:ext uri="{FF2B5EF4-FFF2-40B4-BE49-F238E27FC236}">
                <a16:creationId xmlns:a16="http://schemas.microsoft.com/office/drawing/2014/main" id="{2EB2E3A6-5D64-4E42-BCB2-F0E62065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924050" cy="20764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3" name="heading-1016-204-170-26">
            <a:extLst xmlns:a="http://schemas.openxmlformats.org/drawingml/2006/main">
              <a:ext uri="{FF2B5EF4-FFF2-40B4-BE49-F238E27FC236}">
                <a16:creationId xmlns:a16="http://schemas.microsoft.com/office/drawing/2014/main" id="{5907522B-960D-43B5-A403-9DCFFEDA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431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Safe claim</a:t>
            </a:r>
          </a:p>
        </p:txBody>
      </p:sp>
      <p:sp>
        <p:nvSpPr>
          <p:cNvPr id="14" name="body-1016-236-170-156">
            <a:extLst xmlns:a="http://schemas.openxmlformats.org/drawingml/2006/main">
              <a:ext uri="{FF2B5EF4-FFF2-40B4-BE49-F238E27FC236}">
                <a16:creationId xmlns:a16="http://schemas.microsoft.com/office/drawing/2014/main" id="{BCB43B71-2EFA-41D9-ABF9-A9FAB626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47900"/>
            <a:ext cx="1619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Nominal screens and model diagnostics generate hypotheses; they do not establish a robust status association.</a:t>
            </a:r>
          </a:p>
        </p:txBody>
      </p:sp>
      <p:sp>
        <p:nvSpPr>
          <p:cNvPr id="15" name="label-Exploratory overlay">
            <a:extLst xmlns:a="http://schemas.openxmlformats.org/drawingml/2006/main">
              <a:ext uri="{FF2B5EF4-FFF2-40B4-BE49-F238E27FC236}">
                <a16:creationId xmlns:a16="http://schemas.microsoft.com/office/drawing/2014/main" id="{FB733796-2A36-4031-B825-F5EE1288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label-1008-443-186-22">
            <a:extLst xmlns:a="http://schemas.openxmlformats.org/drawingml/2006/main">
              <a:ext uri="{FF2B5EF4-FFF2-40B4-BE49-F238E27FC236}">
                <a16:creationId xmlns:a16="http://schemas.microsoft.com/office/drawing/2014/main" id="{3C323370-40D6-4CDA-B3A3-3A9643CF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19575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Exploratory overlay</a:t>
            </a:r>
          </a:p>
        </p:txBody>
      </p:sp>
    </p:spTree>
    <p:extLst>
      <p:ext uri="{BB962C8B-B14F-4D97-AF65-F5344CB8AC3E}">
        <p14:creationId xmlns:p14="http://schemas.microsoft.com/office/powerpoint/2010/main" val="18530954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689C152-C5CD-49FF-B8D5-8122C9C9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F0B2997-A91B-47C6-A89E-6B5B6766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C8994A8-BABA-4F0C-8185-A935CE83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CLINICAL TRANSITION APPLICATION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F95B02-9734-4B1D-B52F-9C7DAACD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Focused transition evidence is aggregate, linked, and deliberately cautious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551E81C-33D5-4E40-866D-72E5FFCF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release reports the full focused casebook; it does not elevate one anecdote into a mechanism claim.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4E80EC8-4471-4987-A224-9C425A36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B55C1AB-611D-4934-81C2-90B9C31C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70E295C-FE58-4442-801F-D3D46A85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4FA3AB-1411-4A7F-9819-7967E094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ransition-1">
            <a:extLst xmlns:a="http://schemas.openxmlformats.org/drawingml/2006/main">
              <a:ext uri="{FF2B5EF4-FFF2-40B4-BE49-F238E27FC236}">
                <a16:creationId xmlns:a16="http://schemas.microsoft.com/office/drawing/2014/main" id="{3C932A1C-3B25-4A28-809C-3BDE967F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2943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ransition-1-head">
            <a:extLst xmlns:a="http://schemas.openxmlformats.org/drawingml/2006/main">
              <a:ext uri="{FF2B5EF4-FFF2-40B4-BE49-F238E27FC236}">
                <a16:creationId xmlns:a16="http://schemas.microsoft.com/office/drawing/2014/main" id="{D562F5CC-1BCB-40E7-9C74-8DE4AE91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43375" y="2905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ransition-2">
            <a:extLst xmlns:a="http://schemas.openxmlformats.org/drawingml/2006/main">
              <a:ext uri="{FF2B5EF4-FFF2-40B4-BE49-F238E27FC236}">
                <a16:creationId xmlns:a16="http://schemas.microsoft.com/office/drawing/2014/main" id="{DCE23842-F07E-4BA8-954B-6772787A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2943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ransition-2-head">
            <a:extLst xmlns:a="http://schemas.openxmlformats.org/drawingml/2006/main">
              <a:ext uri="{FF2B5EF4-FFF2-40B4-BE49-F238E27FC236}">
                <a16:creationId xmlns:a16="http://schemas.microsoft.com/office/drawing/2014/main" id="{7540E7A9-B0DE-4C66-8845-11917F68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20075" y="2905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ard-Focused Not_UTI→UTI transitions">
            <a:extLst xmlns:a="http://schemas.openxmlformats.org/drawingml/2006/main">
              <a:ext uri="{FF2B5EF4-FFF2-40B4-BE49-F238E27FC236}">
                <a16:creationId xmlns:a16="http://schemas.microsoft.com/office/drawing/2014/main" id="{D1DDCF15-9977-4F6A-9786-735BA202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743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5" name="heading-104-242-256-48">
            <a:extLst xmlns:a="http://schemas.openxmlformats.org/drawingml/2006/main">
              <a:ext uri="{FF2B5EF4-FFF2-40B4-BE49-F238E27FC236}">
                <a16:creationId xmlns:a16="http://schemas.microsoft.com/office/drawing/2014/main" id="{3EE13338-2785-468D-8EBE-840DD8FA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Focused Not_UTI→UTI transitions</a:t>
            </a:r>
          </a:p>
        </p:txBody>
      </p:sp>
      <p:sp>
        <p:nvSpPr>
          <p:cNvPr id="16" name="body-104-296-256-86">
            <a:extLst xmlns:a="http://schemas.openxmlformats.org/drawingml/2006/main">
              <a:ext uri="{FF2B5EF4-FFF2-40B4-BE49-F238E27FC236}">
                <a16:creationId xmlns:a16="http://schemas.microsoft.com/office/drawing/2014/main" id="{66FA3CC2-D69E-4F7C-813A-FC8AD1CC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2438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adjacent transitions enter the focused clinical-transition view.</a:t>
            </a:r>
          </a:p>
        </p:txBody>
      </p:sp>
      <p:sp>
        <p:nvSpPr>
          <p:cNvPr id="17" name="card-At or below 25 SNPs">
            <a:extLst xmlns:a="http://schemas.openxmlformats.org/drawingml/2006/main">
              <a:ext uri="{FF2B5EF4-FFF2-40B4-BE49-F238E27FC236}">
                <a16:creationId xmlns:a16="http://schemas.microsoft.com/office/drawing/2014/main" id="{97E42C8F-AD0E-4CBF-AB67-2DBE9A36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34480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8" name="heading-458-242-330-26">
            <a:extLst xmlns:a="http://schemas.openxmlformats.org/drawingml/2006/main">
              <a:ext uri="{FF2B5EF4-FFF2-40B4-BE49-F238E27FC236}">
                <a16:creationId xmlns:a16="http://schemas.microsoft.com/office/drawing/2014/main" id="{09B8E629-7928-4F26-9BC8-77387FEA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0505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At or below 25 SNPs</a:t>
            </a:r>
          </a:p>
        </p:txBody>
      </p:sp>
      <p:sp>
        <p:nvSpPr>
          <p:cNvPr id="19" name="body-458-274-330-108">
            <a:extLst xmlns:a="http://schemas.openxmlformats.org/drawingml/2006/main">
              <a:ext uri="{FF2B5EF4-FFF2-40B4-BE49-F238E27FC236}">
                <a16:creationId xmlns:a16="http://schemas.microsoft.com/office/drawing/2014/main" id="{A0442EE8-0157-44BB-9F3D-45801F81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 of 9 focused transitions fall at or below the operational genome-distance threshold.</a:t>
            </a:r>
          </a:p>
        </p:txBody>
      </p:sp>
      <p:sp>
        <p:nvSpPr>
          <p:cNvPr id="20" name="card-Mechanism casebook">
            <a:extLst xmlns:a="http://schemas.openxmlformats.org/drawingml/2006/main">
              <a:ext uri="{FF2B5EF4-FFF2-40B4-BE49-F238E27FC236}">
                <a16:creationId xmlns:a16="http://schemas.microsoft.com/office/drawing/2014/main" id="{5979395F-93C9-4A5D-849B-512DFC32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DD7EE"/>
            </a:solidFill>
            <a:prstDash val="solid"/>
          </a:ln>
        </p:spPr>
      </p:sp>
      <p:sp>
        <p:nvSpPr>
          <p:cNvPr id="21" name="heading-886-242-278-26">
            <a:extLst xmlns:a="http://schemas.openxmlformats.org/drawingml/2006/main">
              <a:ext uri="{FF2B5EF4-FFF2-40B4-BE49-F238E27FC236}">
                <a16:creationId xmlns:a16="http://schemas.microsoft.com/office/drawing/2014/main" id="{D3BAE4DA-33B7-4A94-B308-05C87D52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Mechanism casebook</a:t>
            </a:r>
          </a:p>
        </p:txBody>
      </p:sp>
      <p:sp>
        <p:nvSpPr>
          <p:cNvPr id="22" name="body-886-274-278-108">
            <a:extLst xmlns:a="http://schemas.openxmlformats.org/drawingml/2006/main">
              <a:ext uri="{FF2B5EF4-FFF2-40B4-BE49-F238E27FC236}">
                <a16:creationId xmlns:a16="http://schemas.microsoft.com/office/drawing/2014/main" id="{9888D3F5-68AB-42D6-B6E2-6F58F45F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2647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cases; 9 linked; 0 missing endpoints.</a:t>
            </a:r>
          </a:p>
        </p:txBody>
      </p:sp>
      <p:sp>
        <p:nvSpPr>
          <p:cNvPr id="23" name="card-Interpretation boundary">
            <a:extLst xmlns:a="http://schemas.openxmlformats.org/drawingml/2006/main">
              <a:ext uri="{FF2B5EF4-FFF2-40B4-BE49-F238E27FC236}">
                <a16:creationId xmlns:a16="http://schemas.microsoft.com/office/drawing/2014/main" id="{0808A195-06AD-4832-A705-3CC92466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895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heading-186-508-908-26">
            <a:extLst xmlns:a="http://schemas.openxmlformats.org/drawingml/2006/main">
              <a:ext uri="{FF2B5EF4-FFF2-40B4-BE49-F238E27FC236}">
                <a16:creationId xmlns:a16="http://schemas.microsoft.com/office/drawing/2014/main" id="{A7CA24E6-CFCD-4854-92C3-2DB91EF8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38700"/>
            <a:ext cx="8648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 boundary</a:t>
            </a:r>
          </a:p>
        </p:txBody>
      </p:sp>
      <p:sp>
        <p:nvSpPr>
          <p:cNvPr id="25" name="body-186-540-908-20">
            <a:extLst xmlns:a="http://schemas.openxmlformats.org/drawingml/2006/main">
              <a:ext uri="{FF2B5EF4-FFF2-40B4-BE49-F238E27FC236}">
                <a16:creationId xmlns:a16="http://schemas.microsoft.com/office/drawing/2014/main" id="{70158FE9-534C-4C86-82E9-F76F74D3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43500"/>
            <a:ext cx="864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Low genome distance and stable VF content can support a stable-lineage interpretation, but they cannot by themselves identify host-state change, bacterial regulation, or clinical causation.</a:t>
            </a:r>
          </a:p>
        </p:txBody>
      </p:sp>
    </p:spTree>
    <p:extLst>
      <p:ext uri="{BB962C8B-B14F-4D97-AF65-F5344CB8AC3E}">
        <p14:creationId xmlns:p14="http://schemas.microsoft.com/office/powerpoint/2010/main" val="4219400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80F5627-ADF8-4F8F-8EDD-5401954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A33E3AC8-8140-4084-A0C3-1ABCFB18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FF92B69-3607-4586-9AD4-0DBDC02B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B030AD-26AA-45EC-A5C7-7ABBE9C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the Longcycler-only review establishes and what remains uncertain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15AB25C-F4BA-4CF5-9091-35867582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these as the three discussion anchors.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A5B2103-52CC-4B3D-9C7F-8D3E612A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E4D8FA2-D3EE-40C7-A365-71C82D5E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BF0E71B-8A44-41BF-90F1-22ACDB46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6EE3AD-4BBE-4C1D-8FFD-1331A56A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card-Evidence">
            <a:extLst xmlns:a="http://schemas.openxmlformats.org/drawingml/2006/main">
              <a:ext uri="{FF2B5EF4-FFF2-40B4-BE49-F238E27FC236}">
                <a16:creationId xmlns:a16="http://schemas.microsoft.com/office/drawing/2014/main" id="{DD66F393-707F-4D07-AFEE-B0E23CDD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B9D5F0"/>
            </a:solidFill>
            <a:prstDash val="solid"/>
          </a:ln>
        </p:spPr>
      </p:sp>
      <p:sp>
        <p:nvSpPr>
          <p:cNvPr id="11" name="heading-98-200-298-26">
            <a:extLst xmlns:a="http://schemas.openxmlformats.org/drawingml/2006/main">
              <a:ext uri="{FF2B5EF4-FFF2-40B4-BE49-F238E27FC236}">
                <a16:creationId xmlns:a16="http://schemas.microsoft.com/office/drawing/2014/main" id="{756D9528-D60B-4FC4-BAB4-25ECB68C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body-98-232-298-238">
            <a:extLst xmlns:a="http://schemas.openxmlformats.org/drawingml/2006/main">
              <a:ext uri="{FF2B5EF4-FFF2-40B4-BE49-F238E27FC236}">
                <a16:creationId xmlns:a16="http://schemas.microsoft.com/office/drawing/2014/main" id="{4EF31A81-AD29-4D35-BCE7-A30B1DB8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selected profiles from 161 residents support 893 direct comparisons and 371 adjacent transitions. The mechanism casebook is complete (9/9 linked).</a:t>
            </a:r>
          </a:p>
        </p:txBody>
      </p:sp>
      <p:sp>
        <p:nvSpPr>
          <p:cNvPr id="13" name="card-Boundary">
            <a:extLst xmlns:a="http://schemas.openxmlformats.org/drawingml/2006/main">
              <a:ext uri="{FF2B5EF4-FFF2-40B4-BE49-F238E27FC236}">
                <a16:creationId xmlns:a16="http://schemas.microsoft.com/office/drawing/2014/main" id="{E5C4C5EE-12BE-45FD-8E08-2AD2ED1A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4C98A"/>
            </a:solidFill>
            <a:prstDash val="solid"/>
          </a:ln>
        </p:spPr>
      </p:sp>
      <p:sp>
        <p:nvSpPr>
          <p:cNvPr id="14" name="heading-490-200-298-26">
            <a:extLst xmlns:a="http://schemas.openxmlformats.org/drawingml/2006/main">
              <a:ext uri="{FF2B5EF4-FFF2-40B4-BE49-F238E27FC236}">
                <a16:creationId xmlns:a16="http://schemas.microsoft.com/office/drawing/2014/main" id="{DFCD5FD9-214F-4D6E-A136-BF0040B8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15" name="body-490-232-298-238">
            <a:extLst xmlns:a="http://schemas.openxmlformats.org/drawingml/2006/main">
              <a:ext uri="{FF2B5EF4-FFF2-40B4-BE49-F238E27FC236}">
                <a16:creationId xmlns:a16="http://schemas.microsoft.com/office/drawing/2014/main" id="{63BD1FDE-7027-476E-AE65-9FB17CC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Operational UTI is sparse (16/532). VF presence/absence does not measure expression, regulation, pathogenic activity, or a causal clinical-state effect.</a:t>
            </a:r>
          </a:p>
        </p:txBody>
      </p:sp>
      <p:sp>
        <p:nvSpPr>
          <p:cNvPr id="16" name="card-Next steps">
            <a:extLst xmlns:a="http://schemas.openxmlformats.org/drawingml/2006/main">
              <a:ext uri="{FF2B5EF4-FFF2-40B4-BE49-F238E27FC236}">
                <a16:creationId xmlns:a16="http://schemas.microsoft.com/office/drawing/2014/main" id="{5B1C20FF-77C6-4110-B3CA-469742CF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CE4C9"/>
            </a:solidFill>
            <a:prstDash val="solid"/>
          </a:ln>
        </p:spPr>
      </p:sp>
      <p:sp>
        <p:nvSpPr>
          <p:cNvPr id="17" name="heading-882-200-298-26">
            <a:extLst xmlns:a="http://schemas.openxmlformats.org/drawingml/2006/main">
              <a:ext uri="{FF2B5EF4-FFF2-40B4-BE49-F238E27FC236}">
                <a16:creationId xmlns:a16="http://schemas.microsoft.com/office/drawing/2014/main" id="{F6A684AE-D17E-46A6-982D-CB705FAE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855A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8" name="body-882-232-298-238">
            <a:extLst xmlns:a="http://schemas.openxmlformats.org/drawingml/2006/main">
              <a:ext uri="{FF2B5EF4-FFF2-40B4-BE49-F238E27FC236}">
                <a16:creationId xmlns:a16="http://schemas.microsoft.com/office/drawing/2014/main" id="{D410CE2C-D114-4932-9CFD-F31D7F9C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9800"/>
            <a:ext cx="2838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Prioritise lineage-aware longitudinal analyses, targeted transition review, and additional evidence that can separate bacterial change from host-state and sampling effects.</a:t>
            </a:r>
          </a:p>
        </p:txBody>
      </p:sp>
      <p:sp>
        <p:nvSpPr>
          <p:cNvPr id="19" name="body-100-542-1080-32">
            <a:extLst xmlns:a="http://schemas.openxmlformats.org/drawingml/2006/main">
              <a:ext uri="{FF2B5EF4-FFF2-40B4-BE49-F238E27FC236}">
                <a16:creationId xmlns:a16="http://schemas.microsoft.com/office/drawing/2014/main" id="{661C23AC-0022-4E08-AF1E-BABBED94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Discussion: what extra evidence would distinguish stable carriage plus host-state change from unmeasured bacterial regulation?</a:t>
            </a:r>
          </a:p>
        </p:txBody>
      </p:sp>
    </p:spTree>
    <p:extLst>
      <p:ext uri="{BB962C8B-B14F-4D97-AF65-F5344CB8AC3E}">
        <p14:creationId xmlns:p14="http://schemas.microsoft.com/office/powerpoint/2010/main" val="13020621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2866768-446D-4EA1-A7DC-9A18BF18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BEDD8394-FEDA-4D89-926C-3265E433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D8A5CF8-25FF-431E-9218-B04AB077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HANDOVER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FC6E2C-E86E-4F7C-A85C-239391E4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Practical map: where to enter and rerun the Longcycler-only pipeline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BAC778B-056D-4EAA-B52B-C1DA0BA1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numbered research-question layer runs from RQ01 through RQ10.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56DEC26-945C-4A22-AA6D-0BB5B1B4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B0BE24D-BC3E-479C-965E-2CA8DB0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F9A923F-3827-43E9-BAF7-84D565FF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44F824-669A-450B-A871-838F6DF8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handover-row-1">
            <a:extLst xmlns:a="http://schemas.openxmlformats.org/drawingml/2006/main">
              <a:ext uri="{FF2B5EF4-FFF2-40B4-BE49-F238E27FC236}">
                <a16:creationId xmlns:a16="http://schemas.microsoft.com/office/drawing/2014/main" id="{C0EC988E-FB26-4B10-AD68-D6BEE3F7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label-96-166-170-34">
            <a:extLst xmlns:a="http://schemas.openxmlformats.org/drawingml/2006/main">
              <a:ext uri="{FF2B5EF4-FFF2-40B4-BE49-F238E27FC236}">
                <a16:creationId xmlns:a16="http://schemas.microsoft.com/office/drawing/2014/main" id="{2334AD35-2CB3-4426-B5D8-2FBF8A70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Selected manifest</a:t>
            </a:r>
          </a:p>
        </p:txBody>
      </p:sp>
      <p:sp>
        <p:nvSpPr>
          <p:cNvPr id="12" name="body-286-166-410-36">
            <a:extLst xmlns:a="http://schemas.openxmlformats.org/drawingml/2006/main">
              <a:ext uri="{FF2B5EF4-FFF2-40B4-BE49-F238E27FC236}">
                <a16:creationId xmlns:a16="http://schemas.microsoft.com/office/drawing/2014/main" id="{DB2D7326-5533-4A7B-A7EA-F72172F4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811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results/assembly/canonical_assembly_selection.csv</a:t>
            </a:r>
          </a:p>
        </p:txBody>
      </p:sp>
      <p:sp>
        <p:nvSpPr>
          <p:cNvPr id="13" name="body-720-166-410-36">
            <a:extLst xmlns:a="http://schemas.openxmlformats.org/drawingml/2006/main">
              <a:ext uri="{FF2B5EF4-FFF2-40B4-BE49-F238E27FC236}">
                <a16:creationId xmlns:a16="http://schemas.microsoft.com/office/drawing/2014/main" id="{0B7F5EEB-E690-42D4-9472-17C966C0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One QC-passing Longcycler assembly per episode</a:t>
            </a:r>
          </a:p>
        </p:txBody>
      </p:sp>
      <p:sp>
        <p:nvSpPr>
          <p:cNvPr id="14" name="handover-row-2">
            <a:extLst xmlns:a="http://schemas.openxmlformats.org/drawingml/2006/main">
              <a:ext uri="{FF2B5EF4-FFF2-40B4-BE49-F238E27FC236}">
                <a16:creationId xmlns:a16="http://schemas.microsoft.com/office/drawing/2014/main" id="{8C7D83BA-FC91-48C0-8A95-0449405E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label-96-234-170-34">
            <a:extLst xmlns:a="http://schemas.openxmlformats.org/drawingml/2006/main">
              <a:ext uri="{FF2B5EF4-FFF2-40B4-BE49-F238E27FC236}">
                <a16:creationId xmlns:a16="http://schemas.microsoft.com/office/drawing/2014/main" id="{EBCAF0A6-F20F-4A80-BFDF-B2E486D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Clinical key</a:t>
            </a:r>
          </a:p>
        </p:txBody>
      </p:sp>
      <p:sp>
        <p:nvSpPr>
          <p:cNvPr id="16" name="body-286-234-410-36">
            <a:extLst xmlns:a="http://schemas.openxmlformats.org/drawingml/2006/main">
              <a:ext uri="{FF2B5EF4-FFF2-40B4-BE49-F238E27FC236}">
                <a16:creationId xmlns:a16="http://schemas.microsoft.com/office/drawing/2014/main" id="{E0C95CE6-1139-405F-A519-58057E8E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results/clinical/status_map.csv</a:t>
            </a:r>
          </a:p>
        </p:txBody>
      </p:sp>
      <p:sp>
        <p:nvSpPr>
          <p:cNvPr id="17" name="body-720-234-410-36">
            <a:extLst xmlns:a="http://schemas.openxmlformats.org/drawingml/2006/main">
              <a:ext uri="{FF2B5EF4-FFF2-40B4-BE49-F238E27FC236}">
                <a16:creationId xmlns:a16="http://schemas.microsoft.com/office/drawing/2014/main" id="{F8B41F60-D733-44DE-9950-FC5F68A7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288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Operational UTI annotation and audit fields</a:t>
            </a:r>
          </a:p>
        </p:txBody>
      </p:sp>
      <p:sp>
        <p:nvSpPr>
          <p:cNvPr id="18" name="handover-row-3">
            <a:extLst xmlns:a="http://schemas.openxmlformats.org/drawingml/2006/main">
              <a:ext uri="{FF2B5EF4-FFF2-40B4-BE49-F238E27FC236}">
                <a16:creationId xmlns:a16="http://schemas.microsoft.com/office/drawing/2014/main" id="{F6FF3EAC-E9BC-4CFD-9E0B-D24C3470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label-96-302-170-34">
            <a:extLst xmlns:a="http://schemas.openxmlformats.org/drawingml/2006/main">
              <a:ext uri="{FF2B5EF4-FFF2-40B4-BE49-F238E27FC236}">
                <a16:creationId xmlns:a16="http://schemas.microsoft.com/office/drawing/2014/main" id="{C1659300-4CF8-4EF9-BC45-02B1F3A1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VF matrix</a:t>
            </a:r>
          </a:p>
        </p:txBody>
      </p:sp>
      <p:sp>
        <p:nvSpPr>
          <p:cNvPr id="20" name="body-286-302-410-36">
            <a:extLst xmlns:a="http://schemas.openxmlformats.org/drawingml/2006/main">
              <a:ext uri="{FF2B5EF4-FFF2-40B4-BE49-F238E27FC236}">
                <a16:creationId xmlns:a16="http://schemas.microsoft.com/office/drawing/2014/main" id="{47FAB367-BC12-4BBF-9CD8-FDCE143D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results/vf/vf_pa_all.csv</a:t>
            </a:r>
          </a:p>
        </p:txBody>
      </p:sp>
      <p:sp>
        <p:nvSpPr>
          <p:cNvPr id="21" name="body-720-302-410-36">
            <a:extLst xmlns:a="http://schemas.openxmlformats.org/drawingml/2006/main">
              <a:ext uri="{FF2B5EF4-FFF2-40B4-BE49-F238E27FC236}">
                <a16:creationId xmlns:a16="http://schemas.microsoft.com/office/drawing/2014/main" id="{36B61A3D-CE69-44D0-8EDF-80608EF9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Episode-level binary VF profiles</a:t>
            </a:r>
          </a:p>
        </p:txBody>
      </p:sp>
      <p:sp>
        <p:nvSpPr>
          <p:cNvPr id="22" name="handover-row-4">
            <a:extLst xmlns:a="http://schemas.openxmlformats.org/drawingml/2006/main">
              <a:ext uri="{FF2B5EF4-FFF2-40B4-BE49-F238E27FC236}">
                <a16:creationId xmlns:a16="http://schemas.microsoft.com/office/drawing/2014/main" id="{01A2EC42-3B69-42CF-AE36-1B0D39A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label-96-370-170-34">
            <a:extLst xmlns:a="http://schemas.openxmlformats.org/drawingml/2006/main">
              <a:ext uri="{FF2B5EF4-FFF2-40B4-BE49-F238E27FC236}">
                <a16:creationId xmlns:a16="http://schemas.microsoft.com/office/drawing/2014/main" id="{A31CAAC3-ED19-44D6-957E-41B716F3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Direct pairs</a:t>
            </a:r>
          </a:p>
        </p:txBody>
      </p:sp>
      <p:sp>
        <p:nvSpPr>
          <p:cNvPr id="24" name="body-286-370-410-36">
            <a:extLst xmlns:a="http://schemas.openxmlformats.org/drawingml/2006/main">
              <a:ext uri="{FF2B5EF4-FFF2-40B4-BE49-F238E27FC236}">
                <a16:creationId xmlns:a16="http://schemas.microsoft.com/office/drawing/2014/main" id="{87856404-62E7-4B3F-A423-26CB7EEA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242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results/strain/pairwise_metrics.csv</a:t>
            </a:r>
          </a:p>
        </p:txBody>
      </p:sp>
      <p:sp>
        <p:nvSpPr>
          <p:cNvPr id="25" name="body-720-370-410-36">
            <a:extLst xmlns:a="http://schemas.openxmlformats.org/drawingml/2006/main">
              <a:ext uri="{FF2B5EF4-FFF2-40B4-BE49-F238E27FC236}">
                <a16:creationId xmlns:a16="http://schemas.microsoft.com/office/drawing/2014/main" id="{36EB49EE-0511-4166-B0D1-CD442FF0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 within-resident comparisons</a:t>
            </a:r>
          </a:p>
        </p:txBody>
      </p:sp>
      <p:sp>
        <p:nvSpPr>
          <p:cNvPr id="26" name="handover-row-5">
            <a:extLst xmlns:a="http://schemas.openxmlformats.org/drawingml/2006/main">
              <a:ext uri="{FF2B5EF4-FFF2-40B4-BE49-F238E27FC236}">
                <a16:creationId xmlns:a16="http://schemas.microsoft.com/office/drawing/2014/main" id="{A2067A78-ACB1-4A69-AAE4-A45324CE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label-96-438-170-34">
            <a:extLst xmlns:a="http://schemas.openxmlformats.org/drawingml/2006/main">
              <a:ext uri="{FF2B5EF4-FFF2-40B4-BE49-F238E27FC236}">
                <a16:creationId xmlns:a16="http://schemas.microsoft.com/office/drawing/2014/main" id="{2170BD6A-E73D-4E91-8B84-BF7132A8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28" name="body-286-438-410-36">
            <a:extLst xmlns:a="http://schemas.openxmlformats.org/drawingml/2006/main">
              <a:ext uri="{FF2B5EF4-FFF2-40B4-BE49-F238E27FC236}">
                <a16:creationId xmlns:a16="http://schemas.microsoft.com/office/drawing/2014/main" id="{D51FDDC5-8D2D-4ED0-AFAD-26099566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719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results/longitudinal/longcycler_transitions.csv</a:t>
            </a:r>
          </a:p>
        </p:txBody>
      </p:sp>
      <p:sp>
        <p:nvSpPr>
          <p:cNvPr id="29" name="body-720-438-410-36">
            <a:extLst xmlns:a="http://schemas.openxmlformats.org/drawingml/2006/main">
              <a:ext uri="{FF2B5EF4-FFF2-40B4-BE49-F238E27FC236}">
                <a16:creationId xmlns:a16="http://schemas.microsoft.com/office/drawing/2014/main" id="{F9158D1B-B96F-4652-878F-6EF7C43B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Temporally ordered comparisons</a:t>
            </a:r>
          </a:p>
        </p:txBody>
      </p:sp>
      <p:sp>
        <p:nvSpPr>
          <p:cNvPr id="30" name="handover-row-6">
            <a:extLst xmlns:a="http://schemas.openxmlformats.org/drawingml/2006/main">
              <a:ext uri="{FF2B5EF4-FFF2-40B4-BE49-F238E27FC236}">
                <a16:creationId xmlns:a16="http://schemas.microsoft.com/office/drawing/2014/main" id="{CFC08390-890D-4E18-A210-314D5716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label-96-506-170-34">
            <a:extLst xmlns:a="http://schemas.openxmlformats.org/drawingml/2006/main">
              <a:ext uri="{FF2B5EF4-FFF2-40B4-BE49-F238E27FC236}">
                <a16:creationId xmlns:a16="http://schemas.microsoft.com/office/drawing/2014/main" id="{125BFEAF-DDB9-4077-8BFC-B19DC0BF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Focused casebook</a:t>
            </a:r>
          </a:p>
        </p:txBody>
      </p:sp>
      <p:sp>
        <p:nvSpPr>
          <p:cNvPr id="32" name="body-286-506-410-36">
            <a:extLst xmlns:a="http://schemas.openxmlformats.org/drawingml/2006/main">
              <a:ext uri="{FF2B5EF4-FFF2-40B4-BE49-F238E27FC236}">
                <a16:creationId xmlns:a16="http://schemas.microsoft.com/office/drawing/2014/main" id="{3079AC15-7667-4C02-AA5B-01BCD577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196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results/mechanism/not_uti_to_uti_casebook.csv</a:t>
            </a:r>
          </a:p>
        </p:txBody>
      </p:sp>
      <p:sp>
        <p:nvSpPr>
          <p:cNvPr id="33" name="body-720-506-410-36">
            <a:extLst xmlns:a="http://schemas.openxmlformats.org/drawingml/2006/main">
              <a:ext uri="{FF2B5EF4-FFF2-40B4-BE49-F238E27FC236}">
                <a16:creationId xmlns:a16="http://schemas.microsoft.com/office/drawing/2014/main" id="{8A49EC86-D8D5-477E-A17A-47BFE1B3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96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Nine linked transition cases</a:t>
            </a:r>
          </a:p>
        </p:txBody>
      </p:sp>
      <p:sp>
        <p:nvSpPr>
          <p:cNvPr id="34" name="handover-row-7">
            <a:extLst xmlns:a="http://schemas.openxmlformats.org/drawingml/2006/main">
              <a:ext uri="{FF2B5EF4-FFF2-40B4-BE49-F238E27FC236}">
                <a16:creationId xmlns:a16="http://schemas.microsoft.com/office/drawing/2014/main" id="{15BD3213-23D5-45A3-9188-6ECA8467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5" name="label-96-574-170-34">
            <a:extLst xmlns:a="http://schemas.openxmlformats.org/drawingml/2006/main">
              <a:ext uri="{FF2B5EF4-FFF2-40B4-BE49-F238E27FC236}">
                <a16:creationId xmlns:a16="http://schemas.microsoft.com/office/drawing/2014/main" id="{81F6E6BC-23CE-4217-A41B-E6CE8D3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6CB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B6CB0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36" name="body-286-574-410-36">
            <a:extLst xmlns:a="http://schemas.openxmlformats.org/drawingml/2006/main">
              <a:ext uri="{FF2B5EF4-FFF2-40B4-BE49-F238E27FC236}">
                <a16:creationId xmlns:a16="http://schemas.microsoft.com/office/drawing/2014/main" id="{CA9A6AAF-7D5D-4406-BACA-CF5FAAB3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673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scripts/research_questions/run_all.R</a:t>
            </a:r>
          </a:p>
        </p:txBody>
      </p:sp>
      <p:sp>
        <p:nvSpPr>
          <p:cNvPr id="37" name="body-720-574-410-36">
            <a:extLst xmlns:a="http://schemas.openxmlformats.org/drawingml/2006/main">
              <a:ext uri="{FF2B5EF4-FFF2-40B4-BE49-F238E27FC236}">
                <a16:creationId xmlns:a16="http://schemas.microsoft.com/office/drawing/2014/main" id="{BBE01FF7-5A93-4C51-89DF-02A8EB61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6735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RQ01–RQ10 release layer</a:t>
            </a:r>
          </a:p>
        </p:txBody>
      </p:sp>
    </p:spTree>
    <p:extLst>
      <p:ext uri="{BB962C8B-B14F-4D97-AF65-F5344CB8AC3E}">
        <p14:creationId xmlns:p14="http://schemas.microsoft.com/office/powerpoint/2010/main" val="17039604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1C22303-A8B5-4BB7-90AB-0DEBBD25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71802FFD-9603-4F44-A52A-3A7597C0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9C32F7E-2683-4C0E-A756-945C89BF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PIPELINE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A018F8-553B-49AD-845A-CAF67197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Numbered clinical-to-VF pipeline with validated handoff counts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0EA434B-C08B-44D3-85CD-48B39752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RQ01–RQ10 consume the same selected analytical cohort and current-run outputs.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131BEB8-0E92-4B6E-ACFA-31588D69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4C8EF85-9338-4EEF-B462-65FF8CF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08892EF-1264-4F52-B9E4-D63F6562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7A4A9FD-9E06-4EBA-8D1E-BB91C46E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3BD5F065-D5A2-413D-87CC-823416FD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tage-1-head">
            <a:extLst xmlns:a="http://schemas.openxmlformats.org/drawingml/2006/main">
              <a:ext uri="{FF2B5EF4-FFF2-40B4-BE49-F238E27FC236}">
                <a16:creationId xmlns:a16="http://schemas.microsoft.com/office/drawing/2014/main" id="{7FAA7257-4580-490D-8E68-D97D0DDC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E0CEC781-5A04-4AEE-A7CE-2734FF19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tage-2-head">
            <a:extLst xmlns:a="http://schemas.openxmlformats.org/drawingml/2006/main">
              <a:ext uri="{FF2B5EF4-FFF2-40B4-BE49-F238E27FC236}">
                <a16:creationId xmlns:a16="http://schemas.microsoft.com/office/drawing/2014/main" id="{5986CA92-2A50-4551-9E1E-CE5F717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0537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tage-3">
            <a:extLst xmlns:a="http://schemas.openxmlformats.org/drawingml/2006/main">
              <a:ext uri="{FF2B5EF4-FFF2-40B4-BE49-F238E27FC236}">
                <a16:creationId xmlns:a16="http://schemas.microsoft.com/office/drawing/2014/main" id="{2D4FFDF6-D962-45F1-A4E9-ADE80F4D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tage-3-head">
            <a:extLst xmlns:a="http://schemas.openxmlformats.org/drawingml/2006/main">
              <a:ext uri="{FF2B5EF4-FFF2-40B4-BE49-F238E27FC236}">
                <a16:creationId xmlns:a16="http://schemas.microsoft.com/office/drawing/2014/main" id="{771977BB-B440-4066-89DB-A369FAF2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7232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tage-4">
            <a:extLst xmlns:a="http://schemas.openxmlformats.org/drawingml/2006/main">
              <a:ext uri="{FF2B5EF4-FFF2-40B4-BE49-F238E27FC236}">
                <a16:creationId xmlns:a16="http://schemas.microsoft.com/office/drawing/2014/main" id="{5E13BDB2-0C16-4212-8BBA-A2171B92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23907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tage-4-head">
            <a:extLst xmlns:a="http://schemas.openxmlformats.org/drawingml/2006/main">
              <a:ext uri="{FF2B5EF4-FFF2-40B4-BE49-F238E27FC236}">
                <a16:creationId xmlns:a16="http://schemas.microsoft.com/office/drawing/2014/main" id="{B84F5F34-F1CF-4BEA-8AF6-A33F2519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9275" y="2352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tage-6">
            <a:extLst xmlns:a="http://schemas.openxmlformats.org/drawingml/2006/main">
              <a:ext uri="{FF2B5EF4-FFF2-40B4-BE49-F238E27FC236}">
                <a16:creationId xmlns:a16="http://schemas.microsoft.com/office/drawing/2014/main" id="{94C484E3-4933-43F9-83C9-5EDB57C0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6-head">
            <a:extLst xmlns:a="http://schemas.openxmlformats.org/drawingml/2006/main">
              <a:ext uri="{FF2B5EF4-FFF2-40B4-BE49-F238E27FC236}">
                <a16:creationId xmlns:a16="http://schemas.microsoft.com/office/drawing/2014/main" id="{FCA2AB9D-8D05-4849-9401-60EA3345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tage-7">
            <a:extLst xmlns:a="http://schemas.openxmlformats.org/drawingml/2006/main">
              <a:ext uri="{FF2B5EF4-FFF2-40B4-BE49-F238E27FC236}">
                <a16:creationId xmlns:a16="http://schemas.microsoft.com/office/drawing/2014/main" id="{7CEB230D-AA53-4ECF-938F-C32214D7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tage-7-head">
            <a:extLst xmlns:a="http://schemas.openxmlformats.org/drawingml/2006/main">
              <a:ext uri="{FF2B5EF4-FFF2-40B4-BE49-F238E27FC236}">
                <a16:creationId xmlns:a16="http://schemas.microsoft.com/office/drawing/2014/main" id="{405450C0-6E07-4952-8B6C-09DBFCB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0537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tage-8">
            <a:extLst xmlns:a="http://schemas.openxmlformats.org/drawingml/2006/main">
              <a:ext uri="{FF2B5EF4-FFF2-40B4-BE49-F238E27FC236}">
                <a16:creationId xmlns:a16="http://schemas.microsoft.com/office/drawing/2014/main" id="{AA122244-2BE5-4A2A-9FA7-D601B44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tage-8-head">
            <a:extLst xmlns:a="http://schemas.openxmlformats.org/drawingml/2006/main">
              <a:ext uri="{FF2B5EF4-FFF2-40B4-BE49-F238E27FC236}">
                <a16:creationId xmlns:a16="http://schemas.microsoft.com/office/drawing/2014/main" id="{00574B15-26A4-48CA-AECD-1E91CDDC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7232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age-9">
            <a:extLst xmlns:a="http://schemas.openxmlformats.org/drawingml/2006/main">
              <a:ext uri="{FF2B5EF4-FFF2-40B4-BE49-F238E27FC236}">
                <a16:creationId xmlns:a16="http://schemas.microsoft.com/office/drawing/2014/main" id="{21C370D7-8FF4-4783-A80D-B4795D1B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43910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tage-9-head">
            <a:extLst xmlns:a="http://schemas.openxmlformats.org/drawingml/2006/main">
              <a:ext uri="{FF2B5EF4-FFF2-40B4-BE49-F238E27FC236}">
                <a16:creationId xmlns:a16="http://schemas.microsoft.com/office/drawing/2014/main" id="{7E6D4FC9-4D44-4D0B-8DC4-0595B56F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9275" y="4352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pipeline-1">
            <a:extLst xmlns:a="http://schemas.openxmlformats.org/drawingml/2006/main">
              <a:ext uri="{FF2B5EF4-FFF2-40B4-BE49-F238E27FC236}">
                <a16:creationId xmlns:a16="http://schemas.microsoft.com/office/drawing/2014/main" id="{75FF7A88-1E3A-4728-9E5B-CFF5346B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C3B6FF42-4343-46D8-AA58-0AF38C06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label-68-200-30-16">
            <a:extLst xmlns:a="http://schemas.openxmlformats.org/drawingml/2006/main">
              <a:ext uri="{FF2B5EF4-FFF2-40B4-BE49-F238E27FC236}">
                <a16:creationId xmlns:a16="http://schemas.microsoft.com/office/drawing/2014/main" id="{4FEB81D6-041E-4C9F-BB81-43D79AB3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heading-108-193-145-44">
            <a:extLst xmlns:a="http://schemas.openxmlformats.org/drawingml/2006/main">
              <a:ext uri="{FF2B5EF4-FFF2-40B4-BE49-F238E27FC236}">
                <a16:creationId xmlns:a16="http://schemas.microsoft.com/office/drawing/2014/main" id="{B1B82DE9-35A4-46DD-9D75-929CF9A6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Source/QC context</a:t>
            </a:r>
          </a:p>
        </p:txBody>
      </p:sp>
      <p:sp>
        <p:nvSpPr>
          <p:cNvPr id="30" name="body-70-250-182-64">
            <a:extLst xmlns:a="http://schemas.openxmlformats.org/drawingml/2006/main">
              <a:ext uri="{FF2B5EF4-FFF2-40B4-BE49-F238E27FC236}">
                <a16:creationId xmlns:a16="http://schemas.microsoft.com/office/drawing/2014/main" id="{27CA6F35-AA2E-424B-8DBB-752DA6F2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583 episodes; 166 residents</a:t>
            </a:r>
          </a:p>
        </p:txBody>
      </p:sp>
      <p:sp>
        <p:nvSpPr>
          <p:cNvPr id="31" name="pipeline-2">
            <a:extLst xmlns:a="http://schemas.openxmlformats.org/drawingml/2006/main">
              <a:ext uri="{FF2B5EF4-FFF2-40B4-BE49-F238E27FC236}">
                <a16:creationId xmlns:a16="http://schemas.microsoft.com/office/drawing/2014/main" id="{472A1802-A69E-4489-B128-ABBE1D3B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B3AF8D56-33CB-4B47-8A9B-03390BE1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label-306-200-30-16">
            <a:extLst xmlns:a="http://schemas.openxmlformats.org/drawingml/2006/main">
              <a:ext uri="{FF2B5EF4-FFF2-40B4-BE49-F238E27FC236}">
                <a16:creationId xmlns:a16="http://schemas.microsoft.com/office/drawing/2014/main" id="{966EEB4F-73BF-41F4-ADB4-5ACD48CB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heading-346-193-145-44">
            <a:extLst xmlns:a="http://schemas.openxmlformats.org/drawingml/2006/main">
              <a:ext uri="{FF2B5EF4-FFF2-40B4-BE49-F238E27FC236}">
                <a16:creationId xmlns:a16="http://schemas.microsoft.com/office/drawing/2014/main" id="{CA90E2A8-E909-4594-8F17-DDC0A7E2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Selected cohort</a:t>
            </a:r>
          </a:p>
        </p:txBody>
      </p:sp>
      <p:sp>
        <p:nvSpPr>
          <p:cNvPr id="35" name="body-308-250-182-64">
            <a:extLst xmlns:a="http://schemas.openxmlformats.org/drawingml/2006/main">
              <a:ext uri="{FF2B5EF4-FFF2-40B4-BE49-F238E27FC236}">
                <a16:creationId xmlns:a16="http://schemas.microsoft.com/office/drawing/2014/main" id="{ECF0204F-7424-4675-8E68-F244BA7D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532 episodes; 161 residents</a:t>
            </a:r>
          </a:p>
        </p:txBody>
      </p:sp>
      <p:sp>
        <p:nvSpPr>
          <p:cNvPr id="36" name="pipeline-3">
            <a:extLst xmlns:a="http://schemas.openxmlformats.org/drawingml/2006/main">
              <a:ext uri="{FF2B5EF4-FFF2-40B4-BE49-F238E27FC236}">
                <a16:creationId xmlns:a16="http://schemas.microsoft.com/office/drawing/2014/main" id="{BE42152C-B438-4E4C-8A4D-C2672E6F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7918B027-105D-4B18-9739-DDD62DB9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label-544-200-30-16">
            <a:extLst xmlns:a="http://schemas.openxmlformats.org/drawingml/2006/main">
              <a:ext uri="{FF2B5EF4-FFF2-40B4-BE49-F238E27FC236}">
                <a16:creationId xmlns:a16="http://schemas.microsoft.com/office/drawing/2014/main" id="{24506320-9744-443A-8FEC-0CE4C470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heading-584-193-145-44">
            <a:extLst xmlns:a="http://schemas.openxmlformats.org/drawingml/2006/main">
              <a:ext uri="{FF2B5EF4-FFF2-40B4-BE49-F238E27FC236}">
                <a16:creationId xmlns:a16="http://schemas.microsoft.com/office/drawing/2014/main" id="{3CD12DE9-FEFB-4056-9210-B7503CF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Operational phenotype</a:t>
            </a:r>
          </a:p>
        </p:txBody>
      </p:sp>
      <p:sp>
        <p:nvSpPr>
          <p:cNvPr id="40" name="body-546-250-182-64">
            <a:extLst xmlns:a="http://schemas.openxmlformats.org/drawingml/2006/main">
              <a:ext uri="{FF2B5EF4-FFF2-40B4-BE49-F238E27FC236}">
                <a16:creationId xmlns:a16="http://schemas.microsoft.com/office/drawing/2014/main" id="{40A7C24D-7342-4916-A5BA-58D6A08B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 UTI; 516 Not_UTI</a:t>
            </a:r>
          </a:p>
        </p:txBody>
      </p:sp>
      <p:sp>
        <p:nvSpPr>
          <p:cNvPr id="41" name="pipeline-4">
            <a:extLst xmlns:a="http://schemas.openxmlformats.org/drawingml/2006/main">
              <a:ext uri="{FF2B5EF4-FFF2-40B4-BE49-F238E27FC236}">
                <a16:creationId xmlns:a16="http://schemas.microsoft.com/office/drawing/2014/main" id="{E9AF01D1-4D2F-41EF-A3EC-324C145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2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BACCB333-119D-4753-8A95-C5547980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label-782-200-30-16">
            <a:extLst xmlns:a="http://schemas.openxmlformats.org/drawingml/2006/main">
              <a:ext uri="{FF2B5EF4-FFF2-40B4-BE49-F238E27FC236}">
                <a16:creationId xmlns:a16="http://schemas.microsoft.com/office/drawing/2014/main" id="{0DDD1205-6FC6-4073-91C1-CEF2275C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4" name="heading-822-193-145-44">
            <a:extLst xmlns:a="http://schemas.openxmlformats.org/drawingml/2006/main">
              <a:ext uri="{FF2B5EF4-FFF2-40B4-BE49-F238E27FC236}">
                <a16:creationId xmlns:a16="http://schemas.microsoft.com/office/drawing/2014/main" id="{75793E09-1039-4F98-AE34-705F5D11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VF feature matrix</a:t>
            </a:r>
          </a:p>
        </p:txBody>
      </p:sp>
      <p:sp>
        <p:nvSpPr>
          <p:cNvPr id="45" name="body-784-250-182-64">
            <a:extLst xmlns:a="http://schemas.openxmlformats.org/drawingml/2006/main">
              <a:ext uri="{FF2B5EF4-FFF2-40B4-BE49-F238E27FC236}">
                <a16:creationId xmlns:a16="http://schemas.microsoft.com/office/drawing/2014/main" id="{4EFD2D96-B4C6-4595-8C47-0211457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227 binary features</a:t>
            </a:r>
          </a:p>
        </p:txBody>
      </p:sp>
      <p:sp>
        <p:nvSpPr>
          <p:cNvPr id="46" name="pipeline-5">
            <a:extLst xmlns:a="http://schemas.openxmlformats.org/drawingml/2006/main">
              <a:ext uri="{FF2B5EF4-FFF2-40B4-BE49-F238E27FC236}">
                <a16:creationId xmlns:a16="http://schemas.microsoft.com/office/drawing/2014/main" id="{35188FB2-D5C2-416D-A6D9-AF055A71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9545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pipeline-number-5">
            <a:extLst xmlns:a="http://schemas.openxmlformats.org/drawingml/2006/main">
              <a:ext uri="{FF2B5EF4-FFF2-40B4-BE49-F238E27FC236}">
                <a16:creationId xmlns:a16="http://schemas.microsoft.com/office/drawing/2014/main" id="{6B89AAEB-B9DB-4896-B2E6-23FC0799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label-1020-200-30-16">
            <a:extLst xmlns:a="http://schemas.openxmlformats.org/drawingml/2006/main">
              <a:ext uri="{FF2B5EF4-FFF2-40B4-BE49-F238E27FC236}">
                <a16:creationId xmlns:a16="http://schemas.microsoft.com/office/drawing/2014/main" id="{948D2368-A7D0-43E1-AAB1-060EB65B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0500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9" name="heading-1060-193-145-44">
            <a:extLst xmlns:a="http://schemas.openxmlformats.org/drawingml/2006/main">
              <a:ext uri="{FF2B5EF4-FFF2-40B4-BE49-F238E27FC236}">
                <a16:creationId xmlns:a16="http://schemas.microsoft.com/office/drawing/2014/main" id="{BA1876B8-F4BC-44CE-8425-413911E7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3832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MLST context</a:t>
            </a:r>
          </a:p>
        </p:txBody>
      </p:sp>
      <p:sp>
        <p:nvSpPr>
          <p:cNvPr id="50" name="body-1022-250-182-64">
            <a:extLst xmlns:a="http://schemas.openxmlformats.org/drawingml/2006/main">
              <a:ext uri="{FF2B5EF4-FFF2-40B4-BE49-F238E27FC236}">
                <a16:creationId xmlns:a16="http://schemas.microsoft.com/office/drawing/2014/main" id="{9644EE89-F433-4411-A02B-509750E5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493 typed episodes; 76 labels</a:t>
            </a:r>
          </a:p>
        </p:txBody>
      </p:sp>
      <p:sp>
        <p:nvSpPr>
          <p:cNvPr id="51" name="pipeline-6">
            <a:extLst xmlns:a="http://schemas.openxmlformats.org/drawingml/2006/main">
              <a:ext uri="{FF2B5EF4-FFF2-40B4-BE49-F238E27FC236}">
                <a16:creationId xmlns:a16="http://schemas.microsoft.com/office/drawing/2014/main" id="{C8DA17CE-0302-4754-B258-A4AE650C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2" name="pipeline-number-6">
            <a:extLst xmlns:a="http://schemas.openxmlformats.org/drawingml/2006/main">
              <a:ext uri="{FF2B5EF4-FFF2-40B4-BE49-F238E27FC236}">
                <a16:creationId xmlns:a16="http://schemas.microsoft.com/office/drawing/2014/main" id="{123BBA69-C39A-496C-93A5-BBA317C3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label-68-410-30-16">
            <a:extLst xmlns:a="http://schemas.openxmlformats.org/drawingml/2006/main">
              <a:ext uri="{FF2B5EF4-FFF2-40B4-BE49-F238E27FC236}">
                <a16:creationId xmlns:a16="http://schemas.microsoft.com/office/drawing/2014/main" id="{E59B24D4-BD0A-45BB-B5F9-B908F540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4" name="heading-108-403-145-44">
            <a:extLst xmlns:a="http://schemas.openxmlformats.org/drawingml/2006/main">
              <a:ext uri="{FF2B5EF4-FFF2-40B4-BE49-F238E27FC236}">
                <a16:creationId xmlns:a16="http://schemas.microsoft.com/office/drawing/2014/main" id="{4AE3D3EC-464C-4368-8D7F-76EB18BD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pairs</a:t>
            </a:r>
          </a:p>
        </p:txBody>
      </p:sp>
      <p:sp>
        <p:nvSpPr>
          <p:cNvPr id="55" name="body-70-460-182-64">
            <a:extLst xmlns:a="http://schemas.openxmlformats.org/drawingml/2006/main">
              <a:ext uri="{FF2B5EF4-FFF2-40B4-BE49-F238E27FC236}">
                <a16:creationId xmlns:a16="http://schemas.microsoft.com/office/drawing/2014/main" id="{FC6ACB22-35C3-4FEA-BA84-DB5D3271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893 comparisons</a:t>
            </a:r>
          </a:p>
        </p:txBody>
      </p:sp>
      <p:sp>
        <p:nvSpPr>
          <p:cNvPr id="56" name="pipeline-7">
            <a:extLst xmlns:a="http://schemas.openxmlformats.org/drawingml/2006/main">
              <a:ext uri="{FF2B5EF4-FFF2-40B4-BE49-F238E27FC236}">
                <a16:creationId xmlns:a16="http://schemas.microsoft.com/office/drawing/2014/main" id="{4361586D-AA44-459E-BAA7-5AFFB074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pipeline-number-7">
            <a:extLst xmlns:a="http://schemas.openxmlformats.org/drawingml/2006/main">
              <a:ext uri="{FF2B5EF4-FFF2-40B4-BE49-F238E27FC236}">
                <a16:creationId xmlns:a16="http://schemas.microsoft.com/office/drawing/2014/main" id="{6472DA71-264F-47A7-A3E4-94076B87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label-306-410-30-16">
            <a:extLst xmlns:a="http://schemas.openxmlformats.org/drawingml/2006/main">
              <a:ext uri="{FF2B5EF4-FFF2-40B4-BE49-F238E27FC236}">
                <a16:creationId xmlns:a16="http://schemas.microsoft.com/office/drawing/2014/main" id="{B5976B36-D95C-40CA-AC68-5DF9DC5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9" name="heading-346-403-145-44">
            <a:extLst xmlns:a="http://schemas.openxmlformats.org/drawingml/2006/main">
              <a:ext uri="{FF2B5EF4-FFF2-40B4-BE49-F238E27FC236}">
                <a16:creationId xmlns:a16="http://schemas.microsoft.com/office/drawing/2014/main" id="{FFCEB000-4BA5-4A7F-BF2C-A18DCB28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Adjacent transitions</a:t>
            </a:r>
          </a:p>
        </p:txBody>
      </p:sp>
      <p:sp>
        <p:nvSpPr>
          <p:cNvPr id="60" name="body-308-460-182-64">
            <a:extLst xmlns:a="http://schemas.openxmlformats.org/drawingml/2006/main">
              <a:ext uri="{FF2B5EF4-FFF2-40B4-BE49-F238E27FC236}">
                <a16:creationId xmlns:a16="http://schemas.microsoft.com/office/drawing/2014/main" id="{F577D730-C25F-4B63-8DA8-E7009F0F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371 from 139 residents</a:t>
            </a:r>
          </a:p>
        </p:txBody>
      </p:sp>
      <p:sp>
        <p:nvSpPr>
          <p:cNvPr id="61" name="pipeline-8">
            <a:extLst xmlns:a="http://schemas.openxmlformats.org/drawingml/2006/main">
              <a:ext uri="{FF2B5EF4-FFF2-40B4-BE49-F238E27FC236}">
                <a16:creationId xmlns:a16="http://schemas.microsoft.com/office/drawing/2014/main" id="{E3E58503-A085-49EB-B1E2-4E71778A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2" name="pipeline-number-8">
            <a:extLst xmlns:a="http://schemas.openxmlformats.org/drawingml/2006/main">
              <a:ext uri="{FF2B5EF4-FFF2-40B4-BE49-F238E27FC236}">
                <a16:creationId xmlns:a16="http://schemas.microsoft.com/office/drawing/2014/main" id="{D4554AF2-1CEB-457E-85E1-1A4E3CDC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label-544-410-30-16">
            <a:extLst xmlns:a="http://schemas.openxmlformats.org/drawingml/2006/main">
              <a:ext uri="{FF2B5EF4-FFF2-40B4-BE49-F238E27FC236}">
                <a16:creationId xmlns:a16="http://schemas.microsoft.com/office/drawing/2014/main" id="{93C63A12-461B-47E0-B57F-9F5DA213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4" name="heading-584-403-145-44">
            <a:extLst xmlns:a="http://schemas.openxmlformats.org/drawingml/2006/main">
              <a:ext uri="{FF2B5EF4-FFF2-40B4-BE49-F238E27FC236}">
                <a16:creationId xmlns:a16="http://schemas.microsoft.com/office/drawing/2014/main" id="{213140D9-9D43-45F0-BBC8-592AACF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Focused transition view</a:t>
            </a:r>
          </a:p>
        </p:txBody>
      </p:sp>
      <p:sp>
        <p:nvSpPr>
          <p:cNvPr id="65" name="body-546-460-182-64">
            <a:extLst xmlns:a="http://schemas.openxmlformats.org/drawingml/2006/main">
              <a:ext uri="{FF2B5EF4-FFF2-40B4-BE49-F238E27FC236}">
                <a16:creationId xmlns:a16="http://schemas.microsoft.com/office/drawing/2014/main" id="{5509F3C1-600E-4A74-9FED-17E7E6A2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transitions; 5 ≤25 SNPs</a:t>
            </a:r>
          </a:p>
        </p:txBody>
      </p:sp>
      <p:sp>
        <p:nvSpPr>
          <p:cNvPr id="66" name="pipeline-9">
            <a:extLst xmlns:a="http://schemas.openxmlformats.org/drawingml/2006/main">
              <a:ext uri="{FF2B5EF4-FFF2-40B4-BE49-F238E27FC236}">
                <a16:creationId xmlns:a16="http://schemas.microsoft.com/office/drawing/2014/main" id="{7269717E-1C39-4AA1-BE93-4BCC99CD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7" name="pipeline-number-9">
            <a:extLst xmlns:a="http://schemas.openxmlformats.org/drawingml/2006/main">
              <a:ext uri="{FF2B5EF4-FFF2-40B4-BE49-F238E27FC236}">
                <a16:creationId xmlns:a16="http://schemas.microsoft.com/office/drawing/2014/main" id="{A374E028-20C2-435D-A7EC-0E60D9D0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label-782-410-30-16">
            <a:extLst xmlns:a="http://schemas.openxmlformats.org/drawingml/2006/main">
              <a:ext uri="{FF2B5EF4-FFF2-40B4-BE49-F238E27FC236}">
                <a16:creationId xmlns:a16="http://schemas.microsoft.com/office/drawing/2014/main" id="{9F4B3227-8FDD-46A7-9709-87EDA70E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9" name="heading-822-403-145-44">
            <a:extLst xmlns:a="http://schemas.openxmlformats.org/drawingml/2006/main">
              <a:ext uri="{FF2B5EF4-FFF2-40B4-BE49-F238E27FC236}">
                <a16:creationId xmlns:a16="http://schemas.microsoft.com/office/drawing/2014/main" id="{59CB0379-121E-407F-9555-B068DE37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Mechanism casebook</a:t>
            </a:r>
          </a:p>
        </p:txBody>
      </p:sp>
      <p:sp>
        <p:nvSpPr>
          <p:cNvPr id="70" name="body-784-460-182-64">
            <a:extLst xmlns:a="http://schemas.openxmlformats.org/drawingml/2006/main">
              <a:ext uri="{FF2B5EF4-FFF2-40B4-BE49-F238E27FC236}">
                <a16:creationId xmlns:a16="http://schemas.microsoft.com/office/drawing/2014/main" id="{24CD0ABB-C547-4BFD-8B77-9E2F002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9/9/0: cases/linked/missing</a:t>
            </a:r>
          </a:p>
        </p:txBody>
      </p:sp>
      <p:sp>
        <p:nvSpPr>
          <p:cNvPr id="71" name="pipeline-10">
            <a:extLst xmlns:a="http://schemas.openxmlformats.org/drawingml/2006/main">
              <a:ext uri="{FF2B5EF4-FFF2-40B4-BE49-F238E27FC236}">
                <a16:creationId xmlns:a16="http://schemas.microsoft.com/office/drawing/2014/main" id="{2C8E8805-B4F4-49C7-A3B6-83E6F98C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95700"/>
            <a:ext cx="2038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2" name="pipeline-number-10">
            <a:extLst xmlns:a="http://schemas.openxmlformats.org/drawingml/2006/main">
              <a:ext uri="{FF2B5EF4-FFF2-40B4-BE49-F238E27FC236}">
                <a16:creationId xmlns:a16="http://schemas.microsoft.com/office/drawing/2014/main" id="{C7E08FBC-C288-408F-AD93-074568E9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label-1020-410-30-16">
            <a:extLst xmlns:a="http://schemas.openxmlformats.org/drawingml/2006/main">
              <a:ext uri="{FF2B5EF4-FFF2-40B4-BE49-F238E27FC236}">
                <a16:creationId xmlns:a16="http://schemas.microsoft.com/office/drawing/2014/main" id="{E703E422-7C65-40DC-BFE1-973AD9A2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4" name="heading-1060-403-145-44">
            <a:extLst xmlns:a="http://schemas.openxmlformats.org/drawingml/2006/main">
              <a:ext uri="{FF2B5EF4-FFF2-40B4-BE49-F238E27FC236}">
                <a16:creationId xmlns:a16="http://schemas.microsoft.com/office/drawing/2014/main" id="{780CDC9E-E911-4768-B625-A05BA99C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38575"/>
            <a:ext cx="138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Research-question release</a:t>
            </a:r>
          </a:p>
        </p:txBody>
      </p:sp>
      <p:sp>
        <p:nvSpPr>
          <p:cNvPr id="75" name="body-1022-460-182-64">
            <a:extLst xmlns:a="http://schemas.openxmlformats.org/drawingml/2006/main">
              <a:ext uri="{FF2B5EF4-FFF2-40B4-BE49-F238E27FC236}">
                <a16:creationId xmlns:a16="http://schemas.microsoft.com/office/drawing/2014/main" id="{4B2D71C5-07F9-46B5-AB9E-042A74AA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8150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RQ01–RQ10; none retired</a:t>
            </a:r>
          </a:p>
        </p:txBody>
      </p:sp>
    </p:spTree>
    <p:extLst>
      <p:ext uri="{BB962C8B-B14F-4D97-AF65-F5344CB8AC3E}">
        <p14:creationId xmlns:p14="http://schemas.microsoft.com/office/powerpoint/2010/main" val="20037935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73DDD85-64E2-418C-B23C-A4DC526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460A5BFF-8BA3-4986-9E2F-1E09A927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867AA9F-EE3E-440B-9E60-C7707E74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TRANSITION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183FDF-F672-418B-9EA4-50F4412E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Full focused transition mechanism casebook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16859D3-73E7-4E84-B58B-B230F67E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 cases; 9 linked; 0 missing. Buckets organise evidence, not proof.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6B94D4A-B9E3-4944-B018-7EBFBAD8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43ECA5E-324A-4338-80B1-D437CD10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425368C-AEFD-4A6B-BF88-525CC66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6CFFDA-983C-49B8-9C72-154FB0FA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0" name="figure-frame-not_uti_to_uti_case_matrix.png">
            <a:extLst xmlns:a="http://schemas.openxmlformats.org/drawingml/2006/main">
              <a:ext uri="{FF2B5EF4-FFF2-40B4-BE49-F238E27FC236}">
                <a16:creationId xmlns:a16="http://schemas.microsoft.com/office/drawing/2014/main" id="{EA451834-A0AA-4BA0-8C1F-5F50458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107061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cbf33552746ac"/>
          <a:stretch xmlns:a="http://schemas.openxmlformats.org/drawingml/2006/main"/>
        </p:blipFill>
        <p:spPr>
          <a:xfrm xmlns:a="http://schemas.openxmlformats.org/drawingml/2006/main">
            <a:off x="1992190" y="1504950"/>
            <a:ext cx="7769469" cy="459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394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E8BEFA3-31A0-4450-BCFD-B81A6D4E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accent-rail">
            <a:extLst xmlns:a="http://schemas.openxmlformats.org/drawingml/2006/main">
              <a:ext uri="{FF2B5EF4-FFF2-40B4-BE49-F238E27FC236}">
                <a16:creationId xmlns:a16="http://schemas.microsoft.com/office/drawing/2014/main" id="{12C8EF31-4552-4751-912B-8C0630B3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65E6D13-3484-4571-94A6-0665D7FE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APPENDIX / INTERPRETATION CHECKS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00BC07-2576-4A14-B79A-61F752B7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Robustness and lineage diagnostics stay as backup interpretation aids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35DDD95-871B-4F1D-965D-7C12D5F3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17-row near-miss audit remains separate from operational UTI cases.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9A44783-3F68-4999-8DE0-D3E2EC4A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11489A-D8A7-4E59-B54A-47F471CD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B7F7BE6-8849-4A98-9838-8F6CFC04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Longcycler-only compact onboarding | operational UTI phenotype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D4E95CC-468B-4921-ABA2-B33187E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figure-frame-model_stability_flags.png">
            <a:extLst xmlns:a="http://schemas.openxmlformats.org/drawingml/2006/main">
              <a:ext uri="{FF2B5EF4-FFF2-40B4-BE49-F238E27FC236}">
                <a16:creationId xmlns:a16="http://schemas.microsoft.com/office/drawing/2014/main" id="{A953DA30-5A19-4481-A238-C79FF680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552575"/>
            <a:ext cx="53911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15b6ab2804725"/>
          <a:stretch xmlns:a="http://schemas.openxmlformats.org/drawingml/2006/main"/>
        </p:blipFill>
        <p:spPr>
          <a:xfrm xmlns:a="http://schemas.openxmlformats.org/drawingml/2006/main">
            <a:off x="514350" y="1908922"/>
            <a:ext cx="5257800" cy="3402106"/>
          </a:xfrm>
          <a:prstGeom xmlns:a="http://schemas.openxmlformats.org/drawingml/2006/main" prst="rect">
            <a:avLst/>
          </a:prstGeom>
        </p:spPr>
      </p:pic>
      <p:sp>
        <p:nvSpPr>
          <p:cNvPr id="12" name="figure-frame-vf_pcoa_jaccard_ST.png">
            <a:extLst xmlns:a="http://schemas.openxmlformats.org/drawingml/2006/main">
              <a:ext uri="{FF2B5EF4-FFF2-40B4-BE49-F238E27FC236}">
                <a16:creationId xmlns:a16="http://schemas.microsoft.com/office/drawing/2014/main" id="{02778FCF-01C5-4F3B-B051-CAB128DC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552575"/>
            <a:ext cx="53911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62ed78aa14f67"/>
          <a:stretch xmlns:a="http://schemas.openxmlformats.org/drawingml/2006/main"/>
        </p:blipFill>
        <p:spPr>
          <a:xfrm xmlns:a="http://schemas.openxmlformats.org/drawingml/2006/main">
            <a:off x="6381750" y="1901190"/>
            <a:ext cx="5257800" cy="3417570"/>
          </a:xfrm>
          <a:prstGeom xmlns:a="http://schemas.openxmlformats.org/drawingml/2006/main" prst="rect">
            <a:avLst/>
          </a:prstGeom>
        </p:spPr>
      </p:pic>
      <p:sp>
        <p:nvSpPr>
          <p:cNvPr id="14" name="label-16 operational UTI; exploratory">
            <a:extLst xmlns:a="http://schemas.openxmlformats.org/drawingml/2006/main">
              <a:ext uri="{FF2B5EF4-FFF2-40B4-BE49-F238E27FC236}">
                <a16:creationId xmlns:a16="http://schemas.microsoft.com/office/drawing/2014/main" id="{7838DC51-99EB-4AD1-951F-9723EC08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29300"/>
            <a:ext cx="2857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label-174-617-284-20">
            <a:extLst xmlns:a="http://schemas.openxmlformats.org/drawingml/2006/main">
              <a:ext uri="{FF2B5EF4-FFF2-40B4-BE49-F238E27FC236}">
                <a16:creationId xmlns:a16="http://schemas.microsoft.com/office/drawing/2014/main" id="{6E5E2334-51BA-4207-B1B3-9302AEB1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76925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16 operational UTI; exploratory</a:t>
            </a:r>
          </a:p>
        </p:txBody>
      </p:sp>
      <p:sp>
        <p:nvSpPr>
          <p:cNvPr id="16" name="label-Lineage diagnostic">
            <a:extLst xmlns:a="http://schemas.openxmlformats.org/drawingml/2006/main">
              <a:ext uri="{FF2B5EF4-FFF2-40B4-BE49-F238E27FC236}">
                <a16:creationId xmlns:a16="http://schemas.microsoft.com/office/drawing/2014/main" id="{47237A3E-0187-44B8-9045-9A9033DD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829300"/>
            <a:ext cx="2667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label-810-617-264-20">
            <a:extLst xmlns:a="http://schemas.openxmlformats.org/drawingml/2006/main">
              <a:ext uri="{FF2B5EF4-FFF2-40B4-BE49-F238E27FC236}">
                <a16:creationId xmlns:a16="http://schemas.microsoft.com/office/drawing/2014/main" id="{BE0CFF79-8AE7-45B5-8D27-A2C6C3D0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76925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Lineage diagnostic</a:t>
            </a:r>
          </a:p>
        </p:txBody>
      </p:sp>
    </p:spTree>
    <p:extLst>
      <p:ext uri="{BB962C8B-B14F-4D97-AF65-F5344CB8AC3E}">
        <p14:creationId xmlns:p14="http://schemas.microsoft.com/office/powerpoint/2010/main" val="1996977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2026-07-15T07:28:24.0550000Z</dcterms:created>
  <dcterms:modified xsi:type="dcterms:W3CDTF">2026-07-15T07:28:24.0550000Z</dcterms:modified>
</coreProperties>
</file>