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530352"/>
            <a:ext cx="85953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REVIEW / LONGITUDINAL VF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914400"/>
            <a:ext cx="9692640" cy="786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Virulence-factor profiling of longitudinal urinary E. coli isolates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585216" y="1737360"/>
            <a:ext cx="9326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onboarding review: current pipeline, core longitudinal VF results, and cautious clinical-status overlay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706624"/>
            <a:ext cx="3072384" cy="124358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B9D5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834640"/>
            <a:ext cx="27432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1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749808" y="3054096"/>
            <a:ext cx="27432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VF repertoire is present?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3401568"/>
            <a:ext cx="274320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virulence-factor gene space and curated modules in 556 VF-ready urinary E. coli isolates.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4023360" y="2706624"/>
            <a:ext cx="3072384" cy="1243584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87952" y="2834640"/>
            <a:ext cx="27432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2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4187952" y="3054096"/>
            <a:ext cx="27432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stable are profiles over time?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87952" y="3401568"/>
            <a:ext cx="274320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consecutive within-resident comparisons to quantify VF similarity and gene gain/loss.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7461504" y="2706624"/>
            <a:ext cx="3072384" cy="1243584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C9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6096" y="2834640"/>
            <a:ext cx="27432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3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626096" y="3054096"/>
            <a:ext cx="27432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should clinical status be overlaid?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26096" y="3401568"/>
            <a:ext cx="274320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UTI versus Not_UTI as a sparse exploratory annotation, not the whole study frame.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1664208" y="4681728"/>
            <a:ext cx="1600200" cy="786384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0" y="4809744"/>
            <a:ext cx="1453896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755648" y="5157216"/>
            <a:ext cx="1417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VF-ready episodes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75888" y="4681728"/>
            <a:ext cx="1600200" cy="786384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4809744"/>
            <a:ext cx="1453896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3767328" y="5157216"/>
            <a:ext cx="1417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gene columns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87568" y="4681728"/>
            <a:ext cx="1600200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0" y="4809744"/>
            <a:ext cx="1453896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394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779008" y="5157216"/>
            <a:ext cx="1417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pairs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699248" y="4681728"/>
            <a:ext cx="1600200" cy="786384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4809744"/>
            <a:ext cx="1453896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7790688" y="5157216"/>
            <a:ext cx="1417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 annotations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66928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a 20-22 min presentation plus discussion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ORIENTATION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YELLOW routine in one plain-English loop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episode becomes one bacterial genome profile, then repeated profiles are compared over 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93776" y="2029968"/>
            <a:ext cx="1627632" cy="1408176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episode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658368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Urine-sampling moment with clinical context.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21792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48840" y="2724912"/>
            <a:ext cx="182880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77440" y="2029968"/>
            <a:ext cx="1627632" cy="1408176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2B6C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Urinary E. coli isolate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2542032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bacterium selected for sequencing.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505456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32504" y="2724912"/>
            <a:ext cx="182880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261104" y="2029968"/>
            <a:ext cx="1627632" cy="1408176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2B6C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5696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Genome assembly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4425696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WGS reads become a genome representation.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389120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16168" y="2724912"/>
            <a:ext cx="182880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44768" y="2029968"/>
            <a:ext cx="1627632" cy="1408176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2F85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gene row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6309360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Detected or not detected across VF genes.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72784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99832" y="2724912"/>
            <a:ext cx="182880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028432" y="2029968"/>
            <a:ext cx="1627632" cy="1408176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2F85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93024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 outputs</a:t>
            </a:r>
            <a:endParaRPr lang="en-US" sz="1120" dirty="0"/>
          </a:p>
        </p:txBody>
      </p:sp>
      <p:sp>
        <p:nvSpPr>
          <p:cNvPr id="33" name="Text 31"/>
          <p:cNvSpPr/>
          <p:nvPr/>
        </p:nvSpPr>
        <p:spPr>
          <a:xfrm>
            <a:off x="8193024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Modules, burden, similarity, gain/loss.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8156448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683496" y="2724912"/>
            <a:ext cx="182880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912096" y="2029968"/>
            <a:ext cx="1627632" cy="1408176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76688" y="2176272"/>
            <a:ext cx="129844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overlay</a:t>
            </a:r>
            <a:endParaRPr lang="en-US" sz="1120" dirty="0"/>
          </a:p>
        </p:txBody>
      </p:sp>
      <p:sp>
        <p:nvSpPr>
          <p:cNvPr id="38" name="Text 36"/>
          <p:cNvSpPr/>
          <p:nvPr/>
        </p:nvSpPr>
        <p:spPr>
          <a:xfrm>
            <a:off x="10076688" y="2743200"/>
            <a:ext cx="1298448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labels added cautiously.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040112" y="2157984"/>
            <a:ext cx="228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41248" y="4407408"/>
            <a:ext cx="2788920" cy="8412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B9D5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5840" y="4553712"/>
            <a:ext cx="245973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measure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05840" y="4901184"/>
            <a:ext cx="245973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gene presence/absence in each selected urinary E. coli assembly.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4645152" y="4407408"/>
            <a:ext cx="2788920" cy="841248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9744" y="4553712"/>
            <a:ext cx="245973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compare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809744" y="4901184"/>
            <a:ext cx="245973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VF profiles within residents: similarity, stability, and gain/loss.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8449056" y="4407408"/>
            <a:ext cx="2788920" cy="841248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C9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13648" y="4553712"/>
            <a:ext cx="245973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status enters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613648" y="4901184"/>
            <a:ext cx="245973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 versus Not_UTI is a later exploratory clinical annotation.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ORIENTATION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Unit changes explain denominator changes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count answers a different question: episode, assembly/profile, feature, pair, or transition.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694944" y="1645920"/>
            <a:ext cx="10808208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Plain rule for reading the deck</a:t>
            </a:r>
            <a:endParaRPr lang="en-US" sz="1240" dirty="0"/>
          </a:p>
        </p:txBody>
      </p:sp>
      <p:sp>
        <p:nvSpPr>
          <p:cNvPr id="13" name="Text 11"/>
          <p:cNvSpPr/>
          <p:nvPr/>
        </p:nvSpPr>
        <p:spPr>
          <a:xfrm>
            <a:off x="859536" y="1965960"/>
            <a:ext cx="10479024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interpreting a number, ask what the row represents. Counts change when the analysis moves from clinical records to selected genomes, VF features, repeated pairs, and transition cases.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69264" y="2761488"/>
            <a:ext cx="2377440" cy="384048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2907792"/>
            <a:ext cx="204825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episodes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3858768" y="2743200"/>
            <a:ext cx="14630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376672" y="2807208"/>
            <a:ext cx="4937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visits/events with primary clinical status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969264" y="3328416"/>
            <a:ext cx="23774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2B6C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33856" y="3474720"/>
            <a:ext cx="204825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VF-ready episodes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3858768" y="3310128"/>
            <a:ext cx="14630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76672" y="3374136"/>
            <a:ext cx="4937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episode-level assemblies with VF evidence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969264" y="3895344"/>
            <a:ext cx="2377440" cy="384048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2F85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856" y="4041648"/>
            <a:ext cx="204825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feature space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3858768" y="3877056"/>
            <a:ext cx="14630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227 -&gt; 32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76672" y="3941064"/>
            <a:ext cx="4937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 columns grouped into curated modules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969264" y="4462272"/>
            <a:ext cx="2377440" cy="384048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2F85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3856" y="4608576"/>
            <a:ext cx="204825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pairs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3858768" y="4443984"/>
            <a:ext cx="14630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376672" y="4507992"/>
            <a:ext cx="4937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consecutive within-resident comparisons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969264" y="5029200"/>
            <a:ext cx="2377440" cy="384048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1118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33856" y="5175504"/>
            <a:ext cx="2048256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transitions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3858768" y="5010912"/>
            <a:ext cx="14630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76672" y="5074920"/>
            <a:ext cx="4937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 -&gt; UTI application cases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7571232" y="5705856"/>
            <a:ext cx="2651760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26096" y="5760720"/>
            <a:ext cx="254203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pipeline, different analysis units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ANNOTATION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an episode becomes UTI in this project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UTI status requires culture support plus catheter-aware compatible symptoms.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786384" y="1737360"/>
            <a:ext cx="2889504" cy="142646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B9D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883664"/>
            <a:ext cx="25603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Culture support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231136"/>
            <a:ext cx="256032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Urine culture evidence supports possible infection under the primary lower-threshold rule.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950976" y="2779776"/>
            <a:ext cx="2514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&gt;=10^3 CFU/mL where CFU data are available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3858768" y="2468880"/>
            <a:ext cx="768096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160520" y="2331720"/>
            <a:ext cx="2560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828032" y="1737360"/>
            <a:ext cx="2889504" cy="1426464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2624" y="1883664"/>
            <a:ext cx="25603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Symptom rule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92624" y="2231136"/>
            <a:ext cx="256032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Compatible symptoms are interpreted with different logic for catheter and non-catheter episodes.</a:t>
            </a:r>
            <a:endParaRPr lang="en-US" sz="970" dirty="0"/>
          </a:p>
        </p:txBody>
      </p:sp>
      <p:sp>
        <p:nvSpPr>
          <p:cNvPr id="20" name="Text 18"/>
          <p:cNvSpPr/>
          <p:nvPr/>
        </p:nvSpPr>
        <p:spPr>
          <a:xfrm>
            <a:off x="5212080" y="2779776"/>
            <a:ext cx="21031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catheter-aware symptom definition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7882128" y="2468880"/>
            <a:ext cx="768096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851392" y="1938528"/>
            <a:ext cx="2231136" cy="1005840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B1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15984" y="2084832"/>
            <a:ext cx="1901952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015984" y="2432304"/>
            <a:ext cx="1901952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criteria met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2688" y="3986784"/>
            <a:ext cx="4736592" cy="950976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B1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133088"/>
            <a:ext cx="440740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clinical denominator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97280" y="4480560"/>
            <a:ext cx="440740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583 clinical episodes = 18 UTI + 565 Not_UTI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6400800" y="3986784"/>
            <a:ext cx="4736592" cy="950976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65392" y="4133088"/>
            <a:ext cx="440740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 is a mixed comparator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65392" y="4480560"/>
            <a:ext cx="4407408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Episodes that do not meet both criteria; includes heterogeneous clinical and culture contexts.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67328" y="5532120"/>
            <a:ext cx="1417320" cy="25603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22192" y="5586984"/>
            <a:ext cx="130759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266944" y="5660136"/>
            <a:ext cx="786384" cy="0"/>
          </a:xfrm>
          <a:prstGeom prst="line">
            <a:avLst/>
          </a:prstGeom>
          <a:noFill/>
          <a:ln w="2032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63056" y="5532120"/>
            <a:ext cx="1417320" cy="256032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586984"/>
            <a:ext cx="130759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ASSET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VF-ready data link repeated urinary E. coli genomes to clinical episodes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Dataset-level counts are VF-ready denominators; no disputed clinical participant total is displayed.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768096" y="1755648"/>
            <a:ext cx="1609344" cy="786384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883664"/>
            <a:ext cx="14630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59536" y="2231136"/>
            <a:ext cx="14264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episode-level selected assemblies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79776" y="1755648"/>
            <a:ext cx="1609344" cy="786384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52928" y="1883664"/>
            <a:ext cx="14630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162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871216" y="2231136"/>
            <a:ext cx="14264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in VF-ready dataset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91456" y="1755648"/>
            <a:ext cx="1609344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883664"/>
            <a:ext cx="14630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882896" y="2231136"/>
            <a:ext cx="14264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VF gene columns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803136" y="1755648"/>
            <a:ext cx="1609344" cy="786384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883664"/>
            <a:ext cx="14630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894576" y="2231136"/>
            <a:ext cx="14264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modules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814816" y="1755648"/>
            <a:ext cx="1609344" cy="786384"/>
          </a:xfrm>
          <a:prstGeom prst="roundRect">
            <a:avLst/>
          </a:prstGeom>
          <a:solidFill>
            <a:srgbClr val="FBED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87968" y="1883664"/>
            <a:ext cx="14630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65A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906256" y="2231136"/>
            <a:ext cx="14264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B65A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UPEC-candidate modules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32688" y="3182112"/>
            <a:ext cx="27432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Repeated-isolate design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408176" y="3913632"/>
            <a:ext cx="603504" cy="603504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9AC1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16736" y="4114800"/>
            <a:ext cx="78638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1243584" y="4700016"/>
            <a:ext cx="932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 1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2121408" y="4215384"/>
            <a:ext cx="117043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419856" y="3913632"/>
            <a:ext cx="603504" cy="603504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9AC1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28416" y="4114800"/>
            <a:ext cx="78638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3255264" y="4700016"/>
            <a:ext cx="932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 2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4133088" y="4215384"/>
            <a:ext cx="117043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431536" y="3913632"/>
            <a:ext cx="603504" cy="603504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9AC1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0096" y="4114800"/>
            <a:ext cx="78638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5266944" y="4700016"/>
            <a:ext cx="932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 3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144768" y="4215384"/>
            <a:ext cx="117043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443216" y="3913632"/>
            <a:ext cx="603504" cy="603504"/>
          </a:xfrm>
          <a:prstGeom prst="roundRect">
            <a:avLst/>
          </a:prstGeom>
          <a:solidFill>
            <a:srgbClr val="FFF4E6"/>
          </a:solidFill>
          <a:ln w="17780">
            <a:solidFill>
              <a:srgbClr val="F4B1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1776" y="4114800"/>
            <a:ext cx="78638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278624" y="4700016"/>
            <a:ext cx="932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 4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8156448" y="4215384"/>
            <a:ext cx="117043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454896" y="3913632"/>
            <a:ext cx="603504" cy="603504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9AC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63456" y="4114800"/>
            <a:ext cx="78638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9290304" y="4700016"/>
            <a:ext cx="932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Episode 5</a:t>
            </a:r>
            <a:endParaRPr lang="en-US" sz="820" dirty="0"/>
          </a:p>
        </p:txBody>
      </p:sp>
      <p:sp>
        <p:nvSpPr>
          <p:cNvPr id="46" name="Shape 44"/>
          <p:cNvSpPr/>
          <p:nvPr/>
        </p:nvSpPr>
        <p:spPr>
          <a:xfrm>
            <a:off x="932688" y="5504688"/>
            <a:ext cx="10149840" cy="60350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97280" y="5650992"/>
            <a:ext cx="982065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 stance</a:t>
            </a:r>
            <a:endParaRPr lang="en-US" sz="970" dirty="0"/>
          </a:p>
        </p:txBody>
      </p:sp>
      <p:sp>
        <p:nvSpPr>
          <p:cNvPr id="48" name="Text 46"/>
          <p:cNvSpPr/>
          <p:nvPr/>
        </p:nvSpPr>
        <p:spPr>
          <a:xfrm>
            <a:off x="1097280" y="5760720"/>
            <a:ext cx="98206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unit of VF measurement is an episode-level isolate profile. Status labels can be overlaid, but repeated measures, lineage structure, and sparse UTI counts limit causal status claims.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REPRESENTATION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VF features: genes, curated modules, and longitudinal similarity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and score outputs help interpretation; they are not validated disease-causality scores.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749808" y="1755648"/>
            <a:ext cx="2651760" cy="1225296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B9D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01952"/>
            <a:ext cx="232257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VF gene matrix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249424"/>
            <a:ext cx="232257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 presence/absence gene columns per episode-level isolate.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73168" y="1755648"/>
            <a:ext cx="2651760" cy="1225296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1901952"/>
            <a:ext cx="232257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modules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2249424"/>
            <a:ext cx="232257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 biological curation units, including 18 UPEC-candidate modules.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796528" y="1755648"/>
            <a:ext cx="2651760" cy="1225296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C9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0" y="1901952"/>
            <a:ext cx="232257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61120" y="2249424"/>
            <a:ext cx="2322576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Burden, prevalence, Jaccard similarity, gain/loss, and exploratory models.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566160" y="2359152"/>
            <a:ext cx="1024128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589520" y="2359152"/>
            <a:ext cx="1024128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9264" y="382219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3000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16736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90472" y="382219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4208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37944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11680" y="382219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85416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9152" y="382219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32888" y="382219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9264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977640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16736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90472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4208" y="3977640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37944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1680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85416" y="3977640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9152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32888" y="3977640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9264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43000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16736" y="4133088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90472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64208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37944" y="4133088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11680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85416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59152" y="4133088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32888" y="4133088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69264" y="4288536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43000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316736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90472" y="4288536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664208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837944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11680" y="4288536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185416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59152" y="4288536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32888" y="4288536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9264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43000" y="4443984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316736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90472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664208" y="4443984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837944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011680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185416" y="4443984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359152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532888" y="4443984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9264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43000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316736" y="459943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490472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664208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37944" y="459943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011680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85416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59152" y="4599432"/>
            <a:ext cx="128016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32888" y="4599432"/>
            <a:ext cx="128016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49808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are episode-level isolates; columns are VF genes detected from current selected assemblies.</a:t>
            </a:r>
            <a:endParaRPr lang="en-US" sz="880" dirty="0"/>
          </a:p>
        </p:txBody>
      </p:sp>
      <p:sp>
        <p:nvSpPr>
          <p:cNvPr id="83" name="Shape 81"/>
          <p:cNvSpPr/>
          <p:nvPr/>
        </p:nvSpPr>
        <p:spPr>
          <a:xfrm>
            <a:off x="4809744" y="3694176"/>
            <a:ext cx="11521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864608" y="3749040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Adhesion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6181344" y="3694176"/>
            <a:ext cx="11521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36208" y="3749040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Iron acquisition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809744" y="4133088"/>
            <a:ext cx="11521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64608" y="4187952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Secretion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181344" y="4133088"/>
            <a:ext cx="11521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236208" y="4187952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Toxin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809744" y="4572000"/>
            <a:ext cx="11521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864608" y="4626864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Capsule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6181344" y="4572000"/>
            <a:ext cx="1152144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6208" y="4626864"/>
            <a:ext cx="10424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Unassigned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8577072" y="3621024"/>
            <a:ext cx="2761488" cy="1225296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ED7A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741664" y="3767328"/>
            <a:ext cx="24323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 caution</a:t>
            </a:r>
            <a:endParaRPr lang="en-US" sz="1300" dirty="0"/>
          </a:p>
        </p:txBody>
      </p:sp>
      <p:sp>
        <p:nvSpPr>
          <p:cNvPr id="97" name="Text 95"/>
          <p:cNvSpPr/>
          <p:nvPr/>
        </p:nvSpPr>
        <p:spPr>
          <a:xfrm>
            <a:off x="8741664" y="4114800"/>
            <a:ext cx="2432304" cy="694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Unassigned genes are 25.1% of the VF matrix. Interpret total burden separately from curated and UPEC-candidate summaries.</a:t>
            </a:r>
            <a:endParaRPr lang="en-US" sz="930" dirty="0"/>
          </a:p>
        </p:txBody>
      </p:sp>
      <p:sp>
        <p:nvSpPr>
          <p:cNvPr id="98" name="Shape 96"/>
          <p:cNvSpPr/>
          <p:nvPr/>
        </p:nvSpPr>
        <p:spPr>
          <a:xfrm>
            <a:off x="8759952" y="5212080"/>
            <a:ext cx="1865376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814816" y="5266944"/>
            <a:ext cx="1755648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 framework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REPERTOIRE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VF repertoire is summarised as genes and curated modules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Prevalence and module counts describe what is present; they are not disease-association claims.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85216" y="1554480"/>
            <a:ext cx="5376672" cy="446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Top VF gene preval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2832" y="1591056"/>
            <a:ext cx="3901440" cy="4389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08192" y="1554480"/>
            <a:ext cx="5394960" cy="446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4" name="Image 1" descr="VF module gene cou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591056"/>
            <a:ext cx="4572000" cy="43891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41248" y="5989320"/>
            <a:ext cx="1115568" cy="256032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044184"/>
            <a:ext cx="100584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345936" y="5989320"/>
            <a:ext cx="1609344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6044184"/>
            <a:ext cx="14996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 framework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STABILITY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Most repeated within-resident VF profiles are highly stable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394 consecutive comparisons from 144 participants; median Jaccard similarity 1.000; 62.4% no VF change.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66928" y="1481328"/>
            <a:ext cx="8714232" cy="4535424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Most repeated within-resident VF profiles are highly s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5244" y="1517904"/>
            <a:ext cx="6197600" cy="446227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28048" y="1773936"/>
            <a:ext cx="1719072" cy="1700784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0" y="1920240"/>
            <a:ext cx="138988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finding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92640" y="2267712"/>
            <a:ext cx="1389888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dominant pattern is VF profile conservation across repeated urinary E. coli isolates from the same resident.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9646920" y="1591056"/>
            <a:ext cx="1874520" cy="256032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01784" y="1645920"/>
            <a:ext cx="176479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 longitudinal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CHANGE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Gain/loss summaries flag candidates for follow-up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VF changes may reflect replacement, assembly/calling variation, or true gene-content change.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12064" y="1481328"/>
            <a:ext cx="9308592" cy="459028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Gain/loss summaries flag candidates for follow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9834" y="1517904"/>
            <a:ext cx="6453051" cy="451713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912096" y="1773936"/>
            <a:ext cx="1280160" cy="1700784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76688" y="1920240"/>
            <a:ext cx="95097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with context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0076688" y="2267712"/>
            <a:ext cx="950976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lineage and genome-distance evidence before interpreting gain/loss.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9912096" y="3822192"/>
            <a:ext cx="1280160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66960" y="3877056"/>
            <a:ext cx="117043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CONTEXT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Sequence-type consistency helps interpret VF stability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Same-ST comparisons support persistent-lineage context, but ST agreement alone does not prove same strain.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66928" y="1481328"/>
            <a:ext cx="8714232" cy="4535424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Sequence-type consistency helps interpret VF stabil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5124" y="1517904"/>
            <a:ext cx="5577840" cy="446227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28048" y="1773936"/>
            <a:ext cx="1719072" cy="1755648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0" y="1920240"/>
            <a:ext cx="138988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 use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92640" y="2267712"/>
            <a:ext cx="1389888" cy="12252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context is essential before interpreting profile change or clinical-status contrast.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9646920" y="1591056"/>
            <a:ext cx="1874520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01784" y="1645920"/>
            <a:ext cx="176479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 / descriptive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ANNOTATION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Clinical-status VF signals remain exploratory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status overlay is useful for hypothesis generation, but it is not a confirmed global VF association result.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658368" y="1536192"/>
            <a:ext cx="2084832" cy="256032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591056"/>
            <a:ext cx="1975104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phenotype overlay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072384" y="1389888"/>
            <a:ext cx="1389888" cy="786384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1517904"/>
            <a:ext cx="12435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163824" y="1865376"/>
            <a:ext cx="12070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 episodes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1389888" cy="786384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1517904"/>
            <a:ext cx="12435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539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754880" y="1865376"/>
            <a:ext cx="12070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 episodes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54496" y="1389888"/>
            <a:ext cx="1389888" cy="786384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1517904"/>
            <a:ext cx="12435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345936" y="1865376"/>
            <a:ext cx="12070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FDR-significant global VF hits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845552" y="1389888"/>
            <a:ext cx="1389888" cy="786384"/>
          </a:xfrm>
          <a:prstGeom prst="roundRect">
            <a:avLst/>
          </a:prstGeom>
          <a:solidFill>
            <a:srgbClr val="FBED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18704" y="1517904"/>
            <a:ext cx="124358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65A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936992" y="1865376"/>
            <a:ext cx="12070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B65A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sparse/separation flags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49808" y="2834640"/>
            <a:ext cx="2907792" cy="1353312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C9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2980944"/>
            <a:ext cx="257860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Initial screen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14400" y="3328416"/>
            <a:ext cx="2578608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VF genes can look different in simple UTI versus Not_UTI screens.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51560" y="3803904"/>
            <a:ext cx="1060704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06424" y="3858768"/>
            <a:ext cx="95097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nominal only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645152" y="2834640"/>
            <a:ext cx="2907792" cy="1353312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9744" y="2980944"/>
            <a:ext cx="257860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Model check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809744" y="3328416"/>
            <a:ext cx="2578608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participant-aware modelling and FDR correction, no global VF association remains significant.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4974336" y="3803904"/>
            <a:ext cx="1335024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858768"/>
            <a:ext cx="122529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corrected hits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8540496" y="2834640"/>
            <a:ext cx="2907792" cy="1353312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05088" y="2980944"/>
            <a:ext cx="2578608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Interpretation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705088" y="3328416"/>
            <a:ext cx="2578608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sparse UTI denominator and repeated/lineage structure make this a prioritisation layer, not a discovery claim.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8869680" y="3803904"/>
            <a:ext cx="1609344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24544" y="3858768"/>
            <a:ext cx="149961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hypothesis-generating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803904" y="3511296"/>
            <a:ext cx="65836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699248" y="3511296"/>
            <a:ext cx="658368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87552" y="4956048"/>
            <a:ext cx="100584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43584" y="5193792"/>
            <a:ext cx="157276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Take-home message</a:t>
            </a:r>
            <a:endParaRPr lang="en-US" sz="1020" dirty="0"/>
          </a:p>
        </p:txBody>
      </p:sp>
      <p:sp>
        <p:nvSpPr>
          <p:cNvPr id="44" name="Text 42"/>
          <p:cNvSpPr/>
          <p:nvPr/>
        </p:nvSpPr>
        <p:spPr>
          <a:xfrm>
            <a:off x="2834640" y="5138928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clinical overlay helps decide which VF features or cases deserve follow-up, but the current population-level evidence does not support a robust UTI-associated VF signature.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APPLICATION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Participant 20026: stable VF profile despite symptom emergence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example applies the VF pipeline to a clinical transition; it does not prove mechanism.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1133856" y="2926080"/>
            <a:ext cx="9180576" cy="0"/>
          </a:xfrm>
          <a:prstGeom prst="line">
            <a:avLst/>
          </a:prstGeom>
          <a:noFill/>
          <a:ln w="2794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91056" y="2468880"/>
            <a:ext cx="1481328" cy="8412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9AC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55648" y="2615184"/>
            <a:ext cx="115214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55648" y="2962656"/>
            <a:ext cx="11521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Not_UTI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47888" y="2468880"/>
            <a:ext cx="1481328" cy="841248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B1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615184"/>
            <a:ext cx="115214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UTI-1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12480" y="2962656"/>
            <a:ext cx="11521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0" y="2926080"/>
            <a:ext cx="491947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29200" y="2560320"/>
            <a:ext cx="969264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4064" y="2615184"/>
            <a:ext cx="859536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 days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828800" y="4023360"/>
            <a:ext cx="1444752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01952" y="4151376"/>
            <a:ext cx="1298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920240" y="4498848"/>
            <a:ext cx="12618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SNPs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4023360"/>
            <a:ext cx="1444752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4151376"/>
            <a:ext cx="1298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+0/-0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3822192" y="4498848"/>
            <a:ext cx="12618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genes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632704" y="4023360"/>
            <a:ext cx="1444752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05856" y="4151376"/>
            <a:ext cx="1298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724144" y="4498848"/>
            <a:ext cx="12618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modules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534656" y="4023360"/>
            <a:ext cx="1444752" cy="786384"/>
          </a:xfrm>
          <a:prstGeom prst="roundRect">
            <a:avLst/>
          </a:prstGeom>
          <a:solidFill>
            <a:srgbClr val="EAF7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07808" y="4151376"/>
            <a:ext cx="129844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7626096" y="4498848"/>
            <a:ext cx="12618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same-strain evidence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68096" y="5285232"/>
            <a:ext cx="5047488" cy="65836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5431536"/>
            <a:ext cx="47183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Transition casebook context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32688" y="5577840"/>
            <a:ext cx="4718304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clinical Not_UTI -&gt; UTI transitions; 10 WGS/VF-linked; 1 missing endpoint.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6199632" y="5285232"/>
            <a:ext cx="5047488" cy="65836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5431536"/>
            <a:ext cx="47183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Mechanism summary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64224" y="5577840"/>
            <a:ext cx="4718304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stable-profile transitions and 3 replacement-consistent transitions; evidence buckets organise cases, not proof.</a:t>
            </a:r>
            <a:endParaRPr lang="en-US" sz="8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VF-first review establishes and what remains uncertain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as discussion prompts and handover priorities.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786384" y="1755648"/>
            <a:ext cx="3127248" cy="2505456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B9D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01952"/>
            <a:ext cx="279806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249424"/>
            <a:ext cx="2798064" cy="1975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current pipeline produces a coherent VF-ready longitudinal dataset: 556 isolate profiles, 227 VF gene columns, 32 modules, and 394 consecutive within-resident comparisons.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535424" y="1755648"/>
            <a:ext cx="3127248" cy="2505456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F4C9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0016" y="1901952"/>
            <a:ext cx="279806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00016" y="2249424"/>
            <a:ext cx="2798064" cy="1975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profiles are often stable, but presence/absence does not measure expression or activity. Clinical status associations remain exploratory.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284464" y="1755648"/>
            <a:ext cx="3127248" cy="2505456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BCE4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9056" y="1901952"/>
            <a:ext cx="279806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49056" y="2249424"/>
            <a:ext cx="2798064" cy="19751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outputs to prioritise lineage-aware longitudinal follow-up, expression/regulation hypotheses, and targeted review of transition cases.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969264" y="5102352"/>
            <a:ext cx="102412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prompt: what additional evidence would separate stable carriage plus host-state change from unmeasured bacterial regulation?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/ HANDOVER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map: where to enter and rerun the VF pipeline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as the operational handover slide for a new project member.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786384" y="1572768"/>
            <a:ext cx="2377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36208" y="1572768"/>
            <a:ext cx="23774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 of truth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" y="1901952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1993392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key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2267712" y="1993392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results/clinical/status_map.csv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786384" y="2432304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523744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matrix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2267712" y="2523744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results/vf/vf_pa_all.csv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786384" y="2962656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3054096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dataset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2267712" y="3054096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results/vf/vf_analysis_ready.csv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786384" y="3493008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3584448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Modules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2267712" y="3584448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results/vf/gene_module_map.csv</a:t>
            </a: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786384" y="4023360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267712" y="4114800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results/vf/vf_longitudinal_transitions.csv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786384" y="4553712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4645152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figures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267712" y="4645152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35_final_figure_pack.R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6236208" y="1901952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1993392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/ validation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7717536" y="1993392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results/final_figures/final_figure_validation_checks.csv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6236208" y="2432304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523744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Denominator flow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7717536" y="2523744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results/qc/pipeline_denominator_summary.csv</a:t>
            </a:r>
            <a:endParaRPr lang="en-US" sz="730" dirty="0"/>
          </a:p>
        </p:txBody>
      </p:sp>
      <p:sp>
        <p:nvSpPr>
          <p:cNvPr id="37" name="Shape 35"/>
          <p:cNvSpPr/>
          <p:nvPr/>
        </p:nvSpPr>
        <p:spPr>
          <a:xfrm>
            <a:off x="6236208" y="2962656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82512" y="3054096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diagnostics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7717536" y="3054096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results/vf/vf_dataset_diagnostics.txt</a:t>
            </a: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6236208" y="3493008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2512" y="3584448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visual audit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7717536" y="3584448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results/vf/vf_visualisation_audit.csv</a:t>
            </a:r>
            <a:endParaRPr lang="en-US" sz="730" dirty="0"/>
          </a:p>
        </p:txBody>
      </p:sp>
      <p:sp>
        <p:nvSpPr>
          <p:cNvPr id="43" name="Shape 41"/>
          <p:cNvSpPr/>
          <p:nvPr/>
        </p:nvSpPr>
        <p:spPr>
          <a:xfrm>
            <a:off x="6236208" y="4023360"/>
            <a:ext cx="4828032" cy="420624"/>
          </a:xfrm>
          <a:prstGeom prst="roundRect">
            <a:avLst/>
          </a:prstGeom>
          <a:solidFill>
            <a:srgbClr val="F8FAFC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Casebook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7717536" y="4114800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results/mechanism/not_uti_to_uti_casebook.md</a:t>
            </a: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6236208" y="4553712"/>
            <a:ext cx="4828032" cy="42062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2512" y="4645152"/>
            <a:ext cx="128016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7717536" y="4645152"/>
            <a:ext cx="312724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docs/pipeline_architecture.md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1847088" y="5596128"/>
            <a:ext cx="8503920" cy="493776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11680" y="5742432"/>
            <a:ext cx="8174736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Rerun order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2011680" y="5815584"/>
            <a:ext cx="8174736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status -&gt; assembly QC/canonical selection -&gt; VF matrix -&gt; VF analysis dataset -&gt; modules/scores -&gt; longitudinal summaries -&gt; final figure pack.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/ DETAILED MAP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Numbered clinical-to-VF pipeline with validated handoff counts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dense version for behind-the-scenes questions.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676656" y="1627632"/>
            <a:ext cx="3218688" cy="987552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773936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classification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841248" y="2194560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585 classified episodes before manual exclusions</a:t>
            </a:r>
            <a:endParaRPr lang="en-US" sz="810" dirty="0"/>
          </a:p>
        </p:txBody>
      </p:sp>
      <p:sp>
        <p:nvSpPr>
          <p:cNvPr id="14" name="Shape 12"/>
          <p:cNvSpPr/>
          <p:nvPr/>
        </p:nvSpPr>
        <p:spPr>
          <a:xfrm>
            <a:off x="786384" y="1737360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1783080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52144" y="1993392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00a / 00b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3931920" y="2121408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89120" y="1627632"/>
            <a:ext cx="3218688" cy="987552"/>
          </a:xfrm>
          <a:prstGeom prst="roundRect">
            <a:avLst/>
          </a:prstGeom>
          <a:solidFill>
            <a:srgbClr val="FFF4E6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1773936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inclusion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4553712" y="2194560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583 included: 18 UTI, 565 Not_UTI; 2 excluded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498848" y="1737360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98848" y="1783080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864608" y="1993392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status_map.csv</a:t>
            </a:r>
            <a:endParaRPr lang="en-US" sz="690" dirty="0"/>
          </a:p>
        </p:txBody>
      </p:sp>
      <p:sp>
        <p:nvSpPr>
          <p:cNvPr id="24" name="Shape 22"/>
          <p:cNvSpPr/>
          <p:nvPr/>
        </p:nvSpPr>
        <p:spPr>
          <a:xfrm>
            <a:off x="7644384" y="2121408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01584" y="1627632"/>
            <a:ext cx="3218688" cy="98755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66176" y="1773936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 QC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8266176" y="2194560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1,291 QC records incl. assembler alternatives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8211312" y="1737360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1312" y="1783080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8577072" y="1993392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12a_wgs_qc.R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76656" y="3035808"/>
            <a:ext cx="3218688" cy="98755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3182112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selection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841248" y="3602736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 selected episode-level assemblies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786384" y="3145536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91256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1152144" y="3401568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canonical_assembly_selection.csv</a:t>
            </a:r>
            <a:endParaRPr lang="en-US" sz="690" dirty="0"/>
          </a:p>
        </p:txBody>
      </p:sp>
      <p:sp>
        <p:nvSpPr>
          <p:cNvPr id="37" name="Shape 35"/>
          <p:cNvSpPr/>
          <p:nvPr/>
        </p:nvSpPr>
        <p:spPr>
          <a:xfrm>
            <a:off x="3931920" y="3529584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389120" y="3035808"/>
            <a:ext cx="3218688" cy="98755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53712" y="3182112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 P/A matrix</a:t>
            </a:r>
            <a:endParaRPr lang="en-US" sz="1040" dirty="0"/>
          </a:p>
        </p:txBody>
      </p:sp>
      <p:sp>
        <p:nvSpPr>
          <p:cNvPr id="40" name="Text 38"/>
          <p:cNvSpPr/>
          <p:nvPr/>
        </p:nvSpPr>
        <p:spPr>
          <a:xfrm>
            <a:off x="4553712" y="3602736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 episode-level VF rows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4498848" y="3145536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98848" y="3191256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80" dirty="0"/>
          </a:p>
        </p:txBody>
      </p:sp>
      <p:sp>
        <p:nvSpPr>
          <p:cNvPr id="43" name="Text 41"/>
          <p:cNvSpPr/>
          <p:nvPr/>
        </p:nvSpPr>
        <p:spPr>
          <a:xfrm>
            <a:off x="4864608" y="3401568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02_gene_presence_analysis.R</a:t>
            </a:r>
            <a:endParaRPr lang="en-US" sz="690" dirty="0"/>
          </a:p>
        </p:txBody>
      </p:sp>
      <p:sp>
        <p:nvSpPr>
          <p:cNvPr id="44" name="Shape 42"/>
          <p:cNvSpPr/>
          <p:nvPr/>
        </p:nvSpPr>
        <p:spPr>
          <a:xfrm>
            <a:off x="7644384" y="3529584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8101584" y="3035808"/>
            <a:ext cx="3218688" cy="98755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66176" y="3182112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VF/model-ready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8266176" y="3602736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556 episodes: 17 UTI, 539 Not_UTI; 27 clinical episodes lack VF-ready evidence</a:t>
            </a:r>
            <a:endParaRPr lang="en-US" sz="810" dirty="0"/>
          </a:p>
        </p:txBody>
      </p:sp>
      <p:sp>
        <p:nvSpPr>
          <p:cNvPr id="48" name="Shape 46"/>
          <p:cNvSpPr/>
          <p:nvPr/>
        </p:nvSpPr>
        <p:spPr>
          <a:xfrm>
            <a:off x="8211312" y="3145536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1312" y="3191256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8577072" y="3401568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22_vf_build_analysis_dataset.R</a:t>
            </a:r>
            <a:endParaRPr lang="en-US" sz="690" dirty="0"/>
          </a:p>
        </p:txBody>
      </p:sp>
      <p:sp>
        <p:nvSpPr>
          <p:cNvPr id="51" name="Shape 49"/>
          <p:cNvSpPr/>
          <p:nvPr/>
        </p:nvSpPr>
        <p:spPr>
          <a:xfrm>
            <a:off x="676656" y="4443984"/>
            <a:ext cx="3218688" cy="987552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1248" y="4590288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framework</a:t>
            </a:r>
            <a:endParaRPr lang="en-US" sz="1040" dirty="0"/>
          </a:p>
        </p:txBody>
      </p:sp>
      <p:sp>
        <p:nvSpPr>
          <p:cNvPr id="53" name="Text 51"/>
          <p:cNvSpPr/>
          <p:nvPr/>
        </p:nvSpPr>
        <p:spPr>
          <a:xfrm>
            <a:off x="841248" y="5010912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 VF genes -&gt; 32 modules, incl. 18 UPEC-candidate modules</a:t>
            </a:r>
            <a:endParaRPr lang="en-US" sz="810" dirty="0"/>
          </a:p>
        </p:txBody>
      </p:sp>
      <p:sp>
        <p:nvSpPr>
          <p:cNvPr id="54" name="Shape 52"/>
          <p:cNvSpPr/>
          <p:nvPr/>
        </p:nvSpPr>
        <p:spPr>
          <a:xfrm>
            <a:off x="786384" y="4553712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6384" y="4599432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1152144" y="4809744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26_vf_define_gene_modules.R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3931920" y="4937760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389120" y="4443984"/>
            <a:ext cx="3218688" cy="987552"/>
          </a:xfrm>
          <a:prstGeom prst="roundRect">
            <a:avLst/>
          </a:prstGeom>
          <a:solidFill>
            <a:srgbClr val="EAF7EF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53712" y="4590288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Longitudinal pairs</a:t>
            </a:r>
            <a:endParaRPr lang="en-US" sz="1040" dirty="0"/>
          </a:p>
        </p:txBody>
      </p:sp>
      <p:sp>
        <p:nvSpPr>
          <p:cNvPr id="60" name="Text 58"/>
          <p:cNvSpPr/>
          <p:nvPr/>
        </p:nvSpPr>
        <p:spPr>
          <a:xfrm>
            <a:off x="4553712" y="5010912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394 consecutive comparisons from 144 participants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4498848" y="4553712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98848" y="4599432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80" dirty="0"/>
          </a:p>
        </p:txBody>
      </p:sp>
      <p:sp>
        <p:nvSpPr>
          <p:cNvPr id="63" name="Text 61"/>
          <p:cNvSpPr/>
          <p:nvPr/>
        </p:nvSpPr>
        <p:spPr>
          <a:xfrm>
            <a:off x="4864608" y="4809744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24_vf_longitudinal_dynamics.R</a:t>
            </a:r>
            <a:endParaRPr lang="en-US" sz="690" dirty="0"/>
          </a:p>
        </p:txBody>
      </p:sp>
      <p:sp>
        <p:nvSpPr>
          <p:cNvPr id="64" name="Shape 62"/>
          <p:cNvSpPr/>
          <p:nvPr/>
        </p:nvSpPr>
        <p:spPr>
          <a:xfrm>
            <a:off x="7644384" y="4937760"/>
            <a:ext cx="3657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101584" y="4443984"/>
            <a:ext cx="3218688" cy="987552"/>
          </a:xfrm>
          <a:prstGeom prst="roundRect">
            <a:avLst/>
          </a:prstGeom>
          <a:solidFill>
            <a:srgbClr val="EEF3F8"/>
          </a:solidFill>
          <a:ln w="10160">
            <a:solidFill>
              <a:srgbClr val="D8DE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66176" y="4590288"/>
            <a:ext cx="2889504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application</a:t>
            </a:r>
            <a:endParaRPr lang="en-US" sz="1040" dirty="0"/>
          </a:p>
        </p:txBody>
      </p:sp>
      <p:sp>
        <p:nvSpPr>
          <p:cNvPr id="67" name="Text 65"/>
          <p:cNvSpPr/>
          <p:nvPr/>
        </p:nvSpPr>
        <p:spPr>
          <a:xfrm>
            <a:off x="8266176" y="5010912"/>
            <a:ext cx="2889504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Not_UTI -&gt; UTI transitions; 10 WGS/VF-linked; 1 missing endpoint</a:t>
            </a:r>
            <a:endParaRPr lang="en-US" sz="810" dirty="0"/>
          </a:p>
        </p:txBody>
      </p:sp>
      <p:sp>
        <p:nvSpPr>
          <p:cNvPr id="68" name="Shape 66"/>
          <p:cNvSpPr/>
          <p:nvPr/>
        </p:nvSpPr>
        <p:spPr>
          <a:xfrm>
            <a:off x="8211312" y="4553712"/>
            <a:ext cx="256032" cy="2560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11312" y="4599432"/>
            <a:ext cx="256032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8577072" y="4809744"/>
            <a:ext cx="256032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64748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casebook outputs</a:t>
            </a:r>
            <a:endParaRPr lang="en-US" sz="69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/ TRANSITION EVIDENCE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transition mechanism casebook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for questions about Not_UTI -&gt; UTI transitions; buckets organise evidence, not proof.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48640" y="1481328"/>
            <a:ext cx="10314432" cy="459028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Full transition mechanism case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894" y="1517904"/>
            <a:ext cx="8813924" cy="451713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308592" y="1591056"/>
            <a:ext cx="1847088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63456" y="1645920"/>
            <a:ext cx="173736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Descriptive casebook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6C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12064" y="274320"/>
            <a:ext cx="84124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/ INTERPRETATION CHECKS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12064" y="530352"/>
            <a:ext cx="108813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Robustness and lineage diagnostics stay as backup interpretation aids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12064" y="987552"/>
            <a:ext cx="10698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for questions about exploratory clinical signals and lineage structure.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12064" y="1344168"/>
            <a:ext cx="1113739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6437376"/>
            <a:ext cx="11137392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6510528"/>
            <a:ext cx="813816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pipeline outputs | VF analysis of longitudinal urinary E. coli isolates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10927080" y="6510528"/>
            <a:ext cx="7132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566928" y="1554480"/>
            <a:ext cx="5358384" cy="440740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2" name="Image 0" descr="Main Figur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172614"/>
            <a:ext cx="5285232" cy="317113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08192" y="1554480"/>
            <a:ext cx="5358384" cy="4407408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pic>
        <p:nvPicPr>
          <p:cNvPr id="14" name="Image 1" descr="VF Jaccard PCoA by 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040484"/>
            <a:ext cx="5285232" cy="3435401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41248" y="5989320"/>
            <a:ext cx="2121408" cy="256032"/>
          </a:xfrm>
          <a:prstGeom prst="roundRect">
            <a:avLst/>
          </a:prstGeom>
          <a:solidFill>
            <a:srgbClr val="FFF4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044184"/>
            <a:ext cx="2011680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global VF FDR signal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5989320"/>
            <a:ext cx="2011680" cy="256032"/>
          </a:xfrm>
          <a:prstGeom prst="round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55664" y="6044184"/>
            <a:ext cx="1901952" cy="128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diagnostic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rUTI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Longitudinal urinary E. coli VF pipeline review compact onboarding</dc:title>
  <dc:subject>Compact editable VF onboarding deck</dc:subject>
  <dc:creator>Aamir / Codex</dc:creator>
  <cp:lastModifiedBy>Aamir / Codex</cp:lastModifiedBy>
  <cp:revision>1</cp:revision>
  <dcterms:created xsi:type="dcterms:W3CDTF">2026-05-28T11:06:47Z</dcterms:created>
  <dcterms:modified xsi:type="dcterms:W3CDTF">2026-05-28T11:06:47Z</dcterms:modified>
</cp:coreProperties>
</file>