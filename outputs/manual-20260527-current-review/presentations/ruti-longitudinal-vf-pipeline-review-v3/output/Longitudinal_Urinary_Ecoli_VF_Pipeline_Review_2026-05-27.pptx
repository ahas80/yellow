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35764ae6b4161" /><Relationship Type="http://schemas.openxmlformats.org/officeDocument/2006/relationships/extended-properties" Target="/docProps/app.xml" Id="R7656d0ec6c1b49d8" /><Relationship Type="http://schemas.openxmlformats.org/officeDocument/2006/relationships/officeDocument" Target="/ppt/presentation.xml" Id="Ra6a7fab2c72a43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7340945d94fcd"/>
  </p:sldMasterIdLst>
  <p:notesMasterIdLst>
    <p:notesMasterId xmlns:r="http://schemas.openxmlformats.org/officeDocument/2006/relationships" r:id="Rbd5d84070eab4235"/>
  </p:notesMasterIdLst>
  <p:sldIdLst>
    <p:sldId xmlns:r="http://schemas.openxmlformats.org/officeDocument/2006/relationships" id="256" r:id="Rdb7f39a04b7f4029"/>
    <p:sldId xmlns:r="http://schemas.openxmlformats.org/officeDocument/2006/relationships" id="257" r:id="Rbb875f3a79db4670"/>
    <p:sldId xmlns:r="http://schemas.openxmlformats.org/officeDocument/2006/relationships" id="258" r:id="Rb5da6a05cf204455"/>
    <p:sldId xmlns:r="http://schemas.openxmlformats.org/officeDocument/2006/relationships" id="259" r:id="R10be183ba8cb4821"/>
    <p:sldId xmlns:r="http://schemas.openxmlformats.org/officeDocument/2006/relationships" id="260" r:id="Rc6c94486560c49b5"/>
    <p:sldId xmlns:r="http://schemas.openxmlformats.org/officeDocument/2006/relationships" id="261" r:id="R9e6a21e2539b4b65"/>
    <p:sldId xmlns:r="http://schemas.openxmlformats.org/officeDocument/2006/relationships" id="262" r:id="R9030b410e07e4f75"/>
    <p:sldId xmlns:r="http://schemas.openxmlformats.org/officeDocument/2006/relationships" id="263" r:id="R62318c17190d4349"/>
    <p:sldId xmlns:r="http://schemas.openxmlformats.org/officeDocument/2006/relationships" id="264" r:id="R0891f6631dd54da5"/>
    <p:sldId xmlns:r="http://schemas.openxmlformats.org/officeDocument/2006/relationships" id="265" r:id="Re7668df5903c4916"/>
    <p:sldId xmlns:r="http://schemas.openxmlformats.org/officeDocument/2006/relationships" id="266" r:id="Red7f3deb71e04132"/>
    <p:sldId xmlns:r="http://schemas.openxmlformats.org/officeDocument/2006/relationships" id="267" r:id="Rca622881a1f14e7c"/>
    <p:sldId xmlns:r="http://schemas.openxmlformats.org/officeDocument/2006/relationships" id="268" r:id="R6bec9002bb194795"/>
    <p:sldId xmlns:r="http://schemas.openxmlformats.org/officeDocument/2006/relationships" id="269" r:id="Rf7adc4219f73442e"/>
    <p:sldId xmlns:r="http://schemas.openxmlformats.org/officeDocument/2006/relationships" id="270" r:id="R971068eec3a8489d"/>
    <p:sldId xmlns:r="http://schemas.openxmlformats.org/officeDocument/2006/relationships" id="271" r:id="Rbbbb744bb5ea48b6"/>
    <p:sldId xmlns:r="http://schemas.openxmlformats.org/officeDocument/2006/relationships" id="272" r:id="Rfc337bffa0064a49"/>
    <p:sldId xmlns:r="http://schemas.openxmlformats.org/officeDocument/2006/relationships" id="273" r:id="Rd98e8193ee544b7a"/>
    <p:sldId xmlns:r="http://schemas.openxmlformats.org/officeDocument/2006/relationships" id="274" r:id="Rd9b9473d093d49e4"/>
    <p:sldId xmlns:r="http://schemas.openxmlformats.org/officeDocument/2006/relationships" id="275" r:id="R787e4a27bf524ab6"/>
    <p:sldId xmlns:r="http://schemas.openxmlformats.org/officeDocument/2006/relationships" id="276" r:id="R48ecbc6928104a99"/>
    <p:sldId xmlns:r="http://schemas.openxmlformats.org/officeDocument/2006/relationships" id="277" r:id="Rbc78289e702040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b55fcee374959" /><Relationship Type="http://schemas.openxmlformats.org/officeDocument/2006/relationships/slideMaster" Target="/ppt/slideMasters/slideMaster1.xml" Id="R6277340945d94fcd" /><Relationship Type="http://schemas.openxmlformats.org/officeDocument/2006/relationships/notesMaster" Target="/ppt/notesMasters/notesMaster1.xml" Id="Rbd5d84070eab4235" /><Relationship Type="http://schemas.openxmlformats.org/officeDocument/2006/relationships/presProps" Target="/ppt/presProps.xml" Id="R64ac7b504e8a4bb7" /><Relationship Type="http://schemas.openxmlformats.org/officeDocument/2006/relationships/tableStyles" Target="/ppt/tableStyles.xml" Id="Rfacee0b5217a49b8" /><Relationship Type="http://schemas.openxmlformats.org/officeDocument/2006/relationships/slide" Target="/ppt/slides/slide1.xml" Id="Rdb7f39a04b7f4029" /><Relationship Type="http://schemas.openxmlformats.org/officeDocument/2006/relationships/slide" Target="/ppt/slides/slide2.xml" Id="Rbb875f3a79db4670" /><Relationship Type="http://schemas.openxmlformats.org/officeDocument/2006/relationships/slide" Target="/ppt/slides/slide3.xml" Id="Rb5da6a05cf204455" /><Relationship Type="http://schemas.openxmlformats.org/officeDocument/2006/relationships/slide" Target="/ppt/slides/slide4.xml" Id="R10be183ba8cb4821" /><Relationship Type="http://schemas.openxmlformats.org/officeDocument/2006/relationships/slide" Target="/ppt/slides/slide5.xml" Id="Rc6c94486560c49b5" /><Relationship Type="http://schemas.openxmlformats.org/officeDocument/2006/relationships/slide" Target="/ppt/slides/slide6.xml" Id="R9e6a21e2539b4b65" /><Relationship Type="http://schemas.openxmlformats.org/officeDocument/2006/relationships/slide" Target="/ppt/slides/slide7.xml" Id="R9030b410e07e4f75" /><Relationship Type="http://schemas.openxmlformats.org/officeDocument/2006/relationships/slide" Target="/ppt/slides/slide8.xml" Id="R62318c17190d4349" /><Relationship Type="http://schemas.openxmlformats.org/officeDocument/2006/relationships/slide" Target="/ppt/slides/slide9.xml" Id="R0891f6631dd54da5" /><Relationship Type="http://schemas.openxmlformats.org/officeDocument/2006/relationships/slide" Target="/ppt/slides/slide10.xml" Id="Re7668df5903c4916" /><Relationship Type="http://schemas.openxmlformats.org/officeDocument/2006/relationships/slide" Target="/ppt/slides/slide11.xml" Id="Red7f3deb71e04132" /><Relationship Type="http://schemas.openxmlformats.org/officeDocument/2006/relationships/slide" Target="/ppt/slides/slide12.xml" Id="Rca622881a1f14e7c" /><Relationship Type="http://schemas.openxmlformats.org/officeDocument/2006/relationships/slide" Target="/ppt/slides/slide13.xml" Id="R6bec9002bb194795" /><Relationship Type="http://schemas.openxmlformats.org/officeDocument/2006/relationships/slide" Target="/ppt/slides/slide14.xml" Id="Rf7adc4219f73442e" /><Relationship Type="http://schemas.openxmlformats.org/officeDocument/2006/relationships/slide" Target="/ppt/slides/slide15.xml" Id="R971068eec3a8489d" /><Relationship Type="http://schemas.openxmlformats.org/officeDocument/2006/relationships/slide" Target="/ppt/slides/slide16.xml" Id="Rbbbb744bb5ea48b6" /><Relationship Type="http://schemas.openxmlformats.org/officeDocument/2006/relationships/slide" Target="/ppt/slides/slide17.xml" Id="Rfc337bffa0064a49" /><Relationship Type="http://schemas.openxmlformats.org/officeDocument/2006/relationships/slide" Target="/ppt/slides/slide18.xml" Id="Rd98e8193ee544b7a" /><Relationship Type="http://schemas.openxmlformats.org/officeDocument/2006/relationships/slide" Target="/ppt/slides/slide19.xml" Id="Rd9b9473d093d49e4" /><Relationship Type="http://schemas.openxmlformats.org/officeDocument/2006/relationships/slide" Target="/ppt/slides/slide20.xml" Id="R787e4a27bf524ab6" /><Relationship Type="http://schemas.openxmlformats.org/officeDocument/2006/relationships/slide" Target="/ppt/slides/slide21.xml" Id="R48ecbc6928104a99" /><Relationship Type="http://schemas.openxmlformats.org/officeDocument/2006/relationships/slide" Target="/ppt/slides/slide22.xml" Id="Rbc78289e7020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2c36972f5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e1d7e9fa948f4" /><Relationship Type="http://schemas.openxmlformats.org/officeDocument/2006/relationships/notesMaster" Target="/ppt/notesMasters/notesMaster1.xml" Id="Re8566374a5a3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03b46f2e734517" /><Relationship Type="http://schemas.openxmlformats.org/officeDocument/2006/relationships/notesMaster" Target="/ppt/notesMasters/notesMaster1.xml" Id="R5e3b6b8b6bcc4c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19545feb24e44" /><Relationship Type="http://schemas.openxmlformats.org/officeDocument/2006/relationships/notesMaster" Target="/ppt/notesMasters/notesMaster1.xml" Id="R849c6800694644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6a871fc34452a" /><Relationship Type="http://schemas.openxmlformats.org/officeDocument/2006/relationships/notesMaster" Target="/ppt/notesMasters/notesMaster1.xml" Id="R69bafe186b10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a34a5fbce24f5b" /><Relationship Type="http://schemas.openxmlformats.org/officeDocument/2006/relationships/notesMaster" Target="/ppt/notesMasters/notesMaster1.xml" Id="Reb461abbd008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f1b36fdcf6444a" /><Relationship Type="http://schemas.openxmlformats.org/officeDocument/2006/relationships/notesMaster" Target="/ppt/notesMasters/notesMaster1.xml" Id="Rec7eaa8cfb384a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edd79448ed47f2" /><Relationship Type="http://schemas.openxmlformats.org/officeDocument/2006/relationships/notesMaster" Target="/ppt/notesMasters/notesMaster1.xml" Id="R039b995539c042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0ff4829fd421e" /><Relationship Type="http://schemas.openxmlformats.org/officeDocument/2006/relationships/notesMaster" Target="/ppt/notesMasters/notesMaster1.xml" Id="Ra91104852bc2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5bbb77d5724884" /><Relationship Type="http://schemas.openxmlformats.org/officeDocument/2006/relationships/notesMaster" Target="/ppt/notesMasters/notesMaster1.xml" Id="Re8e538a02cbd4e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02442d009f4acf" /><Relationship Type="http://schemas.openxmlformats.org/officeDocument/2006/relationships/notesMaster" Target="/ppt/notesMasters/notesMaster1.xml" Id="R0a86f528e80c41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e8e954d903486a" /><Relationship Type="http://schemas.openxmlformats.org/officeDocument/2006/relationships/notesMaster" Target="/ppt/notesMasters/notesMaster1.xml" Id="R87c5cc005ed04c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10dacec0be425f" /><Relationship Type="http://schemas.openxmlformats.org/officeDocument/2006/relationships/notesMaster" Target="/ppt/notesMasters/notesMaster1.xml" Id="R35dddd05d84442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e82d31ce31469c" /><Relationship Type="http://schemas.openxmlformats.org/officeDocument/2006/relationships/notesMaster" Target="/ppt/notesMasters/notesMaster1.xml" Id="Rfcba06cf738942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c7d3fbb6dc4fbe" /><Relationship Type="http://schemas.openxmlformats.org/officeDocument/2006/relationships/notesMaster" Target="/ppt/notesMasters/notesMaster1.xml" Id="R4afa25a2c0a548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1cc0e4fe354159" /><Relationship Type="http://schemas.openxmlformats.org/officeDocument/2006/relationships/notesMaster" Target="/ppt/notesMasters/notesMaster1.xml" Id="R811b2f8f0fda42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6261b2887d4385" /><Relationship Type="http://schemas.openxmlformats.org/officeDocument/2006/relationships/notesMaster" Target="/ppt/notesMasters/notesMaster1.xml" Id="R1ae4572ccb1540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681122f40c45cc" /><Relationship Type="http://schemas.openxmlformats.org/officeDocument/2006/relationships/notesMaster" Target="/ppt/notesMasters/notesMaster1.xml" Id="R12a2a57803d346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7ecbdab6e64519" /><Relationship Type="http://schemas.openxmlformats.org/officeDocument/2006/relationships/notesMaster" Target="/ppt/notesMasters/notesMaster1.xml" Id="R2dd7b327190140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ff248c975745c9" /><Relationship Type="http://schemas.openxmlformats.org/officeDocument/2006/relationships/notesMaster" Target="/ppt/notesMasters/notesMaster1.xml" Id="R16e26291b02748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9040d7958c4bb6" /><Relationship Type="http://schemas.openxmlformats.org/officeDocument/2006/relationships/notesMaster" Target="/ppt/notesMasters/notesMaster1.xml" Id="R788b8cf2de404d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c68e79180e4efc" /><Relationship Type="http://schemas.openxmlformats.org/officeDocument/2006/relationships/notesMaster" Target="/ppt/notesMasters/notesMaster1.xml" Id="Raa5656b4ea3649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18ab84d2ac4097" /><Relationship Type="http://schemas.openxmlformats.org/officeDocument/2006/relationships/notesMaster" Target="/ppt/notesMasters/notesMaster1.xml" Id="R052c9d748c9e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Title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Set the scope immediately: selected QC-passing Longcycler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Operational UTI is an exploratory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State the selected Longcycler-only analytical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The phenotype overlay is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Selected cohort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Anchor 532 episodes, 161 residents, and the operational phenotype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Source clinical counts are QC context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Walk through the current release handoffs.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RQ01–RQ10 use the same selected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representation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the descriptive feature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Presence/absence is not expression.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repertoire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the top-gene ranking descriptively.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infer clinical association.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modules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modules for navigation.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Modules are not validated disease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Pair layers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Separate 893 direct pairs from 371 adjacent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Name the unit beside each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Gain/loss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Show adjacent-transition change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Changes need lineage and QC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Lineage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MLST as contextual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ST agreement is not proof of the same strain.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Clinical overlay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16 operational UTI and 516 Not_UTI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Exploratory observational analysis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Focused transitions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Report the aggregate focused transition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Avoid anecdotal mechanism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Land on evidence, boundary, and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cross the causal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Handover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Show the practical entry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The research-question layer is RQ01–RQ10.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Denominator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that 583/166/18/565 is source/QC context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Analytical claims use 532/161/16/516.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Module prevalence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only as an exploratory status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Repeated measures and lineage remain interpretive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Casebook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full nine-case linked casebook.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Casebook buckets do not prove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Stable-state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low distance and stable VF as supporting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claim host-state mechanism from genomic stability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Robustness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the sparse operational phenotype denominator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Near-miss rows are not operational UTI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Lineage PCoA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as a diagnostic check before status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Clustering does not establish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Accessory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accessory information in a supporting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No dedicated AMR or causal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claim registry for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All analytical claims use the selected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479ef6c3d4d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99c3ddee04bb1" /><Relationship Type="http://schemas.openxmlformats.org/officeDocument/2006/relationships/slideLayout" Target="/ppt/slideLayouts/slideLayout1.xml" Id="R5658e6be436d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8e6be436d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afb0115534408" /><Relationship Type="http://schemas.openxmlformats.org/officeDocument/2006/relationships/notesSlide" Target="/ppt/notesSlides/notesSlide1.xml" Id="R5c6a9565b14149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37cd9d3364521" /><Relationship Type="http://schemas.openxmlformats.org/officeDocument/2006/relationships/notesSlide" Target="/ppt/notesSlides/notesSlide2.xml" Id="R89660ca852ce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59928cbf74841" /><Relationship Type="http://schemas.openxmlformats.org/officeDocument/2006/relationships/notesSlide" Target="/ppt/notesSlides/notesSlide3.xml" Id="R3c9caed0e47b41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348cb4a84462d" /><Relationship Type="http://schemas.openxmlformats.org/officeDocument/2006/relationships/notesSlide" Target="/ppt/notesSlides/notesSlide4.xml" Id="Ra7ff38f51bcf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30f8107be45a7" /><Relationship Type="http://schemas.openxmlformats.org/officeDocument/2006/relationships/notesSlide" Target="/ppt/notesSlides/notesSlide5.xml" Id="R9a4a20e362ab42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3e6fb0c6342a7" /><Relationship Type="http://schemas.openxmlformats.org/officeDocument/2006/relationships/image" Target="/ppt/media/image.png" Id="Ra424aad187b6469f" /><Relationship Type="http://schemas.openxmlformats.org/officeDocument/2006/relationships/notesSlide" Target="/ppt/notesSlides/notesSlide6.xml" Id="Rd438a3848e9f4a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a5169f4274de9" /><Relationship Type="http://schemas.openxmlformats.org/officeDocument/2006/relationships/image" Target="/ppt/media/image2.png" Id="Rc526ffa95e7746f0" /><Relationship Type="http://schemas.openxmlformats.org/officeDocument/2006/relationships/notesSlide" Target="/ppt/notesSlides/notesSlide7.xml" Id="R82024bf85b7e43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d9afb11204e29" /><Relationship Type="http://schemas.openxmlformats.org/officeDocument/2006/relationships/notesSlide" Target="/ppt/notesSlides/notesSlide8.xml" Id="Ra0e8c51f1cb34b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038905c824114" /><Relationship Type="http://schemas.openxmlformats.org/officeDocument/2006/relationships/image" Target="/ppt/media/image3.png" Id="R83812863694e4c7b" /><Relationship Type="http://schemas.openxmlformats.org/officeDocument/2006/relationships/notesSlide" Target="/ppt/notesSlides/notesSlide9.xml" Id="Rbf19484acb1d49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6b6463898493e" /><Relationship Type="http://schemas.openxmlformats.org/officeDocument/2006/relationships/image" Target="/ppt/media/image4.png" Id="R1594317cb0af41dc" /><Relationship Type="http://schemas.openxmlformats.org/officeDocument/2006/relationships/notesSlide" Target="/ppt/notesSlides/notesSlide10.xml" Id="R850e4374186542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f43105df44e20" /><Relationship Type="http://schemas.openxmlformats.org/officeDocument/2006/relationships/image" Target="/ppt/media/image5.png" Id="Raab7c6f0baf44767" /><Relationship Type="http://schemas.openxmlformats.org/officeDocument/2006/relationships/notesSlide" Target="/ppt/notesSlides/notesSlide11.xml" Id="R1793408d44a749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8b0fecb9d4054" /><Relationship Type="http://schemas.openxmlformats.org/officeDocument/2006/relationships/notesSlide" Target="/ppt/notesSlides/notesSlide12.xml" Id="R957fbe7fb9e045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664b91aef4d98" /><Relationship Type="http://schemas.openxmlformats.org/officeDocument/2006/relationships/notesSlide" Target="/ppt/notesSlides/notesSlide13.xml" Id="R81ffc44a52004b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10f2194ed44e2" /><Relationship Type="http://schemas.openxmlformats.org/officeDocument/2006/relationships/notesSlide" Target="/ppt/notesSlides/notesSlide14.xml" Id="R6237664a8a0e4a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64cda8b5420c" /><Relationship Type="http://schemas.openxmlformats.org/officeDocument/2006/relationships/notesSlide" Target="/ppt/notesSlides/notesSlide15.xml" Id="R7dcf6913e3e640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698b7a2643a9" /><Relationship Type="http://schemas.openxmlformats.org/officeDocument/2006/relationships/image" Target="/ppt/media/image6.png" Id="Rdcb427ead4624104" /><Relationship Type="http://schemas.openxmlformats.org/officeDocument/2006/relationships/notesSlide" Target="/ppt/notesSlides/notesSlide16.xml" Id="R993b240e5c0f4b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bba7f844642ee" /><Relationship Type="http://schemas.openxmlformats.org/officeDocument/2006/relationships/image" Target="/ppt/media/image7.png" Id="R6f8df28259044b6a" /><Relationship Type="http://schemas.openxmlformats.org/officeDocument/2006/relationships/notesSlide" Target="/ppt/notesSlides/notesSlide17.xml" Id="R89e18b5acc6846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6b5f9aaae4bcb" /><Relationship Type="http://schemas.openxmlformats.org/officeDocument/2006/relationships/image" Target="/ppt/media/image8.png" Id="Ra948e91369b24f72" /><Relationship Type="http://schemas.openxmlformats.org/officeDocument/2006/relationships/notesSlide" Target="/ppt/notesSlides/notesSlide18.xml" Id="R06efacdc165241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3628d16144d99" /><Relationship Type="http://schemas.openxmlformats.org/officeDocument/2006/relationships/image" Target="/ppt/media/image9.png" Id="R8038db0058b34274" /><Relationship Type="http://schemas.openxmlformats.org/officeDocument/2006/relationships/notesSlide" Target="/ppt/notesSlides/notesSlide19.xml" Id="Rbc1f921ac5d840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c0d07b85b4c20" /><Relationship Type="http://schemas.openxmlformats.org/officeDocument/2006/relationships/image" Target="/ppt/media/image10.png" Id="R85e1d27426df4d99" /><Relationship Type="http://schemas.openxmlformats.org/officeDocument/2006/relationships/notesSlide" Target="/ppt/notesSlides/notesSlide20.xml" Id="Rac03e5d4259443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f6438c1a4903" /><Relationship Type="http://schemas.openxmlformats.org/officeDocument/2006/relationships/image" Target="/ppt/media/image11.png" Id="R2486183e1e4e432e" /><Relationship Type="http://schemas.openxmlformats.org/officeDocument/2006/relationships/notesSlide" Target="/ppt/notesSlides/notesSlide21.xml" Id="R0833b22f30ef47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2f47779344884" /><Relationship Type="http://schemas.openxmlformats.org/officeDocument/2006/relationships/notesSlide" Target="/ppt/notesSlides/notesSlide22.xml" Id="Rbcf0191399dc47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83D2FAE-29E6-4CD5-893A-EFB5DBB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8C40BD0-2DE5-4CB6-9C29-112D4103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hrome-62-54-1080-22">
            <a:extLst xmlns:a="http://schemas.openxmlformats.org/drawingml/2006/main">
              <a:ext uri="{FF2B5EF4-FFF2-40B4-BE49-F238E27FC236}">
                <a16:creationId xmlns:a16="http://schemas.microsoft.com/office/drawing/2014/main" id="{2FB267A8-B924-49B5-A9FE-ACD21BA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REVIEW  /  SELECTED LONGCYCLER ANALYSIS</a:t>
            </a:r>
          </a:p>
        </p:txBody>
      </p:sp>
      <p:sp>
        <p:nvSpPr>
          <p:cNvPr id="4" name="body-62-92-1120-90">
            <a:extLst xmlns:a="http://schemas.openxmlformats.org/drawingml/2006/main">
              <a:ext uri="{FF2B5EF4-FFF2-40B4-BE49-F238E27FC236}">
                <a16:creationId xmlns:a16="http://schemas.microsoft.com/office/drawing/2014/main" id="{DD649B9C-CADD-477B-AE98-CBF443E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Virulence-factor profiling of longitudinal urinary E. coli isolates</a:t>
            </a:r>
          </a:p>
        </p:txBody>
      </p:sp>
      <p:sp>
        <p:nvSpPr>
          <p:cNvPr id="5" name="body-62-190-1000-28">
            <a:extLst xmlns:a="http://schemas.openxmlformats.org/drawingml/2006/main">
              <a:ext uri="{FF2B5EF4-FFF2-40B4-BE49-F238E27FC236}">
                <a16:creationId xmlns:a16="http://schemas.microsoft.com/office/drawing/2014/main" id="{7BEA5863-C332-4474-AA2D-A5575F4C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selected QC-passing assembly per episode; operational UTI overlay remains exploratory</a:t>
            </a:r>
          </a:p>
        </p:txBody>
      </p:sp>
      <p:sp>
        <p:nvSpPr>
          <p:cNvPr id="6" name="card-What VF repertoire is present?">
            <a:extLst xmlns:a="http://schemas.openxmlformats.org/drawingml/2006/main">
              <a:ext uri="{FF2B5EF4-FFF2-40B4-BE49-F238E27FC236}">
                <a16:creationId xmlns:a16="http://schemas.microsoft.com/office/drawing/2014/main" id="{AFB0DEBF-D80E-4452-96AF-78FE0454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E8F1FA"/>
            </a:solidFill>
            <a:prstDash val="solid"/>
          </a:ln>
        </p:spPr>
      </p:sp>
      <p:sp>
        <p:nvSpPr>
          <p:cNvPr id="7" name="label-80-294-308-18">
            <a:extLst xmlns:a="http://schemas.openxmlformats.org/drawingml/2006/main">
              <a:ext uri="{FF2B5EF4-FFF2-40B4-BE49-F238E27FC236}">
                <a16:creationId xmlns:a16="http://schemas.microsoft.com/office/drawing/2014/main" id="{A7348F63-680E-4CA2-9F67-B4E0315F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Question 1</a:t>
            </a:r>
          </a:p>
        </p:txBody>
      </p:sp>
      <p:sp>
        <p:nvSpPr>
          <p:cNvPr id="8" name="heading-80-318-308-26">
            <a:extLst xmlns:a="http://schemas.openxmlformats.org/drawingml/2006/main">
              <a:ext uri="{FF2B5EF4-FFF2-40B4-BE49-F238E27FC236}">
                <a16:creationId xmlns:a16="http://schemas.microsoft.com/office/drawing/2014/main" id="{E63D532C-6B3F-4237-B62A-DA00BBC1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What VF repertoire is present?</a:t>
            </a:r>
          </a:p>
        </p:txBody>
      </p:sp>
      <p:sp>
        <p:nvSpPr>
          <p:cNvPr id="9" name="body-80-350-308-59">
            <a:extLst xmlns:a="http://schemas.openxmlformats.org/drawingml/2006/main">
              <a:ext uri="{FF2B5EF4-FFF2-40B4-BE49-F238E27FC236}">
                <a16:creationId xmlns:a16="http://schemas.microsoft.com/office/drawing/2014/main" id="{28F69B5D-B16F-47FF-A1A8-BA4A8A9F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selected episodes; 227 binary VF features.</a:t>
            </a:r>
          </a:p>
        </p:txBody>
      </p:sp>
      <p:sp>
        <p:nvSpPr>
          <p:cNvPr id="10" name="card-How stable are profiles over time?">
            <a:extLst xmlns:a="http://schemas.openxmlformats.org/drawingml/2006/main">
              <a:ext uri="{FF2B5EF4-FFF2-40B4-BE49-F238E27FC236}">
                <a16:creationId xmlns:a16="http://schemas.microsoft.com/office/drawing/2014/main" id="{B889E263-A6BB-4269-AEB6-6E1833FE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11" name="label-478-294-308-18">
            <a:extLst xmlns:a="http://schemas.openxmlformats.org/drawingml/2006/main">
              <a:ext uri="{FF2B5EF4-FFF2-40B4-BE49-F238E27FC236}">
                <a16:creationId xmlns:a16="http://schemas.microsoft.com/office/drawing/2014/main" id="{6FE820AE-3446-4D99-9A74-E5DFD78E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Question 2</a:t>
            </a:r>
          </a:p>
        </p:txBody>
      </p:sp>
      <p:sp>
        <p:nvSpPr>
          <p:cNvPr id="12" name="heading-478-318-308-26">
            <a:extLst xmlns:a="http://schemas.openxmlformats.org/drawingml/2006/main">
              <a:ext uri="{FF2B5EF4-FFF2-40B4-BE49-F238E27FC236}">
                <a16:creationId xmlns:a16="http://schemas.microsoft.com/office/drawing/2014/main" id="{AC69D0F3-8B3A-49B8-8379-493D098E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How stable are profiles over time?</a:t>
            </a:r>
          </a:p>
        </p:txBody>
      </p:sp>
      <p:sp>
        <p:nvSpPr>
          <p:cNvPr id="13" name="body-478-350-308-59">
            <a:extLst xmlns:a="http://schemas.openxmlformats.org/drawingml/2006/main">
              <a:ext uri="{FF2B5EF4-FFF2-40B4-BE49-F238E27FC236}">
                <a16:creationId xmlns:a16="http://schemas.microsoft.com/office/drawing/2014/main" id="{57335782-3FA9-4CC8-BB19-134C736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direct pairs; 371 adjacent transitions.</a:t>
            </a:r>
          </a:p>
        </p:txBody>
      </p:sp>
      <p:sp>
        <p:nvSpPr>
          <p:cNvPr id="14" name="card-How should clinical status be overlaid?">
            <a:extLst xmlns:a="http://schemas.openxmlformats.org/drawingml/2006/main">
              <a:ext uri="{FF2B5EF4-FFF2-40B4-BE49-F238E27FC236}">
                <a16:creationId xmlns:a16="http://schemas.microsoft.com/office/drawing/2014/main" id="{F0537FEF-32FC-4172-A6FC-CEAF7B5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15" name="label-876-294-308-18">
            <a:extLst xmlns:a="http://schemas.openxmlformats.org/drawingml/2006/main">
              <a:ext uri="{FF2B5EF4-FFF2-40B4-BE49-F238E27FC236}">
                <a16:creationId xmlns:a16="http://schemas.microsoft.com/office/drawing/2014/main" id="{478E42D2-40CE-436B-8891-C12EEB2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Question 3</a:t>
            </a:r>
          </a:p>
        </p:txBody>
      </p:sp>
      <p:sp>
        <p:nvSpPr>
          <p:cNvPr id="16" name="heading-876-318-308-26">
            <a:extLst xmlns:a="http://schemas.openxmlformats.org/drawingml/2006/main">
              <a:ext uri="{FF2B5EF4-FFF2-40B4-BE49-F238E27FC236}">
                <a16:creationId xmlns:a16="http://schemas.microsoft.com/office/drawing/2014/main" id="{DC50EB82-E1CC-4318-BCE5-01B4509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How should clinical status be overlaid?</a:t>
            </a:r>
          </a:p>
        </p:txBody>
      </p:sp>
      <p:sp>
        <p:nvSpPr>
          <p:cNvPr id="17" name="body-876-350-308-59">
            <a:extLst xmlns:a="http://schemas.openxmlformats.org/drawingml/2006/main">
              <a:ext uri="{FF2B5EF4-FFF2-40B4-BE49-F238E27FC236}">
                <a16:creationId xmlns:a16="http://schemas.microsoft.com/office/drawing/2014/main" id="{2A3534CE-88CF-4BDC-8020-29E77E7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and 516 operational Not_UTI episodes.</a:t>
            </a:r>
          </a:p>
        </p:txBody>
      </p:sp>
      <p:sp>
        <p:nvSpPr>
          <p:cNvPr id="18" name="metric-selected episodes">
            <a:extLst xmlns:a="http://schemas.openxmlformats.org/drawingml/2006/main">
              <a:ext uri="{FF2B5EF4-FFF2-40B4-BE49-F238E27FC236}">
                <a16:creationId xmlns:a16="http://schemas.microsoft.com/office/drawing/2014/main" id="{EF9795B4-353A-481B-8F30-0909DA7C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heading-200-512-165-31">
            <a:extLst xmlns:a="http://schemas.openxmlformats.org/drawingml/2006/main">
              <a:ext uri="{FF2B5EF4-FFF2-40B4-BE49-F238E27FC236}">
                <a16:creationId xmlns:a16="http://schemas.microsoft.com/office/drawing/2014/main" id="{7E235A8A-7CF6-4EF1-B40A-3E898E76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20" name="body-200-550-165-32">
            <a:extLst xmlns:a="http://schemas.openxmlformats.org/drawingml/2006/main">
              <a:ext uri="{FF2B5EF4-FFF2-40B4-BE49-F238E27FC236}">
                <a16:creationId xmlns:a16="http://schemas.microsoft.com/office/drawing/2014/main" id="{1892E898-A8F8-4AB2-AAA5-F6B6B7E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episodes</a:t>
            </a:r>
          </a:p>
        </p:txBody>
      </p:sp>
      <p:sp>
        <p:nvSpPr>
          <p:cNvPr id="21" name="metric-residents">
            <a:extLst xmlns:a="http://schemas.openxmlformats.org/drawingml/2006/main">
              <a:ext uri="{FF2B5EF4-FFF2-40B4-BE49-F238E27FC236}">
                <a16:creationId xmlns:a16="http://schemas.microsoft.com/office/drawing/2014/main" id="{62E22C63-8C78-4591-8615-750EF807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heading-425-512-165-31">
            <a:extLst xmlns:a="http://schemas.openxmlformats.org/drawingml/2006/main">
              <a:ext uri="{FF2B5EF4-FFF2-40B4-BE49-F238E27FC236}">
                <a16:creationId xmlns:a16="http://schemas.microsoft.com/office/drawing/2014/main" id="{7529E286-A0A1-470D-B0C0-F00CE34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  <p:sp>
        <p:nvSpPr>
          <p:cNvPr id="23" name="body-425-550-165-32">
            <a:extLst xmlns:a="http://schemas.openxmlformats.org/drawingml/2006/main">
              <a:ext uri="{FF2B5EF4-FFF2-40B4-BE49-F238E27FC236}">
                <a16:creationId xmlns:a16="http://schemas.microsoft.com/office/drawing/2014/main" id="{D8EF9EF4-1626-4C54-A229-4FAACC1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24" name="metric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6FCF5FC9-E780-422B-9D65-CE7F7494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heading-650-512-165-31">
            <a:extLst xmlns:a="http://schemas.openxmlformats.org/drawingml/2006/main">
              <a:ext uri="{FF2B5EF4-FFF2-40B4-BE49-F238E27FC236}">
                <a16:creationId xmlns:a16="http://schemas.microsoft.com/office/drawing/2014/main" id="{A398040B-1765-4558-A536-9F382DE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6" name="body-650-550-165-32">
            <a:extLst xmlns:a="http://schemas.openxmlformats.org/drawingml/2006/main">
              <a:ext uri="{FF2B5EF4-FFF2-40B4-BE49-F238E27FC236}">
                <a16:creationId xmlns:a16="http://schemas.microsoft.com/office/drawing/2014/main" id="{5EF8CAAC-5156-47BA-9F4C-5BBA265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7" name="metric-operational UTI">
            <a:extLst xmlns:a="http://schemas.openxmlformats.org/drawingml/2006/main">
              <a:ext uri="{FF2B5EF4-FFF2-40B4-BE49-F238E27FC236}">
                <a16:creationId xmlns:a16="http://schemas.microsoft.com/office/drawing/2014/main" id="{09EBFF75-355B-4339-89F1-0918750E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heading-875-512-165-31">
            <a:extLst xmlns:a="http://schemas.openxmlformats.org/drawingml/2006/main">
              <a:ext uri="{FF2B5EF4-FFF2-40B4-BE49-F238E27FC236}">
                <a16:creationId xmlns:a16="http://schemas.microsoft.com/office/drawing/2014/main" id="{A440E627-B8D1-4D68-A522-539CA375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9" name="body-875-550-165-32">
            <a:extLst xmlns:a="http://schemas.openxmlformats.org/drawingml/2006/main">
              <a:ext uri="{FF2B5EF4-FFF2-40B4-BE49-F238E27FC236}">
                <a16:creationId xmlns:a16="http://schemas.microsoft.com/office/drawing/2014/main" id="{51A7F3C9-D8AE-41B7-84A5-86E68FB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30" name="chrome-62-682-1020-18">
            <a:extLst xmlns:a="http://schemas.openxmlformats.org/drawingml/2006/main">
              <a:ext uri="{FF2B5EF4-FFF2-40B4-BE49-F238E27FC236}">
                <a16:creationId xmlns:a16="http://schemas.microsoft.com/office/drawing/2014/main" id="{D3A335CF-C0BD-460F-9892-C799394E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31" name="chrome-1150-682-76-18">
            <a:extLst xmlns:a="http://schemas.openxmlformats.org/drawingml/2006/main">
              <a:ext uri="{FF2B5EF4-FFF2-40B4-BE49-F238E27FC236}">
                <a16:creationId xmlns:a16="http://schemas.microsoft.com/office/drawing/2014/main" id="{5C2975E8-54D8-4A1A-83AC-D7AB6210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29550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EE2B94-7F0E-43DD-97AF-36FE68D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7E4045B-94EA-401E-8C77-4E594DA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C3407F2-A2F3-4766-BB4F-17A70A6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SCOPE LOCK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E8FD89-46C5-46AA-A07C-818717C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analytical scope is selected QC-passing Longcycler only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2EE37C2-C03C-40C7-98F7-573B85E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status is an operational annotation; the scientific object is the repeated isolate profile.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8CD2D38-3735-49AA-8FD1-45B98407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B0110C8-0C0F-4D9E-8057-FD42FEFC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17E2EE5-E284-445F-A323-22BE3194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5B2CDA-7603-4620-B8A2-F24B7D7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card-Selected episode-level genomes">
            <a:extLst xmlns:a="http://schemas.openxmlformats.org/drawingml/2006/main">
              <a:ext uri="{FF2B5EF4-FFF2-40B4-BE49-F238E27FC236}">
                <a16:creationId xmlns:a16="http://schemas.microsoft.com/office/drawing/2014/main" id="{40FDFCDC-2AFB-44D5-BD91-F0BC4D3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11" name="heading-92-206-298-26">
            <a:extLst xmlns:a="http://schemas.openxmlformats.org/drawingml/2006/main">
              <a:ext uri="{FF2B5EF4-FFF2-40B4-BE49-F238E27FC236}">
                <a16:creationId xmlns:a16="http://schemas.microsoft.com/office/drawing/2014/main" id="{2816E219-D687-4255-B684-550AA1A8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episode-level genomes</a:t>
            </a:r>
          </a:p>
        </p:txBody>
      </p:sp>
      <p:sp>
        <p:nvSpPr>
          <p:cNvPr id="12" name="body-92-238-298-238">
            <a:extLst xmlns:a="http://schemas.openxmlformats.org/drawingml/2006/main">
              <a:ext uri="{FF2B5EF4-FFF2-40B4-BE49-F238E27FC236}">
                <a16:creationId xmlns:a16="http://schemas.microsoft.com/office/drawing/2014/main" id="{FC89176F-BE11-410A-9FA1-0BBA16F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 from 161 residents contribute one selected QC-passing assembly per episode. The selected manifest is the only analytical genome source.</a:t>
            </a:r>
          </a:p>
        </p:txBody>
      </p:sp>
      <p:sp>
        <p:nvSpPr>
          <p:cNvPr id="13" name="card-Repeated-measures design">
            <a:extLst xmlns:a="http://schemas.openxmlformats.org/drawingml/2006/main">
              <a:ext uri="{FF2B5EF4-FFF2-40B4-BE49-F238E27FC236}">
                <a16:creationId xmlns:a16="http://schemas.microsoft.com/office/drawing/2014/main" id="{D420CF50-2255-4575-A1DF-04CA2927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4" name="heading-491-206-298-26">
            <a:extLst xmlns:a="http://schemas.openxmlformats.org/drawingml/2006/main">
              <a:ext uri="{FF2B5EF4-FFF2-40B4-BE49-F238E27FC236}">
                <a16:creationId xmlns:a16="http://schemas.microsoft.com/office/drawing/2014/main" id="{8FAE6817-6BBB-4D8C-AC03-BBEDA8C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62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Repeated-measures design</a:t>
            </a:r>
          </a:p>
        </p:txBody>
      </p:sp>
      <p:sp>
        <p:nvSpPr>
          <p:cNvPr id="15" name="body-491-238-298-238">
            <a:extLst xmlns:a="http://schemas.openxmlformats.org/drawingml/2006/main">
              <a:ext uri="{FF2B5EF4-FFF2-40B4-BE49-F238E27FC236}">
                <a16:creationId xmlns:a16="http://schemas.microsoft.com/office/drawing/2014/main" id="{0E73B830-8101-4074-AF35-C5ACD64E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669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direct within-resident pairs are available for broad profile comparisons. 371 adjacent transitions from 139 residents define the temporal transition layer.</a:t>
            </a:r>
          </a:p>
        </p:txBody>
      </p:sp>
      <p:sp>
        <p:nvSpPr>
          <p:cNvPr id="16" name="card-Operational clinical overlay">
            <a:extLst xmlns:a="http://schemas.openxmlformats.org/drawingml/2006/main">
              <a:ext uri="{FF2B5EF4-FFF2-40B4-BE49-F238E27FC236}">
                <a16:creationId xmlns:a16="http://schemas.microsoft.com/office/drawing/2014/main" id="{41608E46-85BF-4587-AB50-A3465A37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7" name="heading-890-206-298-26">
            <a:extLst xmlns:a="http://schemas.openxmlformats.org/drawingml/2006/main">
              <a:ext uri="{FF2B5EF4-FFF2-40B4-BE49-F238E27FC236}">
                <a16:creationId xmlns:a16="http://schemas.microsoft.com/office/drawing/2014/main" id="{88991FDC-4EB3-45B2-80FF-4FB0A53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clinical overlay</a:t>
            </a:r>
          </a:p>
        </p:txBody>
      </p:sp>
      <p:sp>
        <p:nvSpPr>
          <p:cNvPr id="18" name="body-890-238-298-238">
            <a:extLst xmlns:a="http://schemas.openxmlformats.org/drawingml/2006/main">
              <a:ext uri="{FF2B5EF4-FFF2-40B4-BE49-F238E27FC236}">
                <a16:creationId xmlns:a16="http://schemas.microsoft.com/office/drawing/2014/main" id="{81CF2A15-7F07-47FA-9010-EFF80FBD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episodes are operational UTI and 516 are operational Not_UTI. Interpret status comparisons as exploratory observational analysis; no causal claim.</a:t>
            </a:r>
          </a:p>
        </p:txBody>
      </p:sp>
      <p:sp>
        <p:nvSpPr>
          <p:cNvPr id="19" name="label-No alternate assembly source enters the analytical cohort">
            <a:extLst xmlns:a="http://schemas.openxmlformats.org/drawingml/2006/main">
              <a:ext uri="{FF2B5EF4-FFF2-40B4-BE49-F238E27FC236}">
                <a16:creationId xmlns:a16="http://schemas.microsoft.com/office/drawing/2014/main" id="{15D32977-F3D7-4F41-909C-5D62022C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05400"/>
            <a:ext cx="4210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label-426-541-426-23">
            <a:extLst xmlns:a="http://schemas.openxmlformats.org/drawingml/2006/main">
              <a:ext uri="{FF2B5EF4-FFF2-40B4-BE49-F238E27FC236}">
                <a16:creationId xmlns:a16="http://schemas.microsoft.com/office/drawing/2014/main" id="{26BD0492-D800-4DAD-8E93-07AD4EC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53025"/>
            <a:ext cx="4057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alternate assembly source enters the analytical cohort</a:t>
            </a:r>
          </a:p>
        </p:txBody>
      </p:sp>
    </p:spTree>
    <p:extLst>
      <p:ext uri="{BB962C8B-B14F-4D97-AF65-F5344CB8AC3E}">
        <p14:creationId xmlns:p14="http://schemas.microsoft.com/office/powerpoint/2010/main" val="12629280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488FE57-52DA-487A-9700-4DB8F19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4BF17F30-7586-41EA-BE7C-210DC3D5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C31573D-B027-4143-BF6F-ACD61AC6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ASSET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AFC78D-920F-4CE5-BCAB-5FAD90F6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VF-ready data link selected genomes to repeated clinical episodes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04D1C3A-92B1-4BB0-B902-F06541B9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analytical denominators are selected Longcycler outputs; source counts appear only as QC context.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1A806A4-19BA-45E9-A85E-55955BF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02296FF-6522-4180-9C02-664543A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097914D-6F33-41D5-9A4D-B10F5CB3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035701-8488-4C38-A27F-E84582F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metric-selected episodes">
            <a:extLst xmlns:a="http://schemas.openxmlformats.org/drawingml/2006/main">
              <a:ext uri="{FF2B5EF4-FFF2-40B4-BE49-F238E27FC236}">
                <a16:creationId xmlns:a16="http://schemas.microsoft.com/office/drawing/2014/main" id="{B2C885D4-4454-487F-8D18-4E7B64B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heading-76-188-170-31">
            <a:extLst xmlns:a="http://schemas.openxmlformats.org/drawingml/2006/main">
              <a:ext uri="{FF2B5EF4-FFF2-40B4-BE49-F238E27FC236}">
                <a16:creationId xmlns:a16="http://schemas.microsoft.com/office/drawing/2014/main" id="{ADAD3535-F9D6-4876-A410-AD8C52BD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2" name="body-76-226-170-32">
            <a:extLst xmlns:a="http://schemas.openxmlformats.org/drawingml/2006/main">
              <a:ext uri="{FF2B5EF4-FFF2-40B4-BE49-F238E27FC236}">
                <a16:creationId xmlns:a16="http://schemas.microsoft.com/office/drawing/2014/main" id="{E9DA065E-67E4-4E8F-9A1E-148ADE40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episodes</a:t>
            </a:r>
          </a:p>
        </p:txBody>
      </p:sp>
      <p:sp>
        <p:nvSpPr>
          <p:cNvPr id="13" name="metric-residents">
            <a:extLst xmlns:a="http://schemas.openxmlformats.org/drawingml/2006/main">
              <a:ext uri="{FF2B5EF4-FFF2-40B4-BE49-F238E27FC236}">
                <a16:creationId xmlns:a16="http://schemas.microsoft.com/office/drawing/2014/main" id="{C8DF33CE-A6BF-43DB-BDCC-C497C2B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heading-312-188-170-31">
            <a:extLst xmlns:a="http://schemas.openxmlformats.org/drawingml/2006/main">
              <a:ext uri="{FF2B5EF4-FFF2-40B4-BE49-F238E27FC236}">
                <a16:creationId xmlns:a16="http://schemas.microsoft.com/office/drawing/2014/main" id="{85D89DD5-B579-4629-A235-1829C772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  <p:sp>
        <p:nvSpPr>
          <p:cNvPr id="15" name="body-312-226-170-32">
            <a:extLst xmlns:a="http://schemas.openxmlformats.org/drawingml/2006/main">
              <a:ext uri="{FF2B5EF4-FFF2-40B4-BE49-F238E27FC236}">
                <a16:creationId xmlns:a16="http://schemas.microsoft.com/office/drawing/2014/main" id="{27707B42-17F3-493A-830F-DF5DF6FB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16" name="metric-binary VF features">
            <a:extLst xmlns:a="http://schemas.openxmlformats.org/drawingml/2006/main">
              <a:ext uri="{FF2B5EF4-FFF2-40B4-BE49-F238E27FC236}">
                <a16:creationId xmlns:a16="http://schemas.microsoft.com/office/drawing/2014/main" id="{B33842B7-6915-4409-BF5B-8507281C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heading-548-188-170-31">
            <a:extLst xmlns:a="http://schemas.openxmlformats.org/drawingml/2006/main">
              <a:ext uri="{FF2B5EF4-FFF2-40B4-BE49-F238E27FC236}">
                <a16:creationId xmlns:a16="http://schemas.microsoft.com/office/drawing/2014/main" id="{EC37CA93-34D2-463B-8862-A6907840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227</a:t>
            </a:r>
          </a:p>
        </p:txBody>
      </p:sp>
      <p:sp>
        <p:nvSpPr>
          <p:cNvPr id="18" name="body-548-226-170-32">
            <a:extLst xmlns:a="http://schemas.openxmlformats.org/drawingml/2006/main">
              <a:ext uri="{FF2B5EF4-FFF2-40B4-BE49-F238E27FC236}">
                <a16:creationId xmlns:a16="http://schemas.microsoft.com/office/drawing/2014/main" id="{69893A0E-44A8-48CB-9F6E-829DC37F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binary VF features</a:t>
            </a:r>
          </a:p>
        </p:txBody>
      </p:sp>
      <p:sp>
        <p:nvSpPr>
          <p:cNvPr id="19" name="metric-operational UTI">
            <a:extLst xmlns:a="http://schemas.openxmlformats.org/drawingml/2006/main">
              <a:ext uri="{FF2B5EF4-FFF2-40B4-BE49-F238E27FC236}">
                <a16:creationId xmlns:a16="http://schemas.microsoft.com/office/drawing/2014/main" id="{BCB59C50-DB46-4537-804E-FFB9CE8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heading-784-188-170-31">
            <a:extLst xmlns:a="http://schemas.openxmlformats.org/drawingml/2006/main">
              <a:ext uri="{FF2B5EF4-FFF2-40B4-BE49-F238E27FC236}">
                <a16:creationId xmlns:a16="http://schemas.microsoft.com/office/drawing/2014/main" id="{4E96B084-3A36-4B84-9D88-FF36B50C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body-784-226-170-32">
            <a:extLst xmlns:a="http://schemas.openxmlformats.org/drawingml/2006/main">
              <a:ext uri="{FF2B5EF4-FFF2-40B4-BE49-F238E27FC236}">
                <a16:creationId xmlns:a16="http://schemas.microsoft.com/office/drawing/2014/main" id="{5D93FFAF-1D0A-43BC-A085-D54142B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22" name="metric-operational Not_UTI">
            <a:extLst xmlns:a="http://schemas.openxmlformats.org/drawingml/2006/main">
              <a:ext uri="{FF2B5EF4-FFF2-40B4-BE49-F238E27FC236}">
                <a16:creationId xmlns:a16="http://schemas.microsoft.com/office/drawing/2014/main" id="{0D470BA4-2190-41AD-A9D7-82D2CCB0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heading-1020-188-170-31">
            <a:extLst xmlns:a="http://schemas.openxmlformats.org/drawingml/2006/main">
              <a:ext uri="{FF2B5EF4-FFF2-40B4-BE49-F238E27FC236}">
                <a16:creationId xmlns:a16="http://schemas.microsoft.com/office/drawing/2014/main" id="{5A923446-8FF8-4C27-A26F-D7A290B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65A3C"/>
                </a:solidFill>
                <a:latin typeface="Aptos"/>
                <a:ea typeface="Aptos"/>
                <a:cs typeface="Aptos"/>
              </a:rPr>
              <a:t>516</a:t>
            </a:r>
          </a:p>
        </p:txBody>
      </p:sp>
      <p:sp>
        <p:nvSpPr>
          <p:cNvPr id="24" name="body-1020-226-170-32">
            <a:extLst xmlns:a="http://schemas.openxmlformats.org/drawingml/2006/main">
              <a:ext uri="{FF2B5EF4-FFF2-40B4-BE49-F238E27FC236}">
                <a16:creationId xmlns:a16="http://schemas.microsoft.com/office/drawing/2014/main" id="{3A14A83C-3A4A-443E-99BB-D425AD4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5A3C"/>
                </a:solidFill>
                <a:latin typeface="Aptos"/>
                <a:ea typeface="Aptos"/>
                <a:cs typeface="Aptos"/>
              </a:rPr>
              <a:t>operational Not_UTI</a:t>
            </a:r>
          </a:p>
        </p:txBody>
      </p:sp>
      <p:sp>
        <p:nvSpPr>
          <p:cNvPr id="25" name="body-98-326-360-24">
            <a:extLst xmlns:a="http://schemas.openxmlformats.org/drawingml/2006/main">
              <a:ext uri="{FF2B5EF4-FFF2-40B4-BE49-F238E27FC236}">
                <a16:creationId xmlns:a16="http://schemas.microsoft.com/office/drawing/2014/main" id="{8C96FE88-C5DF-4FC2-8F25-DCCC4E2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Repeated-isolate design</a:t>
            </a:r>
          </a:p>
        </p:txBody>
      </p:sp>
      <p:sp>
        <p:nvSpPr>
          <p:cNvPr id="26" name="episode-1">
            <a:extLst xmlns:a="http://schemas.openxmlformats.org/drawingml/2006/main">
              <a:ext uri="{FF2B5EF4-FFF2-40B4-BE49-F238E27FC236}">
                <a16:creationId xmlns:a16="http://schemas.microsoft.com/office/drawing/2014/main" id="{9C24EBA6-0971-4EE8-BFB1-EA21197D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episode-1-head">
            <a:extLst xmlns:a="http://schemas.openxmlformats.org/drawingml/2006/main">
              <a:ext uri="{FF2B5EF4-FFF2-40B4-BE49-F238E27FC236}">
                <a16:creationId xmlns:a16="http://schemas.microsoft.com/office/drawing/2014/main" id="{E6C097D6-4EFC-4AFD-ACB2-3E1D55F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623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episode-2">
            <a:extLst xmlns:a="http://schemas.openxmlformats.org/drawingml/2006/main">
              <a:ext uri="{FF2B5EF4-FFF2-40B4-BE49-F238E27FC236}">
                <a16:creationId xmlns:a16="http://schemas.microsoft.com/office/drawing/2014/main" id="{B7B64BD9-B529-41C9-9473-57BB760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episode-2-head">
            <a:extLst xmlns:a="http://schemas.openxmlformats.org/drawingml/2006/main">
              <a:ext uri="{FF2B5EF4-FFF2-40B4-BE49-F238E27FC236}">
                <a16:creationId xmlns:a16="http://schemas.microsoft.com/office/drawing/2014/main" id="{87BC17BC-0B97-4BE5-AE2A-DC70EE2C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578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episode-3">
            <a:extLst xmlns:a="http://schemas.openxmlformats.org/drawingml/2006/main">
              <a:ext uri="{FF2B5EF4-FFF2-40B4-BE49-F238E27FC236}">
                <a16:creationId xmlns:a16="http://schemas.microsoft.com/office/drawing/2014/main" id="{CF413D71-A701-48E4-87A2-4E275F0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episode-3-head">
            <a:extLst xmlns:a="http://schemas.openxmlformats.org/drawingml/2006/main">
              <a:ext uri="{FF2B5EF4-FFF2-40B4-BE49-F238E27FC236}">
                <a16:creationId xmlns:a16="http://schemas.microsoft.com/office/drawing/2014/main" id="{0BB65B0B-7B2B-49E3-9FD1-6326AB8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33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pisode-4">
            <a:extLst xmlns:a="http://schemas.openxmlformats.org/drawingml/2006/main">
              <a:ext uri="{FF2B5EF4-FFF2-40B4-BE49-F238E27FC236}">
                <a16:creationId xmlns:a16="http://schemas.microsoft.com/office/drawing/2014/main" id="{1A157986-4C07-42B7-825F-75A84EF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pisode-4-head">
            <a:extLst xmlns:a="http://schemas.openxmlformats.org/drawingml/2006/main">
              <a:ext uri="{FF2B5EF4-FFF2-40B4-BE49-F238E27FC236}">
                <a16:creationId xmlns:a16="http://schemas.microsoft.com/office/drawing/2014/main" id="{CB0592C2-CB5D-4FA4-8D03-26F7CEF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488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episode-node-1">
            <a:extLst xmlns:a="http://schemas.openxmlformats.org/drawingml/2006/main">
              <a:ext uri="{FF2B5EF4-FFF2-40B4-BE49-F238E27FC236}">
                <a16:creationId xmlns:a16="http://schemas.microsoft.com/office/drawing/2014/main" id="{B094D415-05AE-4068-98D4-D9936FC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35" name="label-142-426-86-18">
            <a:extLst xmlns:a="http://schemas.openxmlformats.org/drawingml/2006/main">
              <a:ext uri="{FF2B5EF4-FFF2-40B4-BE49-F238E27FC236}">
                <a16:creationId xmlns:a16="http://schemas.microsoft.com/office/drawing/2014/main" id="{F0F20857-DBE0-4D5F-A196-27934666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36" name="label-134-484-102-18">
            <a:extLst xmlns:a="http://schemas.openxmlformats.org/drawingml/2006/main">
              <a:ext uri="{FF2B5EF4-FFF2-40B4-BE49-F238E27FC236}">
                <a16:creationId xmlns:a16="http://schemas.microsoft.com/office/drawing/2014/main" id="{DBE5A5FB-C4D9-41A8-8EE5-469AB74F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1</a:t>
            </a:r>
          </a:p>
        </p:txBody>
      </p:sp>
      <p:sp>
        <p:nvSpPr>
          <p:cNvPr id="37" name="episode-node-2">
            <a:extLst xmlns:a="http://schemas.openxmlformats.org/drawingml/2006/main">
              <a:ext uri="{FF2B5EF4-FFF2-40B4-BE49-F238E27FC236}">
                <a16:creationId xmlns:a16="http://schemas.microsoft.com/office/drawing/2014/main" id="{19B9E5C0-0990-4CFC-ACFE-4C26FF0E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38" name="label-362-426-86-18">
            <a:extLst xmlns:a="http://schemas.openxmlformats.org/drawingml/2006/main">
              <a:ext uri="{FF2B5EF4-FFF2-40B4-BE49-F238E27FC236}">
                <a16:creationId xmlns:a16="http://schemas.microsoft.com/office/drawing/2014/main" id="{F92D7174-9146-434A-9679-2EA54790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39" name="label-354-484-102-18">
            <a:extLst xmlns:a="http://schemas.openxmlformats.org/drawingml/2006/main">
              <a:ext uri="{FF2B5EF4-FFF2-40B4-BE49-F238E27FC236}">
                <a16:creationId xmlns:a16="http://schemas.microsoft.com/office/drawing/2014/main" id="{D2292982-69A7-439F-8720-9B2A929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2</a:t>
            </a:r>
          </a:p>
        </p:txBody>
      </p:sp>
      <p:sp>
        <p:nvSpPr>
          <p:cNvPr id="40" name="episode-node-3">
            <a:extLst xmlns:a="http://schemas.openxmlformats.org/drawingml/2006/main">
              <a:ext uri="{FF2B5EF4-FFF2-40B4-BE49-F238E27FC236}">
                <a16:creationId xmlns:a16="http://schemas.microsoft.com/office/drawing/2014/main" id="{27038E39-EBB4-4F42-B17B-DE3D3F8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41" name="label-582-426-86-18">
            <a:extLst xmlns:a="http://schemas.openxmlformats.org/drawingml/2006/main">
              <a:ext uri="{FF2B5EF4-FFF2-40B4-BE49-F238E27FC236}">
                <a16:creationId xmlns:a16="http://schemas.microsoft.com/office/drawing/2014/main" id="{3BAB8BCE-288A-461C-80E7-B1566F8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2" name="label-574-484-102-18">
            <a:extLst xmlns:a="http://schemas.openxmlformats.org/drawingml/2006/main">
              <a:ext uri="{FF2B5EF4-FFF2-40B4-BE49-F238E27FC236}">
                <a16:creationId xmlns:a16="http://schemas.microsoft.com/office/drawing/2014/main" id="{593A6838-D3FE-4ED6-B5A5-81DEA7A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3</a:t>
            </a:r>
          </a:p>
        </p:txBody>
      </p:sp>
      <p:sp>
        <p:nvSpPr>
          <p:cNvPr id="43" name="episode-node-4">
            <a:extLst xmlns:a="http://schemas.openxmlformats.org/drawingml/2006/main">
              <a:ext uri="{FF2B5EF4-FFF2-40B4-BE49-F238E27FC236}">
                <a16:creationId xmlns:a16="http://schemas.microsoft.com/office/drawing/2014/main" id="{535AAE3D-1819-4AF8-8BDD-CD6DD0D8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9050">
            <a:solidFill>
              <a:srgbClr val="F4B15F"/>
            </a:solidFill>
            <a:prstDash val="solid"/>
          </a:ln>
        </p:spPr>
      </p:sp>
      <p:sp>
        <p:nvSpPr>
          <p:cNvPr id="44" name="label-802-426-86-18">
            <a:extLst xmlns:a="http://schemas.openxmlformats.org/drawingml/2006/main">
              <a:ext uri="{FF2B5EF4-FFF2-40B4-BE49-F238E27FC236}">
                <a16:creationId xmlns:a16="http://schemas.microsoft.com/office/drawing/2014/main" id="{0269A1EF-53F0-42E7-AA72-F1D8649E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45" name="label-794-484-102-18">
            <a:extLst xmlns:a="http://schemas.openxmlformats.org/drawingml/2006/main">
              <a:ext uri="{FF2B5EF4-FFF2-40B4-BE49-F238E27FC236}">
                <a16:creationId xmlns:a16="http://schemas.microsoft.com/office/drawing/2014/main" id="{CD797E08-43B6-46C1-86B3-E7AF371B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4</a:t>
            </a:r>
          </a:p>
        </p:txBody>
      </p:sp>
      <p:sp>
        <p:nvSpPr>
          <p:cNvPr id="46" name="episode-node-5">
            <a:extLst xmlns:a="http://schemas.openxmlformats.org/drawingml/2006/main">
              <a:ext uri="{FF2B5EF4-FFF2-40B4-BE49-F238E27FC236}">
                <a16:creationId xmlns:a16="http://schemas.microsoft.com/office/drawing/2014/main" id="{A83C5B4D-3FA5-4DD1-BE13-9B6A0A0D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47" name="label-1022-426-86-18">
            <a:extLst xmlns:a="http://schemas.openxmlformats.org/drawingml/2006/main">
              <a:ext uri="{FF2B5EF4-FFF2-40B4-BE49-F238E27FC236}">
                <a16:creationId xmlns:a16="http://schemas.microsoft.com/office/drawing/2014/main" id="{3A0AA20F-F07C-4237-9DA3-19FF593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8" name="label-1014-484-102-18">
            <a:extLst xmlns:a="http://schemas.openxmlformats.org/drawingml/2006/main">
              <a:ext uri="{FF2B5EF4-FFF2-40B4-BE49-F238E27FC236}">
                <a16:creationId xmlns:a16="http://schemas.microsoft.com/office/drawing/2014/main" id="{1374DE1A-7422-47EC-A58C-209BBF7C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5</a:t>
            </a:r>
          </a:p>
        </p:txBody>
      </p:sp>
      <p:sp>
        <p:nvSpPr>
          <p:cNvPr id="49" name="card-Interpretation stance">
            <a:extLst xmlns:a="http://schemas.openxmlformats.org/drawingml/2006/main">
              <a:ext uri="{FF2B5EF4-FFF2-40B4-BE49-F238E27FC236}">
                <a16:creationId xmlns:a16="http://schemas.microsoft.com/office/drawing/2014/main" id="{EEBAC0BA-C97E-4E65-9FE9-12DC2BB4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00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heading-114-564-1018-26">
            <a:extLst xmlns:a="http://schemas.openxmlformats.org/drawingml/2006/main">
              <a:ext uri="{FF2B5EF4-FFF2-40B4-BE49-F238E27FC236}">
                <a16:creationId xmlns:a16="http://schemas.microsoft.com/office/drawing/2014/main" id="{B83A83B4-DB81-4FA8-81D4-EC612C9F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969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 stance</a:t>
            </a:r>
          </a:p>
        </p:txBody>
      </p:sp>
      <p:sp>
        <p:nvSpPr>
          <p:cNvPr id="51" name="body-114-596-1018-10">
            <a:extLst xmlns:a="http://schemas.openxmlformats.org/drawingml/2006/main">
              <a:ext uri="{FF2B5EF4-FFF2-40B4-BE49-F238E27FC236}">
                <a16:creationId xmlns:a16="http://schemas.microsoft.com/office/drawing/2014/main" id="{ED68B2BD-A6B2-431B-B02A-E5C83F0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969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profiles are repeated within residents. Status comparisons must account for repeated measures, lineage structure, and the sparse operational UTI denominator.</a:t>
            </a:r>
          </a:p>
        </p:txBody>
      </p:sp>
    </p:spTree>
    <p:extLst>
      <p:ext uri="{BB962C8B-B14F-4D97-AF65-F5344CB8AC3E}">
        <p14:creationId xmlns:p14="http://schemas.microsoft.com/office/powerpoint/2010/main" val="1377046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165B84-D4BD-4ABC-A4ED-3E66309B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9C33773-F16D-45F4-90F3-AD9F69D9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CAFE39-5A36-4283-A09C-5D8184DC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PIPELINE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990F30-E293-4013-8661-C7276A3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Numbered clinical-to-VF pipeline with validated handoff counts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DE44CC6-7ECE-46EC-81C7-38DEBF8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 consume the same selected analytical cohort and current-run outputs.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76A5F17-D12A-4929-97E1-92398EA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6C4467F-F513-4554-9B4F-2C96CECF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1B7DCBA-7D64-4416-AAF6-3287CCE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96711AC-DCF9-42D1-8796-2872183C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1F06865F-D9DC-4453-B55B-58E77AB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1-head">
            <a:extLst xmlns:a="http://schemas.openxmlformats.org/drawingml/2006/main">
              <a:ext uri="{FF2B5EF4-FFF2-40B4-BE49-F238E27FC236}">
                <a16:creationId xmlns:a16="http://schemas.microsoft.com/office/drawing/2014/main" id="{69805BE3-6594-4B8F-BB4E-2982AB56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8CB6D3FB-7B58-4C04-A2C7-A0948A21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tage-2-head">
            <a:extLst xmlns:a="http://schemas.openxmlformats.org/drawingml/2006/main">
              <a:ext uri="{FF2B5EF4-FFF2-40B4-BE49-F238E27FC236}">
                <a16:creationId xmlns:a16="http://schemas.microsoft.com/office/drawing/2014/main" id="{28C0E46B-C21D-47AA-9B76-8C49AD21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9BAF9FBB-B331-4D9B-84B6-F569AF87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3-head">
            <a:extLst xmlns:a="http://schemas.openxmlformats.org/drawingml/2006/main">
              <a:ext uri="{FF2B5EF4-FFF2-40B4-BE49-F238E27FC236}">
                <a16:creationId xmlns:a16="http://schemas.microsoft.com/office/drawing/2014/main" id="{F0260B79-1842-48D7-A063-5B0D372E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CE567FF2-9318-47D2-9901-FF00DC97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tage-4-head">
            <a:extLst xmlns:a="http://schemas.openxmlformats.org/drawingml/2006/main">
              <a:ext uri="{FF2B5EF4-FFF2-40B4-BE49-F238E27FC236}">
                <a16:creationId xmlns:a16="http://schemas.microsoft.com/office/drawing/2014/main" id="{C21B993F-A691-479C-8780-B4CDA7BF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tage-6">
            <a:extLst xmlns:a="http://schemas.openxmlformats.org/drawingml/2006/main">
              <a:ext uri="{FF2B5EF4-FFF2-40B4-BE49-F238E27FC236}">
                <a16:creationId xmlns:a16="http://schemas.microsoft.com/office/drawing/2014/main" id="{D40E106C-4F39-442C-B3AB-EC55CA6B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6-head">
            <a:extLst xmlns:a="http://schemas.openxmlformats.org/drawingml/2006/main">
              <a:ext uri="{FF2B5EF4-FFF2-40B4-BE49-F238E27FC236}">
                <a16:creationId xmlns:a16="http://schemas.microsoft.com/office/drawing/2014/main" id="{61351E5F-7D62-4E6B-92C2-A9ABBA7B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tage-7">
            <a:extLst xmlns:a="http://schemas.openxmlformats.org/drawingml/2006/main">
              <a:ext uri="{FF2B5EF4-FFF2-40B4-BE49-F238E27FC236}">
                <a16:creationId xmlns:a16="http://schemas.microsoft.com/office/drawing/2014/main" id="{DC651907-73F7-43CC-A090-7B3F6FF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7-head">
            <a:extLst xmlns:a="http://schemas.openxmlformats.org/drawingml/2006/main">
              <a:ext uri="{FF2B5EF4-FFF2-40B4-BE49-F238E27FC236}">
                <a16:creationId xmlns:a16="http://schemas.microsoft.com/office/drawing/2014/main" id="{4E1E6E2F-F72E-4018-8D5B-A636A1F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age-8">
            <a:extLst xmlns:a="http://schemas.openxmlformats.org/drawingml/2006/main">
              <a:ext uri="{FF2B5EF4-FFF2-40B4-BE49-F238E27FC236}">
                <a16:creationId xmlns:a16="http://schemas.microsoft.com/office/drawing/2014/main" id="{C39F9B6E-4622-4A5F-A72A-195BF282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tage-8-head">
            <a:extLst xmlns:a="http://schemas.openxmlformats.org/drawingml/2006/main">
              <a:ext uri="{FF2B5EF4-FFF2-40B4-BE49-F238E27FC236}">
                <a16:creationId xmlns:a16="http://schemas.microsoft.com/office/drawing/2014/main" id="{7F80D28C-FA3C-417F-A4AE-D780225A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9">
            <a:extLst xmlns:a="http://schemas.openxmlformats.org/drawingml/2006/main">
              <a:ext uri="{FF2B5EF4-FFF2-40B4-BE49-F238E27FC236}">
                <a16:creationId xmlns:a16="http://schemas.microsoft.com/office/drawing/2014/main" id="{77155399-59E6-4151-917F-C17C502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tage-9-head">
            <a:extLst xmlns:a="http://schemas.openxmlformats.org/drawingml/2006/main">
              <a:ext uri="{FF2B5EF4-FFF2-40B4-BE49-F238E27FC236}">
                <a16:creationId xmlns:a16="http://schemas.microsoft.com/office/drawing/2014/main" id="{314848FF-67A6-40FA-8128-73CE3AE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ipeline-1">
            <a:extLst xmlns:a="http://schemas.openxmlformats.org/drawingml/2006/main">
              <a:ext uri="{FF2B5EF4-FFF2-40B4-BE49-F238E27FC236}">
                <a16:creationId xmlns:a16="http://schemas.microsoft.com/office/drawing/2014/main" id="{35329317-E269-4446-B15B-3CD606F6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9812C850-499D-42A1-A1D5-E85E063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label-68-200-30-16">
            <a:extLst xmlns:a="http://schemas.openxmlformats.org/drawingml/2006/main">
              <a:ext uri="{FF2B5EF4-FFF2-40B4-BE49-F238E27FC236}">
                <a16:creationId xmlns:a16="http://schemas.microsoft.com/office/drawing/2014/main" id="{735ACE84-2F6A-46FB-95F4-4BADDCC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heading-108-193-145-44">
            <a:extLst xmlns:a="http://schemas.openxmlformats.org/drawingml/2006/main">
              <a:ext uri="{FF2B5EF4-FFF2-40B4-BE49-F238E27FC236}">
                <a16:creationId xmlns:a16="http://schemas.microsoft.com/office/drawing/2014/main" id="{11267C9A-02AE-4113-9BD3-4129666D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Source/QC context</a:t>
            </a:r>
          </a:p>
        </p:txBody>
      </p:sp>
      <p:sp>
        <p:nvSpPr>
          <p:cNvPr id="30" name="body-70-250-182-64">
            <a:extLst xmlns:a="http://schemas.openxmlformats.org/drawingml/2006/main">
              <a:ext uri="{FF2B5EF4-FFF2-40B4-BE49-F238E27FC236}">
                <a16:creationId xmlns:a16="http://schemas.microsoft.com/office/drawing/2014/main" id="{DA9B42A4-C8DE-403D-8497-E12AFF54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583 episodes; 166 residents</a:t>
            </a:r>
          </a:p>
        </p:txBody>
      </p:sp>
      <p:sp>
        <p:nvSpPr>
          <p:cNvPr id="31" name="pipeline-2">
            <a:extLst xmlns:a="http://schemas.openxmlformats.org/drawingml/2006/main">
              <a:ext uri="{FF2B5EF4-FFF2-40B4-BE49-F238E27FC236}">
                <a16:creationId xmlns:a16="http://schemas.microsoft.com/office/drawing/2014/main" id="{85F6DE1F-C35C-4829-A677-3C9146A3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1AEFA4B0-A27B-4CEF-A158-F760E4B0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label-306-200-30-16">
            <a:extLst xmlns:a="http://schemas.openxmlformats.org/drawingml/2006/main">
              <a:ext uri="{FF2B5EF4-FFF2-40B4-BE49-F238E27FC236}">
                <a16:creationId xmlns:a16="http://schemas.microsoft.com/office/drawing/2014/main" id="{E44DCB4D-7312-4520-B372-E8FC4E2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heading-346-193-145-44">
            <a:extLst xmlns:a="http://schemas.openxmlformats.org/drawingml/2006/main">
              <a:ext uri="{FF2B5EF4-FFF2-40B4-BE49-F238E27FC236}">
                <a16:creationId xmlns:a16="http://schemas.microsoft.com/office/drawing/2014/main" id="{84C1A310-0FAF-4FCB-B376-96A22EA8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Selected cohort</a:t>
            </a:r>
          </a:p>
        </p:txBody>
      </p:sp>
      <p:sp>
        <p:nvSpPr>
          <p:cNvPr id="35" name="body-308-250-182-64">
            <a:extLst xmlns:a="http://schemas.openxmlformats.org/drawingml/2006/main">
              <a:ext uri="{FF2B5EF4-FFF2-40B4-BE49-F238E27FC236}">
                <a16:creationId xmlns:a16="http://schemas.microsoft.com/office/drawing/2014/main" id="{AE5D7BBF-D4E0-4D24-8A57-2F61C775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episodes; 161 residents</a:t>
            </a:r>
          </a:p>
        </p:txBody>
      </p:sp>
      <p:sp>
        <p:nvSpPr>
          <p:cNvPr id="36" name="pipeline-3">
            <a:extLst xmlns:a="http://schemas.openxmlformats.org/drawingml/2006/main">
              <a:ext uri="{FF2B5EF4-FFF2-40B4-BE49-F238E27FC236}">
                <a16:creationId xmlns:a16="http://schemas.microsoft.com/office/drawing/2014/main" id="{E55669FF-91A4-4C47-AA35-E11DD62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FD0DA0C9-AFC0-4C02-9584-EB37A0A0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label-544-200-30-16">
            <a:extLst xmlns:a="http://schemas.openxmlformats.org/drawingml/2006/main">
              <a:ext uri="{FF2B5EF4-FFF2-40B4-BE49-F238E27FC236}">
                <a16:creationId xmlns:a16="http://schemas.microsoft.com/office/drawing/2014/main" id="{F87281FD-E5A2-41EE-A41A-00AAD75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heading-584-193-145-44">
            <a:extLst xmlns:a="http://schemas.openxmlformats.org/drawingml/2006/main">
              <a:ext uri="{FF2B5EF4-FFF2-40B4-BE49-F238E27FC236}">
                <a16:creationId xmlns:a16="http://schemas.microsoft.com/office/drawing/2014/main" id="{CDA42364-2FD4-4954-B7EC-4220100E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phenotype</a:t>
            </a:r>
          </a:p>
        </p:txBody>
      </p:sp>
      <p:sp>
        <p:nvSpPr>
          <p:cNvPr id="40" name="body-546-250-182-64">
            <a:extLst xmlns:a="http://schemas.openxmlformats.org/drawingml/2006/main">
              <a:ext uri="{FF2B5EF4-FFF2-40B4-BE49-F238E27FC236}">
                <a16:creationId xmlns:a16="http://schemas.microsoft.com/office/drawing/2014/main" id="{91933868-EFA9-46A1-8239-A3E535E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UTI; 516 Not_UTI</a:t>
            </a:r>
          </a:p>
        </p:txBody>
      </p:sp>
      <p:sp>
        <p:nvSpPr>
          <p:cNvPr id="41" name="pipeline-4">
            <a:extLst xmlns:a="http://schemas.openxmlformats.org/drawingml/2006/main">
              <a:ext uri="{FF2B5EF4-FFF2-40B4-BE49-F238E27FC236}">
                <a16:creationId xmlns:a16="http://schemas.microsoft.com/office/drawing/2014/main" id="{2062EAE8-0162-4E4C-858F-AEDBE96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3D84B638-47B0-49B2-B2B4-A673982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label-782-200-30-16">
            <a:extLst xmlns:a="http://schemas.openxmlformats.org/drawingml/2006/main">
              <a:ext uri="{FF2B5EF4-FFF2-40B4-BE49-F238E27FC236}">
                <a16:creationId xmlns:a16="http://schemas.microsoft.com/office/drawing/2014/main" id="{6F205D34-369A-490E-8022-1433B62F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4" name="heading-822-193-145-44">
            <a:extLst xmlns:a="http://schemas.openxmlformats.org/drawingml/2006/main">
              <a:ext uri="{FF2B5EF4-FFF2-40B4-BE49-F238E27FC236}">
                <a16:creationId xmlns:a16="http://schemas.microsoft.com/office/drawing/2014/main" id="{385E903C-BE7E-475F-BA1C-CE0B2B7F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VF feature matrix</a:t>
            </a:r>
          </a:p>
        </p:txBody>
      </p:sp>
      <p:sp>
        <p:nvSpPr>
          <p:cNvPr id="45" name="body-784-250-182-64">
            <a:extLst xmlns:a="http://schemas.openxmlformats.org/drawingml/2006/main">
              <a:ext uri="{FF2B5EF4-FFF2-40B4-BE49-F238E27FC236}">
                <a16:creationId xmlns:a16="http://schemas.microsoft.com/office/drawing/2014/main" id="{F92E06FC-8386-4ACE-A9F2-B323F3B0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227 binary features</a:t>
            </a:r>
          </a:p>
        </p:txBody>
      </p:sp>
      <p:sp>
        <p:nvSpPr>
          <p:cNvPr id="46" name="pipeline-5">
            <a:extLst xmlns:a="http://schemas.openxmlformats.org/drawingml/2006/main">
              <a:ext uri="{FF2B5EF4-FFF2-40B4-BE49-F238E27FC236}">
                <a16:creationId xmlns:a16="http://schemas.microsoft.com/office/drawing/2014/main" id="{0FD60001-C6D6-4DC1-9662-0D1AF88F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B89E5F9B-B9D6-49A1-87EA-98BDD19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label-1020-200-30-16">
            <a:extLst xmlns:a="http://schemas.openxmlformats.org/drawingml/2006/main">
              <a:ext uri="{FF2B5EF4-FFF2-40B4-BE49-F238E27FC236}">
                <a16:creationId xmlns:a16="http://schemas.microsoft.com/office/drawing/2014/main" id="{91FE14BC-1879-4BB3-9E69-6C812B9D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9" name="heading-1060-193-145-44">
            <a:extLst xmlns:a="http://schemas.openxmlformats.org/drawingml/2006/main">
              <a:ext uri="{FF2B5EF4-FFF2-40B4-BE49-F238E27FC236}">
                <a16:creationId xmlns:a16="http://schemas.microsoft.com/office/drawing/2014/main" id="{A9859AEC-AD7F-4A37-8F56-495AE10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MLST context</a:t>
            </a:r>
          </a:p>
        </p:txBody>
      </p:sp>
      <p:sp>
        <p:nvSpPr>
          <p:cNvPr id="50" name="body-1022-250-182-64">
            <a:extLst xmlns:a="http://schemas.openxmlformats.org/drawingml/2006/main">
              <a:ext uri="{FF2B5EF4-FFF2-40B4-BE49-F238E27FC236}">
                <a16:creationId xmlns:a16="http://schemas.microsoft.com/office/drawing/2014/main" id="{E6411985-8AFF-44A1-8A3A-50F195B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493 typed episodes; 76 labels</a:t>
            </a:r>
          </a:p>
        </p:txBody>
      </p:sp>
      <p:sp>
        <p:nvSpPr>
          <p:cNvPr id="51" name="pipeline-6">
            <a:extLst xmlns:a="http://schemas.openxmlformats.org/drawingml/2006/main">
              <a:ext uri="{FF2B5EF4-FFF2-40B4-BE49-F238E27FC236}">
                <a16:creationId xmlns:a16="http://schemas.microsoft.com/office/drawing/2014/main" id="{7ED173D6-0C6D-4513-BAA2-6B8F1F3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2" name="pipeline-number-6">
            <a:extLst xmlns:a="http://schemas.openxmlformats.org/drawingml/2006/main">
              <a:ext uri="{FF2B5EF4-FFF2-40B4-BE49-F238E27FC236}">
                <a16:creationId xmlns:a16="http://schemas.microsoft.com/office/drawing/2014/main" id="{C58F26C0-6899-441A-A40F-85EAF8E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label-68-410-30-16">
            <a:extLst xmlns:a="http://schemas.openxmlformats.org/drawingml/2006/main">
              <a:ext uri="{FF2B5EF4-FFF2-40B4-BE49-F238E27FC236}">
                <a16:creationId xmlns:a16="http://schemas.microsoft.com/office/drawing/2014/main" id="{8B2FF765-0B08-44E0-9E9A-5591487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4" name="heading-108-403-145-44">
            <a:extLst xmlns:a="http://schemas.openxmlformats.org/drawingml/2006/main">
              <a:ext uri="{FF2B5EF4-FFF2-40B4-BE49-F238E27FC236}">
                <a16:creationId xmlns:a16="http://schemas.microsoft.com/office/drawing/2014/main" id="{1411E00E-A385-434D-AE0F-944B15E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pairs</a:t>
            </a:r>
          </a:p>
        </p:txBody>
      </p:sp>
      <p:sp>
        <p:nvSpPr>
          <p:cNvPr id="55" name="body-70-460-182-64">
            <a:extLst xmlns:a="http://schemas.openxmlformats.org/drawingml/2006/main">
              <a:ext uri="{FF2B5EF4-FFF2-40B4-BE49-F238E27FC236}">
                <a16:creationId xmlns:a16="http://schemas.microsoft.com/office/drawing/2014/main" id="{67320064-CA39-4167-AC7F-611E22A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comparisons</a:t>
            </a:r>
          </a:p>
        </p:txBody>
      </p:sp>
      <p:sp>
        <p:nvSpPr>
          <p:cNvPr id="56" name="pipeline-7">
            <a:extLst xmlns:a="http://schemas.openxmlformats.org/drawingml/2006/main">
              <a:ext uri="{FF2B5EF4-FFF2-40B4-BE49-F238E27FC236}">
                <a16:creationId xmlns:a16="http://schemas.microsoft.com/office/drawing/2014/main" id="{BF3BB38C-334E-41B4-B2BA-2660E3B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pipeline-number-7">
            <a:extLst xmlns:a="http://schemas.openxmlformats.org/drawingml/2006/main">
              <a:ext uri="{FF2B5EF4-FFF2-40B4-BE49-F238E27FC236}">
                <a16:creationId xmlns:a16="http://schemas.microsoft.com/office/drawing/2014/main" id="{96125147-AAAE-4787-8426-BFCBBF12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label-306-410-30-16">
            <a:extLst xmlns:a="http://schemas.openxmlformats.org/drawingml/2006/main">
              <a:ext uri="{FF2B5EF4-FFF2-40B4-BE49-F238E27FC236}">
                <a16:creationId xmlns:a16="http://schemas.microsoft.com/office/drawing/2014/main" id="{2D269991-BA3F-451F-9331-F567914C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9" name="heading-346-403-145-44">
            <a:extLst xmlns:a="http://schemas.openxmlformats.org/drawingml/2006/main">
              <a:ext uri="{FF2B5EF4-FFF2-40B4-BE49-F238E27FC236}">
                <a16:creationId xmlns:a16="http://schemas.microsoft.com/office/drawing/2014/main" id="{446EDCA3-B953-43B4-A2D6-787C60D6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60" name="body-308-460-182-64">
            <a:extLst xmlns:a="http://schemas.openxmlformats.org/drawingml/2006/main">
              <a:ext uri="{FF2B5EF4-FFF2-40B4-BE49-F238E27FC236}">
                <a16:creationId xmlns:a16="http://schemas.microsoft.com/office/drawing/2014/main" id="{1835C89B-C271-4725-8D6C-FAD59757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371 from 139 residents</a:t>
            </a:r>
          </a:p>
        </p:txBody>
      </p:sp>
      <p:sp>
        <p:nvSpPr>
          <p:cNvPr id="61" name="pipeline-8">
            <a:extLst xmlns:a="http://schemas.openxmlformats.org/drawingml/2006/main">
              <a:ext uri="{FF2B5EF4-FFF2-40B4-BE49-F238E27FC236}">
                <a16:creationId xmlns:a16="http://schemas.microsoft.com/office/drawing/2014/main" id="{454E790F-856E-4DE7-BCF2-E4807677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2" name="pipeline-number-8">
            <a:extLst xmlns:a="http://schemas.openxmlformats.org/drawingml/2006/main">
              <a:ext uri="{FF2B5EF4-FFF2-40B4-BE49-F238E27FC236}">
                <a16:creationId xmlns:a16="http://schemas.microsoft.com/office/drawing/2014/main" id="{604E39AF-D0CB-4849-89FB-18BD847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label-544-410-30-16">
            <a:extLst xmlns:a="http://schemas.openxmlformats.org/drawingml/2006/main">
              <a:ext uri="{FF2B5EF4-FFF2-40B4-BE49-F238E27FC236}">
                <a16:creationId xmlns:a16="http://schemas.microsoft.com/office/drawing/2014/main" id="{55704649-7949-499F-9E16-28186E1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4" name="heading-584-403-145-44">
            <a:extLst xmlns:a="http://schemas.openxmlformats.org/drawingml/2006/main">
              <a:ext uri="{FF2B5EF4-FFF2-40B4-BE49-F238E27FC236}">
                <a16:creationId xmlns:a16="http://schemas.microsoft.com/office/drawing/2014/main" id="{F61507BE-CA4D-4DFC-8B6F-8482F21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Focused transition view</a:t>
            </a:r>
          </a:p>
        </p:txBody>
      </p:sp>
      <p:sp>
        <p:nvSpPr>
          <p:cNvPr id="65" name="body-546-460-182-64">
            <a:extLst xmlns:a="http://schemas.openxmlformats.org/drawingml/2006/main">
              <a:ext uri="{FF2B5EF4-FFF2-40B4-BE49-F238E27FC236}">
                <a16:creationId xmlns:a16="http://schemas.microsoft.com/office/drawing/2014/main" id="{830473D2-EB30-4ED6-836D-17C4AF81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transitions; 5 ≤25 SNPs</a:t>
            </a:r>
          </a:p>
        </p:txBody>
      </p:sp>
      <p:sp>
        <p:nvSpPr>
          <p:cNvPr id="66" name="pipeline-9">
            <a:extLst xmlns:a="http://schemas.openxmlformats.org/drawingml/2006/main">
              <a:ext uri="{FF2B5EF4-FFF2-40B4-BE49-F238E27FC236}">
                <a16:creationId xmlns:a16="http://schemas.microsoft.com/office/drawing/2014/main" id="{D1A4E83E-F74C-4E03-AE1D-054B207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pipeline-number-9">
            <a:extLst xmlns:a="http://schemas.openxmlformats.org/drawingml/2006/main">
              <a:ext uri="{FF2B5EF4-FFF2-40B4-BE49-F238E27FC236}">
                <a16:creationId xmlns:a16="http://schemas.microsoft.com/office/drawing/2014/main" id="{35A9A137-B544-4EFB-A917-2B81B06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label-782-410-30-16">
            <a:extLst xmlns:a="http://schemas.openxmlformats.org/drawingml/2006/main">
              <a:ext uri="{FF2B5EF4-FFF2-40B4-BE49-F238E27FC236}">
                <a16:creationId xmlns:a16="http://schemas.microsoft.com/office/drawing/2014/main" id="{F8F511A8-4841-4EA5-ACED-120EA2F5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9" name="heading-822-403-145-44">
            <a:extLst xmlns:a="http://schemas.openxmlformats.org/drawingml/2006/main">
              <a:ext uri="{FF2B5EF4-FFF2-40B4-BE49-F238E27FC236}">
                <a16:creationId xmlns:a16="http://schemas.microsoft.com/office/drawing/2014/main" id="{B6D5648E-0C14-4EFF-88E4-4D92CFD2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Mechanism casebook</a:t>
            </a:r>
          </a:p>
        </p:txBody>
      </p:sp>
      <p:sp>
        <p:nvSpPr>
          <p:cNvPr id="70" name="body-784-460-182-64">
            <a:extLst xmlns:a="http://schemas.openxmlformats.org/drawingml/2006/main">
              <a:ext uri="{FF2B5EF4-FFF2-40B4-BE49-F238E27FC236}">
                <a16:creationId xmlns:a16="http://schemas.microsoft.com/office/drawing/2014/main" id="{FCDDD705-4F2F-421D-92A9-C5D49CA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9/9/0: cases/linked/missing</a:t>
            </a:r>
          </a:p>
        </p:txBody>
      </p:sp>
      <p:sp>
        <p:nvSpPr>
          <p:cNvPr id="71" name="pipeline-10">
            <a:extLst xmlns:a="http://schemas.openxmlformats.org/drawingml/2006/main">
              <a:ext uri="{FF2B5EF4-FFF2-40B4-BE49-F238E27FC236}">
                <a16:creationId xmlns:a16="http://schemas.microsoft.com/office/drawing/2014/main" id="{4A314297-4579-4B52-884C-4B6EB3A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2" name="pipeline-number-10">
            <a:extLst xmlns:a="http://schemas.openxmlformats.org/drawingml/2006/main">
              <a:ext uri="{FF2B5EF4-FFF2-40B4-BE49-F238E27FC236}">
                <a16:creationId xmlns:a16="http://schemas.microsoft.com/office/drawing/2014/main" id="{2B571348-EA86-4463-B62A-C1E1A4A0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label-1020-410-30-16">
            <a:extLst xmlns:a="http://schemas.openxmlformats.org/drawingml/2006/main">
              <a:ext uri="{FF2B5EF4-FFF2-40B4-BE49-F238E27FC236}">
                <a16:creationId xmlns:a16="http://schemas.microsoft.com/office/drawing/2014/main" id="{DAD8201A-8DB1-450F-B64A-53B8CB0D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4" name="heading-1060-403-145-44">
            <a:extLst xmlns:a="http://schemas.openxmlformats.org/drawingml/2006/main">
              <a:ext uri="{FF2B5EF4-FFF2-40B4-BE49-F238E27FC236}">
                <a16:creationId xmlns:a16="http://schemas.microsoft.com/office/drawing/2014/main" id="{620159E3-065F-4A58-A574-0D4DD23C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Research-question release</a:t>
            </a:r>
          </a:p>
        </p:txBody>
      </p:sp>
      <p:sp>
        <p:nvSpPr>
          <p:cNvPr id="75" name="body-1022-460-182-64">
            <a:extLst xmlns:a="http://schemas.openxmlformats.org/drawingml/2006/main">
              <a:ext uri="{FF2B5EF4-FFF2-40B4-BE49-F238E27FC236}">
                <a16:creationId xmlns:a16="http://schemas.microsoft.com/office/drawing/2014/main" id="{4F288456-2B49-4524-B56E-8DF849F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RQ01–RQ10; none retired</a:t>
            </a:r>
          </a:p>
        </p:txBody>
      </p:sp>
    </p:spTree>
    <p:extLst>
      <p:ext uri="{BB962C8B-B14F-4D97-AF65-F5344CB8AC3E}">
        <p14:creationId xmlns:p14="http://schemas.microsoft.com/office/powerpoint/2010/main" val="683807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D752182-E872-4B5C-8627-5351D37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C2815B56-EA7B-45E3-BA87-A568F3F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21EDDEB-0EC7-4D47-89F0-4ED873E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REPRESENTATION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4125D4-6579-43BE-978B-6BCDF2C5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 features are summarised as genes, curated modules, and longitudinal similarity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5560E15-F80E-4F88-A3D6-CA6E512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Module and score outputs support interpretation; they are not validated disease-causality measures.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0562C0A-46BF-44E9-9A66-E6C6734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070900-9AF1-4FC9-A918-277F3B76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85C7069-71C8-432C-A19C-395F603F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F156E1-324B-4AC9-A23D-5FCF020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framework-1">
            <a:extLst xmlns:a="http://schemas.openxmlformats.org/drawingml/2006/main">
              <a:ext uri="{FF2B5EF4-FFF2-40B4-BE49-F238E27FC236}">
                <a16:creationId xmlns:a16="http://schemas.microsoft.com/office/drawing/2014/main" id="{7AE52492-A598-438E-AA55-9825D31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4384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ramework-1-head">
            <a:extLst xmlns:a="http://schemas.openxmlformats.org/drawingml/2006/main">
              <a:ext uri="{FF2B5EF4-FFF2-40B4-BE49-F238E27FC236}">
                <a16:creationId xmlns:a16="http://schemas.microsoft.com/office/drawing/2014/main" id="{8C698B98-AECA-48D7-B029-AD65C3F2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0532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ramework-2">
            <a:extLst xmlns:a="http://schemas.openxmlformats.org/drawingml/2006/main">
              <a:ext uri="{FF2B5EF4-FFF2-40B4-BE49-F238E27FC236}">
                <a16:creationId xmlns:a16="http://schemas.microsoft.com/office/drawing/2014/main" id="{069C20D0-1095-4FE2-BE9D-BECC4B7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4384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framework-2-head">
            <a:extLst xmlns:a="http://schemas.openxmlformats.org/drawingml/2006/main">
              <a:ext uri="{FF2B5EF4-FFF2-40B4-BE49-F238E27FC236}">
                <a16:creationId xmlns:a16="http://schemas.microsoft.com/office/drawing/2014/main" id="{B862F149-FEF1-4984-BC51-07F7B19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9632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Binary VF gene matrix">
            <a:extLst xmlns:a="http://schemas.openxmlformats.org/drawingml/2006/main">
              <a:ext uri="{FF2B5EF4-FFF2-40B4-BE49-F238E27FC236}">
                <a16:creationId xmlns:a16="http://schemas.microsoft.com/office/drawing/2014/main" id="{E909AC6F-EEB0-47B7-80A5-039C29E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667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5" name="heading-90-204-248-26">
            <a:extLst xmlns:a="http://schemas.openxmlformats.org/drawingml/2006/main">
              <a:ext uri="{FF2B5EF4-FFF2-40B4-BE49-F238E27FC236}">
                <a16:creationId xmlns:a16="http://schemas.microsoft.com/office/drawing/2014/main" id="{64AD9098-DAE8-4774-BC12-93F00DC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Binary VF gene matrix</a:t>
            </a:r>
          </a:p>
        </p:txBody>
      </p:sp>
      <p:sp>
        <p:nvSpPr>
          <p:cNvPr id="16" name="body-90-236-248-76">
            <a:extLst xmlns:a="http://schemas.openxmlformats.org/drawingml/2006/main">
              <a:ext uri="{FF2B5EF4-FFF2-40B4-BE49-F238E27FC236}">
                <a16:creationId xmlns:a16="http://schemas.microsoft.com/office/drawing/2014/main" id="{9FF476D2-6109-4184-8A32-07DBC2E1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362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227 presence/absence features per selected episode-level genome.</a:t>
            </a:r>
          </a:p>
        </p:txBody>
      </p:sp>
      <p:sp>
        <p:nvSpPr>
          <p:cNvPr id="17" name="card-Curated biological modules">
            <a:extLst xmlns:a="http://schemas.openxmlformats.org/drawingml/2006/main">
              <a:ext uri="{FF2B5EF4-FFF2-40B4-BE49-F238E27FC236}">
                <a16:creationId xmlns:a16="http://schemas.microsoft.com/office/drawing/2014/main" id="{17B0DF33-A5F6-4977-83CB-87A3A025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300037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96-204-283-26">
            <a:extLst xmlns:a="http://schemas.openxmlformats.org/drawingml/2006/main">
              <a:ext uri="{FF2B5EF4-FFF2-40B4-BE49-F238E27FC236}">
                <a16:creationId xmlns:a16="http://schemas.microsoft.com/office/drawing/2014/main" id="{C58CC03A-29D3-438E-BD7E-4A58EC10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4310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Curated biological modules</a:t>
            </a:r>
          </a:p>
        </p:txBody>
      </p:sp>
      <p:sp>
        <p:nvSpPr>
          <p:cNvPr id="19" name="body-496-236-283-76">
            <a:extLst xmlns:a="http://schemas.openxmlformats.org/drawingml/2006/main">
              <a:ext uri="{FF2B5EF4-FFF2-40B4-BE49-F238E27FC236}">
                <a16:creationId xmlns:a16="http://schemas.microsoft.com/office/drawing/2014/main" id="{0F836AD6-F1D9-4A1B-A299-CB7D98E4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Genes are grouped to make repertoire patterns navigable without changing the underlying binary evidence.</a:t>
            </a:r>
          </a:p>
        </p:txBody>
      </p:sp>
      <p:sp>
        <p:nvSpPr>
          <p:cNvPr id="20" name="card-Longitudinal outputs">
            <a:extLst xmlns:a="http://schemas.openxmlformats.org/drawingml/2006/main">
              <a:ext uri="{FF2B5EF4-FFF2-40B4-BE49-F238E27FC236}">
                <a16:creationId xmlns:a16="http://schemas.microsoft.com/office/drawing/2014/main" id="{5B3DAA25-E69D-4168-8638-FA7CBDD9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1" name="heading-936-204-253-26">
            <a:extLst xmlns:a="http://schemas.openxmlformats.org/drawingml/2006/main">
              <a:ext uri="{FF2B5EF4-FFF2-40B4-BE49-F238E27FC236}">
                <a16:creationId xmlns:a16="http://schemas.microsoft.com/office/drawing/2014/main" id="{0F547F63-6EFF-4D66-B9E5-B5F2B57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409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Longitudinal outputs</a:t>
            </a:r>
          </a:p>
        </p:txBody>
      </p:sp>
      <p:sp>
        <p:nvSpPr>
          <p:cNvPr id="22" name="body-936-236-253-76">
            <a:extLst xmlns:a="http://schemas.openxmlformats.org/drawingml/2006/main">
              <a:ext uri="{FF2B5EF4-FFF2-40B4-BE49-F238E27FC236}">
                <a16:creationId xmlns:a16="http://schemas.microsoft.com/office/drawing/2014/main" id="{A428B3C6-FC1B-418E-B1BE-63AF428D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09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Prevalence, Jaccard similarity, gain/loss summaries, and exploratory clinical overlays.</a:t>
            </a:r>
          </a:p>
        </p:txBody>
      </p:sp>
      <p:sp>
        <p:nvSpPr>
          <p:cNvPr id="23" name="matrix-0-0">
            <a:extLst xmlns:a="http://schemas.openxmlformats.org/drawingml/2006/main">
              <a:ext uri="{FF2B5EF4-FFF2-40B4-BE49-F238E27FC236}">
                <a16:creationId xmlns:a16="http://schemas.microsoft.com/office/drawing/2014/main" id="{6CB1EFCE-EFD2-4E1C-9187-72714843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atrix-0-1">
            <a:extLst xmlns:a="http://schemas.openxmlformats.org/drawingml/2006/main">
              <a:ext uri="{FF2B5EF4-FFF2-40B4-BE49-F238E27FC236}">
                <a16:creationId xmlns:a16="http://schemas.microsoft.com/office/drawing/2014/main" id="{AEE586AE-4262-4356-8E8A-80F6D46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matrix-0-2">
            <a:extLst xmlns:a="http://schemas.openxmlformats.org/drawingml/2006/main">
              <a:ext uri="{FF2B5EF4-FFF2-40B4-BE49-F238E27FC236}">
                <a16:creationId xmlns:a16="http://schemas.microsoft.com/office/drawing/2014/main" id="{F97030AF-3845-4798-BC1C-AABD4BD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atrix-0-3">
            <a:extLst xmlns:a="http://schemas.openxmlformats.org/drawingml/2006/main">
              <a:ext uri="{FF2B5EF4-FFF2-40B4-BE49-F238E27FC236}">
                <a16:creationId xmlns:a16="http://schemas.microsoft.com/office/drawing/2014/main" id="{08BF7665-2E67-4E24-BFA4-FA9DC572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matrix-0-4">
            <a:extLst xmlns:a="http://schemas.openxmlformats.org/drawingml/2006/main">
              <a:ext uri="{FF2B5EF4-FFF2-40B4-BE49-F238E27FC236}">
                <a16:creationId xmlns:a16="http://schemas.microsoft.com/office/drawing/2014/main" id="{86F9994B-8E23-4BC2-B63E-0E1435DD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atrix-0-5">
            <a:extLst xmlns:a="http://schemas.openxmlformats.org/drawingml/2006/main">
              <a:ext uri="{FF2B5EF4-FFF2-40B4-BE49-F238E27FC236}">
                <a16:creationId xmlns:a16="http://schemas.microsoft.com/office/drawing/2014/main" id="{F315DA7C-A7D0-4532-A067-9E421F05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matrix-0-6">
            <a:extLst xmlns:a="http://schemas.openxmlformats.org/drawingml/2006/main">
              <a:ext uri="{FF2B5EF4-FFF2-40B4-BE49-F238E27FC236}">
                <a16:creationId xmlns:a16="http://schemas.microsoft.com/office/drawing/2014/main" id="{863D8F0A-B5D2-42D7-8EAE-BEF49B8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matrix-0-7">
            <a:extLst xmlns:a="http://schemas.openxmlformats.org/drawingml/2006/main">
              <a:ext uri="{FF2B5EF4-FFF2-40B4-BE49-F238E27FC236}">
                <a16:creationId xmlns:a16="http://schemas.microsoft.com/office/drawing/2014/main" id="{16834CDE-CA80-4FB8-A468-D82B90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matrix-0-8">
            <a:extLst xmlns:a="http://schemas.openxmlformats.org/drawingml/2006/main">
              <a:ext uri="{FF2B5EF4-FFF2-40B4-BE49-F238E27FC236}">
                <a16:creationId xmlns:a16="http://schemas.microsoft.com/office/drawing/2014/main" id="{1374AB69-E0D1-4E0F-98B5-DF9D0C4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matrix-0-9">
            <a:extLst xmlns:a="http://schemas.openxmlformats.org/drawingml/2006/main">
              <a:ext uri="{FF2B5EF4-FFF2-40B4-BE49-F238E27FC236}">
                <a16:creationId xmlns:a16="http://schemas.microsoft.com/office/drawing/2014/main" id="{1BF4FAD4-20CB-4604-87A1-DF11214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matrix-0-10">
            <a:extLst xmlns:a="http://schemas.openxmlformats.org/drawingml/2006/main">
              <a:ext uri="{FF2B5EF4-FFF2-40B4-BE49-F238E27FC236}">
                <a16:creationId xmlns:a16="http://schemas.microsoft.com/office/drawing/2014/main" id="{6C22B7DF-BAF3-4BBB-BE1B-166E153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matrix-1-0">
            <a:extLst xmlns:a="http://schemas.openxmlformats.org/drawingml/2006/main">
              <a:ext uri="{FF2B5EF4-FFF2-40B4-BE49-F238E27FC236}">
                <a16:creationId xmlns:a16="http://schemas.microsoft.com/office/drawing/2014/main" id="{2603DF49-1EC0-4AD1-A567-068886D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atrix-1-1">
            <a:extLst xmlns:a="http://schemas.openxmlformats.org/drawingml/2006/main">
              <a:ext uri="{FF2B5EF4-FFF2-40B4-BE49-F238E27FC236}">
                <a16:creationId xmlns:a16="http://schemas.microsoft.com/office/drawing/2014/main" id="{F8C4CAE3-E5B0-4860-BAFB-55E595B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matrix-1-2">
            <a:extLst xmlns:a="http://schemas.openxmlformats.org/drawingml/2006/main">
              <a:ext uri="{FF2B5EF4-FFF2-40B4-BE49-F238E27FC236}">
                <a16:creationId xmlns:a16="http://schemas.microsoft.com/office/drawing/2014/main" id="{63E0E741-A9C0-4382-9CEC-BDB803E2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matrix-1-3">
            <a:extLst xmlns:a="http://schemas.openxmlformats.org/drawingml/2006/main">
              <a:ext uri="{FF2B5EF4-FFF2-40B4-BE49-F238E27FC236}">
                <a16:creationId xmlns:a16="http://schemas.microsoft.com/office/drawing/2014/main" id="{2017F09D-F488-429A-B495-9223311A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matrix-1-4">
            <a:extLst xmlns:a="http://schemas.openxmlformats.org/drawingml/2006/main">
              <a:ext uri="{FF2B5EF4-FFF2-40B4-BE49-F238E27FC236}">
                <a16:creationId xmlns:a16="http://schemas.microsoft.com/office/drawing/2014/main" id="{44686F31-4B49-42C4-9E59-9A304E75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matrix-1-5">
            <a:extLst xmlns:a="http://schemas.openxmlformats.org/drawingml/2006/main">
              <a:ext uri="{FF2B5EF4-FFF2-40B4-BE49-F238E27FC236}">
                <a16:creationId xmlns:a16="http://schemas.microsoft.com/office/drawing/2014/main" id="{7E2F6A6D-6B7D-49C8-81C5-C87B81FB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atrix-1-6">
            <a:extLst xmlns:a="http://schemas.openxmlformats.org/drawingml/2006/main">
              <a:ext uri="{FF2B5EF4-FFF2-40B4-BE49-F238E27FC236}">
                <a16:creationId xmlns:a16="http://schemas.microsoft.com/office/drawing/2014/main" id="{5BAA06E3-8B7B-462D-89E1-B52122F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matrix-1-7">
            <a:extLst xmlns:a="http://schemas.openxmlformats.org/drawingml/2006/main">
              <a:ext uri="{FF2B5EF4-FFF2-40B4-BE49-F238E27FC236}">
                <a16:creationId xmlns:a16="http://schemas.microsoft.com/office/drawing/2014/main" id="{6CFD9C47-D789-4295-A930-855CAAA3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matrix-1-8">
            <a:extLst xmlns:a="http://schemas.openxmlformats.org/drawingml/2006/main">
              <a:ext uri="{FF2B5EF4-FFF2-40B4-BE49-F238E27FC236}">
                <a16:creationId xmlns:a16="http://schemas.microsoft.com/office/drawing/2014/main" id="{F05F160C-786E-4F03-844A-35B1015C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matrix-1-9">
            <a:extLst xmlns:a="http://schemas.openxmlformats.org/drawingml/2006/main">
              <a:ext uri="{FF2B5EF4-FFF2-40B4-BE49-F238E27FC236}">
                <a16:creationId xmlns:a16="http://schemas.microsoft.com/office/drawing/2014/main" id="{12D9CD5B-9B74-4880-8143-876E041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atrix-1-10">
            <a:extLst xmlns:a="http://schemas.openxmlformats.org/drawingml/2006/main">
              <a:ext uri="{FF2B5EF4-FFF2-40B4-BE49-F238E27FC236}">
                <a16:creationId xmlns:a16="http://schemas.microsoft.com/office/drawing/2014/main" id="{C289B356-D890-4AD0-801B-FEC871B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matrix-2-0">
            <a:extLst xmlns:a="http://schemas.openxmlformats.org/drawingml/2006/main">
              <a:ext uri="{FF2B5EF4-FFF2-40B4-BE49-F238E27FC236}">
                <a16:creationId xmlns:a16="http://schemas.microsoft.com/office/drawing/2014/main" id="{77DC0CCD-C5AA-457F-9F89-22F3357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matrix-2-1">
            <a:extLst xmlns:a="http://schemas.openxmlformats.org/drawingml/2006/main">
              <a:ext uri="{FF2B5EF4-FFF2-40B4-BE49-F238E27FC236}">
                <a16:creationId xmlns:a16="http://schemas.microsoft.com/office/drawing/2014/main" id="{0EFC1BEF-D779-4056-B18A-93C46E35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matrix-2-2">
            <a:extLst xmlns:a="http://schemas.openxmlformats.org/drawingml/2006/main">
              <a:ext uri="{FF2B5EF4-FFF2-40B4-BE49-F238E27FC236}">
                <a16:creationId xmlns:a16="http://schemas.microsoft.com/office/drawing/2014/main" id="{BA6F824D-2421-46C7-BAD7-B46B275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matrix-2-3">
            <a:extLst xmlns:a="http://schemas.openxmlformats.org/drawingml/2006/main">
              <a:ext uri="{FF2B5EF4-FFF2-40B4-BE49-F238E27FC236}">
                <a16:creationId xmlns:a16="http://schemas.microsoft.com/office/drawing/2014/main" id="{2B8D4DC3-6920-4B5C-84DE-5F914504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matrix-2-4">
            <a:extLst xmlns:a="http://schemas.openxmlformats.org/drawingml/2006/main">
              <a:ext uri="{FF2B5EF4-FFF2-40B4-BE49-F238E27FC236}">
                <a16:creationId xmlns:a16="http://schemas.microsoft.com/office/drawing/2014/main" id="{1B53D4E1-55DC-4DEE-ACA1-2A9F160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matrix-2-5">
            <a:extLst xmlns:a="http://schemas.openxmlformats.org/drawingml/2006/main">
              <a:ext uri="{FF2B5EF4-FFF2-40B4-BE49-F238E27FC236}">
                <a16:creationId xmlns:a16="http://schemas.microsoft.com/office/drawing/2014/main" id="{528F69FD-C4D3-49DC-97D3-5E1B59F0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matrix-2-6">
            <a:extLst xmlns:a="http://schemas.openxmlformats.org/drawingml/2006/main">
              <a:ext uri="{FF2B5EF4-FFF2-40B4-BE49-F238E27FC236}">
                <a16:creationId xmlns:a16="http://schemas.microsoft.com/office/drawing/2014/main" id="{909AE87E-D0BF-4730-B840-47D16546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matrix-2-7">
            <a:extLst xmlns:a="http://schemas.openxmlformats.org/drawingml/2006/main">
              <a:ext uri="{FF2B5EF4-FFF2-40B4-BE49-F238E27FC236}">
                <a16:creationId xmlns:a16="http://schemas.microsoft.com/office/drawing/2014/main" id="{AED5A614-BC85-4455-BB3E-5FEB3AA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matrix-2-8">
            <a:extLst xmlns:a="http://schemas.openxmlformats.org/drawingml/2006/main">
              <a:ext uri="{FF2B5EF4-FFF2-40B4-BE49-F238E27FC236}">
                <a16:creationId xmlns:a16="http://schemas.microsoft.com/office/drawing/2014/main" id="{C2F5513D-5E0F-4421-83F5-5B802A3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matrix-2-9">
            <a:extLst xmlns:a="http://schemas.openxmlformats.org/drawingml/2006/main">
              <a:ext uri="{FF2B5EF4-FFF2-40B4-BE49-F238E27FC236}">
                <a16:creationId xmlns:a16="http://schemas.microsoft.com/office/drawing/2014/main" id="{69EB9647-ACB2-4F5A-BEE3-60C3FBF7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matrix-2-10">
            <a:extLst xmlns:a="http://schemas.openxmlformats.org/drawingml/2006/main">
              <a:ext uri="{FF2B5EF4-FFF2-40B4-BE49-F238E27FC236}">
                <a16:creationId xmlns:a16="http://schemas.microsoft.com/office/drawing/2014/main" id="{853146F3-3ABD-43AF-B52B-B0A62C8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matrix-3-0">
            <a:extLst xmlns:a="http://schemas.openxmlformats.org/drawingml/2006/main">
              <a:ext uri="{FF2B5EF4-FFF2-40B4-BE49-F238E27FC236}">
                <a16:creationId xmlns:a16="http://schemas.microsoft.com/office/drawing/2014/main" id="{2AA8EBC4-06FE-4102-A26B-1A3B6C82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matrix-3-1">
            <a:extLst xmlns:a="http://schemas.openxmlformats.org/drawingml/2006/main">
              <a:ext uri="{FF2B5EF4-FFF2-40B4-BE49-F238E27FC236}">
                <a16:creationId xmlns:a16="http://schemas.microsoft.com/office/drawing/2014/main" id="{EBCA2C94-EEC0-422D-BDBB-0B1985C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matrix-3-2">
            <a:extLst xmlns:a="http://schemas.openxmlformats.org/drawingml/2006/main">
              <a:ext uri="{FF2B5EF4-FFF2-40B4-BE49-F238E27FC236}">
                <a16:creationId xmlns:a16="http://schemas.microsoft.com/office/drawing/2014/main" id="{8A8B7A51-05DF-4DCB-8848-E4F620E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matrix-3-3">
            <a:extLst xmlns:a="http://schemas.openxmlformats.org/drawingml/2006/main">
              <a:ext uri="{FF2B5EF4-FFF2-40B4-BE49-F238E27FC236}">
                <a16:creationId xmlns:a16="http://schemas.microsoft.com/office/drawing/2014/main" id="{6E46C591-6F8B-48C5-B582-C812D043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matrix-3-4">
            <a:extLst xmlns:a="http://schemas.openxmlformats.org/drawingml/2006/main">
              <a:ext uri="{FF2B5EF4-FFF2-40B4-BE49-F238E27FC236}">
                <a16:creationId xmlns:a16="http://schemas.microsoft.com/office/drawing/2014/main" id="{243AEECF-A09D-4F69-A139-AF0EEE2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matrix-3-5">
            <a:extLst xmlns:a="http://schemas.openxmlformats.org/drawingml/2006/main">
              <a:ext uri="{FF2B5EF4-FFF2-40B4-BE49-F238E27FC236}">
                <a16:creationId xmlns:a16="http://schemas.microsoft.com/office/drawing/2014/main" id="{075D1E61-84D1-4437-BEFB-FCE7E1A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matrix-3-6">
            <a:extLst xmlns:a="http://schemas.openxmlformats.org/drawingml/2006/main">
              <a:ext uri="{FF2B5EF4-FFF2-40B4-BE49-F238E27FC236}">
                <a16:creationId xmlns:a16="http://schemas.microsoft.com/office/drawing/2014/main" id="{BDC25FB9-D96E-40D6-BD08-E809346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matrix-3-7">
            <a:extLst xmlns:a="http://schemas.openxmlformats.org/drawingml/2006/main">
              <a:ext uri="{FF2B5EF4-FFF2-40B4-BE49-F238E27FC236}">
                <a16:creationId xmlns:a16="http://schemas.microsoft.com/office/drawing/2014/main" id="{9DD0960D-CCB9-4F82-A608-6A04A508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matrix-3-8">
            <a:extLst xmlns:a="http://schemas.openxmlformats.org/drawingml/2006/main">
              <a:ext uri="{FF2B5EF4-FFF2-40B4-BE49-F238E27FC236}">
                <a16:creationId xmlns:a16="http://schemas.microsoft.com/office/drawing/2014/main" id="{2F558D96-FE9A-4BEF-ABEF-F02276F3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matrix-3-9">
            <a:extLst xmlns:a="http://schemas.openxmlformats.org/drawingml/2006/main">
              <a:ext uri="{FF2B5EF4-FFF2-40B4-BE49-F238E27FC236}">
                <a16:creationId xmlns:a16="http://schemas.microsoft.com/office/drawing/2014/main" id="{4030E19D-6BB0-40F8-A346-EF5014E6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matrix-3-10">
            <a:extLst xmlns:a="http://schemas.openxmlformats.org/drawingml/2006/main">
              <a:ext uri="{FF2B5EF4-FFF2-40B4-BE49-F238E27FC236}">
                <a16:creationId xmlns:a16="http://schemas.microsoft.com/office/drawing/2014/main" id="{AAB63A21-8CDF-4AB7-864A-5B35ED08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matrix-4-0">
            <a:extLst xmlns:a="http://schemas.openxmlformats.org/drawingml/2006/main">
              <a:ext uri="{FF2B5EF4-FFF2-40B4-BE49-F238E27FC236}">
                <a16:creationId xmlns:a16="http://schemas.microsoft.com/office/drawing/2014/main" id="{A7218B16-0F0A-45CA-A40C-CBA6378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matrix-4-1">
            <a:extLst xmlns:a="http://schemas.openxmlformats.org/drawingml/2006/main">
              <a:ext uri="{FF2B5EF4-FFF2-40B4-BE49-F238E27FC236}">
                <a16:creationId xmlns:a16="http://schemas.microsoft.com/office/drawing/2014/main" id="{DFBA88DC-63CC-45F9-B189-51C85D2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matrix-4-2">
            <a:extLst xmlns:a="http://schemas.openxmlformats.org/drawingml/2006/main">
              <a:ext uri="{FF2B5EF4-FFF2-40B4-BE49-F238E27FC236}">
                <a16:creationId xmlns:a16="http://schemas.microsoft.com/office/drawing/2014/main" id="{F1147F16-2BD9-426E-9926-DDE00028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matrix-4-3">
            <a:extLst xmlns:a="http://schemas.openxmlformats.org/drawingml/2006/main">
              <a:ext uri="{FF2B5EF4-FFF2-40B4-BE49-F238E27FC236}">
                <a16:creationId xmlns:a16="http://schemas.microsoft.com/office/drawing/2014/main" id="{62ECD117-0C10-4558-B48C-E369E5B1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matrix-4-4">
            <a:extLst xmlns:a="http://schemas.openxmlformats.org/drawingml/2006/main">
              <a:ext uri="{FF2B5EF4-FFF2-40B4-BE49-F238E27FC236}">
                <a16:creationId xmlns:a16="http://schemas.microsoft.com/office/drawing/2014/main" id="{6EA4053F-C1F7-4E69-B0D4-52A80714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matrix-4-5">
            <a:extLst xmlns:a="http://schemas.openxmlformats.org/drawingml/2006/main">
              <a:ext uri="{FF2B5EF4-FFF2-40B4-BE49-F238E27FC236}">
                <a16:creationId xmlns:a16="http://schemas.microsoft.com/office/drawing/2014/main" id="{4C0EF174-628E-4698-A0B0-7119ACEF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matrix-4-6">
            <a:extLst xmlns:a="http://schemas.openxmlformats.org/drawingml/2006/main">
              <a:ext uri="{FF2B5EF4-FFF2-40B4-BE49-F238E27FC236}">
                <a16:creationId xmlns:a16="http://schemas.microsoft.com/office/drawing/2014/main" id="{8C00BCCF-C72F-448B-B06E-99DE4394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matrix-4-7">
            <a:extLst xmlns:a="http://schemas.openxmlformats.org/drawingml/2006/main">
              <a:ext uri="{FF2B5EF4-FFF2-40B4-BE49-F238E27FC236}">
                <a16:creationId xmlns:a16="http://schemas.microsoft.com/office/drawing/2014/main" id="{52CAEEE3-F6D3-43A7-BEAF-5579473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matrix-4-8">
            <a:extLst xmlns:a="http://schemas.openxmlformats.org/drawingml/2006/main">
              <a:ext uri="{FF2B5EF4-FFF2-40B4-BE49-F238E27FC236}">
                <a16:creationId xmlns:a16="http://schemas.microsoft.com/office/drawing/2014/main" id="{1B9639B0-0860-4939-A31A-84A7587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matrix-4-9">
            <a:extLst xmlns:a="http://schemas.openxmlformats.org/drawingml/2006/main">
              <a:ext uri="{FF2B5EF4-FFF2-40B4-BE49-F238E27FC236}">
                <a16:creationId xmlns:a16="http://schemas.microsoft.com/office/drawing/2014/main" id="{F9A525F2-42B3-4254-AEB3-37C6880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matrix-4-10">
            <a:extLst xmlns:a="http://schemas.openxmlformats.org/drawingml/2006/main">
              <a:ext uri="{FF2B5EF4-FFF2-40B4-BE49-F238E27FC236}">
                <a16:creationId xmlns:a16="http://schemas.microsoft.com/office/drawing/2014/main" id="{4ADCD736-D730-4452-B07B-817AE6C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matrix-5-0">
            <a:extLst xmlns:a="http://schemas.openxmlformats.org/drawingml/2006/main">
              <a:ext uri="{FF2B5EF4-FFF2-40B4-BE49-F238E27FC236}">
                <a16:creationId xmlns:a16="http://schemas.microsoft.com/office/drawing/2014/main" id="{2C2F7732-2B44-4D46-B888-E0395F8B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matrix-5-1">
            <a:extLst xmlns:a="http://schemas.openxmlformats.org/drawingml/2006/main">
              <a:ext uri="{FF2B5EF4-FFF2-40B4-BE49-F238E27FC236}">
                <a16:creationId xmlns:a16="http://schemas.microsoft.com/office/drawing/2014/main" id="{BAAA1430-5913-47EA-A5E7-5DB47E16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matrix-5-2">
            <a:extLst xmlns:a="http://schemas.openxmlformats.org/drawingml/2006/main">
              <a:ext uri="{FF2B5EF4-FFF2-40B4-BE49-F238E27FC236}">
                <a16:creationId xmlns:a16="http://schemas.microsoft.com/office/drawing/2014/main" id="{9ECDF847-8294-4AA2-99A7-F318806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matrix-5-3">
            <a:extLst xmlns:a="http://schemas.openxmlformats.org/drawingml/2006/main">
              <a:ext uri="{FF2B5EF4-FFF2-40B4-BE49-F238E27FC236}">
                <a16:creationId xmlns:a16="http://schemas.microsoft.com/office/drawing/2014/main" id="{312BBEC3-1795-482B-A4B0-8ED90B89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matrix-5-4">
            <a:extLst xmlns:a="http://schemas.openxmlformats.org/drawingml/2006/main">
              <a:ext uri="{FF2B5EF4-FFF2-40B4-BE49-F238E27FC236}">
                <a16:creationId xmlns:a16="http://schemas.microsoft.com/office/drawing/2014/main" id="{24A37D9F-C733-4167-BD7B-FC0CDE7F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matrix-5-5">
            <a:extLst xmlns:a="http://schemas.openxmlformats.org/drawingml/2006/main">
              <a:ext uri="{FF2B5EF4-FFF2-40B4-BE49-F238E27FC236}">
                <a16:creationId xmlns:a16="http://schemas.microsoft.com/office/drawing/2014/main" id="{52FEF3EC-5669-448E-9433-036CD8B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atrix-5-6">
            <a:extLst xmlns:a="http://schemas.openxmlformats.org/drawingml/2006/main">
              <a:ext uri="{FF2B5EF4-FFF2-40B4-BE49-F238E27FC236}">
                <a16:creationId xmlns:a16="http://schemas.microsoft.com/office/drawing/2014/main" id="{B7CE70EB-7F65-41BB-AFEF-06918765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matrix-5-7">
            <a:extLst xmlns:a="http://schemas.openxmlformats.org/drawingml/2006/main">
              <a:ext uri="{FF2B5EF4-FFF2-40B4-BE49-F238E27FC236}">
                <a16:creationId xmlns:a16="http://schemas.microsoft.com/office/drawing/2014/main" id="{7E639FE6-1A7D-4283-AF38-A16D3587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atrix-5-8">
            <a:extLst xmlns:a="http://schemas.openxmlformats.org/drawingml/2006/main">
              <a:ext uri="{FF2B5EF4-FFF2-40B4-BE49-F238E27FC236}">
                <a16:creationId xmlns:a16="http://schemas.microsoft.com/office/drawing/2014/main" id="{0DC15292-BF78-4BF8-9585-D433EB0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matrix-5-9">
            <a:extLst xmlns:a="http://schemas.openxmlformats.org/drawingml/2006/main">
              <a:ext uri="{FF2B5EF4-FFF2-40B4-BE49-F238E27FC236}">
                <a16:creationId xmlns:a16="http://schemas.microsoft.com/office/drawing/2014/main" id="{B856D40F-0728-4C4B-9A0B-CF9C8F65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atrix-5-10">
            <a:extLst xmlns:a="http://schemas.openxmlformats.org/drawingml/2006/main">
              <a:ext uri="{FF2B5EF4-FFF2-40B4-BE49-F238E27FC236}">
                <a16:creationId xmlns:a16="http://schemas.microsoft.com/office/drawing/2014/main" id="{38252CD0-CA76-4939-A00F-9063B389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label-Adhesion">
            <a:extLst xmlns:a="http://schemas.openxmlformats.org/drawingml/2006/main">
              <a:ext uri="{FF2B5EF4-FFF2-40B4-BE49-F238E27FC236}">
                <a16:creationId xmlns:a16="http://schemas.microsoft.com/office/drawing/2014/main" id="{A2E06046-42A4-4C0C-B149-F0088E92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label-508-385-110-21">
            <a:extLst xmlns:a="http://schemas.openxmlformats.org/drawingml/2006/main">
              <a:ext uri="{FF2B5EF4-FFF2-40B4-BE49-F238E27FC236}">
                <a16:creationId xmlns:a16="http://schemas.microsoft.com/office/drawing/2014/main" id="{0E654F79-1D7F-437F-925B-8CA2021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6712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Adhesion</a:t>
            </a:r>
          </a:p>
        </p:txBody>
      </p:sp>
      <p:sp>
        <p:nvSpPr>
          <p:cNvPr id="91" name="label-Iron acquisition">
            <a:extLst xmlns:a="http://schemas.openxmlformats.org/drawingml/2006/main">
              <a:ext uri="{FF2B5EF4-FFF2-40B4-BE49-F238E27FC236}">
                <a16:creationId xmlns:a16="http://schemas.microsoft.com/office/drawing/2014/main" id="{E990CF69-0B11-4988-AE6E-B8E10A7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label-653-385-110-21">
            <a:extLst xmlns:a="http://schemas.openxmlformats.org/drawingml/2006/main">
              <a:ext uri="{FF2B5EF4-FFF2-40B4-BE49-F238E27FC236}">
                <a16:creationId xmlns:a16="http://schemas.microsoft.com/office/drawing/2014/main" id="{E6296E91-9FDB-4085-B271-98F679A5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6712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Iron acquisition</a:t>
            </a:r>
          </a:p>
        </p:txBody>
      </p:sp>
      <p:sp>
        <p:nvSpPr>
          <p:cNvPr id="93" name="label-Secretion">
            <a:extLst xmlns:a="http://schemas.openxmlformats.org/drawingml/2006/main">
              <a:ext uri="{FF2B5EF4-FFF2-40B4-BE49-F238E27FC236}">
                <a16:creationId xmlns:a16="http://schemas.microsoft.com/office/drawing/2014/main" id="{FEB1AD36-359C-4CC1-BA9F-A053A91B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label-508-430-110-21">
            <a:extLst xmlns:a="http://schemas.openxmlformats.org/drawingml/2006/main">
              <a:ext uri="{FF2B5EF4-FFF2-40B4-BE49-F238E27FC236}">
                <a16:creationId xmlns:a16="http://schemas.microsoft.com/office/drawing/2014/main" id="{4766F105-7D3D-454A-9E2B-DA568FA5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Secretion</a:t>
            </a:r>
          </a:p>
        </p:txBody>
      </p:sp>
      <p:sp>
        <p:nvSpPr>
          <p:cNvPr id="95" name="label-Toxin">
            <a:extLst xmlns:a="http://schemas.openxmlformats.org/drawingml/2006/main">
              <a:ext uri="{FF2B5EF4-FFF2-40B4-BE49-F238E27FC236}">
                <a16:creationId xmlns:a16="http://schemas.microsoft.com/office/drawing/2014/main" id="{7DCCA458-A5EC-4703-832A-65570916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48125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label-653-430-110-21">
            <a:extLst xmlns:a="http://schemas.openxmlformats.org/drawingml/2006/main">
              <a:ext uri="{FF2B5EF4-FFF2-40B4-BE49-F238E27FC236}">
                <a16:creationId xmlns:a16="http://schemas.microsoft.com/office/drawing/2014/main" id="{2170AE58-B9E0-4C6D-BEA4-6F14C43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Toxin</a:t>
            </a:r>
          </a:p>
        </p:txBody>
      </p:sp>
      <p:sp>
        <p:nvSpPr>
          <p:cNvPr id="97" name="label-Capsule">
            <a:extLst xmlns:a="http://schemas.openxmlformats.org/drawingml/2006/main">
              <a:ext uri="{FF2B5EF4-FFF2-40B4-BE49-F238E27FC236}">
                <a16:creationId xmlns:a16="http://schemas.microsoft.com/office/drawing/2014/main" id="{B76ECF2E-BE22-4D24-8E26-FDE9A3A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label-508-475-110-21">
            <a:extLst xmlns:a="http://schemas.openxmlformats.org/drawingml/2006/main">
              <a:ext uri="{FF2B5EF4-FFF2-40B4-BE49-F238E27FC236}">
                <a16:creationId xmlns:a16="http://schemas.microsoft.com/office/drawing/2014/main" id="{9AA795BB-8F77-4758-8AA4-F897A19A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2437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Capsule</a:t>
            </a:r>
          </a:p>
        </p:txBody>
      </p:sp>
      <p:sp>
        <p:nvSpPr>
          <p:cNvPr id="99" name="label-Unassigned">
            <a:extLst xmlns:a="http://schemas.openxmlformats.org/drawingml/2006/main">
              <a:ext uri="{FF2B5EF4-FFF2-40B4-BE49-F238E27FC236}">
                <a16:creationId xmlns:a16="http://schemas.microsoft.com/office/drawing/2014/main" id="{DD4CB738-0F79-44A5-B4F3-051C059F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7675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label-653-475-110-21">
            <a:extLst xmlns:a="http://schemas.openxmlformats.org/drawingml/2006/main">
              <a:ext uri="{FF2B5EF4-FFF2-40B4-BE49-F238E27FC236}">
                <a16:creationId xmlns:a16="http://schemas.microsoft.com/office/drawing/2014/main" id="{7A9E8BDD-ECEC-4D06-B436-A39C11B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2437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101" name="card-Interpretation caution">
            <a:extLst xmlns:a="http://schemas.openxmlformats.org/drawingml/2006/main">
              <a:ext uri="{FF2B5EF4-FFF2-40B4-BE49-F238E27FC236}">
                <a16:creationId xmlns:a16="http://schemas.microsoft.com/office/drawing/2014/main" id="{5EC4DE5A-0442-4994-83EF-DC465A40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905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02" name="heading-916-388-273-26">
            <a:extLst xmlns:a="http://schemas.openxmlformats.org/drawingml/2006/main">
              <a:ext uri="{FF2B5EF4-FFF2-40B4-BE49-F238E27FC236}">
                <a16:creationId xmlns:a16="http://schemas.microsoft.com/office/drawing/2014/main" id="{BC0756D8-5D88-4705-BF75-208053B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600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Interpretation caution</a:t>
            </a:r>
          </a:p>
        </p:txBody>
      </p:sp>
      <p:sp>
        <p:nvSpPr>
          <p:cNvPr id="103" name="body-916-420-273-83">
            <a:extLst xmlns:a="http://schemas.openxmlformats.org/drawingml/2006/main">
              <a:ext uri="{FF2B5EF4-FFF2-40B4-BE49-F238E27FC236}">
                <a16:creationId xmlns:a16="http://schemas.microsoft.com/office/drawing/2014/main" id="{D88C7B1D-E4F3-49DE-9EEE-4640FC72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003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 presence does not establish expression, activity, disease mechanism, or a causal clinical-state effect.</a:t>
            </a:r>
          </a:p>
        </p:txBody>
      </p:sp>
      <p:sp>
        <p:nvSpPr>
          <p:cNvPr id="104" name="label-Descriptive feature framework">
            <a:extLst xmlns:a="http://schemas.openxmlformats.org/drawingml/2006/main">
              <a:ext uri="{FF2B5EF4-FFF2-40B4-BE49-F238E27FC236}">
                <a16:creationId xmlns:a16="http://schemas.microsoft.com/office/drawing/2014/main" id="{1BFCF23E-989E-4E88-B49A-5B55B4A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label-528-563-224-22">
            <a:extLst xmlns:a="http://schemas.openxmlformats.org/drawingml/2006/main">
              <a:ext uri="{FF2B5EF4-FFF2-40B4-BE49-F238E27FC236}">
                <a16:creationId xmlns:a16="http://schemas.microsoft.com/office/drawing/2014/main" id="{446A90AF-12CF-4DEE-A2DB-55DD4552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625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Descriptive feature framework</a:t>
            </a:r>
          </a:p>
        </p:txBody>
      </p:sp>
    </p:spTree>
    <p:extLst>
      <p:ext uri="{BB962C8B-B14F-4D97-AF65-F5344CB8AC3E}">
        <p14:creationId xmlns:p14="http://schemas.microsoft.com/office/powerpoint/2010/main" val="3229136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15164A8-152E-47B8-9FF9-474C2C2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22EB4F9F-481F-4646-8FC0-228286F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D6D100E-C2D5-48D1-B73C-4FC0B52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REPERTOIRE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2CF011-C259-4EB4-BBD6-C382C4CC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Common VF genes describe the observed repertoire, not disease association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AE0E669-713F-496F-B607-882F2B2B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Prevalence across 532 selected episode-level genomes.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32CB402-E18E-4C4F-A424-E919C72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F3DE71-8B7E-436E-B17E-F09F48AC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079C1A7-F19A-4891-9453-60ECB74B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D18462-F1E4-4FFB-9AFB-323152D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figure-frame-vf_top_gene_prevalence.png">
            <a:extLst xmlns:a="http://schemas.openxmlformats.org/drawingml/2006/main">
              <a:ext uri="{FF2B5EF4-FFF2-40B4-BE49-F238E27FC236}">
                <a16:creationId xmlns:a16="http://schemas.microsoft.com/office/drawing/2014/main" id="{816B9733-59F3-4ACD-BBFE-45A4B40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4aad187b6469f"/>
          <a:stretch xmlns:a="http://schemas.openxmlformats.org/drawingml/2006/main"/>
        </p:blipFill>
        <p:spPr>
          <a:xfrm xmlns:a="http://schemas.openxmlformats.org/drawingml/2006/main">
            <a:off x="2853267" y="1504950"/>
            <a:ext cx="4047067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Read as">
            <a:extLst xmlns:a="http://schemas.openxmlformats.org/drawingml/2006/main">
              <a:ext uri="{FF2B5EF4-FFF2-40B4-BE49-F238E27FC236}">
                <a16:creationId xmlns:a16="http://schemas.microsoft.com/office/drawing/2014/main" id="{3E219B16-B2ED-463C-9F0F-7EF219ED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905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3" name="heading-1016-206-168-26">
            <a:extLst xmlns:a="http://schemas.openxmlformats.org/drawingml/2006/main">
              <a:ext uri="{FF2B5EF4-FFF2-40B4-BE49-F238E27FC236}">
                <a16:creationId xmlns:a16="http://schemas.microsoft.com/office/drawing/2014/main" id="{D03DC657-87E7-45B0-88B2-47D4D16C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621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Read as</a:t>
            </a:r>
          </a:p>
        </p:txBody>
      </p:sp>
      <p:sp>
        <p:nvSpPr>
          <p:cNvPr id="14" name="body-1016-238-168-120">
            <a:extLst xmlns:a="http://schemas.openxmlformats.org/drawingml/2006/main">
              <a:ext uri="{FF2B5EF4-FFF2-40B4-BE49-F238E27FC236}">
                <a16:creationId xmlns:a16="http://schemas.microsoft.com/office/drawing/2014/main" id="{0349BFB6-40A6-4840-A3B0-9A2B94CC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Descriptive prevalence ranking only. Gene presence does not imply expression, activity, or UTI association.</a:t>
            </a:r>
          </a:p>
        </p:txBody>
      </p:sp>
      <p:sp>
        <p:nvSpPr>
          <p:cNvPr id="15" name="label-Descriptive">
            <a:extLst xmlns:a="http://schemas.openxmlformats.org/drawingml/2006/main">
              <a:ext uri="{FF2B5EF4-FFF2-40B4-BE49-F238E27FC236}">
                <a16:creationId xmlns:a16="http://schemas.microsoft.com/office/drawing/2014/main" id="{11105D84-301D-47D7-94ED-CB2CE9D9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bel-1026-411-148-22">
            <a:extLst xmlns:a="http://schemas.openxmlformats.org/drawingml/2006/main">
              <a:ext uri="{FF2B5EF4-FFF2-40B4-BE49-F238E27FC236}">
                <a16:creationId xmlns:a16="http://schemas.microsoft.com/office/drawing/2014/main" id="{4CBDEA49-F0D8-427D-8DB1-4A998F9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147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</p:spTree>
    <p:extLst>
      <p:ext uri="{BB962C8B-B14F-4D97-AF65-F5344CB8AC3E}">
        <p14:creationId xmlns:p14="http://schemas.microsoft.com/office/powerpoint/2010/main" val="7105014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B81AD45-98A2-4C5A-9D02-DB102C8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EDC0B8D-DF43-45D4-81AE-B3BEE667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BA04D55-35C2-4835-90A8-4A7BD8A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FRAMEWORK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ADF626-B354-4F88-A866-7D3ADBE6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Curated modules organise genes into interpretable biological systems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2B5483D-6F97-4816-8CE0-307E83F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Modules are navigation units; they are not validated disease-causality scores.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F09F61B-4E1B-46A4-B689-73C60811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835259-7028-43F1-A015-868EDCF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1053342-A300-41B2-BF7B-B19C5722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EB79D2-49D2-47DC-8A7F-E2D546DD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figure-frame-module_gene_counts.png">
            <a:extLst xmlns:a="http://schemas.openxmlformats.org/drawingml/2006/main">
              <a:ext uri="{FF2B5EF4-FFF2-40B4-BE49-F238E27FC236}">
                <a16:creationId xmlns:a16="http://schemas.microsoft.com/office/drawing/2014/main" id="{22D29A46-25BA-4F7F-8D8F-94709FA8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6106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6ffa95e7746f0"/>
          <a:stretch xmlns:a="http://schemas.openxmlformats.org/drawingml/2006/main"/>
        </p:blipFill>
        <p:spPr>
          <a:xfrm xmlns:a="http://schemas.openxmlformats.org/drawingml/2006/main">
            <a:off x="2457847" y="1504950"/>
            <a:ext cx="4742656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Why it matters">
            <a:extLst xmlns:a="http://schemas.openxmlformats.org/drawingml/2006/main">
              <a:ext uri="{FF2B5EF4-FFF2-40B4-BE49-F238E27FC236}">
                <a16:creationId xmlns:a16="http://schemas.microsoft.com/office/drawing/2014/main" id="{99F09D3A-E289-4F3F-B86B-7218B1E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20383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3" name="heading-1004-204-182-26">
            <a:extLst xmlns:a="http://schemas.openxmlformats.org/drawingml/2006/main">
              <a:ext uri="{FF2B5EF4-FFF2-40B4-BE49-F238E27FC236}">
                <a16:creationId xmlns:a16="http://schemas.microsoft.com/office/drawing/2014/main" id="{C529E446-B438-499A-B127-A59E7E5D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4" name="body-1004-236-182-142">
            <a:extLst xmlns:a="http://schemas.openxmlformats.org/drawingml/2006/main">
              <a:ext uri="{FF2B5EF4-FFF2-40B4-BE49-F238E27FC236}">
                <a16:creationId xmlns:a16="http://schemas.microsoft.com/office/drawing/2014/main" id="{5662E019-420D-4818-913D-07FC8C79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1733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module framework structures descriptive repertoire and longitudinal summaries while retaining the binary gene evidence.</a:t>
            </a:r>
          </a:p>
        </p:txBody>
      </p:sp>
    </p:spTree>
    <p:extLst>
      <p:ext uri="{BB962C8B-B14F-4D97-AF65-F5344CB8AC3E}">
        <p14:creationId xmlns:p14="http://schemas.microsoft.com/office/powerpoint/2010/main" val="1694319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7A79094-3916-4551-A965-06283E22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4149AC5-6C97-40D5-9D14-FC6DB2E6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0191ACC-E405-409A-BF69-8D0E883C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LONGITUDINAL DENOMINATOR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E70C6C-C763-4CED-BAB2-205FED1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Direct pairs and adjacent transitions answer different questions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5248912-DF05-45F2-95FE-19DBA826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transition layer is temporally ordered; the direct-pair layer describes the wider repeated-isolate network.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211F18A-D245-4AF1-B059-F0B20210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D29261-D769-4680-84D0-6DD43A1A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0E014B3-0E96-4F7D-A4C1-315142A2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1019E7-16BE-43A7-A231-C82AB75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metric-all direct within-resident pairs">
            <a:extLst xmlns:a="http://schemas.openxmlformats.org/drawingml/2006/main">
              <a:ext uri="{FF2B5EF4-FFF2-40B4-BE49-F238E27FC236}">
                <a16:creationId xmlns:a16="http://schemas.microsoft.com/office/drawing/2014/main" id="{EAF374B1-C1DC-4E50-8308-0B34347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heading-124-202-220-31">
            <a:extLst xmlns:a="http://schemas.openxmlformats.org/drawingml/2006/main">
              <a:ext uri="{FF2B5EF4-FFF2-40B4-BE49-F238E27FC236}">
                <a16:creationId xmlns:a16="http://schemas.microsoft.com/office/drawing/2014/main" id="{3DAC0573-96CA-482A-AB2E-A894A8D6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893</a:t>
            </a:r>
          </a:p>
        </p:txBody>
      </p:sp>
      <p:sp>
        <p:nvSpPr>
          <p:cNvPr id="12" name="body-124-240-220-50">
            <a:extLst xmlns:a="http://schemas.openxmlformats.org/drawingml/2006/main">
              <a:ext uri="{FF2B5EF4-FFF2-40B4-BE49-F238E27FC236}">
                <a16:creationId xmlns:a16="http://schemas.microsoft.com/office/drawing/2014/main" id="{92DE25A3-2CDE-49FC-992F-618A6DE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all direct within-resident pairs</a:t>
            </a:r>
          </a:p>
        </p:txBody>
      </p:sp>
      <p:sp>
        <p:nvSpPr>
          <p:cNvPr id="13" name="metric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CE5D263E-72EA-47E8-8A13-28E20CFF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heading-530-202-220-31">
            <a:extLst xmlns:a="http://schemas.openxmlformats.org/drawingml/2006/main">
              <a:ext uri="{FF2B5EF4-FFF2-40B4-BE49-F238E27FC236}">
                <a16:creationId xmlns:a16="http://schemas.microsoft.com/office/drawing/2014/main" id="{D4B90EDF-7E6B-4412-BFEF-CF57C247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15" name="body-530-240-220-50">
            <a:extLst xmlns:a="http://schemas.openxmlformats.org/drawingml/2006/main">
              <a:ext uri="{FF2B5EF4-FFF2-40B4-BE49-F238E27FC236}">
                <a16:creationId xmlns:a16="http://schemas.microsoft.com/office/drawing/2014/main" id="{F7572A23-9B12-4840-9711-03F9F7C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16" name="metric-residents with 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03539179-7D6F-4D18-BCC8-57452DC5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heading-936-202-220-31">
            <a:extLst xmlns:a="http://schemas.openxmlformats.org/drawingml/2006/main">
              <a:ext uri="{FF2B5EF4-FFF2-40B4-BE49-F238E27FC236}">
                <a16:creationId xmlns:a16="http://schemas.microsoft.com/office/drawing/2014/main" id="{9398DD97-C911-4BF3-AEA2-B4FC15B9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139</a:t>
            </a:r>
          </a:p>
        </p:txBody>
      </p:sp>
      <p:sp>
        <p:nvSpPr>
          <p:cNvPr id="18" name="body-936-240-220-50">
            <a:extLst xmlns:a="http://schemas.openxmlformats.org/drawingml/2006/main">
              <a:ext uri="{FF2B5EF4-FFF2-40B4-BE49-F238E27FC236}">
                <a16:creationId xmlns:a16="http://schemas.microsoft.com/office/drawing/2014/main" id="{75F62847-2B1A-4EF5-8409-15BD8F6A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 with adjacent transitions</a:t>
            </a:r>
          </a:p>
        </p:txBody>
      </p:sp>
      <p:sp>
        <p:nvSpPr>
          <p:cNvPr id="19" name="card-Broad profile question">
            <a:extLst xmlns:a="http://schemas.openxmlformats.org/drawingml/2006/main">
              <a:ext uri="{FF2B5EF4-FFF2-40B4-BE49-F238E27FC236}">
                <a16:creationId xmlns:a16="http://schemas.microsoft.com/office/drawing/2014/main" id="{D21AF4EB-C340-49F3-AA65-B0F63FFA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20" name="heading-130-386-318-26">
            <a:extLst xmlns:a="http://schemas.openxmlformats.org/drawingml/2006/main">
              <a:ext uri="{FF2B5EF4-FFF2-40B4-BE49-F238E27FC236}">
                <a16:creationId xmlns:a16="http://schemas.microsoft.com/office/drawing/2014/main" id="{D1887F2F-50F6-4038-BD9F-277F3D4B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Broad profile question</a:t>
            </a:r>
          </a:p>
        </p:txBody>
      </p:sp>
      <p:sp>
        <p:nvSpPr>
          <p:cNvPr id="21" name="body-130-418-318-88">
            <a:extLst xmlns:a="http://schemas.openxmlformats.org/drawingml/2006/main">
              <a:ext uri="{FF2B5EF4-FFF2-40B4-BE49-F238E27FC236}">
                <a16:creationId xmlns:a16="http://schemas.microsoft.com/office/drawing/2014/main" id="{29DF439B-AF1D-4576-81FD-2D00BD7C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all direct pairs to describe how similar episode-level VF profiles are across the available within-resident history.</a:t>
            </a:r>
          </a:p>
        </p:txBody>
      </p:sp>
      <p:sp>
        <p:nvSpPr>
          <p:cNvPr id="22" name="card-Temporal transition question">
            <a:extLst xmlns:a="http://schemas.openxmlformats.org/drawingml/2006/main">
              <a:ext uri="{FF2B5EF4-FFF2-40B4-BE49-F238E27FC236}">
                <a16:creationId xmlns:a16="http://schemas.microsoft.com/office/drawing/2014/main" id="{E6816C4F-6197-4CE0-B175-8F481B08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23" name="heading-506-386-318-26">
            <a:extLst xmlns:a="http://schemas.openxmlformats.org/drawingml/2006/main">
              <a:ext uri="{FF2B5EF4-FFF2-40B4-BE49-F238E27FC236}">
                <a16:creationId xmlns:a16="http://schemas.microsoft.com/office/drawing/2014/main" id="{349A81C8-6397-42F1-ACA3-B1053A8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766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Temporal transition question</a:t>
            </a:r>
          </a:p>
        </p:txBody>
      </p:sp>
      <p:sp>
        <p:nvSpPr>
          <p:cNvPr id="24" name="body-506-418-318-88">
            <a:extLst xmlns:a="http://schemas.openxmlformats.org/drawingml/2006/main">
              <a:ext uri="{FF2B5EF4-FFF2-40B4-BE49-F238E27FC236}">
                <a16:creationId xmlns:a16="http://schemas.microsoft.com/office/drawing/2014/main" id="{F8529306-E16E-4704-B150-6E3EE0D9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adjacent transitions when asking what changed between successive observed episodes.</a:t>
            </a:r>
          </a:p>
        </p:txBody>
      </p:sp>
      <p:sp>
        <p:nvSpPr>
          <p:cNvPr id="25" name="card-Genome-distance context">
            <a:extLst xmlns:a="http://schemas.openxmlformats.org/drawingml/2006/main">
              <a:ext uri="{FF2B5EF4-FFF2-40B4-BE49-F238E27FC236}">
                <a16:creationId xmlns:a16="http://schemas.microsoft.com/office/drawing/2014/main" id="{C5327C9A-B285-4A8E-8FED-CEC5314C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6" name="heading-882-386-268-26">
            <a:extLst xmlns:a="http://schemas.openxmlformats.org/drawingml/2006/main">
              <a:ext uri="{FF2B5EF4-FFF2-40B4-BE49-F238E27FC236}">
                <a16:creationId xmlns:a16="http://schemas.microsoft.com/office/drawing/2014/main" id="{3BEE70F1-9A13-4677-A155-157D39F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Genome-distance context</a:t>
            </a:r>
          </a:p>
        </p:txBody>
      </p:sp>
      <p:sp>
        <p:nvSpPr>
          <p:cNvPr id="27" name="body-882-418-268-88">
            <a:extLst xmlns:a="http://schemas.openxmlformats.org/drawingml/2006/main">
              <a:ext uri="{FF2B5EF4-FFF2-40B4-BE49-F238E27FC236}">
                <a16:creationId xmlns:a16="http://schemas.microsoft.com/office/drawing/2014/main" id="{21136EE9-5E9A-42F3-8BC1-748D0ED2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2552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140 of 371 adjacent transitions are at or below the operational 25-SNP threshold.</a:t>
            </a:r>
          </a:p>
        </p:txBody>
      </p:sp>
    </p:spTree>
    <p:extLst>
      <p:ext uri="{BB962C8B-B14F-4D97-AF65-F5344CB8AC3E}">
        <p14:creationId xmlns:p14="http://schemas.microsoft.com/office/powerpoint/2010/main" val="9550694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9EBB486-5D96-4022-8A5F-9A8DC91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DB777D8-2CDD-41D6-A4F8-6F6FABA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3F795F4-EC8A-45E1-ACBC-4C9343F6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LONGITUDINAL CHANGE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6B0221-70EF-41D6-B5EC-DBFF1A5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Gain/loss summaries flag candidates for follow-up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A4F05DE-F748-43A5-9423-E5BE5BB2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Observed changes are reported on 371 adjacent transitions and require lineage plus genome-distance context.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A2722E3-B41A-4C5D-BE48-6D3F6670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5FE53B-CF42-4068-85E7-B1B1AC44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96CF5E9-176A-42D0-A51F-B4B3D723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61C5E8-A8CC-43C3-9AB1-42BAC2A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figure-frame-vf_gene_gain_loss_consecutive_pairs.png">
            <a:extLst xmlns:a="http://schemas.openxmlformats.org/drawingml/2006/main">
              <a:ext uri="{FF2B5EF4-FFF2-40B4-BE49-F238E27FC236}">
                <a16:creationId xmlns:a16="http://schemas.microsoft.com/office/drawing/2014/main" id="{D4DA6945-063B-4C3A-9861-819C0AE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38275"/>
            <a:ext cx="97536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12863694e4c7b"/>
          <a:stretch xmlns:a="http://schemas.openxmlformats.org/drawingml/2006/main"/>
        </p:blipFill>
        <p:spPr>
          <a:xfrm xmlns:a="http://schemas.openxmlformats.org/drawingml/2006/main">
            <a:off x="2110468" y="1504950"/>
            <a:ext cx="6504214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Caution">
            <a:extLst xmlns:a="http://schemas.openxmlformats.org/drawingml/2006/main">
              <a:ext uri="{FF2B5EF4-FFF2-40B4-BE49-F238E27FC236}">
                <a16:creationId xmlns:a16="http://schemas.microsoft.com/office/drawing/2014/main" id="{3D79E311-2CDC-4D9F-A7D1-9E58769B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90700"/>
            <a:ext cx="1219200" cy="20955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108-204-96-26">
            <a:extLst xmlns:a="http://schemas.openxmlformats.org/drawingml/2006/main">
              <a:ext uri="{FF2B5EF4-FFF2-40B4-BE49-F238E27FC236}">
                <a16:creationId xmlns:a16="http://schemas.microsoft.com/office/drawing/2014/main" id="{C4A95BA3-B542-47F1-97D7-9FD14D7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43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14" name="body-1108-236-96-158">
            <a:extLst xmlns:a="http://schemas.openxmlformats.org/drawingml/2006/main">
              <a:ext uri="{FF2B5EF4-FFF2-40B4-BE49-F238E27FC236}">
                <a16:creationId xmlns:a16="http://schemas.microsoft.com/office/drawing/2014/main" id="{4F607D55-EAFF-4C65-80CD-007437A4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47900"/>
            <a:ext cx="914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Change may reflect lineage replacement, calling differences, or true gene-content change.</a:t>
            </a:r>
          </a:p>
        </p:txBody>
      </p:sp>
    </p:spTree>
    <p:extLst>
      <p:ext uri="{BB962C8B-B14F-4D97-AF65-F5344CB8AC3E}">
        <p14:creationId xmlns:p14="http://schemas.microsoft.com/office/powerpoint/2010/main" val="19261474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BB2999E-7A18-4057-8E3A-596A374E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6D16D4D-7665-46BE-9A4E-1AAE450B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D1EB6AE-ADC2-4B58-9729-2DB5CAF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LINEAGE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7CE22C-41AA-4CA0-AE92-4A131AF5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Sequence-type context helps interpret VF similarity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6160302-CA63-480C-8FDC-C97E4BC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493 selected episodes have preferred MLST labels spanning 76 distinct labels.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56F0E5A-0A3E-470E-AF8E-08890D07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A538695-E50B-4F11-8B63-CCFC5B18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FA7D2D2-51E3-4363-8C43-8C62CE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6AC36F-949C-4EC5-9743-EA32D92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figure-frame-vf_jaccard_same_vs_different_st.png">
            <a:extLst xmlns:a="http://schemas.openxmlformats.org/drawingml/2006/main">
              <a:ext uri="{FF2B5EF4-FFF2-40B4-BE49-F238E27FC236}">
                <a16:creationId xmlns:a16="http://schemas.microsoft.com/office/drawing/2014/main" id="{53783044-FB4E-4CF2-A267-A87B673B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4317cb0af41dc"/>
          <a:stretch xmlns:a="http://schemas.openxmlformats.org/drawingml/2006/main"/>
        </p:blipFill>
        <p:spPr>
          <a:xfrm xmlns:a="http://schemas.openxmlformats.org/drawingml/2006/main">
            <a:off x="2031206" y="1504950"/>
            <a:ext cx="5691188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Diagnostic use">
            <a:extLst xmlns:a="http://schemas.openxmlformats.org/drawingml/2006/main">
              <a:ext uri="{FF2B5EF4-FFF2-40B4-BE49-F238E27FC236}">
                <a16:creationId xmlns:a16="http://schemas.microsoft.com/office/drawing/2014/main" id="{605CA7EB-125C-4EFA-AEB0-C5A6BAA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24050" cy="19621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016-204-170-26">
            <a:extLst xmlns:a="http://schemas.openxmlformats.org/drawingml/2006/main">
              <a:ext uri="{FF2B5EF4-FFF2-40B4-BE49-F238E27FC236}">
                <a16:creationId xmlns:a16="http://schemas.microsoft.com/office/drawing/2014/main" id="{55326477-0D59-4F3D-8306-8C1AF17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Diagnostic use</a:t>
            </a:r>
          </a:p>
        </p:txBody>
      </p:sp>
      <p:sp>
        <p:nvSpPr>
          <p:cNvPr id="14" name="body-1016-236-170-144">
            <a:extLst xmlns:a="http://schemas.openxmlformats.org/drawingml/2006/main">
              <a:ext uri="{FF2B5EF4-FFF2-40B4-BE49-F238E27FC236}">
                <a16:creationId xmlns:a16="http://schemas.microsoft.com/office/drawing/2014/main" id="{114466EE-2D4B-4C93-82B0-D3FCBB7D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 agreement is context, not proof of the same strain. Pairwise genome distance remains essential.</a:t>
            </a:r>
          </a:p>
        </p:txBody>
      </p:sp>
    </p:spTree>
    <p:extLst>
      <p:ext uri="{BB962C8B-B14F-4D97-AF65-F5344CB8AC3E}">
        <p14:creationId xmlns:p14="http://schemas.microsoft.com/office/powerpoint/2010/main" val="10505028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2AFA00-6394-483A-9A4F-4AC0664C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41907221-148C-413D-A80F-EB94534C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C4D62F4-2688-4669-8F3B-CC64121B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96A3F9-E4A0-4E2F-A104-0A5BE12A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Clinical-status VF signals remain exploratory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9A40527-A0A2-41C1-A37E-890EA65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and 516 operational Not_UTI selected episodes; no causal interpretation.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9B68E15-2558-402A-9B22-F190A0E7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29AFBBD-42BF-4DFF-8E7D-8C8F143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E111C30-6313-414D-A41B-D90C6E53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1F1293-CAE4-4307-96D7-25EE181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" name="figure-frame-vf_gene_screening_vs_model_evidence.png">
            <a:extLst xmlns:a="http://schemas.openxmlformats.org/drawingml/2006/main">
              <a:ext uri="{FF2B5EF4-FFF2-40B4-BE49-F238E27FC236}">
                <a16:creationId xmlns:a16="http://schemas.microsoft.com/office/drawing/2014/main" id="{D3097F9A-978F-4ECB-968C-C804E45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7c6f0baf44767"/>
          <a:stretch xmlns:a="http://schemas.openxmlformats.org/drawingml/2006/main"/>
        </p:blipFill>
        <p:spPr>
          <a:xfrm xmlns:a="http://schemas.openxmlformats.org/drawingml/2006/main">
            <a:off x="1024304" y="1504950"/>
            <a:ext cx="7704992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Safe claim">
            <a:extLst xmlns:a="http://schemas.openxmlformats.org/drawingml/2006/main">
              <a:ext uri="{FF2B5EF4-FFF2-40B4-BE49-F238E27FC236}">
                <a16:creationId xmlns:a16="http://schemas.microsoft.com/office/drawing/2014/main" id="{C03600A2-7595-4DB6-8F38-AE735303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24050" cy="20764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3" name="heading-1016-204-170-26">
            <a:extLst xmlns:a="http://schemas.openxmlformats.org/drawingml/2006/main">
              <a:ext uri="{FF2B5EF4-FFF2-40B4-BE49-F238E27FC236}">
                <a16:creationId xmlns:a16="http://schemas.microsoft.com/office/drawing/2014/main" id="{9ED699D3-0F0B-40DE-90EC-0B1D1488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Safe claim</a:t>
            </a:r>
          </a:p>
        </p:txBody>
      </p:sp>
      <p:sp>
        <p:nvSpPr>
          <p:cNvPr id="14" name="body-1016-236-170-156">
            <a:extLst xmlns:a="http://schemas.openxmlformats.org/drawingml/2006/main">
              <a:ext uri="{FF2B5EF4-FFF2-40B4-BE49-F238E27FC236}">
                <a16:creationId xmlns:a16="http://schemas.microsoft.com/office/drawing/2014/main" id="{EB08DE91-829A-4C9B-9C15-D5701304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Nominal screens and model diagnostics generate hypotheses; they do not establish a robust status association.</a:t>
            </a:r>
          </a:p>
        </p:txBody>
      </p:sp>
      <p:sp>
        <p:nvSpPr>
          <p:cNvPr id="15" name="label-Exploratory overlay">
            <a:extLst xmlns:a="http://schemas.openxmlformats.org/drawingml/2006/main">
              <a:ext uri="{FF2B5EF4-FFF2-40B4-BE49-F238E27FC236}">
                <a16:creationId xmlns:a16="http://schemas.microsoft.com/office/drawing/2014/main" id="{D215B81A-3053-452D-8E91-CA14A7B0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bel-1008-443-186-22">
            <a:extLst xmlns:a="http://schemas.openxmlformats.org/drawingml/2006/main">
              <a:ext uri="{FF2B5EF4-FFF2-40B4-BE49-F238E27FC236}">
                <a16:creationId xmlns:a16="http://schemas.microsoft.com/office/drawing/2014/main" id="{ED29B0B4-6A97-407A-BB5A-A80BC7A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9575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Exploratory overlay</a:t>
            </a:r>
          </a:p>
        </p:txBody>
      </p:sp>
    </p:spTree>
    <p:extLst>
      <p:ext uri="{BB962C8B-B14F-4D97-AF65-F5344CB8AC3E}">
        <p14:creationId xmlns:p14="http://schemas.microsoft.com/office/powerpoint/2010/main" val="354425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5F8F55-8690-467F-85C9-29AB1035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D1A2F14-9FA2-441C-81D3-85291ADC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3904D6B-2D5D-4BB7-BD8C-C13F871E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TRANSITION APPLICATION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53F4B6-4029-4170-8584-8CFD340C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Focused transition evidence is aggregate, linked, and deliberately cautious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714EF4C-34BB-46C2-8FEC-75F08CC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release reports the full focused casebook; it does not elevate one anecdote into a mechanism claim.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E2DF50C-76F6-4441-B78E-A560ED5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07535B-BEBF-420C-A918-16F6303F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6A03D1D-DBAF-4E84-914A-223BBB98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F43495-7619-4046-A464-157EC4BB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ransition-1">
            <a:extLst xmlns:a="http://schemas.openxmlformats.org/drawingml/2006/main">
              <a:ext uri="{FF2B5EF4-FFF2-40B4-BE49-F238E27FC236}">
                <a16:creationId xmlns:a16="http://schemas.microsoft.com/office/drawing/2014/main" id="{61C70C94-0755-45A9-AB78-58BB561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ransition-1-head">
            <a:extLst xmlns:a="http://schemas.openxmlformats.org/drawingml/2006/main">
              <a:ext uri="{FF2B5EF4-FFF2-40B4-BE49-F238E27FC236}">
                <a16:creationId xmlns:a16="http://schemas.microsoft.com/office/drawing/2014/main" id="{C25B7EE6-E70F-4069-B02A-BCBDD25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4337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ransition-2">
            <a:extLst xmlns:a="http://schemas.openxmlformats.org/drawingml/2006/main">
              <a:ext uri="{FF2B5EF4-FFF2-40B4-BE49-F238E27FC236}">
                <a16:creationId xmlns:a16="http://schemas.microsoft.com/office/drawing/2014/main" id="{0195507A-DA80-4C05-A82D-595ECAD8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ransition-2-head">
            <a:extLst xmlns:a="http://schemas.openxmlformats.org/drawingml/2006/main">
              <a:ext uri="{FF2B5EF4-FFF2-40B4-BE49-F238E27FC236}">
                <a16:creationId xmlns:a16="http://schemas.microsoft.com/office/drawing/2014/main" id="{BBFFF68C-FCDA-45B3-B68A-F85E04F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2007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Focused Not_UTI→UTI transitions">
            <a:extLst xmlns:a="http://schemas.openxmlformats.org/drawingml/2006/main">
              <a:ext uri="{FF2B5EF4-FFF2-40B4-BE49-F238E27FC236}">
                <a16:creationId xmlns:a16="http://schemas.microsoft.com/office/drawing/2014/main" id="{07482A8F-5994-4E38-853C-57359B58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743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5" name="heading-104-242-256-48">
            <a:extLst xmlns:a="http://schemas.openxmlformats.org/drawingml/2006/main">
              <a:ext uri="{FF2B5EF4-FFF2-40B4-BE49-F238E27FC236}">
                <a16:creationId xmlns:a16="http://schemas.microsoft.com/office/drawing/2014/main" id="{36B8F714-B87D-4FF3-B700-6F28796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 transitions</a:t>
            </a:r>
          </a:p>
        </p:txBody>
      </p:sp>
      <p:sp>
        <p:nvSpPr>
          <p:cNvPr id="16" name="body-104-296-256-86">
            <a:extLst xmlns:a="http://schemas.openxmlformats.org/drawingml/2006/main">
              <a:ext uri="{FF2B5EF4-FFF2-40B4-BE49-F238E27FC236}">
                <a16:creationId xmlns:a16="http://schemas.microsoft.com/office/drawing/2014/main" id="{097E36AC-94C5-45CC-93F3-09FED58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438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adjacent transitions enter the focused clinical-transition view.</a:t>
            </a:r>
          </a:p>
        </p:txBody>
      </p:sp>
      <p:sp>
        <p:nvSpPr>
          <p:cNvPr id="17" name="card-At or below 25 SNPs">
            <a:extLst xmlns:a="http://schemas.openxmlformats.org/drawingml/2006/main">
              <a:ext uri="{FF2B5EF4-FFF2-40B4-BE49-F238E27FC236}">
                <a16:creationId xmlns:a16="http://schemas.microsoft.com/office/drawing/2014/main" id="{A1A9FD53-5932-48F1-8285-57BA7BD8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3448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58-242-330-26">
            <a:extLst xmlns:a="http://schemas.openxmlformats.org/drawingml/2006/main">
              <a:ext uri="{FF2B5EF4-FFF2-40B4-BE49-F238E27FC236}">
                <a16:creationId xmlns:a16="http://schemas.microsoft.com/office/drawing/2014/main" id="{6EBD521C-20B5-4469-9E07-C4970355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At or below 25 SNPs</a:t>
            </a:r>
          </a:p>
        </p:txBody>
      </p:sp>
      <p:sp>
        <p:nvSpPr>
          <p:cNvPr id="19" name="body-458-274-330-108">
            <a:extLst xmlns:a="http://schemas.openxmlformats.org/drawingml/2006/main">
              <a:ext uri="{FF2B5EF4-FFF2-40B4-BE49-F238E27FC236}">
                <a16:creationId xmlns:a16="http://schemas.microsoft.com/office/drawing/2014/main" id="{C0BBAEEB-60F0-47A6-8258-6FE40DF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of 9 focused transitions fall at or below the operational genome-distance threshold.</a:t>
            </a:r>
          </a:p>
        </p:txBody>
      </p:sp>
      <p:sp>
        <p:nvSpPr>
          <p:cNvPr id="20" name="card-Mechanism casebook">
            <a:extLst xmlns:a="http://schemas.openxmlformats.org/drawingml/2006/main">
              <a:ext uri="{FF2B5EF4-FFF2-40B4-BE49-F238E27FC236}">
                <a16:creationId xmlns:a16="http://schemas.microsoft.com/office/drawing/2014/main" id="{82B46526-C04C-4F91-A23B-9A14A4C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21" name="heading-886-242-278-26">
            <a:extLst xmlns:a="http://schemas.openxmlformats.org/drawingml/2006/main">
              <a:ext uri="{FF2B5EF4-FFF2-40B4-BE49-F238E27FC236}">
                <a16:creationId xmlns:a16="http://schemas.microsoft.com/office/drawing/2014/main" id="{E3BA43D3-7EB0-412D-ABAC-86225FC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Mechanism casebook</a:t>
            </a:r>
          </a:p>
        </p:txBody>
      </p:sp>
      <p:sp>
        <p:nvSpPr>
          <p:cNvPr id="22" name="body-886-274-278-108">
            <a:extLst xmlns:a="http://schemas.openxmlformats.org/drawingml/2006/main">
              <a:ext uri="{FF2B5EF4-FFF2-40B4-BE49-F238E27FC236}">
                <a16:creationId xmlns:a16="http://schemas.microsoft.com/office/drawing/2014/main" id="{DAA79D9B-A3FD-47EA-8888-A23E1ECD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647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cases; 9 linked; 0 missing endpoints.</a:t>
            </a:r>
          </a:p>
        </p:txBody>
      </p:sp>
      <p:sp>
        <p:nvSpPr>
          <p:cNvPr id="23" name="card-Interpretation boundary">
            <a:extLst xmlns:a="http://schemas.openxmlformats.org/drawingml/2006/main">
              <a:ext uri="{FF2B5EF4-FFF2-40B4-BE49-F238E27FC236}">
                <a16:creationId xmlns:a16="http://schemas.microsoft.com/office/drawing/2014/main" id="{855A2446-0405-4D5C-BCF3-F8F596CA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895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heading-186-508-908-26">
            <a:extLst xmlns:a="http://schemas.openxmlformats.org/drawingml/2006/main">
              <a:ext uri="{FF2B5EF4-FFF2-40B4-BE49-F238E27FC236}">
                <a16:creationId xmlns:a16="http://schemas.microsoft.com/office/drawing/2014/main" id="{5053726F-8511-417F-A953-7BAEAE21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64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 boundary</a:t>
            </a:r>
          </a:p>
        </p:txBody>
      </p:sp>
      <p:sp>
        <p:nvSpPr>
          <p:cNvPr id="25" name="body-186-540-908-20">
            <a:extLst xmlns:a="http://schemas.openxmlformats.org/drawingml/2006/main">
              <a:ext uri="{FF2B5EF4-FFF2-40B4-BE49-F238E27FC236}">
                <a16:creationId xmlns:a16="http://schemas.microsoft.com/office/drawing/2014/main" id="{F56498A0-A93B-4FED-AF0E-CEBC7A3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864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Low genome distance and stable VF content can support a stable-lineage interpretation, but they cannot by themselves identify host-state change, bacterial regulation, or clinical causation.</a:t>
            </a:r>
          </a:p>
        </p:txBody>
      </p:sp>
    </p:spTree>
    <p:extLst>
      <p:ext uri="{BB962C8B-B14F-4D97-AF65-F5344CB8AC3E}">
        <p14:creationId xmlns:p14="http://schemas.microsoft.com/office/powerpoint/2010/main" val="1365133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4D3811-EA47-4523-91FC-34CF544A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A14BA36-4E1F-42B4-86E8-01D38940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968710A-33E6-426B-AAB2-9A79D846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0C3E11-A2BD-4B40-B5C9-746BCE62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Longcycler-only review establishes and what remains uncertain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BE8CC41-E636-4759-A91C-EC67D09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these as the three discussion anchors.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2A27765-650A-4F19-8E55-E387D16E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7C651D3-13F7-4F57-AD9A-D035AD4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5C167C7-2231-41BA-8F2E-E08C803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5B8AE4-9D5B-4B8F-AD5F-3EFF6142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card-Evidence">
            <a:extLst xmlns:a="http://schemas.openxmlformats.org/drawingml/2006/main">
              <a:ext uri="{FF2B5EF4-FFF2-40B4-BE49-F238E27FC236}">
                <a16:creationId xmlns:a16="http://schemas.microsoft.com/office/drawing/2014/main" id="{BBB6695A-FCE4-4D78-9F22-B85A702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1" name="heading-98-200-298-26">
            <a:extLst xmlns:a="http://schemas.openxmlformats.org/drawingml/2006/main">
              <a:ext uri="{FF2B5EF4-FFF2-40B4-BE49-F238E27FC236}">
                <a16:creationId xmlns:a16="http://schemas.microsoft.com/office/drawing/2014/main" id="{2BFD5415-7043-4E8F-9092-C1B52C57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body-98-232-298-238">
            <a:extLst xmlns:a="http://schemas.openxmlformats.org/drawingml/2006/main">
              <a:ext uri="{FF2B5EF4-FFF2-40B4-BE49-F238E27FC236}">
                <a16:creationId xmlns:a16="http://schemas.microsoft.com/office/drawing/2014/main" id="{93E972E5-8910-4D4B-9393-2C00C991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selected profiles from 161 residents support 893 direct comparisons and 371 adjacent transitions. The mechanism casebook is complete (9/9 linked).</a:t>
            </a:r>
          </a:p>
        </p:txBody>
      </p:sp>
      <p:sp>
        <p:nvSpPr>
          <p:cNvPr id="13" name="card-Boundary">
            <a:extLst xmlns:a="http://schemas.openxmlformats.org/drawingml/2006/main">
              <a:ext uri="{FF2B5EF4-FFF2-40B4-BE49-F238E27FC236}">
                <a16:creationId xmlns:a16="http://schemas.microsoft.com/office/drawing/2014/main" id="{E785A81D-8678-45FA-A955-30F20AB9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4" name="heading-490-200-298-26">
            <a:extLst xmlns:a="http://schemas.openxmlformats.org/drawingml/2006/main">
              <a:ext uri="{FF2B5EF4-FFF2-40B4-BE49-F238E27FC236}">
                <a16:creationId xmlns:a16="http://schemas.microsoft.com/office/drawing/2014/main" id="{6ABDE381-E8F3-4E0F-A5A3-E7342B7E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5" name="body-490-232-298-238">
            <a:extLst xmlns:a="http://schemas.openxmlformats.org/drawingml/2006/main">
              <a:ext uri="{FF2B5EF4-FFF2-40B4-BE49-F238E27FC236}">
                <a16:creationId xmlns:a16="http://schemas.microsoft.com/office/drawing/2014/main" id="{E69CE547-05AE-4BCC-BB79-09F50E4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UTI is sparse (16/532). VF presence/absence does not measure expression, regulation, pathogenic activity, or a causal clinical-state effect.</a:t>
            </a:r>
          </a:p>
        </p:txBody>
      </p:sp>
      <p:sp>
        <p:nvSpPr>
          <p:cNvPr id="16" name="card-Next steps">
            <a:extLst xmlns:a="http://schemas.openxmlformats.org/drawingml/2006/main">
              <a:ext uri="{FF2B5EF4-FFF2-40B4-BE49-F238E27FC236}">
                <a16:creationId xmlns:a16="http://schemas.microsoft.com/office/drawing/2014/main" id="{8157ED94-8E34-46DF-A48A-37BE3A7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7" name="heading-882-200-298-26">
            <a:extLst xmlns:a="http://schemas.openxmlformats.org/drawingml/2006/main">
              <a:ext uri="{FF2B5EF4-FFF2-40B4-BE49-F238E27FC236}">
                <a16:creationId xmlns:a16="http://schemas.microsoft.com/office/drawing/2014/main" id="{0F94416F-85E2-4BE9-8450-422BCEF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8" name="body-882-232-298-238">
            <a:extLst xmlns:a="http://schemas.openxmlformats.org/drawingml/2006/main">
              <a:ext uri="{FF2B5EF4-FFF2-40B4-BE49-F238E27FC236}">
                <a16:creationId xmlns:a16="http://schemas.microsoft.com/office/drawing/2014/main" id="{C68A7582-B608-4B78-8041-B01FED4C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Prioritise lineage-aware longitudinal analyses, targeted transition review, and additional evidence that can separate bacterial change from host-state and sampling effects.</a:t>
            </a:r>
          </a:p>
        </p:txBody>
      </p:sp>
      <p:sp>
        <p:nvSpPr>
          <p:cNvPr id="19" name="body-100-542-1080-32">
            <a:extLst xmlns:a="http://schemas.openxmlformats.org/drawingml/2006/main">
              <a:ext uri="{FF2B5EF4-FFF2-40B4-BE49-F238E27FC236}">
                <a16:creationId xmlns:a16="http://schemas.microsoft.com/office/drawing/2014/main" id="{97AEEEE6-C5F5-4978-B4AF-966DC5FF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Discussion: what extra evidence would distinguish stable carriage plus host-state change from unmeasured bacterial regulation?</a:t>
            </a:r>
          </a:p>
        </p:txBody>
      </p:sp>
    </p:spTree>
    <p:extLst>
      <p:ext uri="{BB962C8B-B14F-4D97-AF65-F5344CB8AC3E}">
        <p14:creationId xmlns:p14="http://schemas.microsoft.com/office/powerpoint/2010/main" val="748969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710DA66-C242-4EFE-8651-7F72943C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D5B9743-5325-49E2-9FC3-73A172CF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77665D9-5DAC-4DE2-B959-92A75DAB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HANDOVER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96F260-7CC6-4D0C-A0C1-77E230F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Practical map: where to enter and rerun the Longcycler-only pipeline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E92FA9E-7D01-4872-A806-09D4DB0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numbered research-question layer runs from RQ01 through RQ10.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F1BB8A5-EB24-46F0-9EF9-F3C9BDD9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F2E10D-C19A-426E-A193-AD47587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27FE2D6-2EE8-4C56-B4F9-29BB40CE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F01C87-67C6-45FD-81CD-6350437B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handover-row-1">
            <a:extLst xmlns:a="http://schemas.openxmlformats.org/drawingml/2006/main">
              <a:ext uri="{FF2B5EF4-FFF2-40B4-BE49-F238E27FC236}">
                <a16:creationId xmlns:a16="http://schemas.microsoft.com/office/drawing/2014/main" id="{F4881DD5-1D6F-4C8B-ADCD-B6C21B23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label-96-166-170-34">
            <a:extLst xmlns:a="http://schemas.openxmlformats.org/drawingml/2006/main">
              <a:ext uri="{FF2B5EF4-FFF2-40B4-BE49-F238E27FC236}">
                <a16:creationId xmlns:a16="http://schemas.microsoft.com/office/drawing/2014/main" id="{F6A3257A-9523-4FDE-BFC9-9C907977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manifest</a:t>
            </a:r>
          </a:p>
        </p:txBody>
      </p:sp>
      <p:sp>
        <p:nvSpPr>
          <p:cNvPr id="12" name="body-286-166-410-36">
            <a:extLst xmlns:a="http://schemas.openxmlformats.org/drawingml/2006/main">
              <a:ext uri="{FF2B5EF4-FFF2-40B4-BE49-F238E27FC236}">
                <a16:creationId xmlns:a16="http://schemas.microsoft.com/office/drawing/2014/main" id="{716DC2A7-3467-4701-9180-3536127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811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results/assembly/canonical_assembly_selection.csv</a:t>
            </a:r>
          </a:p>
        </p:txBody>
      </p:sp>
      <p:sp>
        <p:nvSpPr>
          <p:cNvPr id="13" name="body-720-166-410-36">
            <a:extLst xmlns:a="http://schemas.openxmlformats.org/drawingml/2006/main">
              <a:ext uri="{FF2B5EF4-FFF2-40B4-BE49-F238E27FC236}">
                <a16:creationId xmlns:a16="http://schemas.microsoft.com/office/drawing/2014/main" id="{8E6F2CD3-AAFA-475A-A0CF-174F9239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QC-passing Longcycler assembly per episode</a:t>
            </a:r>
          </a:p>
        </p:txBody>
      </p:sp>
      <p:sp>
        <p:nvSpPr>
          <p:cNvPr id="14" name="handover-row-2">
            <a:extLst xmlns:a="http://schemas.openxmlformats.org/drawingml/2006/main">
              <a:ext uri="{FF2B5EF4-FFF2-40B4-BE49-F238E27FC236}">
                <a16:creationId xmlns:a16="http://schemas.microsoft.com/office/drawing/2014/main" id="{0D149B8E-7E8A-46D9-A289-521FA09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label-96-234-170-34">
            <a:extLst xmlns:a="http://schemas.openxmlformats.org/drawingml/2006/main">
              <a:ext uri="{FF2B5EF4-FFF2-40B4-BE49-F238E27FC236}">
                <a16:creationId xmlns:a16="http://schemas.microsoft.com/office/drawing/2014/main" id="{BA5404A6-1F2E-4CB8-949B-95D20864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Clinical key</a:t>
            </a:r>
          </a:p>
        </p:txBody>
      </p:sp>
      <p:sp>
        <p:nvSpPr>
          <p:cNvPr id="16" name="body-286-234-410-36">
            <a:extLst xmlns:a="http://schemas.openxmlformats.org/drawingml/2006/main">
              <a:ext uri="{FF2B5EF4-FFF2-40B4-BE49-F238E27FC236}">
                <a16:creationId xmlns:a16="http://schemas.microsoft.com/office/drawing/2014/main" id="{BFE44908-B23A-4AD5-93EC-DAB38F7A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results/clinical/status_map.csv</a:t>
            </a:r>
          </a:p>
        </p:txBody>
      </p:sp>
      <p:sp>
        <p:nvSpPr>
          <p:cNvPr id="17" name="body-720-234-410-36">
            <a:extLst xmlns:a="http://schemas.openxmlformats.org/drawingml/2006/main">
              <a:ext uri="{FF2B5EF4-FFF2-40B4-BE49-F238E27FC236}">
                <a16:creationId xmlns:a16="http://schemas.microsoft.com/office/drawing/2014/main" id="{A1FCA8FB-FA20-4E37-9C5E-DA1CE49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UTI annotation and audit fields</a:t>
            </a:r>
          </a:p>
        </p:txBody>
      </p:sp>
      <p:sp>
        <p:nvSpPr>
          <p:cNvPr id="18" name="handover-row-3">
            <a:extLst xmlns:a="http://schemas.openxmlformats.org/drawingml/2006/main">
              <a:ext uri="{FF2B5EF4-FFF2-40B4-BE49-F238E27FC236}">
                <a16:creationId xmlns:a16="http://schemas.microsoft.com/office/drawing/2014/main" id="{49E95F35-5D64-457C-8D1D-E53C0956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label-96-302-170-34">
            <a:extLst xmlns:a="http://schemas.openxmlformats.org/drawingml/2006/main">
              <a:ext uri="{FF2B5EF4-FFF2-40B4-BE49-F238E27FC236}">
                <a16:creationId xmlns:a16="http://schemas.microsoft.com/office/drawing/2014/main" id="{B97D7FEB-2968-47B5-A85A-0E86336E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VF matrix</a:t>
            </a:r>
          </a:p>
        </p:txBody>
      </p:sp>
      <p:sp>
        <p:nvSpPr>
          <p:cNvPr id="20" name="body-286-302-410-36">
            <a:extLst xmlns:a="http://schemas.openxmlformats.org/drawingml/2006/main">
              <a:ext uri="{FF2B5EF4-FFF2-40B4-BE49-F238E27FC236}">
                <a16:creationId xmlns:a16="http://schemas.microsoft.com/office/drawing/2014/main" id="{5D0D89ED-EEAF-4349-8042-A45CCDD4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results/vf/vf_pa_all.csv</a:t>
            </a:r>
          </a:p>
        </p:txBody>
      </p:sp>
      <p:sp>
        <p:nvSpPr>
          <p:cNvPr id="21" name="body-720-302-410-36">
            <a:extLst xmlns:a="http://schemas.openxmlformats.org/drawingml/2006/main">
              <a:ext uri="{FF2B5EF4-FFF2-40B4-BE49-F238E27FC236}">
                <a16:creationId xmlns:a16="http://schemas.microsoft.com/office/drawing/2014/main" id="{2A9DD644-79DB-44B6-80E9-3F9C474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Episode-level binary VF profiles</a:t>
            </a:r>
          </a:p>
        </p:txBody>
      </p:sp>
      <p:sp>
        <p:nvSpPr>
          <p:cNvPr id="22" name="handover-row-4">
            <a:extLst xmlns:a="http://schemas.openxmlformats.org/drawingml/2006/main">
              <a:ext uri="{FF2B5EF4-FFF2-40B4-BE49-F238E27FC236}">
                <a16:creationId xmlns:a16="http://schemas.microsoft.com/office/drawing/2014/main" id="{7C77DE8D-0F32-4805-A841-11ADB73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label-96-370-170-34">
            <a:extLst xmlns:a="http://schemas.openxmlformats.org/drawingml/2006/main">
              <a:ext uri="{FF2B5EF4-FFF2-40B4-BE49-F238E27FC236}">
                <a16:creationId xmlns:a16="http://schemas.microsoft.com/office/drawing/2014/main" id="{FF233A19-8439-4320-B14E-964D90C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Direct pairs</a:t>
            </a:r>
          </a:p>
        </p:txBody>
      </p:sp>
      <p:sp>
        <p:nvSpPr>
          <p:cNvPr id="24" name="body-286-370-410-36">
            <a:extLst xmlns:a="http://schemas.openxmlformats.org/drawingml/2006/main">
              <a:ext uri="{FF2B5EF4-FFF2-40B4-BE49-F238E27FC236}">
                <a16:creationId xmlns:a16="http://schemas.microsoft.com/office/drawing/2014/main" id="{8C477319-68AA-46ED-ABE6-DEA96F24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results/strain/pairwise_metrics.csv</a:t>
            </a:r>
          </a:p>
        </p:txBody>
      </p:sp>
      <p:sp>
        <p:nvSpPr>
          <p:cNvPr id="25" name="body-720-370-410-36">
            <a:extLst xmlns:a="http://schemas.openxmlformats.org/drawingml/2006/main">
              <a:ext uri="{FF2B5EF4-FFF2-40B4-BE49-F238E27FC236}">
                <a16:creationId xmlns:a16="http://schemas.microsoft.com/office/drawing/2014/main" id="{DB330EDD-7499-4266-B88B-46ED54E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within-resident comparisons</a:t>
            </a:r>
          </a:p>
        </p:txBody>
      </p:sp>
      <p:sp>
        <p:nvSpPr>
          <p:cNvPr id="26" name="handover-row-5">
            <a:extLst xmlns:a="http://schemas.openxmlformats.org/drawingml/2006/main">
              <a:ext uri="{FF2B5EF4-FFF2-40B4-BE49-F238E27FC236}">
                <a16:creationId xmlns:a16="http://schemas.microsoft.com/office/drawing/2014/main" id="{C895F64D-C3D0-4595-9582-36113A61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label-96-438-170-34">
            <a:extLst xmlns:a="http://schemas.openxmlformats.org/drawingml/2006/main">
              <a:ext uri="{FF2B5EF4-FFF2-40B4-BE49-F238E27FC236}">
                <a16:creationId xmlns:a16="http://schemas.microsoft.com/office/drawing/2014/main" id="{CFEF4181-3218-462C-BE73-294139E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8" name="body-286-438-410-36">
            <a:extLst xmlns:a="http://schemas.openxmlformats.org/drawingml/2006/main">
              <a:ext uri="{FF2B5EF4-FFF2-40B4-BE49-F238E27FC236}">
                <a16:creationId xmlns:a16="http://schemas.microsoft.com/office/drawing/2014/main" id="{0A7D1649-40B5-43F7-BDB0-58A9E261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19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results/longitudinal/longcycler_transitions.csv</a:t>
            </a:r>
          </a:p>
        </p:txBody>
      </p:sp>
      <p:sp>
        <p:nvSpPr>
          <p:cNvPr id="29" name="body-720-438-410-36">
            <a:extLst xmlns:a="http://schemas.openxmlformats.org/drawingml/2006/main">
              <a:ext uri="{FF2B5EF4-FFF2-40B4-BE49-F238E27FC236}">
                <a16:creationId xmlns:a16="http://schemas.microsoft.com/office/drawing/2014/main" id="{B6293DC9-811E-4FC4-85DF-823EEB2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Temporally ordered comparisons</a:t>
            </a:r>
          </a:p>
        </p:txBody>
      </p:sp>
      <p:sp>
        <p:nvSpPr>
          <p:cNvPr id="30" name="handover-row-6">
            <a:extLst xmlns:a="http://schemas.openxmlformats.org/drawingml/2006/main">
              <a:ext uri="{FF2B5EF4-FFF2-40B4-BE49-F238E27FC236}">
                <a16:creationId xmlns:a16="http://schemas.microsoft.com/office/drawing/2014/main" id="{3ED189EA-73BF-47A0-B8F6-3CE9CBC4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label-96-506-170-34">
            <a:extLst xmlns:a="http://schemas.openxmlformats.org/drawingml/2006/main">
              <a:ext uri="{FF2B5EF4-FFF2-40B4-BE49-F238E27FC236}">
                <a16:creationId xmlns:a16="http://schemas.microsoft.com/office/drawing/2014/main" id="{E3A18161-E602-40C6-8AC2-82987750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Focused casebook</a:t>
            </a:r>
          </a:p>
        </p:txBody>
      </p:sp>
      <p:sp>
        <p:nvSpPr>
          <p:cNvPr id="32" name="body-286-506-410-36">
            <a:extLst xmlns:a="http://schemas.openxmlformats.org/drawingml/2006/main">
              <a:ext uri="{FF2B5EF4-FFF2-40B4-BE49-F238E27FC236}">
                <a16:creationId xmlns:a16="http://schemas.microsoft.com/office/drawing/2014/main" id="{A67AD8FF-2536-4A08-998A-C024AFAA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96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results/mechanism/not_uti_to_uti_casebook.csv</a:t>
            </a:r>
          </a:p>
        </p:txBody>
      </p:sp>
      <p:sp>
        <p:nvSpPr>
          <p:cNvPr id="33" name="body-720-506-410-36">
            <a:extLst xmlns:a="http://schemas.openxmlformats.org/drawingml/2006/main">
              <a:ext uri="{FF2B5EF4-FFF2-40B4-BE49-F238E27FC236}">
                <a16:creationId xmlns:a16="http://schemas.microsoft.com/office/drawing/2014/main" id="{345DBCDD-2FDA-4D2D-8637-A9983AC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Nine linked transition cases</a:t>
            </a:r>
          </a:p>
        </p:txBody>
      </p:sp>
      <p:sp>
        <p:nvSpPr>
          <p:cNvPr id="34" name="handover-row-7">
            <a:extLst xmlns:a="http://schemas.openxmlformats.org/drawingml/2006/main">
              <a:ext uri="{FF2B5EF4-FFF2-40B4-BE49-F238E27FC236}">
                <a16:creationId xmlns:a16="http://schemas.microsoft.com/office/drawing/2014/main" id="{2070A3D0-14A7-494A-835A-2F46917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label-96-574-170-34">
            <a:extLst xmlns:a="http://schemas.openxmlformats.org/drawingml/2006/main">
              <a:ext uri="{FF2B5EF4-FFF2-40B4-BE49-F238E27FC236}">
                <a16:creationId xmlns:a16="http://schemas.microsoft.com/office/drawing/2014/main" id="{B9AED3A2-07AB-4DEB-A1DE-0BD6E8E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36" name="body-286-574-410-36">
            <a:extLst xmlns:a="http://schemas.openxmlformats.org/drawingml/2006/main">
              <a:ext uri="{FF2B5EF4-FFF2-40B4-BE49-F238E27FC236}">
                <a16:creationId xmlns:a16="http://schemas.microsoft.com/office/drawing/2014/main" id="{ACD92670-CCE6-4C96-9623-E713738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scripts/research_questions/run_all.R</a:t>
            </a:r>
          </a:p>
        </p:txBody>
      </p:sp>
      <p:sp>
        <p:nvSpPr>
          <p:cNvPr id="37" name="body-720-574-410-36">
            <a:extLst xmlns:a="http://schemas.openxmlformats.org/drawingml/2006/main">
              <a:ext uri="{FF2B5EF4-FFF2-40B4-BE49-F238E27FC236}">
                <a16:creationId xmlns:a16="http://schemas.microsoft.com/office/drawing/2014/main" id="{6F576637-FE47-4FE2-9120-5A9AE85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 release layer</a:t>
            </a:r>
          </a:p>
        </p:txBody>
      </p:sp>
    </p:spTree>
    <p:extLst>
      <p:ext uri="{BB962C8B-B14F-4D97-AF65-F5344CB8AC3E}">
        <p14:creationId xmlns:p14="http://schemas.microsoft.com/office/powerpoint/2010/main" val="11696664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122CFCF-57F4-4329-9693-0BE0E61B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C629B7B-5A16-4036-BDA7-3DF7386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3ECF671-6B2F-423B-93BD-97E1943C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ORIENTATION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797830-92ED-4C65-ACF8-4DB5FFC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Unit changes explain denominator changes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DFB44ED-3274-45A1-B927-AB7AC4A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count answers a different question: episode, resident, profile, pair, or transition.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91CD37A-4E1C-4067-8E29-044483D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3E0AC7-5D51-41CB-9008-C2423FC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B0C8B84-A7CA-4592-B141-C2E8F46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7CFD6F-060E-4921-87B9-4D723845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label-Source clinical episodes">
            <a:extLst xmlns:a="http://schemas.openxmlformats.org/drawingml/2006/main">
              <a:ext uri="{FF2B5EF4-FFF2-40B4-BE49-F238E27FC236}">
                <a16:creationId xmlns:a16="http://schemas.microsoft.com/office/drawing/2014/main" id="{4C6E81CD-63C5-44C0-ABAF-11218052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abel-158-180-244-26">
            <a:extLst xmlns:a="http://schemas.openxmlformats.org/drawingml/2006/main">
              <a:ext uri="{FF2B5EF4-FFF2-40B4-BE49-F238E27FC236}">
                <a16:creationId xmlns:a16="http://schemas.microsoft.com/office/drawing/2014/main" id="{EF655E20-6455-4950-9AEC-D692BB9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Source clinical episodes</a:t>
            </a:r>
          </a:p>
        </p:txBody>
      </p:sp>
      <p:sp>
        <p:nvSpPr>
          <p:cNvPr id="12" name="body-454-173-110-38">
            <a:extLst xmlns:a="http://schemas.openxmlformats.org/drawingml/2006/main">
              <a:ext uri="{FF2B5EF4-FFF2-40B4-BE49-F238E27FC236}">
                <a16:creationId xmlns:a16="http://schemas.microsoft.com/office/drawing/2014/main" id="{A0CAADD5-0854-43AC-93AE-57915B0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478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583</a:t>
            </a:r>
          </a:p>
        </p:txBody>
      </p:sp>
      <p:sp>
        <p:nvSpPr>
          <p:cNvPr id="13" name="body-616-177-530-34">
            <a:extLst xmlns:a="http://schemas.openxmlformats.org/drawingml/2006/main">
              <a:ext uri="{FF2B5EF4-FFF2-40B4-BE49-F238E27FC236}">
                <a16:creationId xmlns:a16="http://schemas.microsoft.com/office/drawing/2014/main" id="{E6E6587F-B769-4A94-A264-12E1719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859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166 residents; retained for attrition/QC only</a:t>
            </a:r>
          </a:p>
        </p:txBody>
      </p:sp>
      <p:sp>
        <p:nvSpPr>
          <p:cNvPr id="14" name="label-Selected analytical episodes">
            <a:extLst xmlns:a="http://schemas.openxmlformats.org/drawingml/2006/main">
              <a:ext uri="{FF2B5EF4-FFF2-40B4-BE49-F238E27FC236}">
                <a16:creationId xmlns:a16="http://schemas.microsoft.com/office/drawing/2014/main" id="{1B602D34-D479-45CF-A43E-42FF2AEB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abel-158-265-244-26">
            <a:extLst xmlns:a="http://schemas.openxmlformats.org/drawingml/2006/main">
              <a:ext uri="{FF2B5EF4-FFF2-40B4-BE49-F238E27FC236}">
                <a16:creationId xmlns:a16="http://schemas.microsoft.com/office/drawing/2014/main" id="{851551AC-4747-46D1-B4E7-85BD4035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analytical episodes</a:t>
            </a:r>
          </a:p>
        </p:txBody>
      </p:sp>
      <p:sp>
        <p:nvSpPr>
          <p:cNvPr id="16" name="body-454-258-110-38">
            <a:extLst xmlns:a="http://schemas.openxmlformats.org/drawingml/2006/main">
              <a:ext uri="{FF2B5EF4-FFF2-40B4-BE49-F238E27FC236}">
                <a16:creationId xmlns:a16="http://schemas.microsoft.com/office/drawing/2014/main" id="{7931D6FF-18A4-4FBE-91AA-10B3D19D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7" name="body-616-262-530-34">
            <a:extLst xmlns:a="http://schemas.openxmlformats.org/drawingml/2006/main">
              <a:ext uri="{FF2B5EF4-FFF2-40B4-BE49-F238E27FC236}">
                <a16:creationId xmlns:a16="http://schemas.microsoft.com/office/drawing/2014/main" id="{DBC32D33-E339-4362-93A0-F7615BC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955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161 residents; one selected genome per episode</a:t>
            </a:r>
          </a:p>
        </p:txBody>
      </p:sp>
      <p:sp>
        <p:nvSpPr>
          <p:cNvPr id="18" name="label-Direct within-resident pairs">
            <a:extLst xmlns:a="http://schemas.openxmlformats.org/drawingml/2006/main">
              <a:ext uri="{FF2B5EF4-FFF2-40B4-BE49-F238E27FC236}">
                <a16:creationId xmlns:a16="http://schemas.microsoft.com/office/drawing/2014/main" id="{21AA9582-3F5F-45C4-B7B4-964CE102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bel-158-350-244-26">
            <a:extLst xmlns:a="http://schemas.openxmlformats.org/drawingml/2006/main">
              <a:ext uri="{FF2B5EF4-FFF2-40B4-BE49-F238E27FC236}">
                <a16:creationId xmlns:a16="http://schemas.microsoft.com/office/drawing/2014/main" id="{7E6EEC4C-1717-4110-A24F-DC1FE5F5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within-resident pairs</a:t>
            </a:r>
          </a:p>
        </p:txBody>
      </p:sp>
      <p:sp>
        <p:nvSpPr>
          <p:cNvPr id="20" name="body-454-343-110-38">
            <a:extLst xmlns:a="http://schemas.openxmlformats.org/drawingml/2006/main">
              <a:ext uri="{FF2B5EF4-FFF2-40B4-BE49-F238E27FC236}">
                <a16:creationId xmlns:a16="http://schemas.microsoft.com/office/drawing/2014/main" id="{865ED4E3-0CB3-4AE3-AD65-685D2AEB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707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893</a:t>
            </a:r>
          </a:p>
        </p:txBody>
      </p:sp>
      <p:sp>
        <p:nvSpPr>
          <p:cNvPr id="21" name="body-616-347-530-34">
            <a:extLst xmlns:a="http://schemas.openxmlformats.org/drawingml/2006/main">
              <a:ext uri="{FF2B5EF4-FFF2-40B4-BE49-F238E27FC236}">
                <a16:creationId xmlns:a16="http://schemas.microsoft.com/office/drawing/2014/main" id="{72DC0658-5D74-42A2-90CE-F564456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0517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available within-resident comparisons</a:t>
            </a:r>
          </a:p>
        </p:txBody>
      </p:sp>
      <p:sp>
        <p:nvSpPr>
          <p:cNvPr id="22" name="label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75B39857-B887-4397-A9EA-8D6C7AF1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abel-158-435-244-26">
            <a:extLst xmlns:a="http://schemas.openxmlformats.org/drawingml/2006/main">
              <a:ext uri="{FF2B5EF4-FFF2-40B4-BE49-F238E27FC236}">
                <a16:creationId xmlns:a16="http://schemas.microsoft.com/office/drawing/2014/main" id="{A58B777F-FF98-4219-A20F-DC09D0A4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4337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4" name="body-454-428-110-38">
            <a:extLst xmlns:a="http://schemas.openxmlformats.org/drawingml/2006/main">
              <a:ext uri="{FF2B5EF4-FFF2-40B4-BE49-F238E27FC236}">
                <a16:creationId xmlns:a16="http://schemas.microsoft.com/office/drawing/2014/main" id="{57D10B94-D7E5-440A-A69B-0C90BF4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5" name="body-616-432-530-34">
            <a:extLst xmlns:a="http://schemas.openxmlformats.org/drawingml/2006/main">
              <a:ext uri="{FF2B5EF4-FFF2-40B4-BE49-F238E27FC236}">
                <a16:creationId xmlns:a16="http://schemas.microsoft.com/office/drawing/2014/main" id="{780D1125-73FF-4A31-95A4-4F6DF7B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139 residents; 140 at or below 25 SNPs</a:t>
            </a:r>
          </a:p>
        </p:txBody>
      </p:sp>
      <p:sp>
        <p:nvSpPr>
          <p:cNvPr id="26" name="label-Focused Not_UTI→UTI">
            <a:extLst xmlns:a="http://schemas.openxmlformats.org/drawingml/2006/main">
              <a:ext uri="{FF2B5EF4-FFF2-40B4-BE49-F238E27FC236}">
                <a16:creationId xmlns:a16="http://schemas.microsoft.com/office/drawing/2014/main" id="{3E4DA786-6588-4018-BEF7-FCFD8287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label-158-520-244-26">
            <a:extLst xmlns:a="http://schemas.openxmlformats.org/drawingml/2006/main">
              <a:ext uri="{FF2B5EF4-FFF2-40B4-BE49-F238E27FC236}">
                <a16:creationId xmlns:a16="http://schemas.microsoft.com/office/drawing/2014/main" id="{262F395F-0890-42A6-8E6B-8590EDC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</a:t>
            </a:r>
          </a:p>
        </p:txBody>
      </p:sp>
      <p:sp>
        <p:nvSpPr>
          <p:cNvPr id="28" name="body-454-513-110-38">
            <a:extLst xmlns:a="http://schemas.openxmlformats.org/drawingml/2006/main">
              <a:ext uri="{FF2B5EF4-FFF2-40B4-BE49-F238E27FC236}">
                <a16:creationId xmlns:a16="http://schemas.microsoft.com/office/drawing/2014/main" id="{6843F249-2CD2-4991-8C7F-61ACF19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863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9" name="body-616-517-530-34">
            <a:extLst xmlns:a="http://schemas.openxmlformats.org/drawingml/2006/main">
              <a:ext uri="{FF2B5EF4-FFF2-40B4-BE49-F238E27FC236}">
                <a16:creationId xmlns:a16="http://schemas.microsoft.com/office/drawing/2014/main" id="{E2988262-996D-47EE-BF66-3D073AA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244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at or below 25 SNPs</a:t>
            </a:r>
          </a:p>
        </p:txBody>
      </p:sp>
      <p:sp>
        <p:nvSpPr>
          <p:cNvPr id="30" name="label-Always name the unit beside the count">
            <a:extLst xmlns:a="http://schemas.openxmlformats.org/drawingml/2006/main">
              <a:ext uri="{FF2B5EF4-FFF2-40B4-BE49-F238E27FC236}">
                <a16:creationId xmlns:a16="http://schemas.microsoft.com/office/drawing/2014/main" id="{165012ED-10EC-4B6C-895B-B16DEF1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0250"/>
            <a:ext cx="36576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label-456-615-368-23">
            <a:extLst xmlns:a="http://schemas.openxmlformats.org/drawingml/2006/main">
              <a:ext uri="{FF2B5EF4-FFF2-40B4-BE49-F238E27FC236}">
                <a16:creationId xmlns:a16="http://schemas.microsoft.com/office/drawing/2014/main" id="{A49E8CD9-0D91-4B76-AACA-D251999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57875"/>
            <a:ext cx="3505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Always name the unit beside the count</a:t>
            </a:r>
          </a:p>
        </p:txBody>
      </p:sp>
    </p:spTree>
    <p:extLst>
      <p:ext uri="{BB962C8B-B14F-4D97-AF65-F5344CB8AC3E}">
        <p14:creationId xmlns:p14="http://schemas.microsoft.com/office/powerpoint/2010/main" val="6715985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8860E06-878A-491A-9441-F98ADBB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A750F18-B069-4922-853C-8285B0A0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80D6CA0-088D-4B4F-90A7-671FCADB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A8B7C4-021E-4E01-B4A2-BC5738F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Module prevalence by status is an exploratory annotation view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1E3798F-8AB9-4519-A932-1B7197E7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phenotype denominator: 16 UTI and 516 Not_UTI selected episodes.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20264F4-F0D7-4891-9174-A0878D1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1AAE590-8EF3-40F5-8203-F808435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D0092D4-53BB-42B7-9FA3-F724DDE0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259247-62A2-4C64-8755-BCA7E2F1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figure-frame-module_prevalence_by_status.png">
            <a:extLst xmlns:a="http://schemas.openxmlformats.org/drawingml/2006/main">
              <a:ext uri="{FF2B5EF4-FFF2-40B4-BE49-F238E27FC236}">
                <a16:creationId xmlns:a16="http://schemas.microsoft.com/office/drawing/2014/main" id="{5F2D36BF-CCD2-4505-AFA2-F4E7460A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0393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427ead4624104"/>
          <a:stretch xmlns:a="http://schemas.openxmlformats.org/drawingml/2006/main"/>
        </p:blipFill>
        <p:spPr>
          <a:xfrm xmlns:a="http://schemas.openxmlformats.org/drawingml/2006/main">
            <a:off x="2686050" y="1504950"/>
            <a:ext cx="5715000" cy="4572000"/>
          </a:xfrm>
          <a:prstGeom xmlns:a="http://schemas.openxmlformats.org/drawingml/2006/main" prst="rect">
            <a:avLst/>
          </a:prstGeom>
        </p:spPr>
      </p:pic>
      <p:sp>
        <p:nvSpPr>
          <p:cNvPr id="12" name="card-Label">
            <a:extLst xmlns:a="http://schemas.openxmlformats.org/drawingml/2006/main">
              <a:ext uri="{FF2B5EF4-FFF2-40B4-BE49-F238E27FC236}">
                <a16:creationId xmlns:a16="http://schemas.microsoft.com/office/drawing/2014/main" id="{F8814E62-68A9-4414-8513-3EB0B0F5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09750"/>
            <a:ext cx="952500" cy="1619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3" name="heading-1136-206-68-26">
            <a:extLst xmlns:a="http://schemas.openxmlformats.org/drawingml/2006/main">
              <a:ext uri="{FF2B5EF4-FFF2-40B4-BE49-F238E27FC236}">
                <a16:creationId xmlns:a16="http://schemas.microsoft.com/office/drawing/2014/main" id="{65EBF9D8-4D85-41E3-BD1D-E4DDBFF6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962150"/>
            <a:ext cx="64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4" name="body-1136-238-68-108">
            <a:extLst xmlns:a="http://schemas.openxmlformats.org/drawingml/2006/main">
              <a:ext uri="{FF2B5EF4-FFF2-40B4-BE49-F238E27FC236}">
                <a16:creationId xmlns:a16="http://schemas.microsoft.com/office/drawing/2014/main" id="{E1B703CE-C66F-4698-8582-87E0895C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66950"/>
            <a:ext cx="647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Exploratory clinical annotation.</a:t>
            </a:r>
          </a:p>
        </p:txBody>
      </p:sp>
    </p:spTree>
    <p:extLst>
      <p:ext uri="{BB962C8B-B14F-4D97-AF65-F5344CB8AC3E}">
        <p14:creationId xmlns:p14="http://schemas.microsoft.com/office/powerpoint/2010/main" val="12292823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78F86A-DB9B-444F-A81B-5F4BB02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CF09BF17-9388-4300-9962-E17B0D25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D8C79E5-F515-41F2-A7DE-D50C01F5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TRANSITION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09F406-1C1E-44D5-BF20-37BF0A5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Full focused transition mechanism casebook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8ED374-CDFD-4EC0-9C09-C8BA48A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cases; 9 linked; 0 missing. Buckets organise evidence, not proof.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225AB3C-5658-427B-B69C-DF6EDAF2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98B53B5-31B5-47A2-BB4E-0D1BF107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1F30463-7F4C-44F4-8BF2-0336CF5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530273-09E7-452D-BADF-C844784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figure-frame-not_uti_to_uti_case_matrix.png">
            <a:extLst xmlns:a="http://schemas.openxmlformats.org/drawingml/2006/main">
              <a:ext uri="{FF2B5EF4-FFF2-40B4-BE49-F238E27FC236}">
                <a16:creationId xmlns:a16="http://schemas.microsoft.com/office/drawing/2014/main" id="{8CC6FB5E-7926-4D5F-9B60-4CBD88C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df28259044b6a"/>
          <a:stretch xmlns:a="http://schemas.openxmlformats.org/drawingml/2006/main"/>
        </p:blipFill>
        <p:spPr>
          <a:xfrm xmlns:a="http://schemas.openxmlformats.org/drawingml/2006/main">
            <a:off x="1992190" y="1504950"/>
            <a:ext cx="776946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0026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0F39D91-C44B-43BC-BE05-DEE41B6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68E2D31-7EAC-4E95-BD1A-80ACC4D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CD6D59-7904-45B2-8848-A044ECCF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STABLE-STATE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A52312-F8A3-4660-8464-90E8B53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Stable strain and changing clinical state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77F6D34-748F-4BA1-A454-702B493C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of 9 focused transitions are at or below 25 SNPs.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1062B21-0722-462D-B6E0-C0DF80D1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5886111-54D3-4692-9C32-CB03763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ED414AA-3D27-4DCD-B5ED-529170B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A67A44-0756-417E-9427-7E7BCF3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figure-frame-host_context_transition_heatmap.png">
            <a:extLst xmlns:a="http://schemas.openxmlformats.org/drawingml/2006/main">
              <a:ext uri="{FF2B5EF4-FFF2-40B4-BE49-F238E27FC236}">
                <a16:creationId xmlns:a16="http://schemas.microsoft.com/office/drawing/2014/main" id="{F00B9D45-22D3-42DE-BA5E-505E595C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8e91369b24f72"/>
          <a:stretch xmlns:a="http://schemas.openxmlformats.org/drawingml/2006/main"/>
        </p:blipFill>
        <p:spPr>
          <a:xfrm xmlns:a="http://schemas.openxmlformats.org/drawingml/2006/main">
            <a:off x="1992190" y="1504950"/>
            <a:ext cx="776946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7857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1FFEA1-DF26-4673-B145-D4A3D447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74C5402-262F-468D-9F50-B068A44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BF00C2F-385D-4741-8BE7-D9E19871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ROBUSTNESS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2BD893-6EA6-4CF0-8957-E2C7A0F5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Population-level robustness boundary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A1CEFDC-3FDF-46B2-9E83-08356D6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episodes limit adjusted inference; the 17-row near-miss audit is separate.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AB83A43-D4C3-4C58-965F-6F730A7C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90B00D-3308-429A-8BB2-FBA4900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2D8C4C5-963E-41BB-A78D-7C931262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BB17B2-C09A-4875-9147-470AB0D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figure-frame-model_stability_flags.png">
            <a:extLst xmlns:a="http://schemas.openxmlformats.org/drawingml/2006/main">
              <a:ext uri="{FF2B5EF4-FFF2-40B4-BE49-F238E27FC236}">
                <a16:creationId xmlns:a16="http://schemas.microsoft.com/office/drawing/2014/main" id="{397ED03E-3163-41AB-9C04-88865015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db0058b34274"/>
          <a:stretch xmlns:a="http://schemas.openxmlformats.org/drawingml/2006/main"/>
        </p:blipFill>
        <p:spPr>
          <a:xfrm xmlns:a="http://schemas.openxmlformats.org/drawingml/2006/main">
            <a:off x="2329295" y="1504950"/>
            <a:ext cx="709525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668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2C4BC6-C15F-480C-9C16-87B2457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F4AC5BD-AB73-4AB9-B23F-E3D224A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9A840BC-E951-41EE-AFF8-8E97350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LINEAGE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ACEA02-CDC7-4495-8C53-336E2870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Lineage structure is an interpretation check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C33A3E3-C28D-4E33-9DB4-089B5F9F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Virulence-factor profile PCoA by preferred sequence-type label.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664008A-D317-4E6E-BFC7-E909D137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A9A112-46F8-420A-86BE-64D0B6AD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0A25E94-5F3A-4E45-A511-BB305089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3B6854-53D4-46C0-873F-67A89F44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figure-frame-vf_pcoa_jaccard_ST.png">
            <a:extLst xmlns:a="http://schemas.openxmlformats.org/drawingml/2006/main">
              <a:ext uri="{FF2B5EF4-FFF2-40B4-BE49-F238E27FC236}">
                <a16:creationId xmlns:a16="http://schemas.microsoft.com/office/drawing/2014/main" id="{E4AA41D7-BCE7-488B-958E-C3E8DEB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38275"/>
            <a:ext cx="984885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1d27426df4d99"/>
          <a:stretch xmlns:a="http://schemas.openxmlformats.org/drawingml/2006/main"/>
        </p:blipFill>
        <p:spPr>
          <a:xfrm xmlns:a="http://schemas.openxmlformats.org/drawingml/2006/main">
            <a:off x="1973873" y="1504950"/>
            <a:ext cx="7063154" cy="4591050"/>
          </a:xfrm>
          <a:prstGeom xmlns:a="http://schemas.openxmlformats.org/drawingml/2006/main" prst="rect">
            <a:avLst/>
          </a:prstGeom>
        </p:spPr>
      </p:pic>
      <p:sp>
        <p:nvSpPr>
          <p:cNvPr id="12" name="card-Use for">
            <a:extLst xmlns:a="http://schemas.openxmlformats.org/drawingml/2006/main">
              <a:ext uri="{FF2B5EF4-FFF2-40B4-BE49-F238E27FC236}">
                <a16:creationId xmlns:a16="http://schemas.microsoft.com/office/drawing/2014/main" id="{7D04E7B4-248F-493C-8281-04D663E1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809750"/>
            <a:ext cx="1123950" cy="18097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118-206-86-26">
            <a:extLst xmlns:a="http://schemas.openxmlformats.org/drawingml/2006/main">
              <a:ext uri="{FF2B5EF4-FFF2-40B4-BE49-F238E27FC236}">
                <a16:creationId xmlns:a16="http://schemas.microsoft.com/office/drawing/2014/main" id="{B8AF3767-4D78-43BC-B9C1-7A47ABB1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6215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for</a:t>
            </a:r>
          </a:p>
        </p:txBody>
      </p:sp>
      <p:sp>
        <p:nvSpPr>
          <p:cNvPr id="14" name="body-1118-238-86-128">
            <a:extLst xmlns:a="http://schemas.openxmlformats.org/drawingml/2006/main">
              <a:ext uri="{FF2B5EF4-FFF2-40B4-BE49-F238E27FC236}">
                <a16:creationId xmlns:a16="http://schemas.microsoft.com/office/drawing/2014/main" id="{73C064BA-5639-45A9-8DA0-07BAC35F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66950"/>
            <a:ext cx="819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Questions about lineage structure and VF clustering.</a:t>
            </a:r>
          </a:p>
        </p:txBody>
      </p:sp>
    </p:spTree>
    <p:extLst>
      <p:ext uri="{BB962C8B-B14F-4D97-AF65-F5344CB8AC3E}">
        <p14:creationId xmlns:p14="http://schemas.microsoft.com/office/powerpoint/2010/main" val="133490935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9BB607-AF31-4C2C-A865-3CB6E098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CA50201-16B3-447B-B18D-87FDDE1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8AA723B-9EA9-4EC2-9FAB-EDC8D5A8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ACCESSORY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9A6A4F-AB3A-4A33-828B-25DC27F3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Accessory and mobile-element context remains secondary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E1DBECA-A753-4C25-BD2A-185F1CC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only when it helps interpret a transition; this review does not make a dedicated AMR or causal accessory claim.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323612B-00C5-4EC4-90D3-D64CBCF8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AB0DC4-7DD9-4806-BD52-AB555B7C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289DFBB-9945-4972-B1EE-605B373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8460AE-C507-4133-8C94-3B62D881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0" name="figure-frame-FigS07_plasmid_amr_context.png">
            <a:extLst xmlns:a="http://schemas.openxmlformats.org/drawingml/2006/main">
              <a:ext uri="{FF2B5EF4-FFF2-40B4-BE49-F238E27FC236}">
                <a16:creationId xmlns:a16="http://schemas.microsoft.com/office/drawing/2014/main" id="{A40548C0-BE82-44F4-8977-122F3142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9916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6183e1e4e432e"/>
          <a:stretch xmlns:a="http://schemas.openxmlformats.org/drawingml/2006/main"/>
        </p:blipFill>
        <p:spPr>
          <a:xfrm xmlns:a="http://schemas.openxmlformats.org/drawingml/2006/main">
            <a:off x="3269192" y="1504950"/>
            <a:ext cx="3500967" cy="4572000"/>
          </a:xfrm>
          <a:prstGeom xmlns:a="http://schemas.openxmlformats.org/drawingml/2006/main" prst="rect">
            <a:avLst/>
          </a:prstGeom>
        </p:spPr>
      </p:pic>
      <p:sp>
        <p:nvSpPr>
          <p:cNvPr id="12" name="card-Guardrail">
            <a:extLst xmlns:a="http://schemas.openxmlformats.org/drawingml/2006/main">
              <a:ext uri="{FF2B5EF4-FFF2-40B4-BE49-F238E27FC236}">
                <a16:creationId xmlns:a16="http://schemas.microsoft.com/office/drawing/2014/main" id="{0F4EA9D1-8A17-41C4-8D5E-5C5BE5C7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809750" cy="20764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9525">
            <a:solidFill>
              <a:srgbClr val="EDB9A7"/>
            </a:solidFill>
            <a:prstDash val="solid"/>
          </a:ln>
        </p:spPr>
      </p:sp>
      <p:sp>
        <p:nvSpPr>
          <p:cNvPr id="13" name="heading-1026-206-158-26">
            <a:extLst xmlns:a="http://schemas.openxmlformats.org/drawingml/2006/main">
              <a:ext uri="{FF2B5EF4-FFF2-40B4-BE49-F238E27FC236}">
                <a16:creationId xmlns:a16="http://schemas.microsoft.com/office/drawing/2014/main" id="{6A75155B-400A-4A03-B468-200B82C3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621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5A3C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14" name="body-1026-238-158-156">
            <a:extLst xmlns:a="http://schemas.openxmlformats.org/drawingml/2006/main">
              <a:ext uri="{FF2B5EF4-FFF2-40B4-BE49-F238E27FC236}">
                <a16:creationId xmlns:a16="http://schemas.microsoft.com/office/drawing/2014/main" id="{15337AB1-95BE-4C87-A12C-05F9AB9F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504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 dedicated AMR association claim. No causal interpretation. Use transition-level context only.</a:t>
            </a:r>
          </a:p>
        </p:txBody>
      </p:sp>
    </p:spTree>
    <p:extLst>
      <p:ext uri="{BB962C8B-B14F-4D97-AF65-F5344CB8AC3E}">
        <p14:creationId xmlns:p14="http://schemas.microsoft.com/office/powerpoint/2010/main" val="151963687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291566-7477-40F0-AECE-AA3211F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410EC47-790D-469F-B15C-41DF6F47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8EA8183-6EEB-44EA-A879-999B424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EVIDENCE REGISTRY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D99249-988E-47F7-8096-288368B6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Sources of truth and lookup resources for questions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F31B689-0333-4936-A9A3-6D243B0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Counts and plots are bound to the current Longcycler release claim registry.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9B4CBBB-7AAE-42FD-B5D8-49B4DD47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157E09-49C9-4A2D-B711-4D2F0B7B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E7882EA-0C0B-4C7B-B60F-E151B37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Longcycler-only pipeline outputs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DC618F-6D18-42D6-84F8-8B8A957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0" name="source-row-1">
            <a:extLst xmlns:a="http://schemas.openxmlformats.org/drawingml/2006/main">
              <a:ext uri="{FF2B5EF4-FFF2-40B4-BE49-F238E27FC236}">
                <a16:creationId xmlns:a16="http://schemas.microsoft.com/office/drawing/2014/main" id="{D7E29410-22C6-4029-B6A0-EAA5D2C9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label-102-168-210-30">
            <a:extLst xmlns:a="http://schemas.openxmlformats.org/drawingml/2006/main">
              <a:ext uri="{FF2B5EF4-FFF2-40B4-BE49-F238E27FC236}">
                <a16:creationId xmlns:a16="http://schemas.microsoft.com/office/drawing/2014/main" id="{E22294EB-2377-4403-9770-B7D68DF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Release claim registry</a:t>
            </a:r>
          </a:p>
        </p:txBody>
      </p:sp>
      <p:sp>
        <p:nvSpPr>
          <p:cNvPr id="12" name="body-336-168-836-34">
            <a:extLst xmlns:a="http://schemas.openxmlformats.org/drawingml/2006/main">
              <a:ext uri="{FF2B5EF4-FFF2-40B4-BE49-F238E27FC236}">
                <a16:creationId xmlns:a16="http://schemas.microsoft.com/office/drawing/2014/main" id="{EEF0826A-D161-41DD-A9A0-408ED168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/Users/Aamir/Desktop/rUTIs/results/pipeline/longcycler_release_claim_registry.json</a:t>
            </a:r>
          </a:p>
        </p:txBody>
      </p:sp>
      <p:sp>
        <p:nvSpPr>
          <p:cNvPr id="13" name="source-row-2">
            <a:extLst xmlns:a="http://schemas.openxmlformats.org/drawingml/2006/main">
              <a:ext uri="{FF2B5EF4-FFF2-40B4-BE49-F238E27FC236}">
                <a16:creationId xmlns:a16="http://schemas.microsoft.com/office/drawing/2014/main" id="{6B53FCA8-6F8D-456B-8AAD-4EBFC00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label-102-233-210-30">
            <a:extLst xmlns:a="http://schemas.openxmlformats.org/drawingml/2006/main">
              <a:ext uri="{FF2B5EF4-FFF2-40B4-BE49-F238E27FC236}">
                <a16:creationId xmlns:a16="http://schemas.microsoft.com/office/drawing/2014/main" id="{8FE2B010-565D-43AE-B953-ACC5749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Registry SHA-256</a:t>
            </a:r>
          </a:p>
        </p:txBody>
      </p:sp>
      <p:sp>
        <p:nvSpPr>
          <p:cNvPr id="15" name="body-336-233-836-34">
            <a:extLst xmlns:a="http://schemas.openxmlformats.org/drawingml/2006/main">
              <a:ext uri="{FF2B5EF4-FFF2-40B4-BE49-F238E27FC236}">
                <a16:creationId xmlns:a16="http://schemas.microsoft.com/office/drawing/2014/main" id="{22A2C6B0-416E-478B-8E68-E4FAB5F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19325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87f65979259a4c92545afbb74b5d3a8efffb8a3d18cd2481df165b97e5c6d30e</a:t>
            </a:r>
          </a:p>
        </p:txBody>
      </p:sp>
      <p:sp>
        <p:nvSpPr>
          <p:cNvPr id="16" name="source-row-3">
            <a:extLst xmlns:a="http://schemas.openxmlformats.org/drawingml/2006/main">
              <a:ext uri="{FF2B5EF4-FFF2-40B4-BE49-F238E27FC236}">
                <a16:creationId xmlns:a16="http://schemas.microsoft.com/office/drawing/2014/main" id="{30834301-5C8F-4EEB-8D55-1C514AB1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label-102-298-210-30">
            <a:extLst xmlns:a="http://schemas.openxmlformats.org/drawingml/2006/main">
              <a:ext uri="{FF2B5EF4-FFF2-40B4-BE49-F238E27FC236}">
                <a16:creationId xmlns:a16="http://schemas.microsoft.com/office/drawing/2014/main" id="{6EFAD024-1AC9-47BB-9B65-D48DD2A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cohort</a:t>
            </a:r>
          </a:p>
        </p:txBody>
      </p:sp>
      <p:sp>
        <p:nvSpPr>
          <p:cNvPr id="18" name="body-336-298-836-34">
            <a:extLst xmlns:a="http://schemas.openxmlformats.org/drawingml/2006/main">
              <a:ext uri="{FF2B5EF4-FFF2-40B4-BE49-F238E27FC236}">
                <a16:creationId xmlns:a16="http://schemas.microsoft.com/office/drawing/2014/main" id="{8B899D74-E02E-4869-92B6-03002EA0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532 episodes / 161 residents / 16 UTI / 516 Not_UTI</a:t>
            </a:r>
          </a:p>
        </p:txBody>
      </p:sp>
      <p:sp>
        <p:nvSpPr>
          <p:cNvPr id="19" name="source-row-4">
            <a:extLst xmlns:a="http://schemas.openxmlformats.org/drawingml/2006/main">
              <a:ext uri="{FF2B5EF4-FFF2-40B4-BE49-F238E27FC236}">
                <a16:creationId xmlns:a16="http://schemas.microsoft.com/office/drawing/2014/main" id="{D79FC52C-C365-47AA-ACB2-359C3B4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label-102-363-210-30">
            <a:extLst xmlns:a="http://schemas.openxmlformats.org/drawingml/2006/main">
              <a:ext uri="{FF2B5EF4-FFF2-40B4-BE49-F238E27FC236}">
                <a16:creationId xmlns:a16="http://schemas.microsoft.com/office/drawing/2014/main" id="{ADD07136-5BF5-4949-9A4E-3B09F9B6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Pair layers</a:t>
            </a:r>
          </a:p>
        </p:txBody>
      </p:sp>
      <p:sp>
        <p:nvSpPr>
          <p:cNvPr id="21" name="body-336-363-836-34">
            <a:extLst xmlns:a="http://schemas.openxmlformats.org/drawingml/2006/main">
              <a:ext uri="{FF2B5EF4-FFF2-40B4-BE49-F238E27FC236}">
                <a16:creationId xmlns:a16="http://schemas.microsoft.com/office/drawing/2014/main" id="{CDC5CFCF-BE69-461B-BFFC-8E58C599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7575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893 direct pairs; 371 adjacent transitions from 139 residents</a:t>
            </a:r>
          </a:p>
        </p:txBody>
      </p:sp>
      <p:sp>
        <p:nvSpPr>
          <p:cNvPr id="22" name="source-row-5">
            <a:extLst xmlns:a="http://schemas.openxmlformats.org/drawingml/2006/main">
              <a:ext uri="{FF2B5EF4-FFF2-40B4-BE49-F238E27FC236}">
                <a16:creationId xmlns:a16="http://schemas.microsoft.com/office/drawing/2014/main" id="{0342EF6B-1158-4B3C-A495-08A6A435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label-102-428-210-30">
            <a:extLst xmlns:a="http://schemas.openxmlformats.org/drawingml/2006/main">
              <a:ext uri="{FF2B5EF4-FFF2-40B4-BE49-F238E27FC236}">
                <a16:creationId xmlns:a16="http://schemas.microsoft.com/office/drawing/2014/main" id="{3AD543B2-C530-47EB-A1F4-8E212F6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Focused casebook</a:t>
            </a:r>
          </a:p>
        </p:txBody>
      </p:sp>
      <p:sp>
        <p:nvSpPr>
          <p:cNvPr id="24" name="body-336-428-836-34">
            <a:extLst xmlns:a="http://schemas.openxmlformats.org/drawingml/2006/main">
              <a:ext uri="{FF2B5EF4-FFF2-40B4-BE49-F238E27FC236}">
                <a16:creationId xmlns:a16="http://schemas.microsoft.com/office/drawing/2014/main" id="{760E6285-AC27-452D-86E0-247A5FD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transitions; 5 ≤25 SNPs; 9/9/0 cases/linked/missing</a:t>
            </a:r>
          </a:p>
        </p:txBody>
      </p:sp>
      <p:sp>
        <p:nvSpPr>
          <p:cNvPr id="25" name="source-row-6">
            <a:extLst xmlns:a="http://schemas.openxmlformats.org/drawingml/2006/main">
              <a:ext uri="{FF2B5EF4-FFF2-40B4-BE49-F238E27FC236}">
                <a16:creationId xmlns:a16="http://schemas.microsoft.com/office/drawing/2014/main" id="{C81B413C-9783-4394-A315-7418F3E9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label-102-493-210-30">
            <a:extLst xmlns:a="http://schemas.openxmlformats.org/drawingml/2006/main">
              <a:ext uri="{FF2B5EF4-FFF2-40B4-BE49-F238E27FC236}">
                <a16:creationId xmlns:a16="http://schemas.microsoft.com/office/drawing/2014/main" id="{0B19A9B9-FC07-426D-BC6A-79E0621C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Near-miss audit</a:t>
            </a:r>
          </a:p>
        </p:txBody>
      </p:sp>
      <p:sp>
        <p:nvSpPr>
          <p:cNvPr id="27" name="body-336-493-836-34">
            <a:extLst xmlns:a="http://schemas.openxmlformats.org/drawingml/2006/main">
              <a:ext uri="{FF2B5EF4-FFF2-40B4-BE49-F238E27FC236}">
                <a16:creationId xmlns:a16="http://schemas.microsoft.com/office/drawing/2014/main" id="{944E0AFE-D508-48CB-A8DF-8FA71FA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95825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 rows; separate from operational UTI cases</a:t>
            </a:r>
          </a:p>
        </p:txBody>
      </p:sp>
      <p:sp>
        <p:nvSpPr>
          <p:cNvPr id="28" name="source-row-7">
            <a:extLst xmlns:a="http://schemas.openxmlformats.org/drawingml/2006/main">
              <a:ext uri="{FF2B5EF4-FFF2-40B4-BE49-F238E27FC236}">
                <a16:creationId xmlns:a16="http://schemas.microsoft.com/office/drawing/2014/main" id="{9B348337-4B8B-4A29-93E8-0198CB6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label-102-558-210-30">
            <a:extLst xmlns:a="http://schemas.openxmlformats.org/drawingml/2006/main">
              <a:ext uri="{FF2B5EF4-FFF2-40B4-BE49-F238E27FC236}">
                <a16:creationId xmlns:a16="http://schemas.microsoft.com/office/drawing/2014/main" id="{8B7520EB-BA1C-4279-B8A1-1A712831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30" name="body-336-558-836-34">
            <a:extLst xmlns:a="http://schemas.openxmlformats.org/drawingml/2006/main">
              <a:ext uri="{FF2B5EF4-FFF2-40B4-BE49-F238E27FC236}">
                <a16:creationId xmlns:a16="http://schemas.microsoft.com/office/drawing/2014/main" id="{6FF706A6-4003-420F-BA85-7E2C367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1495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RQ01–RQ10</a:t>
            </a:r>
          </a:p>
        </p:txBody>
      </p:sp>
      <p:sp>
        <p:nvSpPr>
          <p:cNvPr id="31" name="label-583/166/18/565 is attrition/QC context only">
            <a:extLst xmlns:a="http://schemas.openxmlformats.org/drawingml/2006/main">
              <a:ext uri="{FF2B5EF4-FFF2-40B4-BE49-F238E27FC236}">
                <a16:creationId xmlns:a16="http://schemas.microsoft.com/office/drawing/2014/main" id="{3686AA92-0A8A-4DEC-8E3A-DA3425A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6265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label-418-631-444-22">
            <a:extLst xmlns:a="http://schemas.openxmlformats.org/drawingml/2006/main">
              <a:ext uri="{FF2B5EF4-FFF2-40B4-BE49-F238E27FC236}">
                <a16:creationId xmlns:a16="http://schemas.microsoft.com/office/drawing/2014/main" id="{999CDC58-7229-442D-B7B2-F9960978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10275"/>
            <a:ext cx="422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583/166/18/565 is attrition/QC context only</a:t>
            </a:r>
          </a:p>
        </p:txBody>
      </p:sp>
    </p:spTree>
    <p:extLst>
      <p:ext uri="{BB962C8B-B14F-4D97-AF65-F5344CB8AC3E}">
        <p14:creationId xmlns:p14="http://schemas.microsoft.com/office/powerpoint/2010/main" val="485102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2026-07-15T07:27:32.1300000Z</dcterms:created>
  <dcterms:modified xsi:type="dcterms:W3CDTF">2026-07-15T07:27:32.1300000Z</dcterms:modified>
</coreProperties>
</file>