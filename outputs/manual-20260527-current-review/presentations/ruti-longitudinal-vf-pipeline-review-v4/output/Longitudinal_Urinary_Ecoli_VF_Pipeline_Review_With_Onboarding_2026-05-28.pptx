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ef05c59ad744e2" /><Relationship Type="http://schemas.openxmlformats.org/officeDocument/2006/relationships/extended-properties" Target="/docProps/app.xml" Id="Rb589cc29a7f948ae" /><Relationship Type="http://schemas.openxmlformats.org/officeDocument/2006/relationships/officeDocument" Target="/ppt/presentation.xml" Id="R03d72974e6f545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124946bcd4298"/>
  </p:sldMasterIdLst>
  <p:notesMasterIdLst>
    <p:notesMasterId xmlns:r="http://schemas.openxmlformats.org/officeDocument/2006/relationships" r:id="Racd6b25684cc47b8"/>
  </p:notesMasterIdLst>
  <p:sldIdLst>
    <p:sldId xmlns:r="http://schemas.openxmlformats.org/officeDocument/2006/relationships" id="256" r:id="Reb466d5ceb284525"/>
    <p:sldId xmlns:r="http://schemas.openxmlformats.org/officeDocument/2006/relationships" id="257" r:id="Re6b9c8318c704d0e"/>
    <p:sldId xmlns:r="http://schemas.openxmlformats.org/officeDocument/2006/relationships" id="258" r:id="R6efbc062e8644ce2"/>
    <p:sldId xmlns:r="http://schemas.openxmlformats.org/officeDocument/2006/relationships" id="259" r:id="R6f662ad06a6e4cad"/>
    <p:sldId xmlns:r="http://schemas.openxmlformats.org/officeDocument/2006/relationships" id="260" r:id="R99d87e28ec1940e3"/>
    <p:sldId xmlns:r="http://schemas.openxmlformats.org/officeDocument/2006/relationships" id="261" r:id="R8dcab6ba085d4e67"/>
    <p:sldId xmlns:r="http://schemas.openxmlformats.org/officeDocument/2006/relationships" id="262" r:id="R1b90bdbc6a4342ed"/>
    <p:sldId xmlns:r="http://schemas.openxmlformats.org/officeDocument/2006/relationships" id="263" r:id="R03be8a59221c490f"/>
    <p:sldId xmlns:r="http://schemas.openxmlformats.org/officeDocument/2006/relationships" id="264" r:id="R180266d8bb7f4d2f"/>
    <p:sldId xmlns:r="http://schemas.openxmlformats.org/officeDocument/2006/relationships" id="265" r:id="Redd9aa4839b44bcb"/>
    <p:sldId xmlns:r="http://schemas.openxmlformats.org/officeDocument/2006/relationships" id="266" r:id="Re40104955fde494e"/>
    <p:sldId xmlns:r="http://schemas.openxmlformats.org/officeDocument/2006/relationships" id="267" r:id="R740ced69748b4add"/>
    <p:sldId xmlns:r="http://schemas.openxmlformats.org/officeDocument/2006/relationships" id="268" r:id="R5b529101bd344043"/>
    <p:sldId xmlns:r="http://schemas.openxmlformats.org/officeDocument/2006/relationships" id="269" r:id="R7436eb92ceae4eea"/>
    <p:sldId xmlns:r="http://schemas.openxmlformats.org/officeDocument/2006/relationships" id="270" r:id="R9120bd6a11734f29"/>
    <p:sldId xmlns:r="http://schemas.openxmlformats.org/officeDocument/2006/relationships" id="271" r:id="Re09c3a1f5ef44f7c"/>
    <p:sldId xmlns:r="http://schemas.openxmlformats.org/officeDocument/2006/relationships" id="272" r:id="R2dcc8140c9b84522"/>
    <p:sldId xmlns:r="http://schemas.openxmlformats.org/officeDocument/2006/relationships" id="273" r:id="R01977136202a42fe"/>
    <p:sldId xmlns:r="http://schemas.openxmlformats.org/officeDocument/2006/relationships" id="274" r:id="R1056284f41db43c8"/>
    <p:sldId xmlns:r="http://schemas.openxmlformats.org/officeDocument/2006/relationships" id="275" r:id="Ra6711484f2c94729"/>
    <p:sldId xmlns:r="http://schemas.openxmlformats.org/officeDocument/2006/relationships" id="276" r:id="R670997ac295f47ad"/>
    <p:sldId xmlns:r="http://schemas.openxmlformats.org/officeDocument/2006/relationships" id="277" r:id="Rb86acddbb4d64ee6"/>
    <p:sldId xmlns:r="http://schemas.openxmlformats.org/officeDocument/2006/relationships" id="278" r:id="R362a6b4a6f8c47ed"/>
    <p:sldId xmlns:r="http://schemas.openxmlformats.org/officeDocument/2006/relationships" id="279" r:id="R5e2d77cdc586468d"/>
    <p:sldId xmlns:r="http://schemas.openxmlformats.org/officeDocument/2006/relationships" id="280" r:id="R8efb883c702b42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bfce6435924558" /><Relationship Type="http://schemas.openxmlformats.org/officeDocument/2006/relationships/slideMaster" Target="/ppt/slideMasters/slideMaster1.xml" Id="R8ce124946bcd4298" /><Relationship Type="http://schemas.openxmlformats.org/officeDocument/2006/relationships/notesMaster" Target="/ppt/notesMasters/notesMaster1.xml" Id="Racd6b25684cc47b8" /><Relationship Type="http://schemas.openxmlformats.org/officeDocument/2006/relationships/presProps" Target="/ppt/presProps.xml" Id="R6fa12d073e934d39" /><Relationship Type="http://schemas.openxmlformats.org/officeDocument/2006/relationships/tableStyles" Target="/ppt/tableStyles.xml" Id="R2d2d2acf2dac4dd1" /><Relationship Type="http://schemas.openxmlformats.org/officeDocument/2006/relationships/slide" Target="/ppt/slides/slide1.xml" Id="Reb466d5ceb284525" /><Relationship Type="http://schemas.openxmlformats.org/officeDocument/2006/relationships/slide" Target="/ppt/slides/slide2.xml" Id="Re6b9c8318c704d0e" /><Relationship Type="http://schemas.openxmlformats.org/officeDocument/2006/relationships/slide" Target="/ppt/slides/slide3.xml" Id="R6efbc062e8644ce2" /><Relationship Type="http://schemas.openxmlformats.org/officeDocument/2006/relationships/slide" Target="/ppt/slides/slide4.xml" Id="R6f662ad06a6e4cad" /><Relationship Type="http://schemas.openxmlformats.org/officeDocument/2006/relationships/slide" Target="/ppt/slides/slide5.xml" Id="R99d87e28ec1940e3" /><Relationship Type="http://schemas.openxmlformats.org/officeDocument/2006/relationships/slide" Target="/ppt/slides/slide6.xml" Id="R8dcab6ba085d4e67" /><Relationship Type="http://schemas.openxmlformats.org/officeDocument/2006/relationships/slide" Target="/ppt/slides/slide7.xml" Id="R1b90bdbc6a4342ed" /><Relationship Type="http://schemas.openxmlformats.org/officeDocument/2006/relationships/slide" Target="/ppt/slides/slide8.xml" Id="R03be8a59221c490f" /><Relationship Type="http://schemas.openxmlformats.org/officeDocument/2006/relationships/slide" Target="/ppt/slides/slide9.xml" Id="R180266d8bb7f4d2f" /><Relationship Type="http://schemas.openxmlformats.org/officeDocument/2006/relationships/slide" Target="/ppt/slides/slide10.xml" Id="Redd9aa4839b44bcb" /><Relationship Type="http://schemas.openxmlformats.org/officeDocument/2006/relationships/slide" Target="/ppt/slides/slide11.xml" Id="Re40104955fde494e" /><Relationship Type="http://schemas.openxmlformats.org/officeDocument/2006/relationships/slide" Target="/ppt/slides/slide12.xml" Id="R740ced69748b4add" /><Relationship Type="http://schemas.openxmlformats.org/officeDocument/2006/relationships/slide" Target="/ppt/slides/slide13.xml" Id="R5b529101bd344043" /><Relationship Type="http://schemas.openxmlformats.org/officeDocument/2006/relationships/slide" Target="/ppt/slides/slide14.xml" Id="R7436eb92ceae4eea" /><Relationship Type="http://schemas.openxmlformats.org/officeDocument/2006/relationships/slide" Target="/ppt/slides/slide15.xml" Id="R9120bd6a11734f29" /><Relationship Type="http://schemas.openxmlformats.org/officeDocument/2006/relationships/slide" Target="/ppt/slides/slide16.xml" Id="Re09c3a1f5ef44f7c" /><Relationship Type="http://schemas.openxmlformats.org/officeDocument/2006/relationships/slide" Target="/ppt/slides/slide17.xml" Id="R2dcc8140c9b84522" /><Relationship Type="http://schemas.openxmlformats.org/officeDocument/2006/relationships/slide" Target="/ppt/slides/slide18.xml" Id="R01977136202a42fe" /><Relationship Type="http://schemas.openxmlformats.org/officeDocument/2006/relationships/slide" Target="/ppt/slides/slide19.xml" Id="R1056284f41db43c8" /><Relationship Type="http://schemas.openxmlformats.org/officeDocument/2006/relationships/slide" Target="/ppt/slides/slide20.xml" Id="Ra6711484f2c94729" /><Relationship Type="http://schemas.openxmlformats.org/officeDocument/2006/relationships/slide" Target="/ppt/slides/slide21.xml" Id="R670997ac295f47ad" /><Relationship Type="http://schemas.openxmlformats.org/officeDocument/2006/relationships/slide" Target="/ppt/slides/slide22.xml" Id="Rb86acddbb4d64ee6" /><Relationship Type="http://schemas.openxmlformats.org/officeDocument/2006/relationships/slide" Target="/ppt/slides/slide23.xml" Id="R362a6b4a6f8c47ed" /><Relationship Type="http://schemas.openxmlformats.org/officeDocument/2006/relationships/slide" Target="/ppt/slides/slide24.xml" Id="R5e2d77cdc586468d" /><Relationship Type="http://schemas.openxmlformats.org/officeDocument/2006/relationships/slide" Target="/ppt/slides/slide25.xml" Id="R8efb883c702b42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29183787214f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fc64285d0c470f" /><Relationship Type="http://schemas.openxmlformats.org/officeDocument/2006/relationships/notesMaster" Target="/ppt/notesMasters/notesMaster1.xml" Id="R6a7c96f6d0124b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4941222db64728" /><Relationship Type="http://schemas.openxmlformats.org/officeDocument/2006/relationships/notesMaster" Target="/ppt/notesMasters/notesMaster1.xml" Id="Rbb6f69f7983e4f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6cea57c104440f" /><Relationship Type="http://schemas.openxmlformats.org/officeDocument/2006/relationships/notesMaster" Target="/ppt/notesMasters/notesMaster1.xml" Id="Rd4a532b919fa4e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109a49edff4412" /><Relationship Type="http://schemas.openxmlformats.org/officeDocument/2006/relationships/notesMaster" Target="/ppt/notesMasters/notesMaster1.xml" Id="R953d7171194d42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e724c0a12424c" /><Relationship Type="http://schemas.openxmlformats.org/officeDocument/2006/relationships/notesMaster" Target="/ppt/notesMasters/notesMaster1.xml" Id="R76c98978f2ba41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a8cafed13a40f9" /><Relationship Type="http://schemas.openxmlformats.org/officeDocument/2006/relationships/notesMaster" Target="/ppt/notesMasters/notesMaster1.xml" Id="R087a2f315c3a4d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5cf89f76d34c6f" /><Relationship Type="http://schemas.openxmlformats.org/officeDocument/2006/relationships/notesMaster" Target="/ppt/notesMasters/notesMaster1.xml" Id="R3ef5550427e449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914a7ef38049d0" /><Relationship Type="http://schemas.openxmlformats.org/officeDocument/2006/relationships/notesMaster" Target="/ppt/notesMasters/notesMaster1.xml" Id="Rfa750d44826743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171d941acb45d7" /><Relationship Type="http://schemas.openxmlformats.org/officeDocument/2006/relationships/notesMaster" Target="/ppt/notesMasters/notesMaster1.xml" Id="R34cd525da1854c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86e52e233a43ae" /><Relationship Type="http://schemas.openxmlformats.org/officeDocument/2006/relationships/notesMaster" Target="/ppt/notesMasters/notesMaster1.xml" Id="Rb4180096e54440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09e03addb94f21" /><Relationship Type="http://schemas.openxmlformats.org/officeDocument/2006/relationships/notesMaster" Target="/ppt/notesMasters/notesMaster1.xml" Id="R1970a66969d441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33f9b8d01c4bde" /><Relationship Type="http://schemas.openxmlformats.org/officeDocument/2006/relationships/notesMaster" Target="/ppt/notesMasters/notesMaster1.xml" Id="R59a2dd5e2c4c49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208ebba0ce4e65" /><Relationship Type="http://schemas.openxmlformats.org/officeDocument/2006/relationships/notesMaster" Target="/ppt/notesMasters/notesMaster1.xml" Id="Rd6c8d5cf42a44a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846275d4cb4d34" /><Relationship Type="http://schemas.openxmlformats.org/officeDocument/2006/relationships/notesMaster" Target="/ppt/notesMasters/notesMaster1.xml" Id="R27a5586feea845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5bb046c97449ad" /><Relationship Type="http://schemas.openxmlformats.org/officeDocument/2006/relationships/notesMaster" Target="/ppt/notesMasters/notesMaster1.xml" Id="R2bf89430846140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2e89c8b95142f8" /><Relationship Type="http://schemas.openxmlformats.org/officeDocument/2006/relationships/notesMaster" Target="/ppt/notesMasters/notesMaster1.xml" Id="Rbe4b69e69e1c49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cfd4799ef0491e" /><Relationship Type="http://schemas.openxmlformats.org/officeDocument/2006/relationships/notesMaster" Target="/ppt/notesMasters/notesMaster1.xml" Id="R4321630c121e48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742194fa5c444d" /><Relationship Type="http://schemas.openxmlformats.org/officeDocument/2006/relationships/notesMaster" Target="/ppt/notesMasters/notesMaster1.xml" Id="R2a60887b907a46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c2c04eb3c347ad" /><Relationship Type="http://schemas.openxmlformats.org/officeDocument/2006/relationships/notesMaster" Target="/ppt/notesMasters/notesMaster1.xml" Id="Ra866c3d4bb144e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ce0bfb145f45fe" /><Relationship Type="http://schemas.openxmlformats.org/officeDocument/2006/relationships/notesMaster" Target="/ppt/notesMasters/notesMaster1.xml" Id="R627ff67669e34e5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2024b7aee134667" /><Relationship Type="http://schemas.openxmlformats.org/officeDocument/2006/relationships/notesMaster" Target="/ppt/notesMasters/notesMaster1.xml" Id="R9384ba4ee3e549e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d62d8d820b417c" /><Relationship Type="http://schemas.openxmlformats.org/officeDocument/2006/relationships/notesMaster" Target="/ppt/notesMasters/notesMaster1.xml" Id="R4253d9eb849648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2a448009a342fb" /><Relationship Type="http://schemas.openxmlformats.org/officeDocument/2006/relationships/notesMaster" Target="/ppt/notesMasters/notesMaster1.xml" Id="R54a1fdef5e484c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38ed919a0e4d19" /><Relationship Type="http://schemas.openxmlformats.org/officeDocument/2006/relationships/notesMaster" Target="/ppt/notesMasters/notesMaster1.xml" Id="R23fad2a1908a43d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79a3144965f4ef4" /><Relationship Type="http://schemas.openxmlformats.org/officeDocument/2006/relationships/notesMaster" Target="/ppt/notesMasters/notesMaster1.xml" Id="R30a9823dddbc48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Title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Set the scope immediately: selected QC-passing Longcycler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Operational UTI is an exploratory annotation.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Plain-English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Walk through episode, selected genome, VF profile, repeated pair, then clinical overlay.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Do not collapse episode, resident, pair, and transition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Denominator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Name the unit beside every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Source counts are QC context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Operational phenotype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Explain the project’s operational UTI annotation.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Not_UTI is a mixed comparator, not a single biological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Scope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State the selected Longcycler-only analytical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The phenotype overlay is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Selected cohort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Anchor 532 episodes, 161 residents, and the operational phenotype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Source clinical counts are QC context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Walk through the current release handoffs.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RQ01–RQ10 use the same selected cohort.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VF representation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Explain the descriptive feature framework.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Presence/absence is not expression.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VF repertoire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the top-gene ranking descriptively.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Do not infer clinical association.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VF modules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modules for navigation.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Modules are not validated disease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Pair layers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Separate 893 direct pairs from 371 adjacent transitions.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Name the unit beside each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Gain/loss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Show adjacent-transition change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Changes need lineage and QC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Lineage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MLST as contextual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ST agreement is not proof of the same strain.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Clinical overlay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Keep 16 operational UTI and 516 Not_UTI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Exploratory observational analysis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Focused transitions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Report the aggregate focused transition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Avoid anecdotal mechanism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Land on evidence, boundary, and next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Do not cross the causal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Handover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Show the practical entry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The research-question layer is RQ01–RQ10.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Denominator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Explain that 583/166/18/565 is source/QC context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Analytical claims use 532/161/16/516.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Module prevalence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only as an exploratory status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Repeated measures and lineage remain interpretive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Casebook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the full nine-case linked casebook.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Casebook buckets do not prove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Stable-state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low distance and stable VF as supporting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Do not claim host-state mechanism from genomic stability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Robustness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Keep the sparse operational phenotype denominator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Near-miss rows are not operational UTI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Lineage PCoA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as a diagnostic check before status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Clustering does not establish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Accessory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Keep accessory information in a supporting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No dedicated AMR or causal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the claim registry for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All analytical claims use the selected cohort.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c8c512cd04f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f00bf530b44a1c" /><Relationship Type="http://schemas.openxmlformats.org/officeDocument/2006/relationships/slideLayout" Target="/ppt/slideLayouts/slideLayout1.xml" Id="R3a66d024f50c41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6d024f50c41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73ae9bf5c4962" /><Relationship Type="http://schemas.openxmlformats.org/officeDocument/2006/relationships/notesSlide" Target="/ppt/notesSlides/notesSlide1.xml" Id="R3c5ffb05716645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1d3d34714b67" /><Relationship Type="http://schemas.openxmlformats.org/officeDocument/2006/relationships/notesSlide" Target="/ppt/notesSlides/notesSlide2.xml" Id="R9b9e732cc8924a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30a3f1287416f" /><Relationship Type="http://schemas.openxmlformats.org/officeDocument/2006/relationships/notesSlide" Target="/ppt/notesSlides/notesSlide3.xml" Id="Rd2a44b6e4927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03de463c740ff" /><Relationship Type="http://schemas.openxmlformats.org/officeDocument/2006/relationships/notesSlide" Target="/ppt/notesSlides/notesSlide4.xml" Id="Rb07a1547d05243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f685538bb4172" /><Relationship Type="http://schemas.openxmlformats.org/officeDocument/2006/relationships/notesSlide" Target="/ppt/notesSlides/notesSlide5.xml" Id="R733cc2ed66d442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f6b5153384908" /><Relationship Type="http://schemas.openxmlformats.org/officeDocument/2006/relationships/notesSlide" Target="/ppt/notesSlides/notesSlide6.xml" Id="R251a4ab5d7e943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7dbea251f450e" /><Relationship Type="http://schemas.openxmlformats.org/officeDocument/2006/relationships/notesSlide" Target="/ppt/notesSlides/notesSlide7.xml" Id="R72089ea1a0c347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2531602214c69" /><Relationship Type="http://schemas.openxmlformats.org/officeDocument/2006/relationships/notesSlide" Target="/ppt/notesSlides/notesSlide8.xml" Id="R051a40bae53149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9e821257d49dd" /><Relationship Type="http://schemas.openxmlformats.org/officeDocument/2006/relationships/image" Target="/ppt/media/image.png" Id="R182e41b633d346d0" /><Relationship Type="http://schemas.openxmlformats.org/officeDocument/2006/relationships/notesSlide" Target="/ppt/notesSlides/notesSlide9.xml" Id="R60a8122ddf7242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3e7110ec44ae1" /><Relationship Type="http://schemas.openxmlformats.org/officeDocument/2006/relationships/image" Target="/ppt/media/image2.png" Id="R69233e8c9cba4e06" /><Relationship Type="http://schemas.openxmlformats.org/officeDocument/2006/relationships/notesSlide" Target="/ppt/notesSlides/notesSlide10.xml" Id="R722023c49c6442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2bf7a0d8344ef" /><Relationship Type="http://schemas.openxmlformats.org/officeDocument/2006/relationships/notesSlide" Target="/ppt/notesSlides/notesSlide11.xml" Id="R7b792614422346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e4f96ce744a88" /><Relationship Type="http://schemas.openxmlformats.org/officeDocument/2006/relationships/image" Target="/ppt/media/image3.png" Id="R4d641923ab3f462d" /><Relationship Type="http://schemas.openxmlformats.org/officeDocument/2006/relationships/notesSlide" Target="/ppt/notesSlides/notesSlide12.xml" Id="Ra5358123db8945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bc00a1e4b4724" /><Relationship Type="http://schemas.openxmlformats.org/officeDocument/2006/relationships/image" Target="/ppt/media/image4.png" Id="Rc494b7a9085f4473" /><Relationship Type="http://schemas.openxmlformats.org/officeDocument/2006/relationships/notesSlide" Target="/ppt/notesSlides/notesSlide13.xml" Id="Rd5071591e1c84c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10e54bc1344ef" /><Relationship Type="http://schemas.openxmlformats.org/officeDocument/2006/relationships/image" Target="/ppt/media/image5.png" Id="Ree12000f0be245be" /><Relationship Type="http://schemas.openxmlformats.org/officeDocument/2006/relationships/notesSlide" Target="/ppt/notesSlides/notesSlide14.xml" Id="R95161fbd03174d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b456690454fc0" /><Relationship Type="http://schemas.openxmlformats.org/officeDocument/2006/relationships/notesSlide" Target="/ppt/notesSlides/notesSlide15.xml" Id="Rf6371e95b5fb4f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b1b7225554414" /><Relationship Type="http://schemas.openxmlformats.org/officeDocument/2006/relationships/notesSlide" Target="/ppt/notesSlides/notesSlide16.xml" Id="R2a543cff8aee4f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0b5f806914320" /><Relationship Type="http://schemas.openxmlformats.org/officeDocument/2006/relationships/notesSlide" Target="/ppt/notesSlides/notesSlide17.xml" Id="R1c584229cc6b44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2cb91ae9347f1" /><Relationship Type="http://schemas.openxmlformats.org/officeDocument/2006/relationships/notesSlide" Target="/ppt/notesSlides/notesSlide18.xml" Id="R52f4fa2f52ab45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caaa14d624422" /><Relationship Type="http://schemas.openxmlformats.org/officeDocument/2006/relationships/image" Target="/ppt/media/image6.png" Id="R22b11342676e4bdd" /><Relationship Type="http://schemas.openxmlformats.org/officeDocument/2006/relationships/notesSlide" Target="/ppt/notesSlides/notesSlide19.xml" Id="R74eb195b508c41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2a4e5e9414c0b" /><Relationship Type="http://schemas.openxmlformats.org/officeDocument/2006/relationships/image" Target="/ppt/media/image7.png" Id="R384f4cf169bc471f" /><Relationship Type="http://schemas.openxmlformats.org/officeDocument/2006/relationships/notesSlide" Target="/ppt/notesSlides/notesSlide20.xml" Id="R54f345ad4b9d4a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d2026fb574e9a" /><Relationship Type="http://schemas.openxmlformats.org/officeDocument/2006/relationships/image" Target="/ppt/media/image8.png" Id="Rf5f0a75578884781" /><Relationship Type="http://schemas.openxmlformats.org/officeDocument/2006/relationships/notesSlide" Target="/ppt/notesSlides/notesSlide21.xml" Id="Re986a130a7bb44e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833cefa614e8c" /><Relationship Type="http://schemas.openxmlformats.org/officeDocument/2006/relationships/image" Target="/ppt/media/image9.png" Id="R52cab49a8fbf42ae" /><Relationship Type="http://schemas.openxmlformats.org/officeDocument/2006/relationships/notesSlide" Target="/ppt/notesSlides/notesSlide22.xml" Id="R9847d74946e741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d769fab1f4bf8" /><Relationship Type="http://schemas.openxmlformats.org/officeDocument/2006/relationships/image" Target="/ppt/media/image10.png" Id="Rca5e8a23e7404fdf" /><Relationship Type="http://schemas.openxmlformats.org/officeDocument/2006/relationships/notesSlide" Target="/ppt/notesSlides/notesSlide23.xml" Id="R335ad2beba9f40e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4dd4bbb264632" /><Relationship Type="http://schemas.openxmlformats.org/officeDocument/2006/relationships/image" Target="/ppt/media/image11.png" Id="R7648b27fe54c4706" /><Relationship Type="http://schemas.openxmlformats.org/officeDocument/2006/relationships/notesSlide" Target="/ppt/notesSlides/notesSlide24.xml" Id="Re1011345f2fa495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11cf8e305454a" /><Relationship Type="http://schemas.openxmlformats.org/officeDocument/2006/relationships/notesSlide" Target="/ppt/notesSlides/notesSlide25.xml" Id="R1aef988117f34a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7417856-C195-47D4-8A1E-9DCD39EA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97B36DD6-AE5B-4400-8176-F2F595C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chrome-62-54-1080-22">
            <a:extLst xmlns:a="http://schemas.openxmlformats.org/drawingml/2006/main">
              <a:ext uri="{FF2B5EF4-FFF2-40B4-BE49-F238E27FC236}">
                <a16:creationId xmlns:a16="http://schemas.microsoft.com/office/drawing/2014/main" id="{7FEDADD3-20A0-4FBB-ACD8-669CA275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REVIEW  /  SELECTED LONGCYCLER ANALYSIS</a:t>
            </a:r>
          </a:p>
        </p:txBody>
      </p:sp>
      <p:sp>
        <p:nvSpPr>
          <p:cNvPr id="4" name="body-62-92-1120-90">
            <a:extLst xmlns:a="http://schemas.openxmlformats.org/drawingml/2006/main">
              <a:ext uri="{FF2B5EF4-FFF2-40B4-BE49-F238E27FC236}">
                <a16:creationId xmlns:a16="http://schemas.microsoft.com/office/drawing/2014/main" id="{83D5FAE0-8E0B-4E0D-8416-4FDCA090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Virulence-factor profiling of longitudinal urinary E. coli isolates</a:t>
            </a:r>
          </a:p>
        </p:txBody>
      </p:sp>
      <p:sp>
        <p:nvSpPr>
          <p:cNvPr id="5" name="body-62-190-1000-28">
            <a:extLst xmlns:a="http://schemas.openxmlformats.org/drawingml/2006/main">
              <a:ext uri="{FF2B5EF4-FFF2-40B4-BE49-F238E27FC236}">
                <a16:creationId xmlns:a16="http://schemas.microsoft.com/office/drawing/2014/main" id="{8DA9151D-2554-4C0D-8965-3CBB4EBB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selected QC-passing assembly per episode; operational UTI overlay remains exploratory</a:t>
            </a:r>
          </a:p>
        </p:txBody>
      </p:sp>
      <p:sp>
        <p:nvSpPr>
          <p:cNvPr id="6" name="card-What VF repertoire is present?">
            <a:extLst xmlns:a="http://schemas.openxmlformats.org/drawingml/2006/main">
              <a:ext uri="{FF2B5EF4-FFF2-40B4-BE49-F238E27FC236}">
                <a16:creationId xmlns:a16="http://schemas.microsoft.com/office/drawing/2014/main" id="{3037518B-251F-4B38-8FB1-64F9FDA0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E8F1FA"/>
            </a:solidFill>
            <a:prstDash val="solid"/>
          </a:ln>
        </p:spPr>
      </p:sp>
      <p:sp>
        <p:nvSpPr>
          <p:cNvPr id="7" name="label-80-294-308-18">
            <a:extLst xmlns:a="http://schemas.openxmlformats.org/drawingml/2006/main">
              <a:ext uri="{FF2B5EF4-FFF2-40B4-BE49-F238E27FC236}">
                <a16:creationId xmlns:a16="http://schemas.microsoft.com/office/drawing/2014/main" id="{4F19C622-D8BF-4080-A5F2-16A237CB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Question 1</a:t>
            </a:r>
          </a:p>
        </p:txBody>
      </p:sp>
      <p:sp>
        <p:nvSpPr>
          <p:cNvPr id="8" name="heading-80-318-308-26">
            <a:extLst xmlns:a="http://schemas.openxmlformats.org/drawingml/2006/main">
              <a:ext uri="{FF2B5EF4-FFF2-40B4-BE49-F238E27FC236}">
                <a16:creationId xmlns:a16="http://schemas.microsoft.com/office/drawing/2014/main" id="{2FAB990D-98A7-4258-A102-85BA5432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What VF repertoire is present?</a:t>
            </a:r>
          </a:p>
        </p:txBody>
      </p:sp>
      <p:sp>
        <p:nvSpPr>
          <p:cNvPr id="9" name="body-80-350-308-59">
            <a:extLst xmlns:a="http://schemas.openxmlformats.org/drawingml/2006/main">
              <a:ext uri="{FF2B5EF4-FFF2-40B4-BE49-F238E27FC236}">
                <a16:creationId xmlns:a16="http://schemas.microsoft.com/office/drawing/2014/main" id="{BB5ACE0C-B99E-446C-930F-CF03497F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9337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selected episodes; 227 binary VF features.</a:t>
            </a:r>
          </a:p>
        </p:txBody>
      </p:sp>
      <p:sp>
        <p:nvSpPr>
          <p:cNvPr id="10" name="card-How stable are profiles over time?">
            <a:extLst xmlns:a="http://schemas.openxmlformats.org/drawingml/2006/main">
              <a:ext uri="{FF2B5EF4-FFF2-40B4-BE49-F238E27FC236}">
                <a16:creationId xmlns:a16="http://schemas.microsoft.com/office/drawing/2014/main" id="{71AB6511-C651-4514-8938-9021A7CD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EAF7EF"/>
            </a:solidFill>
            <a:prstDash val="solid"/>
          </a:ln>
        </p:spPr>
      </p:sp>
      <p:sp>
        <p:nvSpPr>
          <p:cNvPr id="11" name="label-478-294-308-18">
            <a:extLst xmlns:a="http://schemas.openxmlformats.org/drawingml/2006/main">
              <a:ext uri="{FF2B5EF4-FFF2-40B4-BE49-F238E27FC236}">
                <a16:creationId xmlns:a16="http://schemas.microsoft.com/office/drawing/2014/main" id="{93C256F7-B03A-446A-8E13-19AE5EDA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Question 2</a:t>
            </a:r>
          </a:p>
        </p:txBody>
      </p:sp>
      <p:sp>
        <p:nvSpPr>
          <p:cNvPr id="12" name="heading-478-318-308-26">
            <a:extLst xmlns:a="http://schemas.openxmlformats.org/drawingml/2006/main">
              <a:ext uri="{FF2B5EF4-FFF2-40B4-BE49-F238E27FC236}">
                <a16:creationId xmlns:a16="http://schemas.microsoft.com/office/drawing/2014/main" id="{B9891FD0-A480-4962-9015-8CDB6413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How stable are profiles over time?</a:t>
            </a:r>
          </a:p>
        </p:txBody>
      </p:sp>
      <p:sp>
        <p:nvSpPr>
          <p:cNvPr id="13" name="body-478-350-308-59">
            <a:extLst xmlns:a="http://schemas.openxmlformats.org/drawingml/2006/main">
              <a:ext uri="{FF2B5EF4-FFF2-40B4-BE49-F238E27FC236}">
                <a16:creationId xmlns:a16="http://schemas.microsoft.com/office/drawing/2014/main" id="{F81575D4-9AEC-408C-BD17-8D56131C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9337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893 direct pairs; 371 adjacent transitions.</a:t>
            </a:r>
          </a:p>
        </p:txBody>
      </p:sp>
      <p:sp>
        <p:nvSpPr>
          <p:cNvPr id="14" name="card-How should clinical status be overlaid?">
            <a:extLst xmlns:a="http://schemas.openxmlformats.org/drawingml/2006/main">
              <a:ext uri="{FF2B5EF4-FFF2-40B4-BE49-F238E27FC236}">
                <a16:creationId xmlns:a16="http://schemas.microsoft.com/office/drawing/2014/main" id="{742EF116-1434-4187-A9AB-D9D46522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F4E6"/>
            </a:solidFill>
            <a:prstDash val="solid"/>
          </a:ln>
        </p:spPr>
      </p:sp>
      <p:sp>
        <p:nvSpPr>
          <p:cNvPr id="15" name="label-876-294-308-18">
            <a:extLst xmlns:a="http://schemas.openxmlformats.org/drawingml/2006/main">
              <a:ext uri="{FF2B5EF4-FFF2-40B4-BE49-F238E27FC236}">
                <a16:creationId xmlns:a16="http://schemas.microsoft.com/office/drawing/2014/main" id="{5A53358D-6862-41D2-9C33-3D46A6C6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Question 3</a:t>
            </a:r>
          </a:p>
        </p:txBody>
      </p:sp>
      <p:sp>
        <p:nvSpPr>
          <p:cNvPr id="16" name="heading-876-318-308-26">
            <a:extLst xmlns:a="http://schemas.openxmlformats.org/drawingml/2006/main">
              <a:ext uri="{FF2B5EF4-FFF2-40B4-BE49-F238E27FC236}">
                <a16:creationId xmlns:a16="http://schemas.microsoft.com/office/drawing/2014/main" id="{9515DB27-B6B8-45EC-A41A-61CEFFD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How should clinical status be overlaid?</a:t>
            </a:r>
          </a:p>
        </p:txBody>
      </p:sp>
      <p:sp>
        <p:nvSpPr>
          <p:cNvPr id="17" name="body-876-350-308-59">
            <a:extLst xmlns:a="http://schemas.openxmlformats.org/drawingml/2006/main">
              <a:ext uri="{FF2B5EF4-FFF2-40B4-BE49-F238E27FC236}">
                <a16:creationId xmlns:a16="http://schemas.microsoft.com/office/drawing/2014/main" id="{3E5AAD12-9667-43D5-B42E-D3437262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9337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operational UTI and 516 operational Not_UTI episodes.</a:t>
            </a:r>
          </a:p>
        </p:txBody>
      </p:sp>
      <p:sp>
        <p:nvSpPr>
          <p:cNvPr id="18" name="metric-selected episodes">
            <a:extLst xmlns:a="http://schemas.openxmlformats.org/drawingml/2006/main">
              <a:ext uri="{FF2B5EF4-FFF2-40B4-BE49-F238E27FC236}">
                <a16:creationId xmlns:a16="http://schemas.microsoft.com/office/drawing/2014/main" id="{18F5AC6F-9C1D-4F68-A825-101145E2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heading-200-512-165-31">
            <a:extLst xmlns:a="http://schemas.openxmlformats.org/drawingml/2006/main">
              <a:ext uri="{FF2B5EF4-FFF2-40B4-BE49-F238E27FC236}">
                <a16:creationId xmlns:a16="http://schemas.microsoft.com/office/drawing/2014/main" id="{B0035C8D-2E8E-4227-8E24-360F8EB8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20" name="body-200-550-165-32">
            <a:extLst xmlns:a="http://schemas.openxmlformats.org/drawingml/2006/main">
              <a:ext uri="{FF2B5EF4-FFF2-40B4-BE49-F238E27FC236}">
                <a16:creationId xmlns:a16="http://schemas.microsoft.com/office/drawing/2014/main" id="{4B8ABEE8-A8BC-4215-890C-72C34C54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episodes</a:t>
            </a:r>
          </a:p>
        </p:txBody>
      </p:sp>
      <p:sp>
        <p:nvSpPr>
          <p:cNvPr id="21" name="metric-residents">
            <a:extLst xmlns:a="http://schemas.openxmlformats.org/drawingml/2006/main">
              <a:ext uri="{FF2B5EF4-FFF2-40B4-BE49-F238E27FC236}">
                <a16:creationId xmlns:a16="http://schemas.microsoft.com/office/drawing/2014/main" id="{C776A987-B052-4256-A47D-DDF0CA84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heading-425-512-165-31">
            <a:extLst xmlns:a="http://schemas.openxmlformats.org/drawingml/2006/main">
              <a:ext uri="{FF2B5EF4-FFF2-40B4-BE49-F238E27FC236}">
                <a16:creationId xmlns:a16="http://schemas.microsoft.com/office/drawing/2014/main" id="{CFF81FAA-3822-434C-B7FE-8C54D4B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161</a:t>
            </a:r>
          </a:p>
        </p:txBody>
      </p:sp>
      <p:sp>
        <p:nvSpPr>
          <p:cNvPr id="23" name="body-425-550-165-32">
            <a:extLst xmlns:a="http://schemas.openxmlformats.org/drawingml/2006/main">
              <a:ext uri="{FF2B5EF4-FFF2-40B4-BE49-F238E27FC236}">
                <a16:creationId xmlns:a16="http://schemas.microsoft.com/office/drawing/2014/main" id="{5E3329B0-32CB-4AC9-BD46-914742EC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</a:t>
            </a:r>
          </a:p>
        </p:txBody>
      </p:sp>
      <p:sp>
        <p:nvSpPr>
          <p:cNvPr id="24" name="metric-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FC98CD0F-2E93-4EF5-91E2-71645178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heading-650-512-165-31">
            <a:extLst xmlns:a="http://schemas.openxmlformats.org/drawingml/2006/main">
              <a:ext uri="{FF2B5EF4-FFF2-40B4-BE49-F238E27FC236}">
                <a16:creationId xmlns:a16="http://schemas.microsoft.com/office/drawing/2014/main" id="{AF5C1995-BCF5-4716-A11C-617D8D59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26" name="body-650-550-165-32">
            <a:extLst xmlns:a="http://schemas.openxmlformats.org/drawingml/2006/main">
              <a:ext uri="{FF2B5EF4-FFF2-40B4-BE49-F238E27FC236}">
                <a16:creationId xmlns:a16="http://schemas.microsoft.com/office/drawing/2014/main" id="{D1EF911A-E598-44F3-BB3E-03292D28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F855A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7" name="metric-operational UTI">
            <a:extLst xmlns:a="http://schemas.openxmlformats.org/drawingml/2006/main">
              <a:ext uri="{FF2B5EF4-FFF2-40B4-BE49-F238E27FC236}">
                <a16:creationId xmlns:a16="http://schemas.microsoft.com/office/drawing/2014/main" id="{D4EE9FDF-2D93-41E1-98D7-7E81EFE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heading-875-512-165-31">
            <a:extLst xmlns:a="http://schemas.openxmlformats.org/drawingml/2006/main">
              <a:ext uri="{FF2B5EF4-FFF2-40B4-BE49-F238E27FC236}">
                <a16:creationId xmlns:a16="http://schemas.microsoft.com/office/drawing/2014/main" id="{ADCB7AC8-0A77-4BF2-AD65-D6DC47D8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9" name="body-875-550-165-32">
            <a:extLst xmlns:a="http://schemas.openxmlformats.org/drawingml/2006/main">
              <a:ext uri="{FF2B5EF4-FFF2-40B4-BE49-F238E27FC236}">
                <a16:creationId xmlns:a16="http://schemas.microsoft.com/office/drawing/2014/main" id="{5C381413-9C89-4AD5-AC61-34536FCC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UTI</a:t>
            </a:r>
          </a:p>
        </p:txBody>
      </p:sp>
      <p:sp>
        <p:nvSpPr>
          <p:cNvPr id="30" name="chrome-62-682-1020-18">
            <a:extLst xmlns:a="http://schemas.openxmlformats.org/drawingml/2006/main">
              <a:ext uri="{FF2B5EF4-FFF2-40B4-BE49-F238E27FC236}">
                <a16:creationId xmlns:a16="http://schemas.microsoft.com/office/drawing/2014/main" id="{EDA6AFF6-FB7A-4936-A6CD-BDFF196C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31" name="chrome-1150-682-76-18">
            <a:extLst xmlns:a="http://schemas.openxmlformats.org/drawingml/2006/main">
              <a:ext uri="{FF2B5EF4-FFF2-40B4-BE49-F238E27FC236}">
                <a16:creationId xmlns:a16="http://schemas.microsoft.com/office/drawing/2014/main" id="{7631D1DC-802B-4680-AD88-12A7B81D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39650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29284AA-E66E-48D3-A2EB-1AB7A144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A0D1A2F-20C6-4A04-92D4-7EEA8EDE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428F270-35E1-497C-8EAF-565940CB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PROJECT ORIENTATION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B05FE7-740F-476B-BFEF-5E808B7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review follows one plain-English loop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B49B12D-3C96-4B1D-853A-06CFDD8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episode becomes one selected genome profile, then repeated profiles are compared over time.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868404A-54B5-4AF8-8DAF-D7C6A5C8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8CF152A-8D46-49C6-9A1E-03F0C3CA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DE33DED-8012-4502-B468-8AE9AD8A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30C75C-3818-4B61-B2B5-A547F70F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loop-1">
            <a:extLst xmlns:a="http://schemas.openxmlformats.org/drawingml/2006/main">
              <a:ext uri="{FF2B5EF4-FFF2-40B4-BE49-F238E27FC236}">
                <a16:creationId xmlns:a16="http://schemas.microsoft.com/office/drawing/2014/main" id="{47098689-9543-4C20-8D65-19B6226F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loop-1-head">
            <a:extLst xmlns:a="http://schemas.openxmlformats.org/drawingml/2006/main">
              <a:ext uri="{FF2B5EF4-FFF2-40B4-BE49-F238E27FC236}">
                <a16:creationId xmlns:a16="http://schemas.microsoft.com/office/drawing/2014/main" id="{02022067-513C-45A7-ADAC-49D07FED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76525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loop-2">
            <a:extLst xmlns:a="http://schemas.openxmlformats.org/drawingml/2006/main">
              <a:ext uri="{FF2B5EF4-FFF2-40B4-BE49-F238E27FC236}">
                <a16:creationId xmlns:a16="http://schemas.microsoft.com/office/drawing/2014/main" id="{2BEB1EA1-9323-4543-B53A-259ADC4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loop-2-head">
            <a:extLst xmlns:a="http://schemas.openxmlformats.org/drawingml/2006/main">
              <a:ext uri="{FF2B5EF4-FFF2-40B4-BE49-F238E27FC236}">
                <a16:creationId xmlns:a16="http://schemas.microsoft.com/office/drawing/2014/main" id="{713C0C00-DEEF-4F14-B4A9-E4EF2A24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24425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loop-3">
            <a:extLst xmlns:a="http://schemas.openxmlformats.org/drawingml/2006/main">
              <a:ext uri="{FF2B5EF4-FFF2-40B4-BE49-F238E27FC236}">
                <a16:creationId xmlns:a16="http://schemas.microsoft.com/office/drawing/2014/main" id="{862F16D0-F925-4D03-992E-097B025A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loop-3-head">
            <a:extLst xmlns:a="http://schemas.openxmlformats.org/drawingml/2006/main">
              <a:ext uri="{FF2B5EF4-FFF2-40B4-BE49-F238E27FC236}">
                <a16:creationId xmlns:a16="http://schemas.microsoft.com/office/drawing/2014/main" id="{0F1AF348-33E3-4983-B860-8B16E808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72325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oop-4">
            <a:extLst xmlns:a="http://schemas.openxmlformats.org/drawingml/2006/main">
              <a:ext uri="{FF2B5EF4-FFF2-40B4-BE49-F238E27FC236}">
                <a16:creationId xmlns:a16="http://schemas.microsoft.com/office/drawing/2014/main" id="{8B4456FD-9C73-4485-893D-147483F4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loop-4-head">
            <a:extLst xmlns:a="http://schemas.openxmlformats.org/drawingml/2006/main">
              <a:ext uri="{FF2B5EF4-FFF2-40B4-BE49-F238E27FC236}">
                <a16:creationId xmlns:a16="http://schemas.microsoft.com/office/drawing/2014/main" id="{5B3390BB-8129-4BBC-B201-BA6238E1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20225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card-Clinical episode">
            <a:extLst xmlns:a="http://schemas.openxmlformats.org/drawingml/2006/main">
              <a:ext uri="{FF2B5EF4-FFF2-40B4-BE49-F238E27FC236}">
                <a16:creationId xmlns:a16="http://schemas.microsoft.com/office/drawing/2014/main" id="{684A206B-9F81-4881-BA5E-D8799A27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F4E6"/>
            </a:solidFill>
            <a:prstDash val="solid"/>
          </a:ln>
        </p:spPr>
      </p:sp>
      <p:sp>
        <p:nvSpPr>
          <p:cNvPr id="19" name="heading-70-240-162-26">
            <a:extLst xmlns:a="http://schemas.openxmlformats.org/drawingml/2006/main">
              <a:ext uri="{FF2B5EF4-FFF2-40B4-BE49-F238E27FC236}">
                <a16:creationId xmlns:a16="http://schemas.microsoft.com/office/drawing/2014/main" id="{171A1220-A5DB-4C07-BF1C-C0DE4499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Clinical episode</a:t>
            </a:r>
          </a:p>
        </p:txBody>
      </p:sp>
      <p:sp>
        <p:nvSpPr>
          <p:cNvPr id="20" name="body-70-272-162-75">
            <a:extLst xmlns:a="http://schemas.openxmlformats.org/drawingml/2006/main">
              <a:ext uri="{FF2B5EF4-FFF2-40B4-BE49-F238E27FC236}">
                <a16:creationId xmlns:a16="http://schemas.microsoft.com/office/drawing/2014/main" id="{A1997F92-9C2A-4611-9F74-A03B1FF1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Apply the operational clinical definition</a:t>
            </a:r>
          </a:p>
        </p:txBody>
      </p:sp>
      <p:sp>
        <p:nvSpPr>
          <p:cNvPr id="21" name="card-Selected genome">
            <a:extLst xmlns:a="http://schemas.openxmlformats.org/drawingml/2006/main">
              <a:ext uri="{FF2B5EF4-FFF2-40B4-BE49-F238E27FC236}">
                <a16:creationId xmlns:a16="http://schemas.microsoft.com/office/drawing/2014/main" id="{FA43B73C-E503-4C79-9C28-31BEC803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E8F1FA"/>
            </a:solidFill>
            <a:prstDash val="solid"/>
          </a:ln>
        </p:spPr>
      </p:sp>
      <p:sp>
        <p:nvSpPr>
          <p:cNvPr id="22" name="heading-306-240-162-26">
            <a:extLst xmlns:a="http://schemas.openxmlformats.org/drawingml/2006/main">
              <a:ext uri="{FF2B5EF4-FFF2-40B4-BE49-F238E27FC236}">
                <a16:creationId xmlns:a16="http://schemas.microsoft.com/office/drawing/2014/main" id="{DC97026E-0663-4F9B-8E29-8EBAA3B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genome</a:t>
            </a:r>
          </a:p>
        </p:txBody>
      </p:sp>
      <p:sp>
        <p:nvSpPr>
          <p:cNvPr id="23" name="body-306-272-162-75">
            <a:extLst xmlns:a="http://schemas.openxmlformats.org/drawingml/2006/main">
              <a:ext uri="{FF2B5EF4-FFF2-40B4-BE49-F238E27FC236}">
                <a16:creationId xmlns:a16="http://schemas.microsoft.com/office/drawing/2014/main" id="{B4AC1C7A-CD9C-4854-9213-8AF8EDD6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the QC-passing Longcycler assembly</a:t>
            </a:r>
          </a:p>
        </p:txBody>
      </p:sp>
      <p:sp>
        <p:nvSpPr>
          <p:cNvPr id="24" name="card-VF gene row">
            <a:extLst xmlns:a="http://schemas.openxmlformats.org/drawingml/2006/main">
              <a:ext uri="{FF2B5EF4-FFF2-40B4-BE49-F238E27FC236}">
                <a16:creationId xmlns:a16="http://schemas.microsoft.com/office/drawing/2014/main" id="{E8C927C2-E98C-4B99-ACB6-E3BB46B5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EAF7EF"/>
            </a:solidFill>
            <a:prstDash val="solid"/>
          </a:ln>
        </p:spPr>
      </p:sp>
      <p:sp>
        <p:nvSpPr>
          <p:cNvPr id="25" name="heading-542-240-162-26">
            <a:extLst xmlns:a="http://schemas.openxmlformats.org/drawingml/2006/main">
              <a:ext uri="{FF2B5EF4-FFF2-40B4-BE49-F238E27FC236}">
                <a16:creationId xmlns:a16="http://schemas.microsoft.com/office/drawing/2014/main" id="{7890BA59-FE42-4519-B05A-A34BB76F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VF gene row</a:t>
            </a:r>
          </a:p>
        </p:txBody>
      </p:sp>
      <p:sp>
        <p:nvSpPr>
          <p:cNvPr id="26" name="body-542-272-162-75">
            <a:extLst xmlns:a="http://schemas.openxmlformats.org/drawingml/2006/main">
              <a:ext uri="{FF2B5EF4-FFF2-40B4-BE49-F238E27FC236}">
                <a16:creationId xmlns:a16="http://schemas.microsoft.com/office/drawing/2014/main" id="{4A5B9489-1085-4CE0-A0C1-C0B4FA96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Record binary VF feature presence</a:t>
            </a:r>
          </a:p>
        </p:txBody>
      </p:sp>
      <p:sp>
        <p:nvSpPr>
          <p:cNvPr id="27" name="card-Longitudinal pair">
            <a:extLst xmlns:a="http://schemas.openxmlformats.org/drawingml/2006/main">
              <a:ext uri="{FF2B5EF4-FFF2-40B4-BE49-F238E27FC236}">
                <a16:creationId xmlns:a16="http://schemas.microsoft.com/office/drawing/2014/main" id="{F363118F-432E-47F5-BB8F-070FA11C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28" name="heading-778-240-162-26">
            <a:extLst xmlns:a="http://schemas.openxmlformats.org/drawingml/2006/main">
              <a:ext uri="{FF2B5EF4-FFF2-40B4-BE49-F238E27FC236}">
                <a16:creationId xmlns:a16="http://schemas.microsoft.com/office/drawing/2014/main" id="{2F25C42F-3DC7-487C-833C-CFA665EF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Longitudinal pair</a:t>
            </a:r>
          </a:p>
        </p:txBody>
      </p:sp>
      <p:sp>
        <p:nvSpPr>
          <p:cNvPr id="29" name="body-778-272-162-75">
            <a:extLst xmlns:a="http://schemas.openxmlformats.org/drawingml/2006/main">
              <a:ext uri="{FF2B5EF4-FFF2-40B4-BE49-F238E27FC236}">
                <a16:creationId xmlns:a16="http://schemas.microsoft.com/office/drawing/2014/main" id="{32F98868-4ED3-4A68-8D9E-0A13A839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Compare profiles within resident</a:t>
            </a:r>
          </a:p>
        </p:txBody>
      </p:sp>
      <p:sp>
        <p:nvSpPr>
          <p:cNvPr id="30" name="card-Clinical overlay">
            <a:extLst xmlns:a="http://schemas.openxmlformats.org/drawingml/2006/main">
              <a:ext uri="{FF2B5EF4-FFF2-40B4-BE49-F238E27FC236}">
                <a16:creationId xmlns:a16="http://schemas.microsoft.com/office/drawing/2014/main" id="{5C5D83E0-E93F-4D1E-A10B-035209D1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F4E6"/>
            </a:solidFill>
            <a:prstDash val="solid"/>
          </a:ln>
        </p:spPr>
      </p:sp>
      <p:sp>
        <p:nvSpPr>
          <p:cNvPr id="31" name="heading-1014-240-162-26">
            <a:extLst xmlns:a="http://schemas.openxmlformats.org/drawingml/2006/main">
              <a:ext uri="{FF2B5EF4-FFF2-40B4-BE49-F238E27FC236}">
                <a16:creationId xmlns:a16="http://schemas.microsoft.com/office/drawing/2014/main" id="{010E1208-50DD-48FE-9B12-A7863CDE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Clinical overlay</a:t>
            </a:r>
          </a:p>
        </p:txBody>
      </p:sp>
      <p:sp>
        <p:nvSpPr>
          <p:cNvPr id="32" name="body-1014-272-162-75">
            <a:extLst xmlns:a="http://schemas.openxmlformats.org/drawingml/2006/main">
              <a:ext uri="{FF2B5EF4-FFF2-40B4-BE49-F238E27FC236}">
                <a16:creationId xmlns:a16="http://schemas.microsoft.com/office/drawing/2014/main" id="{B23AA6E3-EBF5-4488-BE7F-8C09FFB9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Interpret status cautiously</a:t>
            </a:r>
          </a:p>
        </p:txBody>
      </p:sp>
      <p:sp>
        <p:nvSpPr>
          <p:cNvPr id="33" name="card-What we measure">
            <a:extLst xmlns:a="http://schemas.openxmlformats.org/drawingml/2006/main">
              <a:ext uri="{FF2B5EF4-FFF2-40B4-BE49-F238E27FC236}">
                <a16:creationId xmlns:a16="http://schemas.microsoft.com/office/drawing/2014/main" id="{766F5351-5B7E-46DE-8F36-9C09D38A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34" name="heading-128-454-268-26">
            <a:extLst xmlns:a="http://schemas.openxmlformats.org/drawingml/2006/main">
              <a:ext uri="{FF2B5EF4-FFF2-40B4-BE49-F238E27FC236}">
                <a16:creationId xmlns:a16="http://schemas.microsoft.com/office/drawing/2014/main" id="{601D4681-C350-4E01-9FBE-A07E10E4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we measure</a:t>
            </a:r>
          </a:p>
        </p:txBody>
      </p:sp>
      <p:sp>
        <p:nvSpPr>
          <p:cNvPr id="35" name="body-128-486-268-43">
            <a:extLst xmlns:a="http://schemas.openxmlformats.org/drawingml/2006/main">
              <a:ext uri="{FF2B5EF4-FFF2-40B4-BE49-F238E27FC236}">
                <a16:creationId xmlns:a16="http://schemas.microsoft.com/office/drawing/2014/main" id="{E995A309-4048-407C-BF22-3C81FE97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VF gene presence/absence in each selected episode-level genome.</a:t>
            </a:r>
          </a:p>
        </p:txBody>
      </p:sp>
      <p:sp>
        <p:nvSpPr>
          <p:cNvPr id="36" name="card-What we compare">
            <a:extLst xmlns:a="http://schemas.openxmlformats.org/drawingml/2006/main">
              <a:ext uri="{FF2B5EF4-FFF2-40B4-BE49-F238E27FC236}">
                <a16:creationId xmlns:a16="http://schemas.microsoft.com/office/drawing/2014/main" id="{A0F5703F-5E99-4EF8-9042-168A03BB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37" name="heading-506-454-268-26">
            <a:extLst xmlns:a="http://schemas.openxmlformats.org/drawingml/2006/main">
              <a:ext uri="{FF2B5EF4-FFF2-40B4-BE49-F238E27FC236}">
                <a16:creationId xmlns:a16="http://schemas.microsoft.com/office/drawing/2014/main" id="{4800F33E-F97C-447E-85EF-A0EF4E3D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we compare</a:t>
            </a:r>
          </a:p>
        </p:txBody>
      </p:sp>
      <p:sp>
        <p:nvSpPr>
          <p:cNvPr id="38" name="body-506-486-268-43">
            <a:extLst xmlns:a="http://schemas.openxmlformats.org/drawingml/2006/main">
              <a:ext uri="{FF2B5EF4-FFF2-40B4-BE49-F238E27FC236}">
                <a16:creationId xmlns:a16="http://schemas.microsoft.com/office/drawing/2014/main" id="{2488AB4A-97E2-46C0-B485-3384142A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29150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Repeated profiles within residents, directly and as adjacent transitions.</a:t>
            </a:r>
          </a:p>
        </p:txBody>
      </p:sp>
      <p:sp>
        <p:nvSpPr>
          <p:cNvPr id="39" name="card-Where status enters">
            <a:extLst xmlns:a="http://schemas.openxmlformats.org/drawingml/2006/main">
              <a:ext uri="{FF2B5EF4-FFF2-40B4-BE49-F238E27FC236}">
                <a16:creationId xmlns:a16="http://schemas.microsoft.com/office/drawing/2014/main" id="{BAF4E83E-2F56-4A45-A467-9CA15A05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40" name="heading-884-454-268-26">
            <a:extLst xmlns:a="http://schemas.openxmlformats.org/drawingml/2006/main">
              <a:ext uri="{FF2B5EF4-FFF2-40B4-BE49-F238E27FC236}">
                <a16:creationId xmlns:a16="http://schemas.microsoft.com/office/drawing/2014/main" id="{20CDB872-0E59-4CF7-9405-98DBB30B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Where status enters</a:t>
            </a:r>
          </a:p>
        </p:txBody>
      </p:sp>
      <p:sp>
        <p:nvSpPr>
          <p:cNvPr id="41" name="body-884-486-268-43">
            <a:extLst xmlns:a="http://schemas.openxmlformats.org/drawingml/2006/main">
              <a:ext uri="{FF2B5EF4-FFF2-40B4-BE49-F238E27FC236}">
                <a16:creationId xmlns:a16="http://schemas.microsoft.com/office/drawing/2014/main" id="{A8EC7037-8606-4826-B74F-EF8343D3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Only after the genomic and temporal denominators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11549330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B4A04A2-B9F5-4F6D-ADA5-75032D8F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0A32C2B9-0EE8-44A9-A141-0DD98AF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0C376BE-7890-44F3-9EE8-2ADEE7C5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PROJECT ORIENTATION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914261-98A6-49D1-AAEF-C05C6041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Unit changes explain denominator changes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20D054E-F55C-4845-A65C-D6DFF5A8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Each count answers a different question: episode, resident, profile, pair, or transition.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FCFF4F2-BDDF-428A-B4DB-DA6DDEA2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7AEB4F4-3AF3-4F57-A5C5-440DC571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93D6F21-BA5A-4D67-8DDC-1BD76B0F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7DBDAD-0B46-4B9D-871E-49B0A48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label-Source clinical episodes">
            <a:extLst xmlns:a="http://schemas.openxmlformats.org/drawingml/2006/main">
              <a:ext uri="{FF2B5EF4-FFF2-40B4-BE49-F238E27FC236}">
                <a16:creationId xmlns:a16="http://schemas.microsoft.com/office/drawing/2014/main" id="{37DEE983-4070-43C0-99F1-85DABC5A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label-158-180-244-26">
            <a:extLst xmlns:a="http://schemas.openxmlformats.org/drawingml/2006/main">
              <a:ext uri="{FF2B5EF4-FFF2-40B4-BE49-F238E27FC236}">
                <a16:creationId xmlns:a16="http://schemas.microsoft.com/office/drawing/2014/main" id="{5BA385D0-80A9-4D93-8E65-AD1C949E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Source clinical episodes</a:t>
            </a:r>
          </a:p>
        </p:txBody>
      </p:sp>
      <p:sp>
        <p:nvSpPr>
          <p:cNvPr id="12" name="body-454-173-110-38">
            <a:extLst xmlns:a="http://schemas.openxmlformats.org/drawingml/2006/main">
              <a:ext uri="{FF2B5EF4-FFF2-40B4-BE49-F238E27FC236}">
                <a16:creationId xmlns:a16="http://schemas.microsoft.com/office/drawing/2014/main" id="{2C117C33-D52C-4997-9CD1-26F94E18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4782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583</a:t>
            </a:r>
          </a:p>
        </p:txBody>
      </p:sp>
      <p:sp>
        <p:nvSpPr>
          <p:cNvPr id="13" name="body-616-177-530-34">
            <a:extLst xmlns:a="http://schemas.openxmlformats.org/drawingml/2006/main">
              <a:ext uri="{FF2B5EF4-FFF2-40B4-BE49-F238E27FC236}">
                <a16:creationId xmlns:a16="http://schemas.microsoft.com/office/drawing/2014/main" id="{B29BD41F-FA07-4785-AD20-B569301A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8592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166 residents; retained for attrition/QC only</a:t>
            </a:r>
          </a:p>
        </p:txBody>
      </p:sp>
      <p:sp>
        <p:nvSpPr>
          <p:cNvPr id="14" name="label-Selected analytical episodes">
            <a:extLst xmlns:a="http://schemas.openxmlformats.org/drawingml/2006/main">
              <a:ext uri="{FF2B5EF4-FFF2-40B4-BE49-F238E27FC236}">
                <a16:creationId xmlns:a16="http://schemas.microsoft.com/office/drawing/2014/main" id="{3C60D1E1-4BF6-4EB3-9633-AF345717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label-158-265-244-26">
            <a:extLst xmlns:a="http://schemas.openxmlformats.org/drawingml/2006/main">
              <a:ext uri="{FF2B5EF4-FFF2-40B4-BE49-F238E27FC236}">
                <a16:creationId xmlns:a16="http://schemas.microsoft.com/office/drawing/2014/main" id="{8A100A73-B840-4F3A-8FCE-120C41D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analytical episodes</a:t>
            </a:r>
          </a:p>
        </p:txBody>
      </p:sp>
      <p:sp>
        <p:nvSpPr>
          <p:cNvPr id="16" name="body-454-258-110-38">
            <a:extLst xmlns:a="http://schemas.openxmlformats.org/drawingml/2006/main">
              <a:ext uri="{FF2B5EF4-FFF2-40B4-BE49-F238E27FC236}">
                <a16:creationId xmlns:a16="http://schemas.microsoft.com/office/drawing/2014/main" id="{84445E5B-D3A4-4DC2-AB39-960A0444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17" name="body-616-262-530-34">
            <a:extLst xmlns:a="http://schemas.openxmlformats.org/drawingml/2006/main">
              <a:ext uri="{FF2B5EF4-FFF2-40B4-BE49-F238E27FC236}">
                <a16:creationId xmlns:a16="http://schemas.microsoft.com/office/drawing/2014/main" id="{D6BE9913-C74E-4904-9575-9E0E4264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955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161 residents; one selected genome per episode</a:t>
            </a:r>
          </a:p>
        </p:txBody>
      </p:sp>
      <p:sp>
        <p:nvSpPr>
          <p:cNvPr id="18" name="label-Direct within-resident pairs">
            <a:extLst xmlns:a="http://schemas.openxmlformats.org/drawingml/2006/main">
              <a:ext uri="{FF2B5EF4-FFF2-40B4-BE49-F238E27FC236}">
                <a16:creationId xmlns:a16="http://schemas.microsoft.com/office/drawing/2014/main" id="{E5CEED52-F67C-400B-BF40-8819BF6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label-158-350-244-26">
            <a:extLst xmlns:a="http://schemas.openxmlformats.org/drawingml/2006/main">
              <a:ext uri="{FF2B5EF4-FFF2-40B4-BE49-F238E27FC236}">
                <a16:creationId xmlns:a16="http://schemas.microsoft.com/office/drawing/2014/main" id="{5CBA71C6-028D-4D13-953B-F31B2414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within-resident pairs</a:t>
            </a:r>
          </a:p>
        </p:txBody>
      </p:sp>
      <p:sp>
        <p:nvSpPr>
          <p:cNvPr id="20" name="body-454-343-110-38">
            <a:extLst xmlns:a="http://schemas.openxmlformats.org/drawingml/2006/main">
              <a:ext uri="{FF2B5EF4-FFF2-40B4-BE49-F238E27FC236}">
                <a16:creationId xmlns:a16="http://schemas.microsoft.com/office/drawing/2014/main" id="{C46F9734-36EA-40DD-B923-2FDC1DC6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6707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893</a:t>
            </a:r>
          </a:p>
        </p:txBody>
      </p:sp>
      <p:sp>
        <p:nvSpPr>
          <p:cNvPr id="21" name="body-616-347-530-34">
            <a:extLst xmlns:a="http://schemas.openxmlformats.org/drawingml/2006/main">
              <a:ext uri="{FF2B5EF4-FFF2-40B4-BE49-F238E27FC236}">
                <a16:creationId xmlns:a16="http://schemas.microsoft.com/office/drawing/2014/main" id="{84FF0F6C-0898-4299-92CF-BF25F50F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0517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available within-resident comparisons</a:t>
            </a:r>
          </a:p>
        </p:txBody>
      </p:sp>
      <p:sp>
        <p:nvSpPr>
          <p:cNvPr id="22" name="label-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968581F2-A6ED-4449-A4C0-E9B1F050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label-158-435-244-26">
            <a:extLst xmlns:a="http://schemas.openxmlformats.org/drawingml/2006/main">
              <a:ext uri="{FF2B5EF4-FFF2-40B4-BE49-F238E27FC236}">
                <a16:creationId xmlns:a16="http://schemas.microsoft.com/office/drawing/2014/main" id="{BD762EAF-FD38-4847-877C-9C54F4DE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43375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4" name="body-454-428-110-38">
            <a:extLst xmlns:a="http://schemas.openxmlformats.org/drawingml/2006/main">
              <a:ext uri="{FF2B5EF4-FFF2-40B4-BE49-F238E27FC236}">
                <a16:creationId xmlns:a16="http://schemas.microsoft.com/office/drawing/2014/main" id="{98F5E06C-AD7E-460E-9AD2-FA02ABD2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767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25" name="body-616-432-530-34">
            <a:extLst xmlns:a="http://schemas.openxmlformats.org/drawingml/2006/main">
              <a:ext uri="{FF2B5EF4-FFF2-40B4-BE49-F238E27FC236}">
                <a16:creationId xmlns:a16="http://schemas.microsoft.com/office/drawing/2014/main" id="{F5451C28-DF21-4800-AB11-7A936D2E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148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139 residents; 140 at or below 25 SNPs</a:t>
            </a:r>
          </a:p>
        </p:txBody>
      </p:sp>
      <p:sp>
        <p:nvSpPr>
          <p:cNvPr id="26" name="label-Focused Not_UTI→UTI">
            <a:extLst xmlns:a="http://schemas.openxmlformats.org/drawingml/2006/main">
              <a:ext uri="{FF2B5EF4-FFF2-40B4-BE49-F238E27FC236}">
                <a16:creationId xmlns:a16="http://schemas.microsoft.com/office/drawing/2014/main" id="{77C8333D-868A-42D5-8C62-3F34CC9C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label-158-520-244-26">
            <a:extLst xmlns:a="http://schemas.openxmlformats.org/drawingml/2006/main">
              <a:ext uri="{FF2B5EF4-FFF2-40B4-BE49-F238E27FC236}">
                <a16:creationId xmlns:a16="http://schemas.microsoft.com/office/drawing/2014/main" id="{772E637F-B8A0-4AD2-BAFA-B774798E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Focused Not_UTI→UTI</a:t>
            </a:r>
          </a:p>
        </p:txBody>
      </p:sp>
      <p:sp>
        <p:nvSpPr>
          <p:cNvPr id="28" name="body-454-513-110-38">
            <a:extLst xmlns:a="http://schemas.openxmlformats.org/drawingml/2006/main">
              <a:ext uri="{FF2B5EF4-FFF2-40B4-BE49-F238E27FC236}">
                <a16:creationId xmlns:a16="http://schemas.microsoft.com/office/drawing/2014/main" id="{E4C7727F-F958-44B1-AE66-A139DAFF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8632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9" name="body-616-517-530-34">
            <a:extLst xmlns:a="http://schemas.openxmlformats.org/drawingml/2006/main">
              <a:ext uri="{FF2B5EF4-FFF2-40B4-BE49-F238E27FC236}">
                <a16:creationId xmlns:a16="http://schemas.microsoft.com/office/drawing/2014/main" id="{88B27832-800E-43DB-B264-2EA6C3A8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2442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 at or below 25 SNPs</a:t>
            </a:r>
          </a:p>
        </p:txBody>
      </p:sp>
      <p:sp>
        <p:nvSpPr>
          <p:cNvPr id="30" name="label-Always name the unit beside the count">
            <a:extLst xmlns:a="http://schemas.openxmlformats.org/drawingml/2006/main">
              <a:ext uri="{FF2B5EF4-FFF2-40B4-BE49-F238E27FC236}">
                <a16:creationId xmlns:a16="http://schemas.microsoft.com/office/drawing/2014/main" id="{598BE690-8A94-4C31-861E-CA2707EB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10250"/>
            <a:ext cx="36576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label-456-615-368-23">
            <a:extLst xmlns:a="http://schemas.openxmlformats.org/drawingml/2006/main">
              <a:ext uri="{FF2B5EF4-FFF2-40B4-BE49-F238E27FC236}">
                <a16:creationId xmlns:a16="http://schemas.microsoft.com/office/drawing/2014/main" id="{5CA18FC1-736B-4139-938C-A59E6343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57875"/>
            <a:ext cx="3505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Always name the unit beside the count</a:t>
            </a:r>
          </a:p>
        </p:txBody>
      </p:sp>
    </p:spTree>
    <p:extLst>
      <p:ext uri="{BB962C8B-B14F-4D97-AF65-F5344CB8AC3E}">
        <p14:creationId xmlns:p14="http://schemas.microsoft.com/office/powerpoint/2010/main" val="14821624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078D9BE-D32A-4431-BE9C-FE9A98E8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309E344-E80C-43CB-9F92-A8A9AB6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53AE56F-9EEE-4715-B1F4-26285F4C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ANNOTATION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3F42E0-90CE-4556-A80A-6B22C661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How an episode becomes operational UTI in this project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7AAE23A-B1EF-4261-83EC-1058E564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operational label is a study annotation, not a universal clinical diagnosis.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4EC2C75-E263-4599-BB70-04FE7871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87E811-CE19-4747-9236-2F3FF9E9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0173554-EC5B-45AC-BFC3-69F1E58F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09F23D8-65EC-49FD-A7FB-37E72AAF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phenotype-1">
            <a:extLst xmlns:a="http://schemas.openxmlformats.org/drawingml/2006/main">
              <a:ext uri="{FF2B5EF4-FFF2-40B4-BE49-F238E27FC236}">
                <a16:creationId xmlns:a16="http://schemas.microsoft.com/office/drawing/2014/main" id="{FA2ED584-6AF6-4402-8AB9-DC6A734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705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henotype-1-head">
            <a:extLst xmlns:a="http://schemas.openxmlformats.org/drawingml/2006/main">
              <a:ext uri="{FF2B5EF4-FFF2-40B4-BE49-F238E27FC236}">
                <a16:creationId xmlns:a16="http://schemas.microsoft.com/office/drawing/2014/main" id="{1A88EE97-28BC-4950-8255-CC2AF547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76725" y="26670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henotype-2">
            <a:extLst xmlns:a="http://schemas.openxmlformats.org/drawingml/2006/main">
              <a:ext uri="{FF2B5EF4-FFF2-40B4-BE49-F238E27FC236}">
                <a16:creationId xmlns:a16="http://schemas.microsoft.com/office/drawing/2014/main" id="{C35794A6-81AE-4914-8229-83D598BA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705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henotype-2-head">
            <a:extLst xmlns:a="http://schemas.openxmlformats.org/drawingml/2006/main">
              <a:ext uri="{FF2B5EF4-FFF2-40B4-BE49-F238E27FC236}">
                <a16:creationId xmlns:a16="http://schemas.microsoft.com/office/drawing/2014/main" id="{5057C3EA-18A2-462B-B110-1F4ADD1A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24825" y="26670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ard-1. Culture support">
            <a:extLst xmlns:a="http://schemas.openxmlformats.org/drawingml/2006/main">
              <a:ext uri="{FF2B5EF4-FFF2-40B4-BE49-F238E27FC236}">
                <a16:creationId xmlns:a16="http://schemas.microsoft.com/office/drawing/2014/main" id="{DAF0C8C9-78C5-4351-8BF1-8F051C44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933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15" name="heading-98-226-276-26">
            <a:extLst xmlns:a="http://schemas.openxmlformats.org/drawingml/2006/main">
              <a:ext uri="{FF2B5EF4-FFF2-40B4-BE49-F238E27FC236}">
                <a16:creationId xmlns:a16="http://schemas.microsoft.com/office/drawing/2014/main" id="{37AE06E8-A6E3-45C2-892D-4FEDC7EF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1. Culture support</a:t>
            </a:r>
          </a:p>
        </p:txBody>
      </p:sp>
      <p:sp>
        <p:nvSpPr>
          <p:cNvPr id="16" name="body-98-258-276-88">
            <a:extLst xmlns:a="http://schemas.openxmlformats.org/drawingml/2006/main">
              <a:ext uri="{FF2B5EF4-FFF2-40B4-BE49-F238E27FC236}">
                <a16:creationId xmlns:a16="http://schemas.microsoft.com/office/drawing/2014/main" id="{A5BA7BE4-58C1-4004-A191-155881BB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628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episode passes the project’s culture and isolate evidence rules.</a:t>
            </a:r>
          </a:p>
        </p:txBody>
      </p:sp>
      <p:sp>
        <p:nvSpPr>
          <p:cNvPr id="17" name="card-2. Symptom rule">
            <a:extLst xmlns:a="http://schemas.openxmlformats.org/drawingml/2006/main">
              <a:ext uri="{FF2B5EF4-FFF2-40B4-BE49-F238E27FC236}">
                <a16:creationId xmlns:a16="http://schemas.microsoft.com/office/drawing/2014/main" id="{C3934987-BC03-4AD6-B64E-5DE1EAA6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219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8" name="heading-472-226-306-26">
            <a:extLst xmlns:a="http://schemas.openxmlformats.org/drawingml/2006/main">
              <a:ext uri="{FF2B5EF4-FFF2-40B4-BE49-F238E27FC236}">
                <a16:creationId xmlns:a16="http://schemas.microsoft.com/office/drawing/2014/main" id="{5236D156-5DF4-4D79-BEC2-D957D72A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2. Symptom rule</a:t>
            </a:r>
          </a:p>
        </p:txBody>
      </p:sp>
      <p:sp>
        <p:nvSpPr>
          <p:cNvPr id="19" name="body-472-258-306-88">
            <a:extLst xmlns:a="http://schemas.openxmlformats.org/drawingml/2006/main">
              <a:ext uri="{FF2B5EF4-FFF2-40B4-BE49-F238E27FC236}">
                <a16:creationId xmlns:a16="http://schemas.microsoft.com/office/drawing/2014/main" id="{D75C1CD1-C535-49DE-B957-2909877E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Compatible symptoms are interpreted with the operational definition and available episode context.</a:t>
            </a:r>
          </a:p>
        </p:txBody>
      </p:sp>
      <p:sp>
        <p:nvSpPr>
          <p:cNvPr id="20" name="card-Operational UTI">
            <a:extLst xmlns:a="http://schemas.openxmlformats.org/drawingml/2006/main">
              <a:ext uri="{FF2B5EF4-FFF2-40B4-BE49-F238E27FC236}">
                <a16:creationId xmlns:a16="http://schemas.microsoft.com/office/drawing/2014/main" id="{D86F86CD-2B15-462A-A29B-1066F440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21" name="heading-876-246-238-26">
            <a:extLst xmlns:a="http://schemas.openxmlformats.org/drawingml/2006/main">
              <a:ext uri="{FF2B5EF4-FFF2-40B4-BE49-F238E27FC236}">
                <a16:creationId xmlns:a16="http://schemas.microsoft.com/office/drawing/2014/main" id="{BE8F3B6E-9F92-4BB3-9194-3A09C17A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UTI</a:t>
            </a:r>
          </a:p>
        </p:txBody>
      </p:sp>
      <p:sp>
        <p:nvSpPr>
          <p:cNvPr id="22" name="body-876-278-238-48">
            <a:extLst xmlns:a="http://schemas.openxmlformats.org/drawingml/2006/main">
              <a:ext uri="{FF2B5EF4-FFF2-40B4-BE49-F238E27FC236}">
                <a16:creationId xmlns:a16="http://schemas.microsoft.com/office/drawing/2014/main" id="{68C3333E-F55A-4B3E-BA58-2410A930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selected analytical episodes</a:t>
            </a:r>
          </a:p>
        </p:txBody>
      </p:sp>
      <p:sp>
        <p:nvSpPr>
          <p:cNvPr id="23" name="card-Selected analytical denominator">
            <a:extLst xmlns:a="http://schemas.openxmlformats.org/drawingml/2006/main">
              <a:ext uri="{FF2B5EF4-FFF2-40B4-BE49-F238E27FC236}">
                <a16:creationId xmlns:a16="http://schemas.microsoft.com/office/drawing/2014/main" id="{764AD9E0-9467-4B28-BB57-C35FC5D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24" name="heading-122-456-458-26">
            <a:extLst xmlns:a="http://schemas.openxmlformats.org/drawingml/2006/main">
              <a:ext uri="{FF2B5EF4-FFF2-40B4-BE49-F238E27FC236}">
                <a16:creationId xmlns:a16="http://schemas.microsoft.com/office/drawing/2014/main" id="{C7D77782-E354-410A-AC35-04F913DA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436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Selected analytical denominator</a:t>
            </a:r>
          </a:p>
        </p:txBody>
      </p:sp>
      <p:sp>
        <p:nvSpPr>
          <p:cNvPr id="25" name="body-122-488-458-43">
            <a:extLst xmlns:a="http://schemas.openxmlformats.org/drawingml/2006/main">
              <a:ext uri="{FF2B5EF4-FFF2-40B4-BE49-F238E27FC236}">
                <a16:creationId xmlns:a16="http://schemas.microsoft.com/office/drawing/2014/main" id="{6C3756E0-FFD8-4148-B075-B264CA45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4362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episodes: 16 operational UTI and 516 operational Not_UTI.</a:t>
            </a:r>
          </a:p>
        </p:txBody>
      </p:sp>
      <p:sp>
        <p:nvSpPr>
          <p:cNvPr id="26" name="card-Not_UTI is a mixed comparator">
            <a:extLst xmlns:a="http://schemas.openxmlformats.org/drawingml/2006/main">
              <a:ext uri="{FF2B5EF4-FFF2-40B4-BE49-F238E27FC236}">
                <a16:creationId xmlns:a16="http://schemas.microsoft.com/office/drawing/2014/main" id="{8A525B9E-AF41-45A7-B21E-F6C3A3E2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heading-698-456-458-26">
            <a:extLst xmlns:a="http://schemas.openxmlformats.org/drawingml/2006/main">
              <a:ext uri="{FF2B5EF4-FFF2-40B4-BE49-F238E27FC236}">
                <a16:creationId xmlns:a16="http://schemas.microsoft.com/office/drawing/2014/main" id="{3BB80BE3-53AD-4A2D-BABF-7487CF99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43400"/>
            <a:ext cx="436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Not_UTI is a mixed comparator</a:t>
            </a:r>
          </a:p>
        </p:txBody>
      </p:sp>
      <p:sp>
        <p:nvSpPr>
          <p:cNvPr id="28" name="body-698-488-458-43">
            <a:extLst xmlns:a="http://schemas.openxmlformats.org/drawingml/2006/main">
              <a:ext uri="{FF2B5EF4-FFF2-40B4-BE49-F238E27FC236}">
                <a16:creationId xmlns:a16="http://schemas.microsoft.com/office/drawing/2014/main" id="{6746E4A4-CB01-4041-A546-CDD67C1B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48200"/>
            <a:ext cx="4362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means the episode did not meet the operational UTI label; it is not a single biological state.</a:t>
            </a:r>
          </a:p>
        </p:txBody>
      </p:sp>
    </p:spTree>
    <p:extLst>
      <p:ext uri="{BB962C8B-B14F-4D97-AF65-F5344CB8AC3E}">
        <p14:creationId xmlns:p14="http://schemas.microsoft.com/office/powerpoint/2010/main" val="853360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6338D77-8F7B-48C2-89A3-B8AF3E8B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57F69A18-D5AB-48E8-8E02-4BAB385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99EE14C-CB55-41BE-9FA2-0BCE5F75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SCOPE LOCK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B04999-156E-410C-A74E-67C939EB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analytical scope is selected QC-passing Longcycler only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DCB7D1B-FF11-45FD-880C-AC194856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status is an operational annotation; the scientific object is the repeated isolate profile.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5C95E53-639C-4374-AD58-51E168D7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69B851-080F-451D-98A9-0680E4E7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B4FCDBE-439F-41BA-9D6C-3D9B5DF3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F59CD06-96E8-41A4-9ECB-5120C109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card-Selected episode-level genomes">
            <a:extLst xmlns:a="http://schemas.openxmlformats.org/drawingml/2006/main">
              <a:ext uri="{FF2B5EF4-FFF2-40B4-BE49-F238E27FC236}">
                <a16:creationId xmlns:a16="http://schemas.microsoft.com/office/drawing/2014/main" id="{7A85EBFD-CEC5-47E9-A29B-D4A79387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11" name="heading-92-206-298-26">
            <a:extLst xmlns:a="http://schemas.openxmlformats.org/drawingml/2006/main">
              <a:ext uri="{FF2B5EF4-FFF2-40B4-BE49-F238E27FC236}">
                <a16:creationId xmlns:a16="http://schemas.microsoft.com/office/drawing/2014/main" id="{53967109-57DA-4526-808C-F7EB019E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episode-level genomes</a:t>
            </a:r>
          </a:p>
        </p:txBody>
      </p:sp>
      <p:sp>
        <p:nvSpPr>
          <p:cNvPr id="12" name="body-92-238-298-238">
            <a:extLst xmlns:a="http://schemas.openxmlformats.org/drawingml/2006/main">
              <a:ext uri="{FF2B5EF4-FFF2-40B4-BE49-F238E27FC236}">
                <a16:creationId xmlns:a16="http://schemas.microsoft.com/office/drawing/2014/main" id="{26274CDA-5F38-4B2B-9E29-85413740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episodes from 161 residents contribute one selected QC-passing assembly per episode. The selected manifest is the only analytical genome source.</a:t>
            </a:r>
          </a:p>
        </p:txBody>
      </p:sp>
      <p:sp>
        <p:nvSpPr>
          <p:cNvPr id="13" name="card-Repeated-measures design">
            <a:extLst xmlns:a="http://schemas.openxmlformats.org/drawingml/2006/main">
              <a:ext uri="{FF2B5EF4-FFF2-40B4-BE49-F238E27FC236}">
                <a16:creationId xmlns:a16="http://schemas.microsoft.com/office/drawing/2014/main" id="{345D89A5-E8D3-4A57-8249-53CF8B2C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4" name="heading-491-206-298-26">
            <a:extLst xmlns:a="http://schemas.openxmlformats.org/drawingml/2006/main">
              <a:ext uri="{FF2B5EF4-FFF2-40B4-BE49-F238E27FC236}">
                <a16:creationId xmlns:a16="http://schemas.microsoft.com/office/drawing/2014/main" id="{E96446D8-8D4D-46AB-9472-32C72195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621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Repeated-measures design</a:t>
            </a:r>
          </a:p>
        </p:txBody>
      </p:sp>
      <p:sp>
        <p:nvSpPr>
          <p:cNvPr id="15" name="body-491-238-298-238">
            <a:extLst xmlns:a="http://schemas.openxmlformats.org/drawingml/2006/main">
              <a:ext uri="{FF2B5EF4-FFF2-40B4-BE49-F238E27FC236}">
                <a16:creationId xmlns:a16="http://schemas.microsoft.com/office/drawing/2014/main" id="{EF2EE52B-2EA8-4562-B1ED-38652BD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6695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893 direct within-resident pairs are available for broad profile comparisons. 371 adjacent transitions from 139 residents define the temporal transition layer.</a:t>
            </a:r>
          </a:p>
        </p:txBody>
      </p:sp>
      <p:sp>
        <p:nvSpPr>
          <p:cNvPr id="16" name="card-Operational clinical overlay">
            <a:extLst xmlns:a="http://schemas.openxmlformats.org/drawingml/2006/main">
              <a:ext uri="{FF2B5EF4-FFF2-40B4-BE49-F238E27FC236}">
                <a16:creationId xmlns:a16="http://schemas.microsoft.com/office/drawing/2014/main" id="{0A9435A3-F138-4414-A101-299D47FC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7" name="heading-890-206-298-26">
            <a:extLst xmlns:a="http://schemas.openxmlformats.org/drawingml/2006/main">
              <a:ext uri="{FF2B5EF4-FFF2-40B4-BE49-F238E27FC236}">
                <a16:creationId xmlns:a16="http://schemas.microsoft.com/office/drawing/2014/main" id="{0AD37112-5EBE-4ADA-9DC7-BF356352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clinical overlay</a:t>
            </a:r>
          </a:p>
        </p:txBody>
      </p:sp>
      <p:sp>
        <p:nvSpPr>
          <p:cNvPr id="18" name="body-890-238-298-238">
            <a:extLst xmlns:a="http://schemas.openxmlformats.org/drawingml/2006/main">
              <a:ext uri="{FF2B5EF4-FFF2-40B4-BE49-F238E27FC236}">
                <a16:creationId xmlns:a16="http://schemas.microsoft.com/office/drawing/2014/main" id="{2F1987E3-F724-4D7D-8F0A-90615490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episodes are operational UTI and 516 are operational Not_UTI. Interpret status comparisons as exploratory observational analysis; no causal claim.</a:t>
            </a:r>
          </a:p>
        </p:txBody>
      </p:sp>
      <p:sp>
        <p:nvSpPr>
          <p:cNvPr id="19" name="label-No alternate assembly source enters the analytical cohort">
            <a:extLst xmlns:a="http://schemas.openxmlformats.org/drawingml/2006/main">
              <a:ext uri="{FF2B5EF4-FFF2-40B4-BE49-F238E27FC236}">
                <a16:creationId xmlns:a16="http://schemas.microsoft.com/office/drawing/2014/main" id="{2F60E54F-5995-405A-A143-CE965E0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05400"/>
            <a:ext cx="42100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label-426-541-426-23">
            <a:extLst xmlns:a="http://schemas.openxmlformats.org/drawingml/2006/main">
              <a:ext uri="{FF2B5EF4-FFF2-40B4-BE49-F238E27FC236}">
                <a16:creationId xmlns:a16="http://schemas.microsoft.com/office/drawing/2014/main" id="{4C6F9302-AB5D-48EF-AB84-CC89856E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53025"/>
            <a:ext cx="4057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alternate assembly source enters the analytical cohort</a:t>
            </a:r>
          </a:p>
        </p:txBody>
      </p:sp>
    </p:spTree>
    <p:extLst>
      <p:ext uri="{BB962C8B-B14F-4D97-AF65-F5344CB8AC3E}">
        <p14:creationId xmlns:p14="http://schemas.microsoft.com/office/powerpoint/2010/main" val="16385252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A2BF3ED-88BE-4425-8025-93F8FD85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94CF77EB-9952-4140-B03C-3A1C666D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C822220-1CFA-4D72-A7EC-A01F2B1E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 ASSET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BE5556-E097-4BF8-84F7-23AB8DFD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VF-ready data link selected genomes to repeated clinical episodes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8CF3C02-BBA6-457F-AA28-A5C14DD1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analytical denominators are selected Longcycler outputs; source counts appear only as QC context.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BAFADC6-2D85-460B-8C09-D479CE26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9DB39CD-6D76-45B1-8C9F-F37BF9FC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FF0F895-2B8B-4CBD-B8C7-8E821396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FF0AA4-7111-4874-801B-672214C9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0" name="metric-selected episodes">
            <a:extLst xmlns:a="http://schemas.openxmlformats.org/drawingml/2006/main">
              <a:ext uri="{FF2B5EF4-FFF2-40B4-BE49-F238E27FC236}">
                <a16:creationId xmlns:a16="http://schemas.microsoft.com/office/drawing/2014/main" id="{9ACABC7E-5D2A-4AB5-908A-EDA36766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heading-76-188-170-31">
            <a:extLst xmlns:a="http://schemas.openxmlformats.org/drawingml/2006/main">
              <a:ext uri="{FF2B5EF4-FFF2-40B4-BE49-F238E27FC236}">
                <a16:creationId xmlns:a16="http://schemas.microsoft.com/office/drawing/2014/main" id="{4C1C0942-1857-4F7C-8E8B-1466E47D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12" name="body-76-226-170-32">
            <a:extLst xmlns:a="http://schemas.openxmlformats.org/drawingml/2006/main">
              <a:ext uri="{FF2B5EF4-FFF2-40B4-BE49-F238E27FC236}">
                <a16:creationId xmlns:a16="http://schemas.microsoft.com/office/drawing/2014/main" id="{2BA07257-A970-4CA7-9A6B-B3DA5250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episodes</a:t>
            </a:r>
          </a:p>
        </p:txBody>
      </p:sp>
      <p:sp>
        <p:nvSpPr>
          <p:cNvPr id="13" name="metric-residents">
            <a:extLst xmlns:a="http://schemas.openxmlformats.org/drawingml/2006/main">
              <a:ext uri="{FF2B5EF4-FFF2-40B4-BE49-F238E27FC236}">
                <a16:creationId xmlns:a16="http://schemas.microsoft.com/office/drawing/2014/main" id="{082B63F5-E53D-4DF1-B2D1-D2E7C28E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heading-312-188-170-31">
            <a:extLst xmlns:a="http://schemas.openxmlformats.org/drawingml/2006/main">
              <a:ext uri="{FF2B5EF4-FFF2-40B4-BE49-F238E27FC236}">
                <a16:creationId xmlns:a16="http://schemas.microsoft.com/office/drawing/2014/main" id="{3A8D349B-5EE0-4460-8A37-27D62051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161</a:t>
            </a:r>
          </a:p>
        </p:txBody>
      </p:sp>
      <p:sp>
        <p:nvSpPr>
          <p:cNvPr id="15" name="body-312-226-170-32">
            <a:extLst xmlns:a="http://schemas.openxmlformats.org/drawingml/2006/main">
              <a:ext uri="{FF2B5EF4-FFF2-40B4-BE49-F238E27FC236}">
                <a16:creationId xmlns:a16="http://schemas.microsoft.com/office/drawing/2014/main" id="{B6BA1967-A006-4DBE-8A58-936380B2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</a:t>
            </a:r>
          </a:p>
        </p:txBody>
      </p:sp>
      <p:sp>
        <p:nvSpPr>
          <p:cNvPr id="16" name="metric-binary VF features">
            <a:extLst xmlns:a="http://schemas.openxmlformats.org/drawingml/2006/main">
              <a:ext uri="{FF2B5EF4-FFF2-40B4-BE49-F238E27FC236}">
                <a16:creationId xmlns:a16="http://schemas.microsoft.com/office/drawing/2014/main" id="{2EEC655A-7F7D-4787-8371-9191FBDF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heading-548-188-170-31">
            <a:extLst xmlns:a="http://schemas.openxmlformats.org/drawingml/2006/main">
              <a:ext uri="{FF2B5EF4-FFF2-40B4-BE49-F238E27FC236}">
                <a16:creationId xmlns:a16="http://schemas.microsoft.com/office/drawing/2014/main" id="{7FE1380A-D476-4E04-9665-8F3258D7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227</a:t>
            </a:r>
          </a:p>
        </p:txBody>
      </p:sp>
      <p:sp>
        <p:nvSpPr>
          <p:cNvPr id="18" name="body-548-226-170-32">
            <a:extLst xmlns:a="http://schemas.openxmlformats.org/drawingml/2006/main">
              <a:ext uri="{FF2B5EF4-FFF2-40B4-BE49-F238E27FC236}">
                <a16:creationId xmlns:a16="http://schemas.microsoft.com/office/drawing/2014/main" id="{0BA3EDFC-9CCC-4534-BA2F-7A83A5F5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F855A"/>
                </a:solidFill>
                <a:latin typeface="Aptos"/>
                <a:ea typeface="Aptos"/>
                <a:cs typeface="Aptos"/>
              </a:rPr>
              <a:t>binary VF features</a:t>
            </a:r>
          </a:p>
        </p:txBody>
      </p:sp>
      <p:sp>
        <p:nvSpPr>
          <p:cNvPr id="19" name="metric-operational UTI">
            <a:extLst xmlns:a="http://schemas.openxmlformats.org/drawingml/2006/main">
              <a:ext uri="{FF2B5EF4-FFF2-40B4-BE49-F238E27FC236}">
                <a16:creationId xmlns:a16="http://schemas.microsoft.com/office/drawing/2014/main" id="{9CB637C7-4F4C-4FA6-9290-063E0D3E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heading-784-188-170-31">
            <a:extLst xmlns:a="http://schemas.openxmlformats.org/drawingml/2006/main">
              <a:ext uri="{FF2B5EF4-FFF2-40B4-BE49-F238E27FC236}">
                <a16:creationId xmlns:a16="http://schemas.microsoft.com/office/drawing/2014/main" id="{6AFA781D-6202-4425-B6F8-B4198E47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body-784-226-170-32">
            <a:extLst xmlns:a="http://schemas.openxmlformats.org/drawingml/2006/main">
              <a:ext uri="{FF2B5EF4-FFF2-40B4-BE49-F238E27FC236}">
                <a16:creationId xmlns:a16="http://schemas.microsoft.com/office/drawing/2014/main" id="{19340346-27D7-49E7-ABFF-2B033D18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UTI</a:t>
            </a:r>
          </a:p>
        </p:txBody>
      </p:sp>
      <p:sp>
        <p:nvSpPr>
          <p:cNvPr id="22" name="metric-operational Not_UTI">
            <a:extLst xmlns:a="http://schemas.openxmlformats.org/drawingml/2006/main">
              <a:ext uri="{FF2B5EF4-FFF2-40B4-BE49-F238E27FC236}">
                <a16:creationId xmlns:a16="http://schemas.microsoft.com/office/drawing/2014/main" id="{E70D6A8D-7B5B-4173-A9E6-59ABB078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heading-1020-188-170-31">
            <a:extLst xmlns:a="http://schemas.openxmlformats.org/drawingml/2006/main">
              <a:ext uri="{FF2B5EF4-FFF2-40B4-BE49-F238E27FC236}">
                <a16:creationId xmlns:a16="http://schemas.microsoft.com/office/drawing/2014/main" id="{99C64D27-B8EF-44CA-A749-BAA79D64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65A3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65A3C"/>
                </a:solidFill>
                <a:latin typeface="Aptos"/>
                <a:ea typeface="Aptos"/>
                <a:cs typeface="Aptos"/>
              </a:rPr>
              <a:t>516</a:t>
            </a:r>
          </a:p>
        </p:txBody>
      </p:sp>
      <p:sp>
        <p:nvSpPr>
          <p:cNvPr id="24" name="body-1020-226-170-32">
            <a:extLst xmlns:a="http://schemas.openxmlformats.org/drawingml/2006/main">
              <a:ext uri="{FF2B5EF4-FFF2-40B4-BE49-F238E27FC236}">
                <a16:creationId xmlns:a16="http://schemas.microsoft.com/office/drawing/2014/main" id="{988B3FDB-4295-4D70-ADED-662E6BFF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65A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5A3C"/>
                </a:solidFill>
                <a:latin typeface="Aptos"/>
                <a:ea typeface="Aptos"/>
                <a:cs typeface="Aptos"/>
              </a:rPr>
              <a:t>operational Not_UTI</a:t>
            </a:r>
          </a:p>
        </p:txBody>
      </p:sp>
      <p:sp>
        <p:nvSpPr>
          <p:cNvPr id="25" name="body-98-326-360-24">
            <a:extLst xmlns:a="http://schemas.openxmlformats.org/drawingml/2006/main">
              <a:ext uri="{FF2B5EF4-FFF2-40B4-BE49-F238E27FC236}">
                <a16:creationId xmlns:a16="http://schemas.microsoft.com/office/drawing/2014/main" id="{8443680C-ED85-4A27-B226-917AA2C9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Repeated-isolate design</a:t>
            </a:r>
          </a:p>
        </p:txBody>
      </p:sp>
      <p:sp>
        <p:nvSpPr>
          <p:cNvPr id="26" name="episode-1">
            <a:extLst xmlns:a="http://schemas.openxmlformats.org/drawingml/2006/main">
              <a:ext uri="{FF2B5EF4-FFF2-40B4-BE49-F238E27FC236}">
                <a16:creationId xmlns:a16="http://schemas.microsoft.com/office/drawing/2014/main" id="{451CA20F-AFA2-43D7-BBB9-BA7614A4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episode-1-head">
            <a:extLst xmlns:a="http://schemas.openxmlformats.org/drawingml/2006/main">
              <a:ext uri="{FF2B5EF4-FFF2-40B4-BE49-F238E27FC236}">
                <a16:creationId xmlns:a16="http://schemas.microsoft.com/office/drawing/2014/main" id="{E3EFD21F-8CAD-41EB-A024-3B5707B2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623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episode-2">
            <a:extLst xmlns:a="http://schemas.openxmlformats.org/drawingml/2006/main">
              <a:ext uri="{FF2B5EF4-FFF2-40B4-BE49-F238E27FC236}">
                <a16:creationId xmlns:a16="http://schemas.microsoft.com/office/drawing/2014/main" id="{860B6972-1FFB-4A6C-9681-51A04F1B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episode-2-head">
            <a:extLst xmlns:a="http://schemas.openxmlformats.org/drawingml/2006/main">
              <a:ext uri="{FF2B5EF4-FFF2-40B4-BE49-F238E27FC236}">
                <a16:creationId xmlns:a16="http://schemas.microsoft.com/office/drawing/2014/main" id="{2C92F29C-132D-4D73-AB9D-CB1395A2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578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episode-3">
            <a:extLst xmlns:a="http://schemas.openxmlformats.org/drawingml/2006/main">
              <a:ext uri="{FF2B5EF4-FFF2-40B4-BE49-F238E27FC236}">
                <a16:creationId xmlns:a16="http://schemas.microsoft.com/office/drawing/2014/main" id="{247E49F6-53F8-442C-AF35-13411454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episode-3-head">
            <a:extLst xmlns:a="http://schemas.openxmlformats.org/drawingml/2006/main">
              <a:ext uri="{FF2B5EF4-FFF2-40B4-BE49-F238E27FC236}">
                <a16:creationId xmlns:a16="http://schemas.microsoft.com/office/drawing/2014/main" id="{E954BBAA-8CC6-4D82-A804-3B981A60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533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pisode-4">
            <a:extLst xmlns:a="http://schemas.openxmlformats.org/drawingml/2006/main">
              <a:ext uri="{FF2B5EF4-FFF2-40B4-BE49-F238E27FC236}">
                <a16:creationId xmlns:a16="http://schemas.microsoft.com/office/drawing/2014/main" id="{704689A6-5A2B-42E3-843E-08B263DE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pisode-4-head">
            <a:extLst xmlns:a="http://schemas.openxmlformats.org/drawingml/2006/main">
              <a:ext uri="{FF2B5EF4-FFF2-40B4-BE49-F238E27FC236}">
                <a16:creationId xmlns:a16="http://schemas.microsoft.com/office/drawing/2014/main" id="{A7DE130E-99DF-4BB7-B637-4CA4919A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488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episode-node-1">
            <a:extLst xmlns:a="http://schemas.openxmlformats.org/drawingml/2006/main">
              <a:ext uri="{FF2B5EF4-FFF2-40B4-BE49-F238E27FC236}">
                <a16:creationId xmlns:a16="http://schemas.microsoft.com/office/drawing/2014/main" id="{0642C09A-2529-44D6-8330-CC4DA61B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35" name="label-142-426-86-18">
            <a:extLst xmlns:a="http://schemas.openxmlformats.org/drawingml/2006/main">
              <a:ext uri="{FF2B5EF4-FFF2-40B4-BE49-F238E27FC236}">
                <a16:creationId xmlns:a16="http://schemas.microsoft.com/office/drawing/2014/main" id="{F7FF926E-0DCE-4438-8173-BCB87A13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36" name="label-134-484-102-18">
            <a:extLst xmlns:a="http://schemas.openxmlformats.org/drawingml/2006/main">
              <a:ext uri="{FF2B5EF4-FFF2-40B4-BE49-F238E27FC236}">
                <a16:creationId xmlns:a16="http://schemas.microsoft.com/office/drawing/2014/main" id="{8DEEF048-2544-467B-B326-5E0FC6BC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1</a:t>
            </a:r>
          </a:p>
        </p:txBody>
      </p:sp>
      <p:sp>
        <p:nvSpPr>
          <p:cNvPr id="37" name="episode-node-2">
            <a:extLst xmlns:a="http://schemas.openxmlformats.org/drawingml/2006/main">
              <a:ext uri="{FF2B5EF4-FFF2-40B4-BE49-F238E27FC236}">
                <a16:creationId xmlns:a16="http://schemas.microsoft.com/office/drawing/2014/main" id="{3747F6C0-2F43-470D-A615-43D5111D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38" name="label-362-426-86-18">
            <a:extLst xmlns:a="http://schemas.openxmlformats.org/drawingml/2006/main">
              <a:ext uri="{FF2B5EF4-FFF2-40B4-BE49-F238E27FC236}">
                <a16:creationId xmlns:a16="http://schemas.microsoft.com/office/drawing/2014/main" id="{13F5A71C-1615-45DD-9AE0-534A9FF2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39" name="label-354-484-102-18">
            <a:extLst xmlns:a="http://schemas.openxmlformats.org/drawingml/2006/main">
              <a:ext uri="{FF2B5EF4-FFF2-40B4-BE49-F238E27FC236}">
                <a16:creationId xmlns:a16="http://schemas.microsoft.com/office/drawing/2014/main" id="{9F3E59AF-DC73-475B-A1EC-BD03622C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2</a:t>
            </a:r>
          </a:p>
        </p:txBody>
      </p:sp>
      <p:sp>
        <p:nvSpPr>
          <p:cNvPr id="40" name="episode-node-3">
            <a:extLst xmlns:a="http://schemas.openxmlformats.org/drawingml/2006/main">
              <a:ext uri="{FF2B5EF4-FFF2-40B4-BE49-F238E27FC236}">
                <a16:creationId xmlns:a16="http://schemas.microsoft.com/office/drawing/2014/main" id="{ADDE741E-ABBF-416A-A063-EF516AE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41" name="label-582-426-86-18">
            <a:extLst xmlns:a="http://schemas.openxmlformats.org/drawingml/2006/main">
              <a:ext uri="{FF2B5EF4-FFF2-40B4-BE49-F238E27FC236}">
                <a16:creationId xmlns:a16="http://schemas.microsoft.com/office/drawing/2014/main" id="{D5A2AFCA-0086-4D0D-A7CB-BDE24005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42" name="label-574-484-102-18">
            <a:extLst xmlns:a="http://schemas.openxmlformats.org/drawingml/2006/main">
              <a:ext uri="{FF2B5EF4-FFF2-40B4-BE49-F238E27FC236}">
                <a16:creationId xmlns:a16="http://schemas.microsoft.com/office/drawing/2014/main" id="{088CC121-863D-45F7-9B84-2C73F48B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3</a:t>
            </a:r>
          </a:p>
        </p:txBody>
      </p:sp>
      <p:sp>
        <p:nvSpPr>
          <p:cNvPr id="43" name="episode-node-4">
            <a:extLst xmlns:a="http://schemas.openxmlformats.org/drawingml/2006/main">
              <a:ext uri="{FF2B5EF4-FFF2-40B4-BE49-F238E27FC236}">
                <a16:creationId xmlns:a16="http://schemas.microsoft.com/office/drawing/2014/main" id="{D9C7D4DB-9637-4827-AFBB-A1644A0B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9050">
            <a:solidFill>
              <a:srgbClr val="F4B15F"/>
            </a:solidFill>
            <a:prstDash val="solid"/>
          </a:ln>
        </p:spPr>
      </p:sp>
      <p:sp>
        <p:nvSpPr>
          <p:cNvPr id="44" name="label-802-426-86-18">
            <a:extLst xmlns:a="http://schemas.openxmlformats.org/drawingml/2006/main">
              <a:ext uri="{FF2B5EF4-FFF2-40B4-BE49-F238E27FC236}">
                <a16:creationId xmlns:a16="http://schemas.microsoft.com/office/drawing/2014/main" id="{2689CE5A-A4E9-47AD-9216-A041ADD0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45" name="label-794-484-102-18">
            <a:extLst xmlns:a="http://schemas.openxmlformats.org/drawingml/2006/main">
              <a:ext uri="{FF2B5EF4-FFF2-40B4-BE49-F238E27FC236}">
                <a16:creationId xmlns:a16="http://schemas.microsoft.com/office/drawing/2014/main" id="{A3A91CED-B639-4929-8725-0AD4471F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4</a:t>
            </a:r>
          </a:p>
        </p:txBody>
      </p:sp>
      <p:sp>
        <p:nvSpPr>
          <p:cNvPr id="46" name="episode-node-5">
            <a:extLst xmlns:a="http://schemas.openxmlformats.org/drawingml/2006/main">
              <a:ext uri="{FF2B5EF4-FFF2-40B4-BE49-F238E27FC236}">
                <a16:creationId xmlns:a16="http://schemas.microsoft.com/office/drawing/2014/main" id="{EF3E6597-E60C-4507-AE88-489FE514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47" name="label-1022-426-86-18">
            <a:extLst xmlns:a="http://schemas.openxmlformats.org/drawingml/2006/main">
              <a:ext uri="{FF2B5EF4-FFF2-40B4-BE49-F238E27FC236}">
                <a16:creationId xmlns:a16="http://schemas.microsoft.com/office/drawing/2014/main" id="{5E7867CD-5A4F-49EE-8F93-F1676351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48" name="label-1014-484-102-18">
            <a:extLst xmlns:a="http://schemas.openxmlformats.org/drawingml/2006/main">
              <a:ext uri="{FF2B5EF4-FFF2-40B4-BE49-F238E27FC236}">
                <a16:creationId xmlns:a16="http://schemas.microsoft.com/office/drawing/2014/main" id="{019A965D-E339-45CE-9A7F-243C1E5C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5</a:t>
            </a:r>
          </a:p>
        </p:txBody>
      </p:sp>
      <p:sp>
        <p:nvSpPr>
          <p:cNvPr id="49" name="card-Interpretation stance">
            <a:extLst xmlns:a="http://schemas.openxmlformats.org/drawingml/2006/main">
              <a:ext uri="{FF2B5EF4-FFF2-40B4-BE49-F238E27FC236}">
                <a16:creationId xmlns:a16="http://schemas.microsoft.com/office/drawing/2014/main" id="{52788639-B75F-4EAF-94E5-3D813BE5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000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heading-114-564-1018-26">
            <a:extLst xmlns:a="http://schemas.openxmlformats.org/drawingml/2006/main">
              <a:ext uri="{FF2B5EF4-FFF2-40B4-BE49-F238E27FC236}">
                <a16:creationId xmlns:a16="http://schemas.microsoft.com/office/drawing/2014/main" id="{4E0DED12-09C5-4F60-BA7C-FE5B700A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969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 stance</a:t>
            </a:r>
          </a:p>
        </p:txBody>
      </p:sp>
      <p:sp>
        <p:nvSpPr>
          <p:cNvPr id="51" name="body-114-596-1018-10">
            <a:extLst xmlns:a="http://schemas.openxmlformats.org/drawingml/2006/main">
              <a:ext uri="{FF2B5EF4-FFF2-40B4-BE49-F238E27FC236}">
                <a16:creationId xmlns:a16="http://schemas.microsoft.com/office/drawing/2014/main" id="{685586CB-3369-4B42-B84D-F4287821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76900"/>
            <a:ext cx="969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profiles are repeated within residents. Status comparisons must account for repeated measures, lineage structure, and the sparse operational UTI denominator.</a:t>
            </a:r>
          </a:p>
        </p:txBody>
      </p:sp>
    </p:spTree>
    <p:extLst>
      <p:ext uri="{BB962C8B-B14F-4D97-AF65-F5344CB8AC3E}">
        <p14:creationId xmlns:p14="http://schemas.microsoft.com/office/powerpoint/2010/main" val="10253380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4640F00-2232-4BA6-8D81-FBE6C341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5508C084-0080-49F6-96FD-64B09081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916C039-9E91-40A1-AC45-1E0A08E7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PIPELINE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2CB4E3-8AA7-49C8-AAD4-B76BF875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Numbered clinical-to-VF pipeline with validated handoff counts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26A8EC7-9203-47F4-9D0D-4659C72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RQ01–RQ10 consume the same selected analytical cohort and current-run outputs.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2251345-3EBB-48EB-9E1C-01186236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8AFFF0-2D2B-4B32-ACA3-E601E0C3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95F4C8E-DAD5-4B57-AFCF-450F366C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4ABF3F-67C5-42ED-9165-A300C0C9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88CA25B6-29CB-43ED-BDA3-561C292F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1-head">
            <a:extLst xmlns:a="http://schemas.openxmlformats.org/drawingml/2006/main">
              <a:ext uri="{FF2B5EF4-FFF2-40B4-BE49-F238E27FC236}">
                <a16:creationId xmlns:a16="http://schemas.microsoft.com/office/drawing/2014/main" id="{1600948C-83D9-4F1E-A67B-B4FC4310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C032AE14-F9F1-4C23-9680-2596DAB8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tage-2-head">
            <a:extLst xmlns:a="http://schemas.openxmlformats.org/drawingml/2006/main">
              <a:ext uri="{FF2B5EF4-FFF2-40B4-BE49-F238E27FC236}">
                <a16:creationId xmlns:a16="http://schemas.microsoft.com/office/drawing/2014/main" id="{F8077B9E-E709-4DD2-87AF-5B6C0389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0537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tage-3">
            <a:extLst xmlns:a="http://schemas.openxmlformats.org/drawingml/2006/main">
              <a:ext uri="{FF2B5EF4-FFF2-40B4-BE49-F238E27FC236}">
                <a16:creationId xmlns:a16="http://schemas.microsoft.com/office/drawing/2014/main" id="{8E2EC55F-4C7D-4606-A110-A0695F7C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tage-3-head">
            <a:extLst xmlns:a="http://schemas.openxmlformats.org/drawingml/2006/main">
              <a:ext uri="{FF2B5EF4-FFF2-40B4-BE49-F238E27FC236}">
                <a16:creationId xmlns:a16="http://schemas.microsoft.com/office/drawing/2014/main" id="{1F34C804-BADF-4E9B-A184-CE35DDBA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7232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tage-4">
            <a:extLst xmlns:a="http://schemas.openxmlformats.org/drawingml/2006/main">
              <a:ext uri="{FF2B5EF4-FFF2-40B4-BE49-F238E27FC236}">
                <a16:creationId xmlns:a16="http://schemas.microsoft.com/office/drawing/2014/main" id="{1FB91B40-1BC9-4D4F-9EDA-97DCB0B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tage-4-head">
            <a:extLst xmlns:a="http://schemas.openxmlformats.org/drawingml/2006/main">
              <a:ext uri="{FF2B5EF4-FFF2-40B4-BE49-F238E27FC236}">
                <a16:creationId xmlns:a16="http://schemas.microsoft.com/office/drawing/2014/main" id="{2327D8CC-214E-4D4F-8C78-329F38BA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927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tage-6">
            <a:extLst xmlns:a="http://schemas.openxmlformats.org/drawingml/2006/main">
              <a:ext uri="{FF2B5EF4-FFF2-40B4-BE49-F238E27FC236}">
                <a16:creationId xmlns:a16="http://schemas.microsoft.com/office/drawing/2014/main" id="{17C33F5A-DCBD-474D-8EBE-4BE4CD24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6-head">
            <a:extLst xmlns:a="http://schemas.openxmlformats.org/drawingml/2006/main">
              <a:ext uri="{FF2B5EF4-FFF2-40B4-BE49-F238E27FC236}">
                <a16:creationId xmlns:a16="http://schemas.microsoft.com/office/drawing/2014/main" id="{4BFABCC7-09A4-47BA-AE48-D83725CB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tage-7">
            <a:extLst xmlns:a="http://schemas.openxmlformats.org/drawingml/2006/main">
              <a:ext uri="{FF2B5EF4-FFF2-40B4-BE49-F238E27FC236}">
                <a16:creationId xmlns:a16="http://schemas.microsoft.com/office/drawing/2014/main" id="{84CDF4D3-B09D-4DF8-A524-DA7DBAC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tage-7-head">
            <a:extLst xmlns:a="http://schemas.openxmlformats.org/drawingml/2006/main">
              <a:ext uri="{FF2B5EF4-FFF2-40B4-BE49-F238E27FC236}">
                <a16:creationId xmlns:a16="http://schemas.microsoft.com/office/drawing/2014/main" id="{21283CBA-977E-43D2-B052-7902E057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0537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tage-8">
            <a:extLst xmlns:a="http://schemas.openxmlformats.org/drawingml/2006/main">
              <a:ext uri="{FF2B5EF4-FFF2-40B4-BE49-F238E27FC236}">
                <a16:creationId xmlns:a16="http://schemas.microsoft.com/office/drawing/2014/main" id="{4963BEEA-76B9-46AF-A1CF-AEFBB670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tage-8-head">
            <a:extLst xmlns:a="http://schemas.openxmlformats.org/drawingml/2006/main">
              <a:ext uri="{FF2B5EF4-FFF2-40B4-BE49-F238E27FC236}">
                <a16:creationId xmlns:a16="http://schemas.microsoft.com/office/drawing/2014/main" id="{E8ED81D8-8169-48CF-A2B5-BFF9DDC5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7232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age-9">
            <a:extLst xmlns:a="http://schemas.openxmlformats.org/drawingml/2006/main">
              <a:ext uri="{FF2B5EF4-FFF2-40B4-BE49-F238E27FC236}">
                <a16:creationId xmlns:a16="http://schemas.microsoft.com/office/drawing/2014/main" id="{34BFD839-FF0F-4C27-A5FB-1A12930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tage-9-head">
            <a:extLst xmlns:a="http://schemas.openxmlformats.org/drawingml/2006/main">
              <a:ext uri="{FF2B5EF4-FFF2-40B4-BE49-F238E27FC236}">
                <a16:creationId xmlns:a16="http://schemas.microsoft.com/office/drawing/2014/main" id="{7ACB5BC8-46C4-4102-9D83-20591E52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927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pipeline-1">
            <a:extLst xmlns:a="http://schemas.openxmlformats.org/drawingml/2006/main">
              <a:ext uri="{FF2B5EF4-FFF2-40B4-BE49-F238E27FC236}">
                <a16:creationId xmlns:a16="http://schemas.microsoft.com/office/drawing/2014/main" id="{2A44E69B-902B-4A03-8D9A-DE46B980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74364E14-5C75-4365-9D5B-1C3DDF7F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label-68-200-30-16">
            <a:extLst xmlns:a="http://schemas.openxmlformats.org/drawingml/2006/main">
              <a:ext uri="{FF2B5EF4-FFF2-40B4-BE49-F238E27FC236}">
                <a16:creationId xmlns:a16="http://schemas.microsoft.com/office/drawing/2014/main" id="{32123210-2F7E-4BA8-A790-D1D46629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heading-108-193-145-44">
            <a:extLst xmlns:a="http://schemas.openxmlformats.org/drawingml/2006/main">
              <a:ext uri="{FF2B5EF4-FFF2-40B4-BE49-F238E27FC236}">
                <a16:creationId xmlns:a16="http://schemas.microsoft.com/office/drawing/2014/main" id="{2D40AB35-4CD6-4ED8-B15D-643AD23D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Source/QC context</a:t>
            </a:r>
          </a:p>
        </p:txBody>
      </p:sp>
      <p:sp>
        <p:nvSpPr>
          <p:cNvPr id="30" name="body-70-250-182-64">
            <a:extLst xmlns:a="http://schemas.openxmlformats.org/drawingml/2006/main">
              <a:ext uri="{FF2B5EF4-FFF2-40B4-BE49-F238E27FC236}">
                <a16:creationId xmlns:a16="http://schemas.microsoft.com/office/drawing/2014/main" id="{1F00C228-734C-4DB3-BB22-C8BCFABB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583 episodes; 166 residents</a:t>
            </a:r>
          </a:p>
        </p:txBody>
      </p:sp>
      <p:sp>
        <p:nvSpPr>
          <p:cNvPr id="31" name="pipeline-2">
            <a:extLst xmlns:a="http://schemas.openxmlformats.org/drawingml/2006/main">
              <a:ext uri="{FF2B5EF4-FFF2-40B4-BE49-F238E27FC236}">
                <a16:creationId xmlns:a16="http://schemas.microsoft.com/office/drawing/2014/main" id="{043F3E43-682D-4BEE-A4F2-3835445A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C2CA5605-2183-4B4C-9F89-7074A33A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label-306-200-30-16">
            <a:extLst xmlns:a="http://schemas.openxmlformats.org/drawingml/2006/main">
              <a:ext uri="{FF2B5EF4-FFF2-40B4-BE49-F238E27FC236}">
                <a16:creationId xmlns:a16="http://schemas.microsoft.com/office/drawing/2014/main" id="{80978EAB-648A-4510-8D92-4B02E765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heading-346-193-145-44">
            <a:extLst xmlns:a="http://schemas.openxmlformats.org/drawingml/2006/main">
              <a:ext uri="{FF2B5EF4-FFF2-40B4-BE49-F238E27FC236}">
                <a16:creationId xmlns:a16="http://schemas.microsoft.com/office/drawing/2014/main" id="{C4AA95D9-7DB9-4BE1-B127-1F91E6A1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Selected cohort</a:t>
            </a:r>
          </a:p>
        </p:txBody>
      </p:sp>
      <p:sp>
        <p:nvSpPr>
          <p:cNvPr id="35" name="body-308-250-182-64">
            <a:extLst xmlns:a="http://schemas.openxmlformats.org/drawingml/2006/main">
              <a:ext uri="{FF2B5EF4-FFF2-40B4-BE49-F238E27FC236}">
                <a16:creationId xmlns:a16="http://schemas.microsoft.com/office/drawing/2014/main" id="{8377AD87-86FE-4E4A-B04B-8E3E380F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episodes; 161 residents</a:t>
            </a:r>
          </a:p>
        </p:txBody>
      </p:sp>
      <p:sp>
        <p:nvSpPr>
          <p:cNvPr id="36" name="pipeline-3">
            <a:extLst xmlns:a="http://schemas.openxmlformats.org/drawingml/2006/main">
              <a:ext uri="{FF2B5EF4-FFF2-40B4-BE49-F238E27FC236}">
                <a16:creationId xmlns:a16="http://schemas.microsoft.com/office/drawing/2014/main" id="{0CB3FDD9-AC35-41C6-AA9B-4A15A66E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7D40AACD-E788-4898-AB9A-25586966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label-544-200-30-16">
            <a:extLst xmlns:a="http://schemas.openxmlformats.org/drawingml/2006/main">
              <a:ext uri="{FF2B5EF4-FFF2-40B4-BE49-F238E27FC236}">
                <a16:creationId xmlns:a16="http://schemas.microsoft.com/office/drawing/2014/main" id="{60FCFD95-8177-46EC-9002-6CF4933B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heading-584-193-145-44">
            <a:extLst xmlns:a="http://schemas.openxmlformats.org/drawingml/2006/main">
              <a:ext uri="{FF2B5EF4-FFF2-40B4-BE49-F238E27FC236}">
                <a16:creationId xmlns:a16="http://schemas.microsoft.com/office/drawing/2014/main" id="{48E1AB8C-0D28-40D2-806E-A145466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Operational phenotype</a:t>
            </a:r>
          </a:p>
        </p:txBody>
      </p:sp>
      <p:sp>
        <p:nvSpPr>
          <p:cNvPr id="40" name="body-546-250-182-64">
            <a:extLst xmlns:a="http://schemas.openxmlformats.org/drawingml/2006/main">
              <a:ext uri="{FF2B5EF4-FFF2-40B4-BE49-F238E27FC236}">
                <a16:creationId xmlns:a16="http://schemas.microsoft.com/office/drawing/2014/main" id="{45BA00BB-A521-458E-B382-10BC988E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UTI; 516 Not_UTI</a:t>
            </a:r>
          </a:p>
        </p:txBody>
      </p:sp>
      <p:sp>
        <p:nvSpPr>
          <p:cNvPr id="41" name="pipeline-4">
            <a:extLst xmlns:a="http://schemas.openxmlformats.org/drawingml/2006/main">
              <a:ext uri="{FF2B5EF4-FFF2-40B4-BE49-F238E27FC236}">
                <a16:creationId xmlns:a16="http://schemas.microsoft.com/office/drawing/2014/main" id="{8BA325A4-40DE-4BEB-B2AA-64E28EAD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2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721CE0BC-77E3-454C-BAC2-D67E9E42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label-782-200-30-16">
            <a:extLst xmlns:a="http://schemas.openxmlformats.org/drawingml/2006/main">
              <a:ext uri="{FF2B5EF4-FFF2-40B4-BE49-F238E27FC236}">
                <a16:creationId xmlns:a16="http://schemas.microsoft.com/office/drawing/2014/main" id="{CB2E947A-8C59-4990-840B-A9F4B84A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4" name="heading-822-193-145-44">
            <a:extLst xmlns:a="http://schemas.openxmlformats.org/drawingml/2006/main">
              <a:ext uri="{FF2B5EF4-FFF2-40B4-BE49-F238E27FC236}">
                <a16:creationId xmlns:a16="http://schemas.microsoft.com/office/drawing/2014/main" id="{7FA11EDD-E762-4E91-BF3E-C6E6F4EA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VF feature matrix</a:t>
            </a:r>
          </a:p>
        </p:txBody>
      </p:sp>
      <p:sp>
        <p:nvSpPr>
          <p:cNvPr id="45" name="body-784-250-182-64">
            <a:extLst xmlns:a="http://schemas.openxmlformats.org/drawingml/2006/main">
              <a:ext uri="{FF2B5EF4-FFF2-40B4-BE49-F238E27FC236}">
                <a16:creationId xmlns:a16="http://schemas.microsoft.com/office/drawing/2014/main" id="{81FA8A08-D4CC-42C2-9C1A-000C1C7E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227 binary features</a:t>
            </a:r>
          </a:p>
        </p:txBody>
      </p:sp>
      <p:sp>
        <p:nvSpPr>
          <p:cNvPr id="46" name="pipeline-5">
            <a:extLst xmlns:a="http://schemas.openxmlformats.org/drawingml/2006/main">
              <a:ext uri="{FF2B5EF4-FFF2-40B4-BE49-F238E27FC236}">
                <a16:creationId xmlns:a16="http://schemas.microsoft.com/office/drawing/2014/main" id="{5DB7A3FB-E92C-4557-97D6-FEB8590C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pipeline-number-5">
            <a:extLst xmlns:a="http://schemas.openxmlformats.org/drawingml/2006/main">
              <a:ext uri="{FF2B5EF4-FFF2-40B4-BE49-F238E27FC236}">
                <a16:creationId xmlns:a16="http://schemas.microsoft.com/office/drawing/2014/main" id="{F1311F5E-6E98-434D-9088-9D7649BA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label-1020-200-30-16">
            <a:extLst xmlns:a="http://schemas.openxmlformats.org/drawingml/2006/main">
              <a:ext uri="{FF2B5EF4-FFF2-40B4-BE49-F238E27FC236}">
                <a16:creationId xmlns:a16="http://schemas.microsoft.com/office/drawing/2014/main" id="{92F95480-4361-4662-83EF-EF60BC1E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9" name="heading-1060-193-145-44">
            <a:extLst xmlns:a="http://schemas.openxmlformats.org/drawingml/2006/main">
              <a:ext uri="{FF2B5EF4-FFF2-40B4-BE49-F238E27FC236}">
                <a16:creationId xmlns:a16="http://schemas.microsoft.com/office/drawing/2014/main" id="{9FD09C49-70C7-4261-B2A3-A8A6DC15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MLST context</a:t>
            </a:r>
          </a:p>
        </p:txBody>
      </p:sp>
      <p:sp>
        <p:nvSpPr>
          <p:cNvPr id="50" name="body-1022-250-182-64">
            <a:extLst xmlns:a="http://schemas.openxmlformats.org/drawingml/2006/main">
              <a:ext uri="{FF2B5EF4-FFF2-40B4-BE49-F238E27FC236}">
                <a16:creationId xmlns:a16="http://schemas.microsoft.com/office/drawing/2014/main" id="{85666D2C-E001-4AB9-B36F-C9A9C98F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493 typed episodes; 76 labels</a:t>
            </a:r>
          </a:p>
        </p:txBody>
      </p:sp>
      <p:sp>
        <p:nvSpPr>
          <p:cNvPr id="51" name="pipeline-6">
            <a:extLst xmlns:a="http://schemas.openxmlformats.org/drawingml/2006/main">
              <a:ext uri="{FF2B5EF4-FFF2-40B4-BE49-F238E27FC236}">
                <a16:creationId xmlns:a16="http://schemas.microsoft.com/office/drawing/2014/main" id="{D0207F59-9438-4F9B-9924-8A7CC486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2" name="pipeline-number-6">
            <a:extLst xmlns:a="http://schemas.openxmlformats.org/drawingml/2006/main">
              <a:ext uri="{FF2B5EF4-FFF2-40B4-BE49-F238E27FC236}">
                <a16:creationId xmlns:a16="http://schemas.microsoft.com/office/drawing/2014/main" id="{87C16920-DC43-4C14-8B27-609E91CD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label-68-410-30-16">
            <a:extLst xmlns:a="http://schemas.openxmlformats.org/drawingml/2006/main">
              <a:ext uri="{FF2B5EF4-FFF2-40B4-BE49-F238E27FC236}">
                <a16:creationId xmlns:a16="http://schemas.microsoft.com/office/drawing/2014/main" id="{C216B778-4512-4AE4-8707-1752345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4" name="heading-108-403-145-44">
            <a:extLst xmlns:a="http://schemas.openxmlformats.org/drawingml/2006/main">
              <a:ext uri="{FF2B5EF4-FFF2-40B4-BE49-F238E27FC236}">
                <a16:creationId xmlns:a16="http://schemas.microsoft.com/office/drawing/2014/main" id="{EB9E1C1C-7052-4F1E-BBCB-DC6FF22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pairs</a:t>
            </a:r>
          </a:p>
        </p:txBody>
      </p:sp>
      <p:sp>
        <p:nvSpPr>
          <p:cNvPr id="55" name="body-70-460-182-64">
            <a:extLst xmlns:a="http://schemas.openxmlformats.org/drawingml/2006/main">
              <a:ext uri="{FF2B5EF4-FFF2-40B4-BE49-F238E27FC236}">
                <a16:creationId xmlns:a16="http://schemas.microsoft.com/office/drawing/2014/main" id="{6F647F0E-7177-4186-8471-E3A8F50A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893 comparisons</a:t>
            </a:r>
          </a:p>
        </p:txBody>
      </p:sp>
      <p:sp>
        <p:nvSpPr>
          <p:cNvPr id="56" name="pipeline-7">
            <a:extLst xmlns:a="http://schemas.openxmlformats.org/drawingml/2006/main">
              <a:ext uri="{FF2B5EF4-FFF2-40B4-BE49-F238E27FC236}">
                <a16:creationId xmlns:a16="http://schemas.microsoft.com/office/drawing/2014/main" id="{54BAECB4-906F-458A-A823-D28F5F4D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pipeline-number-7">
            <a:extLst xmlns:a="http://schemas.openxmlformats.org/drawingml/2006/main">
              <a:ext uri="{FF2B5EF4-FFF2-40B4-BE49-F238E27FC236}">
                <a16:creationId xmlns:a16="http://schemas.microsoft.com/office/drawing/2014/main" id="{4A1E719D-F3ED-4B8C-BC50-88A2C7B6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label-306-410-30-16">
            <a:extLst xmlns:a="http://schemas.openxmlformats.org/drawingml/2006/main">
              <a:ext uri="{FF2B5EF4-FFF2-40B4-BE49-F238E27FC236}">
                <a16:creationId xmlns:a16="http://schemas.microsoft.com/office/drawing/2014/main" id="{1FD39895-BF8E-48D6-B2D2-1FECB7CF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9" name="heading-346-403-145-44">
            <a:extLst xmlns:a="http://schemas.openxmlformats.org/drawingml/2006/main">
              <a:ext uri="{FF2B5EF4-FFF2-40B4-BE49-F238E27FC236}">
                <a16:creationId xmlns:a16="http://schemas.microsoft.com/office/drawing/2014/main" id="{EDF8EA22-8D15-4127-B5DE-4A2E0162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60" name="body-308-460-182-64">
            <a:extLst xmlns:a="http://schemas.openxmlformats.org/drawingml/2006/main">
              <a:ext uri="{FF2B5EF4-FFF2-40B4-BE49-F238E27FC236}">
                <a16:creationId xmlns:a16="http://schemas.microsoft.com/office/drawing/2014/main" id="{3E2BE22E-BB80-4019-9805-B15E99C9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371 from 139 residents</a:t>
            </a:r>
          </a:p>
        </p:txBody>
      </p:sp>
      <p:sp>
        <p:nvSpPr>
          <p:cNvPr id="61" name="pipeline-8">
            <a:extLst xmlns:a="http://schemas.openxmlformats.org/drawingml/2006/main">
              <a:ext uri="{FF2B5EF4-FFF2-40B4-BE49-F238E27FC236}">
                <a16:creationId xmlns:a16="http://schemas.microsoft.com/office/drawing/2014/main" id="{97E74479-124E-4800-A30C-5C58DF2F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2" name="pipeline-number-8">
            <a:extLst xmlns:a="http://schemas.openxmlformats.org/drawingml/2006/main">
              <a:ext uri="{FF2B5EF4-FFF2-40B4-BE49-F238E27FC236}">
                <a16:creationId xmlns:a16="http://schemas.microsoft.com/office/drawing/2014/main" id="{4460819F-15CD-42D7-AC90-E11420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label-544-410-30-16">
            <a:extLst xmlns:a="http://schemas.openxmlformats.org/drawingml/2006/main">
              <a:ext uri="{FF2B5EF4-FFF2-40B4-BE49-F238E27FC236}">
                <a16:creationId xmlns:a16="http://schemas.microsoft.com/office/drawing/2014/main" id="{25D9AD57-B16A-4C3F-BB23-9BB99D4A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4" name="heading-584-403-145-44">
            <a:extLst xmlns:a="http://schemas.openxmlformats.org/drawingml/2006/main">
              <a:ext uri="{FF2B5EF4-FFF2-40B4-BE49-F238E27FC236}">
                <a16:creationId xmlns:a16="http://schemas.microsoft.com/office/drawing/2014/main" id="{7B985417-A438-4C1A-94AB-6B8B06C4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Focused transition view</a:t>
            </a:r>
          </a:p>
        </p:txBody>
      </p:sp>
      <p:sp>
        <p:nvSpPr>
          <p:cNvPr id="65" name="body-546-460-182-64">
            <a:extLst xmlns:a="http://schemas.openxmlformats.org/drawingml/2006/main">
              <a:ext uri="{FF2B5EF4-FFF2-40B4-BE49-F238E27FC236}">
                <a16:creationId xmlns:a16="http://schemas.microsoft.com/office/drawing/2014/main" id="{91489087-63AA-44AB-BC22-56BFC29E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transitions; 5 ≤25 SNPs</a:t>
            </a:r>
          </a:p>
        </p:txBody>
      </p:sp>
      <p:sp>
        <p:nvSpPr>
          <p:cNvPr id="66" name="pipeline-9">
            <a:extLst xmlns:a="http://schemas.openxmlformats.org/drawingml/2006/main">
              <a:ext uri="{FF2B5EF4-FFF2-40B4-BE49-F238E27FC236}">
                <a16:creationId xmlns:a16="http://schemas.microsoft.com/office/drawing/2014/main" id="{340EE4C9-4138-447C-905B-25E6F65A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pipeline-number-9">
            <a:extLst xmlns:a="http://schemas.openxmlformats.org/drawingml/2006/main">
              <a:ext uri="{FF2B5EF4-FFF2-40B4-BE49-F238E27FC236}">
                <a16:creationId xmlns:a16="http://schemas.microsoft.com/office/drawing/2014/main" id="{DA1D071A-280C-43A6-B0A9-9898096F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label-782-410-30-16">
            <a:extLst xmlns:a="http://schemas.openxmlformats.org/drawingml/2006/main">
              <a:ext uri="{FF2B5EF4-FFF2-40B4-BE49-F238E27FC236}">
                <a16:creationId xmlns:a16="http://schemas.microsoft.com/office/drawing/2014/main" id="{0FF4A772-3D2D-4BD3-95FE-B5A7897C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9" name="heading-822-403-145-44">
            <a:extLst xmlns:a="http://schemas.openxmlformats.org/drawingml/2006/main">
              <a:ext uri="{FF2B5EF4-FFF2-40B4-BE49-F238E27FC236}">
                <a16:creationId xmlns:a16="http://schemas.microsoft.com/office/drawing/2014/main" id="{1AA583D1-C7AF-44F5-BC3D-2CD998BE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Mechanism casebook</a:t>
            </a:r>
          </a:p>
        </p:txBody>
      </p:sp>
      <p:sp>
        <p:nvSpPr>
          <p:cNvPr id="70" name="body-784-460-182-64">
            <a:extLst xmlns:a="http://schemas.openxmlformats.org/drawingml/2006/main">
              <a:ext uri="{FF2B5EF4-FFF2-40B4-BE49-F238E27FC236}">
                <a16:creationId xmlns:a16="http://schemas.microsoft.com/office/drawing/2014/main" id="{444771EC-A523-415C-80B7-5A3D69E5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9/9/0: cases/linked/missing</a:t>
            </a:r>
          </a:p>
        </p:txBody>
      </p:sp>
      <p:sp>
        <p:nvSpPr>
          <p:cNvPr id="71" name="pipeline-10">
            <a:extLst xmlns:a="http://schemas.openxmlformats.org/drawingml/2006/main">
              <a:ext uri="{FF2B5EF4-FFF2-40B4-BE49-F238E27FC236}">
                <a16:creationId xmlns:a16="http://schemas.microsoft.com/office/drawing/2014/main" id="{CA70C089-3351-4F86-8A14-B4BC301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2" name="pipeline-number-10">
            <a:extLst xmlns:a="http://schemas.openxmlformats.org/drawingml/2006/main">
              <a:ext uri="{FF2B5EF4-FFF2-40B4-BE49-F238E27FC236}">
                <a16:creationId xmlns:a16="http://schemas.microsoft.com/office/drawing/2014/main" id="{4D8917A8-DB1F-43D1-BE7E-D35C7697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label-1020-410-30-16">
            <a:extLst xmlns:a="http://schemas.openxmlformats.org/drawingml/2006/main">
              <a:ext uri="{FF2B5EF4-FFF2-40B4-BE49-F238E27FC236}">
                <a16:creationId xmlns:a16="http://schemas.microsoft.com/office/drawing/2014/main" id="{36C8851B-DDEF-4BBA-AB89-73EFAA05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4" name="heading-1060-403-145-44">
            <a:extLst xmlns:a="http://schemas.openxmlformats.org/drawingml/2006/main">
              <a:ext uri="{FF2B5EF4-FFF2-40B4-BE49-F238E27FC236}">
                <a16:creationId xmlns:a16="http://schemas.microsoft.com/office/drawing/2014/main" id="{99ADA7EC-4A2E-41F6-A509-A069EB5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Research-question release</a:t>
            </a:r>
          </a:p>
        </p:txBody>
      </p:sp>
      <p:sp>
        <p:nvSpPr>
          <p:cNvPr id="75" name="body-1022-460-182-64">
            <a:extLst xmlns:a="http://schemas.openxmlformats.org/drawingml/2006/main">
              <a:ext uri="{FF2B5EF4-FFF2-40B4-BE49-F238E27FC236}">
                <a16:creationId xmlns:a16="http://schemas.microsoft.com/office/drawing/2014/main" id="{1D08DDD2-DBE8-46B3-B94F-737653B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RQ01–RQ10; none retired</a:t>
            </a:r>
          </a:p>
        </p:txBody>
      </p:sp>
    </p:spTree>
    <p:extLst>
      <p:ext uri="{BB962C8B-B14F-4D97-AF65-F5344CB8AC3E}">
        <p14:creationId xmlns:p14="http://schemas.microsoft.com/office/powerpoint/2010/main" val="12020081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1A33CA9-D43C-4AD0-BF57-95A87AE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B8C193F-3509-455D-9201-97D1ABAB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CDDA370-E4FA-4E15-9EEE-0CF5F39A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VF REPRESENTATION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7F2C0B-A363-44C1-B210-A5494FF3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VF features are summarised as genes, curated modules, and longitudinal similarity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DBCA208-8620-489D-BE4C-44291630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Module and score outputs support interpretation; they are not validated disease-causality measures.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4761857-DCE6-419C-A082-C4E1C7A8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BB8380-478C-4B06-9496-1D3AA723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B8B5556-D99E-4811-875C-FC33E68E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8C9938-B528-4760-BEC8-8B366EA4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framework-1">
            <a:extLst xmlns:a="http://schemas.openxmlformats.org/drawingml/2006/main">
              <a:ext uri="{FF2B5EF4-FFF2-40B4-BE49-F238E27FC236}">
                <a16:creationId xmlns:a16="http://schemas.microsoft.com/office/drawing/2014/main" id="{5D6B817F-EA04-48DC-80D7-A5CDF942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4384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ramework-1-head">
            <a:extLst xmlns:a="http://schemas.openxmlformats.org/drawingml/2006/main">
              <a:ext uri="{FF2B5EF4-FFF2-40B4-BE49-F238E27FC236}">
                <a16:creationId xmlns:a16="http://schemas.microsoft.com/office/drawing/2014/main" id="{70B76281-672F-4BF3-9D0B-AD860F7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05325" y="2400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framework-2">
            <a:extLst xmlns:a="http://schemas.openxmlformats.org/drawingml/2006/main">
              <a:ext uri="{FF2B5EF4-FFF2-40B4-BE49-F238E27FC236}">
                <a16:creationId xmlns:a16="http://schemas.microsoft.com/office/drawing/2014/main" id="{24FEB23A-6650-4589-BB12-DCF34ED5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4384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framework-2-head">
            <a:extLst xmlns:a="http://schemas.openxmlformats.org/drawingml/2006/main">
              <a:ext uri="{FF2B5EF4-FFF2-40B4-BE49-F238E27FC236}">
                <a16:creationId xmlns:a16="http://schemas.microsoft.com/office/drawing/2014/main" id="{4BC4665B-689E-4C71-94B8-91B279C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96325" y="2400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ard-Binary VF gene matrix">
            <a:extLst xmlns:a="http://schemas.openxmlformats.org/drawingml/2006/main">
              <a:ext uri="{FF2B5EF4-FFF2-40B4-BE49-F238E27FC236}">
                <a16:creationId xmlns:a16="http://schemas.microsoft.com/office/drawing/2014/main" id="{9DF59EBF-DE13-4F3F-958D-5773BA25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667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9D5F0"/>
            </a:solidFill>
            <a:prstDash val="solid"/>
          </a:ln>
        </p:spPr>
      </p:sp>
      <p:sp>
        <p:nvSpPr>
          <p:cNvPr id="15" name="heading-90-204-248-26">
            <a:extLst xmlns:a="http://schemas.openxmlformats.org/drawingml/2006/main">
              <a:ext uri="{FF2B5EF4-FFF2-40B4-BE49-F238E27FC236}">
                <a16:creationId xmlns:a16="http://schemas.microsoft.com/office/drawing/2014/main" id="{3A49DFBE-DBA3-4084-A03F-D8C476A1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362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Binary VF gene matrix</a:t>
            </a:r>
          </a:p>
        </p:txBody>
      </p:sp>
      <p:sp>
        <p:nvSpPr>
          <p:cNvPr id="16" name="body-90-236-248-76">
            <a:extLst xmlns:a="http://schemas.openxmlformats.org/drawingml/2006/main">
              <a:ext uri="{FF2B5EF4-FFF2-40B4-BE49-F238E27FC236}">
                <a16:creationId xmlns:a16="http://schemas.microsoft.com/office/drawing/2014/main" id="{1CBE4BEA-A601-45FA-B51C-FE28C207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362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227 presence/absence features per selected episode-level genome.</a:t>
            </a:r>
          </a:p>
        </p:txBody>
      </p:sp>
      <p:sp>
        <p:nvSpPr>
          <p:cNvPr id="17" name="card-Curated biological modules">
            <a:extLst xmlns:a="http://schemas.openxmlformats.org/drawingml/2006/main">
              <a:ext uri="{FF2B5EF4-FFF2-40B4-BE49-F238E27FC236}">
                <a16:creationId xmlns:a16="http://schemas.microsoft.com/office/drawing/2014/main" id="{4A9D3BA8-41C7-4617-A173-C27EB00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300037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8" name="heading-496-204-283-26">
            <a:extLst xmlns:a="http://schemas.openxmlformats.org/drawingml/2006/main">
              <a:ext uri="{FF2B5EF4-FFF2-40B4-BE49-F238E27FC236}">
                <a16:creationId xmlns:a16="http://schemas.microsoft.com/office/drawing/2014/main" id="{88CE3C4D-31AA-47A2-BCCA-CCC6E46B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43100"/>
            <a:ext cx="2695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Curated biological modules</a:t>
            </a:r>
          </a:p>
        </p:txBody>
      </p:sp>
      <p:sp>
        <p:nvSpPr>
          <p:cNvPr id="19" name="body-496-236-283-76">
            <a:extLst xmlns:a="http://schemas.openxmlformats.org/drawingml/2006/main">
              <a:ext uri="{FF2B5EF4-FFF2-40B4-BE49-F238E27FC236}">
                <a16:creationId xmlns:a16="http://schemas.microsoft.com/office/drawing/2014/main" id="{0BB6C2B2-D4A6-4BF3-8105-DF557CAF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Genes are grouped to make repertoire patterns navigable without changing the underlying binary evidence.</a:t>
            </a:r>
          </a:p>
        </p:txBody>
      </p:sp>
      <p:sp>
        <p:nvSpPr>
          <p:cNvPr id="20" name="card-Longitudinal outputs">
            <a:extLst xmlns:a="http://schemas.openxmlformats.org/drawingml/2006/main">
              <a:ext uri="{FF2B5EF4-FFF2-40B4-BE49-F238E27FC236}">
                <a16:creationId xmlns:a16="http://schemas.microsoft.com/office/drawing/2014/main" id="{783633E5-EC7D-4155-B258-6B43592C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21" name="heading-936-204-253-26">
            <a:extLst xmlns:a="http://schemas.openxmlformats.org/drawingml/2006/main">
              <a:ext uri="{FF2B5EF4-FFF2-40B4-BE49-F238E27FC236}">
                <a16:creationId xmlns:a16="http://schemas.microsoft.com/office/drawing/2014/main" id="{1E35AC78-BB44-4E88-9481-0279A16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2409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Longitudinal outputs</a:t>
            </a:r>
          </a:p>
        </p:txBody>
      </p:sp>
      <p:sp>
        <p:nvSpPr>
          <p:cNvPr id="22" name="body-936-236-253-76">
            <a:extLst xmlns:a="http://schemas.openxmlformats.org/drawingml/2006/main">
              <a:ext uri="{FF2B5EF4-FFF2-40B4-BE49-F238E27FC236}">
                <a16:creationId xmlns:a16="http://schemas.microsoft.com/office/drawing/2014/main" id="{3A6CE33B-3EAD-4EDE-87C4-599CDF68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4098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Prevalence, Jaccard similarity, gain/loss summaries, and exploratory clinical overlays.</a:t>
            </a:r>
          </a:p>
        </p:txBody>
      </p:sp>
      <p:sp>
        <p:nvSpPr>
          <p:cNvPr id="23" name="matrix-0-0">
            <a:extLst xmlns:a="http://schemas.openxmlformats.org/drawingml/2006/main">
              <a:ext uri="{FF2B5EF4-FFF2-40B4-BE49-F238E27FC236}">
                <a16:creationId xmlns:a16="http://schemas.microsoft.com/office/drawing/2014/main" id="{02EC213D-3494-4480-A2F1-F619B562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matrix-0-1">
            <a:extLst xmlns:a="http://schemas.openxmlformats.org/drawingml/2006/main">
              <a:ext uri="{FF2B5EF4-FFF2-40B4-BE49-F238E27FC236}">
                <a16:creationId xmlns:a16="http://schemas.microsoft.com/office/drawing/2014/main" id="{98BA288E-2BCC-40E0-AF64-AAD667E0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matrix-0-2">
            <a:extLst xmlns:a="http://schemas.openxmlformats.org/drawingml/2006/main">
              <a:ext uri="{FF2B5EF4-FFF2-40B4-BE49-F238E27FC236}">
                <a16:creationId xmlns:a16="http://schemas.microsoft.com/office/drawing/2014/main" id="{D9F549B6-452E-49D5-A8F4-A48C320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matrix-0-3">
            <a:extLst xmlns:a="http://schemas.openxmlformats.org/drawingml/2006/main">
              <a:ext uri="{FF2B5EF4-FFF2-40B4-BE49-F238E27FC236}">
                <a16:creationId xmlns:a16="http://schemas.microsoft.com/office/drawing/2014/main" id="{8B9E601D-D805-43DB-9BD5-EE2C77FD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matrix-0-4">
            <a:extLst xmlns:a="http://schemas.openxmlformats.org/drawingml/2006/main">
              <a:ext uri="{FF2B5EF4-FFF2-40B4-BE49-F238E27FC236}">
                <a16:creationId xmlns:a16="http://schemas.microsoft.com/office/drawing/2014/main" id="{CCD2A17C-3626-4C86-8F58-45B8A3E8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matrix-0-5">
            <a:extLst xmlns:a="http://schemas.openxmlformats.org/drawingml/2006/main">
              <a:ext uri="{FF2B5EF4-FFF2-40B4-BE49-F238E27FC236}">
                <a16:creationId xmlns:a16="http://schemas.microsoft.com/office/drawing/2014/main" id="{6579882B-CB43-4126-975C-59E4B4A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matrix-0-6">
            <a:extLst xmlns:a="http://schemas.openxmlformats.org/drawingml/2006/main">
              <a:ext uri="{FF2B5EF4-FFF2-40B4-BE49-F238E27FC236}">
                <a16:creationId xmlns:a16="http://schemas.microsoft.com/office/drawing/2014/main" id="{FCA398F4-308C-460A-9A64-827B3911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matrix-0-7">
            <a:extLst xmlns:a="http://schemas.openxmlformats.org/drawingml/2006/main">
              <a:ext uri="{FF2B5EF4-FFF2-40B4-BE49-F238E27FC236}">
                <a16:creationId xmlns:a16="http://schemas.microsoft.com/office/drawing/2014/main" id="{FE606FC0-994C-4C21-81B7-95607683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matrix-0-8">
            <a:extLst xmlns:a="http://schemas.openxmlformats.org/drawingml/2006/main">
              <a:ext uri="{FF2B5EF4-FFF2-40B4-BE49-F238E27FC236}">
                <a16:creationId xmlns:a16="http://schemas.microsoft.com/office/drawing/2014/main" id="{E52D08FB-90BA-45A2-A523-68DFCCF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matrix-0-9">
            <a:extLst xmlns:a="http://schemas.openxmlformats.org/drawingml/2006/main">
              <a:ext uri="{FF2B5EF4-FFF2-40B4-BE49-F238E27FC236}">
                <a16:creationId xmlns:a16="http://schemas.microsoft.com/office/drawing/2014/main" id="{820540AD-3E8F-4486-9406-DAA76209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matrix-0-10">
            <a:extLst xmlns:a="http://schemas.openxmlformats.org/drawingml/2006/main">
              <a:ext uri="{FF2B5EF4-FFF2-40B4-BE49-F238E27FC236}">
                <a16:creationId xmlns:a16="http://schemas.microsoft.com/office/drawing/2014/main" id="{634A2943-17B4-4937-BC64-10A9448E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matrix-1-0">
            <a:extLst xmlns:a="http://schemas.openxmlformats.org/drawingml/2006/main">
              <a:ext uri="{FF2B5EF4-FFF2-40B4-BE49-F238E27FC236}">
                <a16:creationId xmlns:a16="http://schemas.microsoft.com/office/drawing/2014/main" id="{C709AC5A-7D02-4DDE-B3CB-83D6C616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matrix-1-1">
            <a:extLst xmlns:a="http://schemas.openxmlformats.org/drawingml/2006/main">
              <a:ext uri="{FF2B5EF4-FFF2-40B4-BE49-F238E27FC236}">
                <a16:creationId xmlns:a16="http://schemas.microsoft.com/office/drawing/2014/main" id="{0E3E0B15-DE91-4024-8068-D855E6F1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matrix-1-2">
            <a:extLst xmlns:a="http://schemas.openxmlformats.org/drawingml/2006/main">
              <a:ext uri="{FF2B5EF4-FFF2-40B4-BE49-F238E27FC236}">
                <a16:creationId xmlns:a16="http://schemas.microsoft.com/office/drawing/2014/main" id="{B8BF8BC4-A0A3-47F7-A715-D218D81F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matrix-1-3">
            <a:extLst xmlns:a="http://schemas.openxmlformats.org/drawingml/2006/main">
              <a:ext uri="{FF2B5EF4-FFF2-40B4-BE49-F238E27FC236}">
                <a16:creationId xmlns:a16="http://schemas.microsoft.com/office/drawing/2014/main" id="{147E38AE-FD52-4124-BAA7-6F4C9AD4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matrix-1-4">
            <a:extLst xmlns:a="http://schemas.openxmlformats.org/drawingml/2006/main">
              <a:ext uri="{FF2B5EF4-FFF2-40B4-BE49-F238E27FC236}">
                <a16:creationId xmlns:a16="http://schemas.microsoft.com/office/drawing/2014/main" id="{F345D153-DA58-4ECD-9D32-0C191BE3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matrix-1-5">
            <a:extLst xmlns:a="http://schemas.openxmlformats.org/drawingml/2006/main">
              <a:ext uri="{FF2B5EF4-FFF2-40B4-BE49-F238E27FC236}">
                <a16:creationId xmlns:a16="http://schemas.microsoft.com/office/drawing/2014/main" id="{3B8AA595-DA6E-4041-8437-8085AD13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matrix-1-6">
            <a:extLst xmlns:a="http://schemas.openxmlformats.org/drawingml/2006/main">
              <a:ext uri="{FF2B5EF4-FFF2-40B4-BE49-F238E27FC236}">
                <a16:creationId xmlns:a16="http://schemas.microsoft.com/office/drawing/2014/main" id="{07290D12-2F58-4D25-B25E-43DE285D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matrix-1-7">
            <a:extLst xmlns:a="http://schemas.openxmlformats.org/drawingml/2006/main">
              <a:ext uri="{FF2B5EF4-FFF2-40B4-BE49-F238E27FC236}">
                <a16:creationId xmlns:a16="http://schemas.microsoft.com/office/drawing/2014/main" id="{84866DF4-C703-4F87-B5A9-CE502F5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matrix-1-8">
            <a:extLst xmlns:a="http://schemas.openxmlformats.org/drawingml/2006/main">
              <a:ext uri="{FF2B5EF4-FFF2-40B4-BE49-F238E27FC236}">
                <a16:creationId xmlns:a16="http://schemas.microsoft.com/office/drawing/2014/main" id="{9BF2EB95-473D-459F-AF07-A0A3AF5F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matrix-1-9">
            <a:extLst xmlns:a="http://schemas.openxmlformats.org/drawingml/2006/main">
              <a:ext uri="{FF2B5EF4-FFF2-40B4-BE49-F238E27FC236}">
                <a16:creationId xmlns:a16="http://schemas.microsoft.com/office/drawing/2014/main" id="{48D1C3B5-3D7F-4894-B362-381CB28D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matrix-1-10">
            <a:extLst xmlns:a="http://schemas.openxmlformats.org/drawingml/2006/main">
              <a:ext uri="{FF2B5EF4-FFF2-40B4-BE49-F238E27FC236}">
                <a16:creationId xmlns:a16="http://schemas.microsoft.com/office/drawing/2014/main" id="{B2950981-7B76-478D-AB50-F8F099A5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matrix-2-0">
            <a:extLst xmlns:a="http://schemas.openxmlformats.org/drawingml/2006/main">
              <a:ext uri="{FF2B5EF4-FFF2-40B4-BE49-F238E27FC236}">
                <a16:creationId xmlns:a16="http://schemas.microsoft.com/office/drawing/2014/main" id="{C44969D2-D5CC-49F9-84DA-0532672B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matrix-2-1">
            <a:extLst xmlns:a="http://schemas.openxmlformats.org/drawingml/2006/main">
              <a:ext uri="{FF2B5EF4-FFF2-40B4-BE49-F238E27FC236}">
                <a16:creationId xmlns:a16="http://schemas.microsoft.com/office/drawing/2014/main" id="{7CA35BDA-C9A1-4B1B-B821-3D1D1CC8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matrix-2-2">
            <a:extLst xmlns:a="http://schemas.openxmlformats.org/drawingml/2006/main">
              <a:ext uri="{FF2B5EF4-FFF2-40B4-BE49-F238E27FC236}">
                <a16:creationId xmlns:a16="http://schemas.microsoft.com/office/drawing/2014/main" id="{B6EC64E1-520D-4355-AAC9-E890A559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matrix-2-3">
            <a:extLst xmlns:a="http://schemas.openxmlformats.org/drawingml/2006/main">
              <a:ext uri="{FF2B5EF4-FFF2-40B4-BE49-F238E27FC236}">
                <a16:creationId xmlns:a16="http://schemas.microsoft.com/office/drawing/2014/main" id="{4AD3C187-4698-4D19-92C9-E674141A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matrix-2-4">
            <a:extLst xmlns:a="http://schemas.openxmlformats.org/drawingml/2006/main">
              <a:ext uri="{FF2B5EF4-FFF2-40B4-BE49-F238E27FC236}">
                <a16:creationId xmlns:a16="http://schemas.microsoft.com/office/drawing/2014/main" id="{9A7D8D5B-3877-4020-B6FA-F135050E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matrix-2-5">
            <a:extLst xmlns:a="http://schemas.openxmlformats.org/drawingml/2006/main">
              <a:ext uri="{FF2B5EF4-FFF2-40B4-BE49-F238E27FC236}">
                <a16:creationId xmlns:a16="http://schemas.microsoft.com/office/drawing/2014/main" id="{4349A52A-95B6-43D7-9E40-A8ECB978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matrix-2-6">
            <a:extLst xmlns:a="http://schemas.openxmlformats.org/drawingml/2006/main">
              <a:ext uri="{FF2B5EF4-FFF2-40B4-BE49-F238E27FC236}">
                <a16:creationId xmlns:a16="http://schemas.microsoft.com/office/drawing/2014/main" id="{8292D79B-7930-4A6F-A170-9A7FE833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matrix-2-7">
            <a:extLst xmlns:a="http://schemas.openxmlformats.org/drawingml/2006/main">
              <a:ext uri="{FF2B5EF4-FFF2-40B4-BE49-F238E27FC236}">
                <a16:creationId xmlns:a16="http://schemas.microsoft.com/office/drawing/2014/main" id="{94BAB1F8-7EDB-458B-8421-0013BE71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matrix-2-8">
            <a:extLst xmlns:a="http://schemas.openxmlformats.org/drawingml/2006/main">
              <a:ext uri="{FF2B5EF4-FFF2-40B4-BE49-F238E27FC236}">
                <a16:creationId xmlns:a16="http://schemas.microsoft.com/office/drawing/2014/main" id="{6A7E65F5-216D-4FE3-BE7B-DB70F027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matrix-2-9">
            <a:extLst xmlns:a="http://schemas.openxmlformats.org/drawingml/2006/main">
              <a:ext uri="{FF2B5EF4-FFF2-40B4-BE49-F238E27FC236}">
                <a16:creationId xmlns:a16="http://schemas.microsoft.com/office/drawing/2014/main" id="{5DD9401F-5F22-4081-B18C-C0254ED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matrix-2-10">
            <a:extLst xmlns:a="http://schemas.openxmlformats.org/drawingml/2006/main">
              <a:ext uri="{FF2B5EF4-FFF2-40B4-BE49-F238E27FC236}">
                <a16:creationId xmlns:a16="http://schemas.microsoft.com/office/drawing/2014/main" id="{2C2DA0EF-42B2-4D1D-A794-469D8037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matrix-3-0">
            <a:extLst xmlns:a="http://schemas.openxmlformats.org/drawingml/2006/main">
              <a:ext uri="{FF2B5EF4-FFF2-40B4-BE49-F238E27FC236}">
                <a16:creationId xmlns:a16="http://schemas.microsoft.com/office/drawing/2014/main" id="{75213B8C-E3A0-49AF-9A4D-AAABC63E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matrix-3-1">
            <a:extLst xmlns:a="http://schemas.openxmlformats.org/drawingml/2006/main">
              <a:ext uri="{FF2B5EF4-FFF2-40B4-BE49-F238E27FC236}">
                <a16:creationId xmlns:a16="http://schemas.microsoft.com/office/drawing/2014/main" id="{7F293F75-2576-4351-ACEE-93C93760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matrix-3-2">
            <a:extLst xmlns:a="http://schemas.openxmlformats.org/drawingml/2006/main">
              <a:ext uri="{FF2B5EF4-FFF2-40B4-BE49-F238E27FC236}">
                <a16:creationId xmlns:a16="http://schemas.microsoft.com/office/drawing/2014/main" id="{07A8A02B-753C-4A00-897E-E01232E4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matrix-3-3">
            <a:extLst xmlns:a="http://schemas.openxmlformats.org/drawingml/2006/main">
              <a:ext uri="{FF2B5EF4-FFF2-40B4-BE49-F238E27FC236}">
                <a16:creationId xmlns:a16="http://schemas.microsoft.com/office/drawing/2014/main" id="{40C53D56-7559-4ABB-8FA1-958919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matrix-3-4">
            <a:extLst xmlns:a="http://schemas.openxmlformats.org/drawingml/2006/main">
              <a:ext uri="{FF2B5EF4-FFF2-40B4-BE49-F238E27FC236}">
                <a16:creationId xmlns:a16="http://schemas.microsoft.com/office/drawing/2014/main" id="{08F9DF94-1821-406D-A3ED-400AA596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matrix-3-5">
            <a:extLst xmlns:a="http://schemas.openxmlformats.org/drawingml/2006/main">
              <a:ext uri="{FF2B5EF4-FFF2-40B4-BE49-F238E27FC236}">
                <a16:creationId xmlns:a16="http://schemas.microsoft.com/office/drawing/2014/main" id="{DBCE12CE-2200-4B63-A25F-10D7C374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matrix-3-6">
            <a:extLst xmlns:a="http://schemas.openxmlformats.org/drawingml/2006/main">
              <a:ext uri="{FF2B5EF4-FFF2-40B4-BE49-F238E27FC236}">
                <a16:creationId xmlns:a16="http://schemas.microsoft.com/office/drawing/2014/main" id="{3FF73FD4-635F-4E31-85C9-4D11AA32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matrix-3-7">
            <a:extLst xmlns:a="http://schemas.openxmlformats.org/drawingml/2006/main">
              <a:ext uri="{FF2B5EF4-FFF2-40B4-BE49-F238E27FC236}">
                <a16:creationId xmlns:a16="http://schemas.microsoft.com/office/drawing/2014/main" id="{81DF419F-4B2D-45FE-AE40-FB4DE06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matrix-3-8">
            <a:extLst xmlns:a="http://schemas.openxmlformats.org/drawingml/2006/main">
              <a:ext uri="{FF2B5EF4-FFF2-40B4-BE49-F238E27FC236}">
                <a16:creationId xmlns:a16="http://schemas.microsoft.com/office/drawing/2014/main" id="{A51C043E-BC40-4B8D-9081-49378A24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matrix-3-9">
            <a:extLst xmlns:a="http://schemas.openxmlformats.org/drawingml/2006/main">
              <a:ext uri="{FF2B5EF4-FFF2-40B4-BE49-F238E27FC236}">
                <a16:creationId xmlns:a16="http://schemas.microsoft.com/office/drawing/2014/main" id="{CBE262D7-2F65-4FB1-B9DF-A0979C7C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matrix-3-10">
            <a:extLst xmlns:a="http://schemas.openxmlformats.org/drawingml/2006/main">
              <a:ext uri="{FF2B5EF4-FFF2-40B4-BE49-F238E27FC236}">
                <a16:creationId xmlns:a16="http://schemas.microsoft.com/office/drawing/2014/main" id="{0408254A-A728-47BD-8BAB-C421F979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matrix-4-0">
            <a:extLst xmlns:a="http://schemas.openxmlformats.org/drawingml/2006/main">
              <a:ext uri="{FF2B5EF4-FFF2-40B4-BE49-F238E27FC236}">
                <a16:creationId xmlns:a16="http://schemas.microsoft.com/office/drawing/2014/main" id="{35B9A64B-2E9B-4477-B615-8ACACBA9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matrix-4-1">
            <a:extLst xmlns:a="http://schemas.openxmlformats.org/drawingml/2006/main">
              <a:ext uri="{FF2B5EF4-FFF2-40B4-BE49-F238E27FC236}">
                <a16:creationId xmlns:a16="http://schemas.microsoft.com/office/drawing/2014/main" id="{F75965E6-39CA-4A24-BE2D-C62685ED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matrix-4-2">
            <a:extLst xmlns:a="http://schemas.openxmlformats.org/drawingml/2006/main">
              <a:ext uri="{FF2B5EF4-FFF2-40B4-BE49-F238E27FC236}">
                <a16:creationId xmlns:a16="http://schemas.microsoft.com/office/drawing/2014/main" id="{AD53E465-2D07-421E-AA77-9E5C3154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matrix-4-3">
            <a:extLst xmlns:a="http://schemas.openxmlformats.org/drawingml/2006/main">
              <a:ext uri="{FF2B5EF4-FFF2-40B4-BE49-F238E27FC236}">
                <a16:creationId xmlns:a16="http://schemas.microsoft.com/office/drawing/2014/main" id="{3107C7F1-2873-4C80-BBE8-4BCA69C7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matrix-4-4">
            <a:extLst xmlns:a="http://schemas.openxmlformats.org/drawingml/2006/main">
              <a:ext uri="{FF2B5EF4-FFF2-40B4-BE49-F238E27FC236}">
                <a16:creationId xmlns:a16="http://schemas.microsoft.com/office/drawing/2014/main" id="{CDBB53B9-601D-43FE-8400-B32FC103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matrix-4-5">
            <a:extLst xmlns:a="http://schemas.openxmlformats.org/drawingml/2006/main">
              <a:ext uri="{FF2B5EF4-FFF2-40B4-BE49-F238E27FC236}">
                <a16:creationId xmlns:a16="http://schemas.microsoft.com/office/drawing/2014/main" id="{3D98A8A3-42E7-4159-83F6-3B97F507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matrix-4-6">
            <a:extLst xmlns:a="http://schemas.openxmlformats.org/drawingml/2006/main">
              <a:ext uri="{FF2B5EF4-FFF2-40B4-BE49-F238E27FC236}">
                <a16:creationId xmlns:a16="http://schemas.microsoft.com/office/drawing/2014/main" id="{89FED086-DE75-4BB7-B372-EEBA509F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matrix-4-7">
            <a:extLst xmlns:a="http://schemas.openxmlformats.org/drawingml/2006/main">
              <a:ext uri="{FF2B5EF4-FFF2-40B4-BE49-F238E27FC236}">
                <a16:creationId xmlns:a16="http://schemas.microsoft.com/office/drawing/2014/main" id="{A111F07B-CA18-4684-B147-62395A19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matrix-4-8">
            <a:extLst xmlns:a="http://schemas.openxmlformats.org/drawingml/2006/main">
              <a:ext uri="{FF2B5EF4-FFF2-40B4-BE49-F238E27FC236}">
                <a16:creationId xmlns:a16="http://schemas.microsoft.com/office/drawing/2014/main" id="{66924F05-A4BC-408C-97B8-6E63B03C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matrix-4-9">
            <a:extLst xmlns:a="http://schemas.openxmlformats.org/drawingml/2006/main">
              <a:ext uri="{FF2B5EF4-FFF2-40B4-BE49-F238E27FC236}">
                <a16:creationId xmlns:a16="http://schemas.microsoft.com/office/drawing/2014/main" id="{7E08F834-884F-44F1-99CB-984D139D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matrix-4-10">
            <a:extLst xmlns:a="http://schemas.openxmlformats.org/drawingml/2006/main">
              <a:ext uri="{FF2B5EF4-FFF2-40B4-BE49-F238E27FC236}">
                <a16:creationId xmlns:a16="http://schemas.microsoft.com/office/drawing/2014/main" id="{80815800-7FC6-470F-A3B4-A734D141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matrix-5-0">
            <a:extLst xmlns:a="http://schemas.openxmlformats.org/drawingml/2006/main">
              <a:ext uri="{FF2B5EF4-FFF2-40B4-BE49-F238E27FC236}">
                <a16:creationId xmlns:a16="http://schemas.microsoft.com/office/drawing/2014/main" id="{489E21E9-B880-4ED8-8DC0-3E9A593C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matrix-5-1">
            <a:extLst xmlns:a="http://schemas.openxmlformats.org/drawingml/2006/main">
              <a:ext uri="{FF2B5EF4-FFF2-40B4-BE49-F238E27FC236}">
                <a16:creationId xmlns:a16="http://schemas.microsoft.com/office/drawing/2014/main" id="{8C213AA5-4F90-4027-B7CA-3542D7CB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matrix-5-2">
            <a:extLst xmlns:a="http://schemas.openxmlformats.org/drawingml/2006/main">
              <a:ext uri="{FF2B5EF4-FFF2-40B4-BE49-F238E27FC236}">
                <a16:creationId xmlns:a16="http://schemas.microsoft.com/office/drawing/2014/main" id="{26FC8AB4-B9E9-426F-BC20-220B89A0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matrix-5-3">
            <a:extLst xmlns:a="http://schemas.openxmlformats.org/drawingml/2006/main">
              <a:ext uri="{FF2B5EF4-FFF2-40B4-BE49-F238E27FC236}">
                <a16:creationId xmlns:a16="http://schemas.microsoft.com/office/drawing/2014/main" id="{60D86570-C37A-470C-BBB3-7D9A4202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matrix-5-4">
            <a:extLst xmlns:a="http://schemas.openxmlformats.org/drawingml/2006/main">
              <a:ext uri="{FF2B5EF4-FFF2-40B4-BE49-F238E27FC236}">
                <a16:creationId xmlns:a16="http://schemas.microsoft.com/office/drawing/2014/main" id="{EC0254B9-D4E0-45B0-A97D-5EA64B7F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matrix-5-5">
            <a:extLst xmlns:a="http://schemas.openxmlformats.org/drawingml/2006/main">
              <a:ext uri="{FF2B5EF4-FFF2-40B4-BE49-F238E27FC236}">
                <a16:creationId xmlns:a16="http://schemas.microsoft.com/office/drawing/2014/main" id="{6C2CF265-2299-4CB8-A363-5FE2CD2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atrix-5-6">
            <a:extLst xmlns:a="http://schemas.openxmlformats.org/drawingml/2006/main">
              <a:ext uri="{FF2B5EF4-FFF2-40B4-BE49-F238E27FC236}">
                <a16:creationId xmlns:a16="http://schemas.microsoft.com/office/drawing/2014/main" id="{4F22BE61-BC90-4ED6-8387-09C5EC2F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matrix-5-7">
            <a:extLst xmlns:a="http://schemas.openxmlformats.org/drawingml/2006/main">
              <a:ext uri="{FF2B5EF4-FFF2-40B4-BE49-F238E27FC236}">
                <a16:creationId xmlns:a16="http://schemas.microsoft.com/office/drawing/2014/main" id="{BBADD84F-3790-43B5-982D-D6BBA76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atrix-5-8">
            <a:extLst xmlns:a="http://schemas.openxmlformats.org/drawingml/2006/main">
              <a:ext uri="{FF2B5EF4-FFF2-40B4-BE49-F238E27FC236}">
                <a16:creationId xmlns:a16="http://schemas.microsoft.com/office/drawing/2014/main" id="{9F6485A7-6B99-4E30-AC5F-A7FC72AC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matrix-5-9">
            <a:extLst xmlns:a="http://schemas.openxmlformats.org/drawingml/2006/main">
              <a:ext uri="{FF2B5EF4-FFF2-40B4-BE49-F238E27FC236}">
                <a16:creationId xmlns:a16="http://schemas.microsoft.com/office/drawing/2014/main" id="{9E770667-D64E-4B4F-B325-A09B1954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atrix-5-10">
            <a:extLst xmlns:a="http://schemas.openxmlformats.org/drawingml/2006/main">
              <a:ext uri="{FF2B5EF4-FFF2-40B4-BE49-F238E27FC236}">
                <a16:creationId xmlns:a16="http://schemas.microsoft.com/office/drawing/2014/main" id="{8DCCE72C-8704-4559-8F7E-996B07B2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label-Adhesion">
            <a:extLst xmlns:a="http://schemas.openxmlformats.org/drawingml/2006/main">
              <a:ext uri="{FF2B5EF4-FFF2-40B4-BE49-F238E27FC236}">
                <a16:creationId xmlns:a16="http://schemas.microsoft.com/office/drawing/2014/main" id="{7BCABB45-ED9D-425A-8FE3-6481972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label-508-385-110-21">
            <a:extLst xmlns:a="http://schemas.openxmlformats.org/drawingml/2006/main">
              <a:ext uri="{FF2B5EF4-FFF2-40B4-BE49-F238E27FC236}">
                <a16:creationId xmlns:a16="http://schemas.microsoft.com/office/drawing/2014/main" id="{CDB75F50-B23C-414A-8997-1DBDFE9D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6712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Adhesion</a:t>
            </a:r>
          </a:p>
        </p:txBody>
      </p:sp>
      <p:sp>
        <p:nvSpPr>
          <p:cNvPr id="91" name="label-Iron acquisition">
            <a:extLst xmlns:a="http://schemas.openxmlformats.org/drawingml/2006/main">
              <a:ext uri="{FF2B5EF4-FFF2-40B4-BE49-F238E27FC236}">
                <a16:creationId xmlns:a16="http://schemas.microsoft.com/office/drawing/2014/main" id="{34B17DA6-C8D2-405A-AA69-4C4A0BE4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1950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label-653-385-110-21">
            <a:extLst xmlns:a="http://schemas.openxmlformats.org/drawingml/2006/main">
              <a:ext uri="{FF2B5EF4-FFF2-40B4-BE49-F238E27FC236}">
                <a16:creationId xmlns:a16="http://schemas.microsoft.com/office/drawing/2014/main" id="{38DA92AE-2CEF-4D70-9FCC-6DE3023A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6712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Iron acquisition</a:t>
            </a:r>
          </a:p>
        </p:txBody>
      </p:sp>
      <p:sp>
        <p:nvSpPr>
          <p:cNvPr id="93" name="label-Secretion">
            <a:extLst xmlns:a="http://schemas.openxmlformats.org/drawingml/2006/main">
              <a:ext uri="{FF2B5EF4-FFF2-40B4-BE49-F238E27FC236}">
                <a16:creationId xmlns:a16="http://schemas.microsoft.com/office/drawing/2014/main" id="{D33B5778-0C12-4598-9C6B-4F44AFB4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8125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label-508-430-110-21">
            <a:extLst xmlns:a="http://schemas.openxmlformats.org/drawingml/2006/main">
              <a:ext uri="{FF2B5EF4-FFF2-40B4-BE49-F238E27FC236}">
                <a16:creationId xmlns:a16="http://schemas.microsoft.com/office/drawing/2014/main" id="{BF6AED7C-F8BA-4BD7-9070-81015776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Secretion</a:t>
            </a:r>
          </a:p>
        </p:txBody>
      </p:sp>
      <p:sp>
        <p:nvSpPr>
          <p:cNvPr id="95" name="label-Toxin">
            <a:extLst xmlns:a="http://schemas.openxmlformats.org/drawingml/2006/main">
              <a:ext uri="{FF2B5EF4-FFF2-40B4-BE49-F238E27FC236}">
                <a16:creationId xmlns:a16="http://schemas.microsoft.com/office/drawing/2014/main" id="{22A88E03-6F9B-4431-A062-5C54E334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48125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label-653-430-110-21">
            <a:extLst xmlns:a="http://schemas.openxmlformats.org/drawingml/2006/main">
              <a:ext uri="{FF2B5EF4-FFF2-40B4-BE49-F238E27FC236}">
                <a16:creationId xmlns:a16="http://schemas.microsoft.com/office/drawing/2014/main" id="{5D3FC217-B554-4735-A446-1EF50CBB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95750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Toxin</a:t>
            </a:r>
          </a:p>
        </p:txBody>
      </p:sp>
      <p:sp>
        <p:nvSpPr>
          <p:cNvPr id="97" name="label-Capsule">
            <a:extLst xmlns:a="http://schemas.openxmlformats.org/drawingml/2006/main">
              <a:ext uri="{FF2B5EF4-FFF2-40B4-BE49-F238E27FC236}">
                <a16:creationId xmlns:a16="http://schemas.microsoft.com/office/drawing/2014/main" id="{BD2D48D8-59AC-448F-9F76-07BE535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label-508-475-110-21">
            <a:extLst xmlns:a="http://schemas.openxmlformats.org/drawingml/2006/main">
              <a:ext uri="{FF2B5EF4-FFF2-40B4-BE49-F238E27FC236}">
                <a16:creationId xmlns:a16="http://schemas.microsoft.com/office/drawing/2014/main" id="{86FB86C5-81D8-45CA-88BF-FE4B8471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2437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Capsule</a:t>
            </a:r>
          </a:p>
        </p:txBody>
      </p:sp>
      <p:sp>
        <p:nvSpPr>
          <p:cNvPr id="99" name="label-Unassigned">
            <a:extLst xmlns:a="http://schemas.openxmlformats.org/drawingml/2006/main">
              <a:ext uri="{FF2B5EF4-FFF2-40B4-BE49-F238E27FC236}">
                <a16:creationId xmlns:a16="http://schemas.microsoft.com/office/drawing/2014/main" id="{54DEFB85-E3F9-4877-80E0-ACF2BF76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7675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label-653-475-110-21">
            <a:extLst xmlns:a="http://schemas.openxmlformats.org/drawingml/2006/main">
              <a:ext uri="{FF2B5EF4-FFF2-40B4-BE49-F238E27FC236}">
                <a16:creationId xmlns:a16="http://schemas.microsoft.com/office/drawing/2014/main" id="{35673598-88F2-45E9-9983-E5FE44E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52437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Unassigned</a:t>
            </a:r>
          </a:p>
        </p:txBody>
      </p:sp>
      <p:sp>
        <p:nvSpPr>
          <p:cNvPr id="101" name="card-Interpretation caution">
            <a:extLst xmlns:a="http://schemas.openxmlformats.org/drawingml/2006/main">
              <a:ext uri="{FF2B5EF4-FFF2-40B4-BE49-F238E27FC236}">
                <a16:creationId xmlns:a16="http://schemas.microsoft.com/office/drawing/2014/main" id="{0F777078-2594-48B0-994C-62E08DBD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905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02" name="heading-916-388-273-26">
            <a:extLst xmlns:a="http://schemas.openxmlformats.org/drawingml/2006/main">
              <a:ext uri="{FF2B5EF4-FFF2-40B4-BE49-F238E27FC236}">
                <a16:creationId xmlns:a16="http://schemas.microsoft.com/office/drawing/2014/main" id="{3D6B15C6-5BB4-4EA3-821F-6862C42E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2600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Interpretation caution</a:t>
            </a:r>
          </a:p>
        </p:txBody>
      </p:sp>
      <p:sp>
        <p:nvSpPr>
          <p:cNvPr id="103" name="body-916-420-273-83">
            <a:extLst xmlns:a="http://schemas.openxmlformats.org/drawingml/2006/main">
              <a:ext uri="{FF2B5EF4-FFF2-40B4-BE49-F238E27FC236}">
                <a16:creationId xmlns:a16="http://schemas.microsoft.com/office/drawing/2014/main" id="{C41C93EE-5AC0-4FDF-9BCB-EC915681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6003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 presence does not establish expression, activity, disease mechanism, or a causal clinical-state effect.</a:t>
            </a:r>
          </a:p>
        </p:txBody>
      </p:sp>
      <p:sp>
        <p:nvSpPr>
          <p:cNvPr id="104" name="label-Descriptive feature framework">
            <a:extLst xmlns:a="http://schemas.openxmlformats.org/drawingml/2006/main">
              <a:ext uri="{FF2B5EF4-FFF2-40B4-BE49-F238E27FC236}">
                <a16:creationId xmlns:a16="http://schemas.microsoft.com/office/drawing/2014/main" id="{DE214E00-DB3A-4816-A578-2DBD5EA2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label-528-563-224-22">
            <a:extLst xmlns:a="http://schemas.openxmlformats.org/drawingml/2006/main">
              <a:ext uri="{FF2B5EF4-FFF2-40B4-BE49-F238E27FC236}">
                <a16:creationId xmlns:a16="http://schemas.microsoft.com/office/drawing/2014/main" id="{556FEDD1-506F-4BF6-9D79-C2611B25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6257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Descriptive feature framework</a:t>
            </a:r>
          </a:p>
        </p:txBody>
      </p:sp>
    </p:spTree>
    <p:extLst>
      <p:ext uri="{BB962C8B-B14F-4D97-AF65-F5344CB8AC3E}">
        <p14:creationId xmlns:p14="http://schemas.microsoft.com/office/powerpoint/2010/main" val="313594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F4F54C6-347A-4C56-BCB7-5E833A31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D9CC54B-D510-4742-A5C0-63897804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ECCFD76-A9AF-4648-BE8A-405E048C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VF REPERTOIRE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D661FA-CF00-4CB8-B7F4-26AC0B5B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Common VF genes describe the observed repertoire, not disease association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96CFFE6-B06F-4749-974D-2417123E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Prevalence across 532 selected episode-level genomes.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F12FE94-AF5F-4AA6-A96E-C390EAC2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4B2331-A980-47BB-B336-694BFD73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E12500A-ADCB-45C0-BE10-3B075E3B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D9E90F-80AB-4501-9434-71E0A2C3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figure-frame-vf_top_gene_prevalence.png">
            <a:extLst xmlns:a="http://schemas.openxmlformats.org/drawingml/2006/main">
              <a:ext uri="{FF2B5EF4-FFF2-40B4-BE49-F238E27FC236}">
                <a16:creationId xmlns:a16="http://schemas.microsoft.com/office/drawing/2014/main" id="{33DC34F7-361D-464C-9990-71B22CD0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705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e41b633d346d0"/>
          <a:stretch xmlns:a="http://schemas.openxmlformats.org/drawingml/2006/main"/>
        </p:blipFill>
        <p:spPr>
          <a:xfrm xmlns:a="http://schemas.openxmlformats.org/drawingml/2006/main">
            <a:off x="2853267" y="1504950"/>
            <a:ext cx="4047067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Read as">
            <a:extLst xmlns:a="http://schemas.openxmlformats.org/drawingml/2006/main">
              <a:ext uri="{FF2B5EF4-FFF2-40B4-BE49-F238E27FC236}">
                <a16:creationId xmlns:a16="http://schemas.microsoft.com/office/drawing/2014/main" id="{FB0CDA7B-03BD-40F9-9C0B-0759A05A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9050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9D5F0"/>
            </a:solidFill>
            <a:prstDash val="solid"/>
          </a:ln>
        </p:spPr>
      </p:sp>
      <p:sp>
        <p:nvSpPr>
          <p:cNvPr id="13" name="heading-1016-206-168-26">
            <a:extLst xmlns:a="http://schemas.openxmlformats.org/drawingml/2006/main">
              <a:ext uri="{FF2B5EF4-FFF2-40B4-BE49-F238E27FC236}">
                <a16:creationId xmlns:a16="http://schemas.microsoft.com/office/drawing/2014/main" id="{99E2928E-804C-42A5-BABA-4F948325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62150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Read as</a:t>
            </a:r>
          </a:p>
        </p:txBody>
      </p:sp>
      <p:sp>
        <p:nvSpPr>
          <p:cNvPr id="14" name="body-1016-238-168-120">
            <a:extLst xmlns:a="http://schemas.openxmlformats.org/drawingml/2006/main">
              <a:ext uri="{FF2B5EF4-FFF2-40B4-BE49-F238E27FC236}">
                <a16:creationId xmlns:a16="http://schemas.microsoft.com/office/drawing/2014/main" id="{44E30CAA-16C8-4779-B243-3DD52EA0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600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Descriptive prevalence ranking only. Gene presence does not imply expression, activity, or UTI association.</a:t>
            </a:r>
          </a:p>
        </p:txBody>
      </p:sp>
      <p:sp>
        <p:nvSpPr>
          <p:cNvPr id="15" name="label-Descriptive">
            <a:extLst xmlns:a="http://schemas.openxmlformats.org/drawingml/2006/main">
              <a:ext uri="{FF2B5EF4-FFF2-40B4-BE49-F238E27FC236}">
                <a16:creationId xmlns:a16="http://schemas.microsoft.com/office/drawing/2014/main" id="{1D73806F-80EF-4E20-977A-9CC120BB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6715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bel-1026-411-148-22">
            <a:extLst xmlns:a="http://schemas.openxmlformats.org/drawingml/2006/main">
              <a:ext uri="{FF2B5EF4-FFF2-40B4-BE49-F238E27FC236}">
                <a16:creationId xmlns:a16="http://schemas.microsoft.com/office/drawing/2014/main" id="{FDA1D267-5551-4DF0-9EB6-4FC40009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147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Descriptive</a:t>
            </a:r>
          </a:p>
        </p:txBody>
      </p:sp>
    </p:spTree>
    <p:extLst>
      <p:ext uri="{BB962C8B-B14F-4D97-AF65-F5344CB8AC3E}">
        <p14:creationId xmlns:p14="http://schemas.microsoft.com/office/powerpoint/2010/main" val="19056492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60CFBC8-9BF0-44AD-9A36-B8BCEFAA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63489D2-BD8F-4E87-A37D-C64F791D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291694F-084F-419B-99A9-2A82439B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VF FRAMEWORK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386D8F-C477-478E-98F5-FC64AD87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Curated modules organise genes into interpretable biological systems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DF1407D-D015-4C73-9811-49A7D064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Modules are navigation units; they are not validated disease-causality scores.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27756F4-0E51-4050-97AE-F23A9264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F34E83B-EAC3-458B-927B-BB102F8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9D7ED90-FE88-4C8E-82B9-48746707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0833BB-78DF-42A1-8273-94009E8D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figure-frame-module_gene_counts.png">
            <a:extLst xmlns:a="http://schemas.openxmlformats.org/drawingml/2006/main">
              <a:ext uri="{FF2B5EF4-FFF2-40B4-BE49-F238E27FC236}">
                <a16:creationId xmlns:a16="http://schemas.microsoft.com/office/drawing/2014/main" id="{B84342A8-AB4B-4A03-A5A3-2ACB082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6106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33e8c9cba4e06"/>
          <a:stretch xmlns:a="http://schemas.openxmlformats.org/drawingml/2006/main"/>
        </p:blipFill>
        <p:spPr>
          <a:xfrm xmlns:a="http://schemas.openxmlformats.org/drawingml/2006/main">
            <a:off x="2457847" y="1504950"/>
            <a:ext cx="4742656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Why it matters">
            <a:extLst xmlns:a="http://schemas.openxmlformats.org/drawingml/2006/main">
              <a:ext uri="{FF2B5EF4-FFF2-40B4-BE49-F238E27FC236}">
                <a16:creationId xmlns:a16="http://schemas.microsoft.com/office/drawing/2014/main" id="{3AD1F613-BD4E-47B9-9AA9-42326AE3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90700"/>
            <a:ext cx="20383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3" name="heading-1004-204-182-26">
            <a:extLst xmlns:a="http://schemas.openxmlformats.org/drawingml/2006/main">
              <a:ext uri="{FF2B5EF4-FFF2-40B4-BE49-F238E27FC236}">
                <a16:creationId xmlns:a16="http://schemas.microsoft.com/office/drawing/2014/main" id="{A1F55616-C2BB-45AD-90F3-D379ADFF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4" name="body-1004-236-182-142">
            <a:extLst xmlns:a="http://schemas.openxmlformats.org/drawingml/2006/main">
              <a:ext uri="{FF2B5EF4-FFF2-40B4-BE49-F238E27FC236}">
                <a16:creationId xmlns:a16="http://schemas.microsoft.com/office/drawing/2014/main" id="{07C2B5C9-F0B1-4F45-8760-BA162A34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1733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module framework structures descriptive repertoire and longitudinal summaries while retaining the binary gene evidence.</a:t>
            </a:r>
          </a:p>
        </p:txBody>
      </p:sp>
    </p:spTree>
    <p:extLst>
      <p:ext uri="{BB962C8B-B14F-4D97-AF65-F5344CB8AC3E}">
        <p14:creationId xmlns:p14="http://schemas.microsoft.com/office/powerpoint/2010/main" val="10086711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5B3AF97-6E6B-44DF-993E-3255663B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A14B6D0-2572-4CD6-849F-383DB457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ACF15F9-BDBB-47E3-937E-5B096942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LONGITUDINAL DENOMINATOR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5441B2-07C6-4439-BE3C-FBFA9396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Direct pairs and adjacent transitions answer different questions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EC04A0D-6177-47B8-B021-E2000BA7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transition layer is temporally ordered; the direct-pair layer describes the wider repeated-isolate network.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900512E-1661-42B9-BF53-AEB0194D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002436C-318E-4357-AE48-3CAC1F47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7F91BFB-39CD-4A43-AD30-C9098680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C0B243-C792-4F2D-816B-98141F3B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0" name="metric-all direct within-resident pairs">
            <a:extLst xmlns:a="http://schemas.openxmlformats.org/drawingml/2006/main">
              <a:ext uri="{FF2B5EF4-FFF2-40B4-BE49-F238E27FC236}">
                <a16:creationId xmlns:a16="http://schemas.microsoft.com/office/drawing/2014/main" id="{29728355-584F-40DB-A0D4-702BBE88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heading-124-202-220-31">
            <a:extLst xmlns:a="http://schemas.openxmlformats.org/drawingml/2006/main">
              <a:ext uri="{FF2B5EF4-FFF2-40B4-BE49-F238E27FC236}">
                <a16:creationId xmlns:a16="http://schemas.microsoft.com/office/drawing/2014/main" id="{0DBC2E4D-DBDF-4F01-A430-46A6CF06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893</a:t>
            </a:r>
          </a:p>
        </p:txBody>
      </p:sp>
      <p:sp>
        <p:nvSpPr>
          <p:cNvPr id="12" name="body-124-240-220-50">
            <a:extLst xmlns:a="http://schemas.openxmlformats.org/drawingml/2006/main">
              <a:ext uri="{FF2B5EF4-FFF2-40B4-BE49-F238E27FC236}">
                <a16:creationId xmlns:a16="http://schemas.microsoft.com/office/drawing/2014/main" id="{271C1447-116B-48F4-A19D-1AF6C342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6CB0"/>
                </a:solidFill>
                <a:latin typeface="Aptos"/>
                <a:ea typeface="Aptos"/>
                <a:cs typeface="Aptos"/>
              </a:rPr>
              <a:t>all direct within-resident pairs</a:t>
            </a:r>
          </a:p>
        </p:txBody>
      </p:sp>
      <p:sp>
        <p:nvSpPr>
          <p:cNvPr id="13" name="metric-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4FB7684B-90D7-4CA5-AD3A-5D6EAEC6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heading-530-202-220-31">
            <a:extLst xmlns:a="http://schemas.openxmlformats.org/drawingml/2006/main">
              <a:ext uri="{FF2B5EF4-FFF2-40B4-BE49-F238E27FC236}">
                <a16:creationId xmlns:a16="http://schemas.microsoft.com/office/drawing/2014/main" id="{C6D4B27E-F657-4864-A229-897B0EAC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15" name="body-530-240-220-50">
            <a:extLst xmlns:a="http://schemas.openxmlformats.org/drawingml/2006/main">
              <a:ext uri="{FF2B5EF4-FFF2-40B4-BE49-F238E27FC236}">
                <a16:creationId xmlns:a16="http://schemas.microsoft.com/office/drawing/2014/main" id="{DE4222B4-4DF2-417B-9CDF-C3D1845E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F855A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16" name="metric-residents with 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C4C87C2C-3464-4D2A-8301-238576F8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heading-936-202-220-31">
            <a:extLst xmlns:a="http://schemas.openxmlformats.org/drawingml/2006/main">
              <a:ext uri="{FF2B5EF4-FFF2-40B4-BE49-F238E27FC236}">
                <a16:creationId xmlns:a16="http://schemas.microsoft.com/office/drawing/2014/main" id="{EE2A24FB-299B-476A-BF02-547E2E77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405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139</a:t>
            </a:r>
          </a:p>
        </p:txBody>
      </p:sp>
      <p:sp>
        <p:nvSpPr>
          <p:cNvPr id="18" name="body-936-240-220-50">
            <a:extLst xmlns:a="http://schemas.openxmlformats.org/drawingml/2006/main">
              <a:ext uri="{FF2B5EF4-FFF2-40B4-BE49-F238E27FC236}">
                <a16:creationId xmlns:a16="http://schemas.microsoft.com/office/drawing/2014/main" id="{0CEB8CDA-6B7E-41D5-9042-B6D950DC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 with adjacent transitions</a:t>
            </a:r>
          </a:p>
        </p:txBody>
      </p:sp>
      <p:sp>
        <p:nvSpPr>
          <p:cNvPr id="19" name="card-Broad profile question">
            <a:extLst xmlns:a="http://schemas.openxmlformats.org/drawingml/2006/main">
              <a:ext uri="{FF2B5EF4-FFF2-40B4-BE49-F238E27FC236}">
                <a16:creationId xmlns:a16="http://schemas.microsoft.com/office/drawing/2014/main" id="{7FE1C4E5-D4CE-48DB-A02C-4A386460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20" name="heading-130-386-318-26">
            <a:extLst xmlns:a="http://schemas.openxmlformats.org/drawingml/2006/main">
              <a:ext uri="{FF2B5EF4-FFF2-40B4-BE49-F238E27FC236}">
                <a16:creationId xmlns:a16="http://schemas.microsoft.com/office/drawing/2014/main" id="{6400080C-98D9-423A-8B60-AEB61E08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Broad profile question</a:t>
            </a:r>
          </a:p>
        </p:txBody>
      </p:sp>
      <p:sp>
        <p:nvSpPr>
          <p:cNvPr id="21" name="body-130-418-318-88">
            <a:extLst xmlns:a="http://schemas.openxmlformats.org/drawingml/2006/main">
              <a:ext uri="{FF2B5EF4-FFF2-40B4-BE49-F238E27FC236}">
                <a16:creationId xmlns:a16="http://schemas.microsoft.com/office/drawing/2014/main" id="{E0A0A64B-36B9-4D60-9D1C-8318C403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all direct pairs to describe how similar episode-level VF profiles are across the available within-resident history.</a:t>
            </a:r>
          </a:p>
        </p:txBody>
      </p:sp>
      <p:sp>
        <p:nvSpPr>
          <p:cNvPr id="22" name="card-Temporal transition question">
            <a:extLst xmlns:a="http://schemas.openxmlformats.org/drawingml/2006/main">
              <a:ext uri="{FF2B5EF4-FFF2-40B4-BE49-F238E27FC236}">
                <a16:creationId xmlns:a16="http://schemas.microsoft.com/office/drawing/2014/main" id="{79818FE1-A3C0-40AD-A50F-423565C1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23" name="heading-506-386-318-26">
            <a:extLst xmlns:a="http://schemas.openxmlformats.org/drawingml/2006/main">
              <a:ext uri="{FF2B5EF4-FFF2-40B4-BE49-F238E27FC236}">
                <a16:creationId xmlns:a16="http://schemas.microsoft.com/office/drawing/2014/main" id="{906B75D7-41FD-4661-A0A4-02FB476E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766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Temporal transition question</a:t>
            </a:r>
          </a:p>
        </p:txBody>
      </p:sp>
      <p:sp>
        <p:nvSpPr>
          <p:cNvPr id="24" name="body-506-418-318-88">
            <a:extLst xmlns:a="http://schemas.openxmlformats.org/drawingml/2006/main">
              <a:ext uri="{FF2B5EF4-FFF2-40B4-BE49-F238E27FC236}">
                <a16:creationId xmlns:a16="http://schemas.microsoft.com/office/drawing/2014/main" id="{F006AA91-DB67-4E45-99C0-DD62AA93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81450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adjacent transitions when asking what changed between successive observed episodes.</a:t>
            </a:r>
          </a:p>
        </p:txBody>
      </p:sp>
      <p:sp>
        <p:nvSpPr>
          <p:cNvPr id="25" name="card-Genome-distance context">
            <a:extLst xmlns:a="http://schemas.openxmlformats.org/drawingml/2006/main">
              <a:ext uri="{FF2B5EF4-FFF2-40B4-BE49-F238E27FC236}">
                <a16:creationId xmlns:a16="http://schemas.microsoft.com/office/drawing/2014/main" id="{C3DDCD68-EBAB-4957-98C2-311C8A5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26" name="heading-882-386-268-26">
            <a:extLst xmlns:a="http://schemas.openxmlformats.org/drawingml/2006/main">
              <a:ext uri="{FF2B5EF4-FFF2-40B4-BE49-F238E27FC236}">
                <a16:creationId xmlns:a16="http://schemas.microsoft.com/office/drawing/2014/main" id="{FE323AEB-8CCC-4E1F-BC73-05339111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Genome-distance context</a:t>
            </a:r>
          </a:p>
        </p:txBody>
      </p:sp>
      <p:sp>
        <p:nvSpPr>
          <p:cNvPr id="27" name="body-882-418-268-88">
            <a:extLst xmlns:a="http://schemas.openxmlformats.org/drawingml/2006/main">
              <a:ext uri="{FF2B5EF4-FFF2-40B4-BE49-F238E27FC236}">
                <a16:creationId xmlns:a16="http://schemas.microsoft.com/office/drawing/2014/main" id="{CC34A9E4-485A-43CD-A0A4-D8B58CFE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81450"/>
            <a:ext cx="2552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140 of 371 adjacent transitions are at or below the operational 25-SNP threshold.</a:t>
            </a:r>
          </a:p>
        </p:txBody>
      </p:sp>
    </p:spTree>
    <p:extLst>
      <p:ext uri="{BB962C8B-B14F-4D97-AF65-F5344CB8AC3E}">
        <p14:creationId xmlns:p14="http://schemas.microsoft.com/office/powerpoint/2010/main" val="10081750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D6ADD9-C0ED-4163-9DAC-6C4DC8A8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EC7565D-BB2F-4D72-BD89-0DF64A69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6B786B1-96AC-4FA9-8064-45975185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LONGITUDINAL CHANGE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1C5F4C-13D6-4C40-8047-ADC920DD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Gain/loss summaries flag candidates for follow-up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67BCE46-530D-43C4-8D92-5252A0B1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Observed changes are reported on 371 adjacent transitions and require lineage plus genome-distance context.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7493432-1988-49D5-83B9-66F4189F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9A43BC-0819-45B0-871D-9317136A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57D99E6-B337-4CF8-9F62-9DECAC92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20C034-19D4-45E1-88C2-DBFAD907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figure-frame-vf_gene_gain_loss_consecutive_pairs.png">
            <a:extLst xmlns:a="http://schemas.openxmlformats.org/drawingml/2006/main">
              <a:ext uri="{FF2B5EF4-FFF2-40B4-BE49-F238E27FC236}">
                <a16:creationId xmlns:a16="http://schemas.microsoft.com/office/drawing/2014/main" id="{917009B1-BC2E-4D42-B5A3-633C87AF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38275"/>
            <a:ext cx="97536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41923ab3f462d"/>
          <a:stretch xmlns:a="http://schemas.openxmlformats.org/drawingml/2006/main"/>
        </p:blipFill>
        <p:spPr>
          <a:xfrm xmlns:a="http://schemas.openxmlformats.org/drawingml/2006/main">
            <a:off x="2110468" y="1504950"/>
            <a:ext cx="6504214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Caution">
            <a:extLst xmlns:a="http://schemas.openxmlformats.org/drawingml/2006/main">
              <a:ext uri="{FF2B5EF4-FFF2-40B4-BE49-F238E27FC236}">
                <a16:creationId xmlns:a16="http://schemas.microsoft.com/office/drawing/2014/main" id="{264A3FE6-EF32-45EB-8D0C-F4DDB53C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90700"/>
            <a:ext cx="1219200" cy="20955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heading-1108-204-96-26">
            <a:extLst xmlns:a="http://schemas.openxmlformats.org/drawingml/2006/main">
              <a:ext uri="{FF2B5EF4-FFF2-40B4-BE49-F238E27FC236}">
                <a16:creationId xmlns:a16="http://schemas.microsoft.com/office/drawing/2014/main" id="{BAE07847-AD16-40F4-9FC4-34CAD9C6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43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Caution</a:t>
            </a:r>
          </a:p>
        </p:txBody>
      </p:sp>
      <p:sp>
        <p:nvSpPr>
          <p:cNvPr id="14" name="body-1108-236-96-158">
            <a:extLst xmlns:a="http://schemas.openxmlformats.org/drawingml/2006/main">
              <a:ext uri="{FF2B5EF4-FFF2-40B4-BE49-F238E27FC236}">
                <a16:creationId xmlns:a16="http://schemas.microsoft.com/office/drawing/2014/main" id="{B5370103-8825-46BC-985E-10E63D72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47900"/>
            <a:ext cx="914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Change may reflect lineage replacement, calling differences, or true gene-content change.</a:t>
            </a:r>
          </a:p>
        </p:txBody>
      </p:sp>
    </p:spTree>
    <p:extLst>
      <p:ext uri="{BB962C8B-B14F-4D97-AF65-F5344CB8AC3E}">
        <p14:creationId xmlns:p14="http://schemas.microsoft.com/office/powerpoint/2010/main" val="77811158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D46F527-CC0F-4017-A843-01B638D2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AD50A1E-FE7B-43A8-8B49-27F2CFB4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24813D3-0782-4FE9-AA9A-FD3A9CFC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LINEAGE CONTEXT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A44AFD-6832-436B-84A4-7F390200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Sequence-type context helps interpret VF similarity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42DD1D7-B6F0-40AB-B32B-ABC802BA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493 selected episodes have preferred MLST labels spanning 76 distinct labels.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7A59DEB-ACF8-4171-8573-2095F598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310588-72E9-4E89-8122-EDBA4615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6E11ED2-0EAD-4AB4-B4AD-2CD534B2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EF273C-46AA-4D88-8023-28D72021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figure-frame-vf_jaccard_same_vs_different_st.png">
            <a:extLst xmlns:a="http://schemas.openxmlformats.org/drawingml/2006/main">
              <a:ext uri="{FF2B5EF4-FFF2-40B4-BE49-F238E27FC236}">
                <a16:creationId xmlns:a16="http://schemas.microsoft.com/office/drawing/2014/main" id="{1AB7F802-2311-4206-812F-771F7B17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705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4b7a9085f4473"/>
          <a:stretch xmlns:a="http://schemas.openxmlformats.org/drawingml/2006/main"/>
        </p:blipFill>
        <p:spPr>
          <a:xfrm xmlns:a="http://schemas.openxmlformats.org/drawingml/2006/main">
            <a:off x="2031206" y="1504950"/>
            <a:ext cx="5691188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Diagnostic use">
            <a:extLst xmlns:a="http://schemas.openxmlformats.org/drawingml/2006/main">
              <a:ext uri="{FF2B5EF4-FFF2-40B4-BE49-F238E27FC236}">
                <a16:creationId xmlns:a16="http://schemas.microsoft.com/office/drawing/2014/main" id="{4ED5B633-81E6-4606-9448-1684ED3C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924050" cy="19621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heading-1016-204-170-26">
            <a:extLst xmlns:a="http://schemas.openxmlformats.org/drawingml/2006/main">
              <a:ext uri="{FF2B5EF4-FFF2-40B4-BE49-F238E27FC236}">
                <a16:creationId xmlns:a16="http://schemas.microsoft.com/office/drawing/2014/main" id="{A75C34C8-0E32-43FA-A43C-202369B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31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Diagnostic use</a:t>
            </a:r>
          </a:p>
        </p:txBody>
      </p:sp>
      <p:sp>
        <p:nvSpPr>
          <p:cNvPr id="14" name="body-1016-236-170-144">
            <a:extLst xmlns:a="http://schemas.openxmlformats.org/drawingml/2006/main">
              <a:ext uri="{FF2B5EF4-FFF2-40B4-BE49-F238E27FC236}">
                <a16:creationId xmlns:a16="http://schemas.microsoft.com/office/drawing/2014/main" id="{6B2A2432-8A4E-4423-8641-9AFE8D0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47900"/>
            <a:ext cx="1619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 agreement is context, not proof of the same strain. Pairwise genome distance remains essential.</a:t>
            </a:r>
          </a:p>
        </p:txBody>
      </p:sp>
    </p:spTree>
    <p:extLst>
      <p:ext uri="{BB962C8B-B14F-4D97-AF65-F5344CB8AC3E}">
        <p14:creationId xmlns:p14="http://schemas.microsoft.com/office/powerpoint/2010/main" val="18669437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DDBBD5-500E-4007-90CA-A8248521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A71D2E98-C79D-4D75-A2E1-F7E9FB9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EF9F390-53BA-4EF7-95FD-D396E398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ANNOTATION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D5F4D8-8CDD-4321-B5CC-FAF4F7A5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Clinical-status VF signals remain exploratory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5085945-09B1-4860-A84A-4548C688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operational UTI and 516 operational Not_UTI selected episodes; no causal interpretation.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892B866-9C93-43C0-87A7-ACDC7E0E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CE265DA-20BE-4C47-9679-E1E81785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EBF7AEE-54A1-439B-9537-2D5DB65D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D708BF-CCFF-4257-889B-B8ADB9E4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figure-frame-vf_gene_screening_vs_model_evidence.png">
            <a:extLst xmlns:a="http://schemas.openxmlformats.org/drawingml/2006/main">
              <a:ext uri="{FF2B5EF4-FFF2-40B4-BE49-F238E27FC236}">
                <a16:creationId xmlns:a16="http://schemas.microsoft.com/office/drawing/2014/main" id="{321B93B7-24FA-4086-AC73-363C99CC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705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2000f0be245be"/>
          <a:stretch xmlns:a="http://schemas.openxmlformats.org/drawingml/2006/main"/>
        </p:blipFill>
        <p:spPr>
          <a:xfrm xmlns:a="http://schemas.openxmlformats.org/drawingml/2006/main">
            <a:off x="1024304" y="1504950"/>
            <a:ext cx="7704992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Safe claim">
            <a:extLst xmlns:a="http://schemas.openxmlformats.org/drawingml/2006/main">
              <a:ext uri="{FF2B5EF4-FFF2-40B4-BE49-F238E27FC236}">
                <a16:creationId xmlns:a16="http://schemas.microsoft.com/office/drawing/2014/main" id="{AC3D31FF-7FF7-48BE-834E-30BD1CCD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924050" cy="20764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3" name="heading-1016-204-170-26">
            <a:extLst xmlns:a="http://schemas.openxmlformats.org/drawingml/2006/main">
              <a:ext uri="{FF2B5EF4-FFF2-40B4-BE49-F238E27FC236}">
                <a16:creationId xmlns:a16="http://schemas.microsoft.com/office/drawing/2014/main" id="{D5BC163A-8176-410A-8005-8F7009E4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31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Safe claim</a:t>
            </a:r>
          </a:p>
        </p:txBody>
      </p:sp>
      <p:sp>
        <p:nvSpPr>
          <p:cNvPr id="14" name="body-1016-236-170-156">
            <a:extLst xmlns:a="http://schemas.openxmlformats.org/drawingml/2006/main">
              <a:ext uri="{FF2B5EF4-FFF2-40B4-BE49-F238E27FC236}">
                <a16:creationId xmlns:a16="http://schemas.microsoft.com/office/drawing/2014/main" id="{B521A498-BF86-4E69-A5B2-DCD29945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47900"/>
            <a:ext cx="1619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Nominal screens and model diagnostics generate hypotheses; they do not establish a robust status association.</a:t>
            </a:r>
          </a:p>
        </p:txBody>
      </p:sp>
      <p:sp>
        <p:nvSpPr>
          <p:cNvPr id="15" name="label-Exploratory overlay">
            <a:extLst xmlns:a="http://schemas.openxmlformats.org/drawingml/2006/main">
              <a:ext uri="{FF2B5EF4-FFF2-40B4-BE49-F238E27FC236}">
                <a16:creationId xmlns:a16="http://schemas.microsoft.com/office/drawing/2014/main" id="{942E0A37-E6CC-48E6-AC5C-CBFFC350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bel-1008-443-186-22">
            <a:extLst xmlns:a="http://schemas.openxmlformats.org/drawingml/2006/main">
              <a:ext uri="{FF2B5EF4-FFF2-40B4-BE49-F238E27FC236}">
                <a16:creationId xmlns:a16="http://schemas.microsoft.com/office/drawing/2014/main" id="{02DA750D-0A4C-4E78-9EF3-5A2F946F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19575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Exploratory overlay</a:t>
            </a:r>
          </a:p>
        </p:txBody>
      </p:sp>
    </p:spTree>
    <p:extLst>
      <p:ext uri="{BB962C8B-B14F-4D97-AF65-F5344CB8AC3E}">
        <p14:creationId xmlns:p14="http://schemas.microsoft.com/office/powerpoint/2010/main" val="21356278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BC216C1-249D-4F5B-B210-7982CE8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DEC8D2B-66B1-42C4-AE85-AD33150C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0559D56-91AC-43FE-B06A-889A05F0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TRANSITION APPLICATION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ED4530-9253-4241-8005-09839678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Focused transition evidence is aggregate, linked, and deliberately cautious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2C69187-7515-4DDE-8B0A-3CC8287C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release reports the full focused casebook; it does not elevate one anecdote into a mechanism claim.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5494D23-CB4B-4C5A-9715-3250AC9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4DA45C-21D7-400F-9880-A12CAEA1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FBE1A00-D0FA-47DD-AFAF-A4B9F022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1CC2D5-8C3B-4605-8305-3F7755DF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ransition-1">
            <a:extLst xmlns:a="http://schemas.openxmlformats.org/drawingml/2006/main">
              <a:ext uri="{FF2B5EF4-FFF2-40B4-BE49-F238E27FC236}">
                <a16:creationId xmlns:a16="http://schemas.microsoft.com/office/drawing/2014/main" id="{672787FB-7875-44F7-A437-5FC9B3E2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943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ransition-1-head">
            <a:extLst xmlns:a="http://schemas.openxmlformats.org/drawingml/2006/main">
              <a:ext uri="{FF2B5EF4-FFF2-40B4-BE49-F238E27FC236}">
                <a16:creationId xmlns:a16="http://schemas.microsoft.com/office/drawing/2014/main" id="{B0631831-16EA-4765-B05F-9B216FD2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43375" y="2905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ransition-2">
            <a:extLst xmlns:a="http://schemas.openxmlformats.org/drawingml/2006/main">
              <a:ext uri="{FF2B5EF4-FFF2-40B4-BE49-F238E27FC236}">
                <a16:creationId xmlns:a16="http://schemas.microsoft.com/office/drawing/2014/main" id="{79DAAFC7-77A0-4311-9473-1DACB223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2943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ransition-2-head">
            <a:extLst xmlns:a="http://schemas.openxmlformats.org/drawingml/2006/main">
              <a:ext uri="{FF2B5EF4-FFF2-40B4-BE49-F238E27FC236}">
                <a16:creationId xmlns:a16="http://schemas.microsoft.com/office/drawing/2014/main" id="{4D6F5F74-CD64-4297-81C0-E5D646FF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20075" y="2905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ard-Focused Not_UTI→UTI transitions">
            <a:extLst xmlns:a="http://schemas.openxmlformats.org/drawingml/2006/main">
              <a:ext uri="{FF2B5EF4-FFF2-40B4-BE49-F238E27FC236}">
                <a16:creationId xmlns:a16="http://schemas.microsoft.com/office/drawing/2014/main" id="{2B35B39F-4CCA-4C2B-8F31-EE535CD6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743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5" name="heading-104-242-256-48">
            <a:extLst xmlns:a="http://schemas.openxmlformats.org/drawingml/2006/main">
              <a:ext uri="{FF2B5EF4-FFF2-40B4-BE49-F238E27FC236}">
                <a16:creationId xmlns:a16="http://schemas.microsoft.com/office/drawing/2014/main" id="{DB6208DD-DDC0-4D0B-B9B8-0BD8DA03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Focused Not_UTI→UTI transitions</a:t>
            </a:r>
          </a:p>
        </p:txBody>
      </p:sp>
      <p:sp>
        <p:nvSpPr>
          <p:cNvPr id="16" name="body-104-296-256-86">
            <a:extLst xmlns:a="http://schemas.openxmlformats.org/drawingml/2006/main">
              <a:ext uri="{FF2B5EF4-FFF2-40B4-BE49-F238E27FC236}">
                <a16:creationId xmlns:a16="http://schemas.microsoft.com/office/drawing/2014/main" id="{E9063F5A-62C9-49ED-813F-15C4D4C6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2438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adjacent transitions enter the focused clinical-transition view.</a:t>
            </a:r>
          </a:p>
        </p:txBody>
      </p:sp>
      <p:sp>
        <p:nvSpPr>
          <p:cNvPr id="17" name="card-At or below 25 SNPs">
            <a:extLst xmlns:a="http://schemas.openxmlformats.org/drawingml/2006/main">
              <a:ext uri="{FF2B5EF4-FFF2-40B4-BE49-F238E27FC236}">
                <a16:creationId xmlns:a16="http://schemas.microsoft.com/office/drawing/2014/main" id="{A175C252-F16B-4452-AF8D-9343030C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34480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8" name="heading-458-242-330-26">
            <a:extLst xmlns:a="http://schemas.openxmlformats.org/drawingml/2006/main">
              <a:ext uri="{FF2B5EF4-FFF2-40B4-BE49-F238E27FC236}">
                <a16:creationId xmlns:a16="http://schemas.microsoft.com/office/drawing/2014/main" id="{A57C6E01-AEC3-4989-B862-E565BEEC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050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At or below 25 SNPs</a:t>
            </a:r>
          </a:p>
        </p:txBody>
      </p:sp>
      <p:sp>
        <p:nvSpPr>
          <p:cNvPr id="19" name="body-458-274-330-108">
            <a:extLst xmlns:a="http://schemas.openxmlformats.org/drawingml/2006/main">
              <a:ext uri="{FF2B5EF4-FFF2-40B4-BE49-F238E27FC236}">
                <a16:creationId xmlns:a16="http://schemas.microsoft.com/office/drawing/2014/main" id="{1CA3198E-288A-4AE2-A15D-2CE0D476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 of 9 focused transitions fall at or below the operational genome-distance threshold.</a:t>
            </a:r>
          </a:p>
        </p:txBody>
      </p:sp>
      <p:sp>
        <p:nvSpPr>
          <p:cNvPr id="20" name="card-Mechanism casebook">
            <a:extLst xmlns:a="http://schemas.openxmlformats.org/drawingml/2006/main">
              <a:ext uri="{FF2B5EF4-FFF2-40B4-BE49-F238E27FC236}">
                <a16:creationId xmlns:a16="http://schemas.microsoft.com/office/drawing/2014/main" id="{185E136F-2BEA-4109-93CE-4D2410DE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21" name="heading-886-242-278-26">
            <a:extLst xmlns:a="http://schemas.openxmlformats.org/drawingml/2006/main">
              <a:ext uri="{FF2B5EF4-FFF2-40B4-BE49-F238E27FC236}">
                <a16:creationId xmlns:a16="http://schemas.microsoft.com/office/drawing/2014/main" id="{D24591D1-FBA9-4A3D-8E53-77C0C56B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Mechanism casebook</a:t>
            </a:r>
          </a:p>
        </p:txBody>
      </p:sp>
      <p:sp>
        <p:nvSpPr>
          <p:cNvPr id="22" name="body-886-274-278-108">
            <a:extLst xmlns:a="http://schemas.openxmlformats.org/drawingml/2006/main">
              <a:ext uri="{FF2B5EF4-FFF2-40B4-BE49-F238E27FC236}">
                <a16:creationId xmlns:a16="http://schemas.microsoft.com/office/drawing/2014/main" id="{16B8600D-E9A5-45D2-9184-B897A522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2647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cases; 9 linked; 0 missing endpoints.</a:t>
            </a:r>
          </a:p>
        </p:txBody>
      </p:sp>
      <p:sp>
        <p:nvSpPr>
          <p:cNvPr id="23" name="card-Interpretation boundary">
            <a:extLst xmlns:a="http://schemas.openxmlformats.org/drawingml/2006/main">
              <a:ext uri="{FF2B5EF4-FFF2-40B4-BE49-F238E27FC236}">
                <a16:creationId xmlns:a16="http://schemas.microsoft.com/office/drawing/2014/main" id="{74890882-9D87-44F3-9CDD-CA6B8FF9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895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heading-186-508-908-26">
            <a:extLst xmlns:a="http://schemas.openxmlformats.org/drawingml/2006/main">
              <a:ext uri="{FF2B5EF4-FFF2-40B4-BE49-F238E27FC236}">
                <a16:creationId xmlns:a16="http://schemas.microsoft.com/office/drawing/2014/main" id="{C68F7B11-3341-48BE-91ED-CDF2575B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864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 boundary</a:t>
            </a:r>
          </a:p>
        </p:txBody>
      </p:sp>
      <p:sp>
        <p:nvSpPr>
          <p:cNvPr id="25" name="body-186-540-908-20">
            <a:extLst xmlns:a="http://schemas.openxmlformats.org/drawingml/2006/main">
              <a:ext uri="{FF2B5EF4-FFF2-40B4-BE49-F238E27FC236}">
                <a16:creationId xmlns:a16="http://schemas.microsoft.com/office/drawing/2014/main" id="{43961D27-343E-4AC8-A141-67288A39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43500"/>
            <a:ext cx="864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Low genome distance and stable VF content can support a stable-lineage interpretation, but they cannot by themselves identify host-state change, bacterial regulation, or clinical causation.</a:t>
            </a:r>
          </a:p>
        </p:txBody>
      </p:sp>
    </p:spTree>
    <p:extLst>
      <p:ext uri="{BB962C8B-B14F-4D97-AF65-F5344CB8AC3E}">
        <p14:creationId xmlns:p14="http://schemas.microsoft.com/office/powerpoint/2010/main" val="59060592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3D654FD-7A4E-4127-9EDC-E57D3555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9EEA0A28-E9A8-4440-A621-FBC3983A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30B07AC-2E42-477E-8D00-5492D70D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D951A1-55DA-48F7-84A7-78EB2BA8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the Longcycler-only review establishes and what remains uncertain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6DEEBD9-E50E-42FC-AD1C-55CDCFBA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these as the three discussion anchors.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2D88A2F-4999-48EC-A83E-F50CC5D3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073DD8C-D560-4840-B354-3CC0F109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5D45542-DC46-4697-89CD-EBE6F667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B8ABC2-2DE9-4C16-85BE-8922FD3D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0" name="card-Evidence">
            <a:extLst xmlns:a="http://schemas.openxmlformats.org/drawingml/2006/main">
              <a:ext uri="{FF2B5EF4-FFF2-40B4-BE49-F238E27FC236}">
                <a16:creationId xmlns:a16="http://schemas.microsoft.com/office/drawing/2014/main" id="{D337DB5B-C90F-4A53-B25C-2F75AA6C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9D5F0"/>
            </a:solidFill>
            <a:prstDash val="solid"/>
          </a:ln>
        </p:spPr>
      </p:sp>
      <p:sp>
        <p:nvSpPr>
          <p:cNvPr id="11" name="heading-98-200-298-26">
            <a:extLst xmlns:a="http://schemas.openxmlformats.org/drawingml/2006/main">
              <a:ext uri="{FF2B5EF4-FFF2-40B4-BE49-F238E27FC236}">
                <a16:creationId xmlns:a16="http://schemas.microsoft.com/office/drawing/2014/main" id="{4883B6A0-64FB-49F9-AE36-CD3B7017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body-98-232-298-238">
            <a:extLst xmlns:a="http://schemas.openxmlformats.org/drawingml/2006/main">
              <a:ext uri="{FF2B5EF4-FFF2-40B4-BE49-F238E27FC236}">
                <a16:creationId xmlns:a16="http://schemas.microsoft.com/office/drawing/2014/main" id="{DFD1E773-2974-4BCF-AF36-4011379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selected profiles from 161 residents support 893 direct comparisons and 371 adjacent transitions. The mechanism casebook is complete (9/9 linked).</a:t>
            </a:r>
          </a:p>
        </p:txBody>
      </p:sp>
      <p:sp>
        <p:nvSpPr>
          <p:cNvPr id="13" name="card-Boundary">
            <a:extLst xmlns:a="http://schemas.openxmlformats.org/drawingml/2006/main">
              <a:ext uri="{FF2B5EF4-FFF2-40B4-BE49-F238E27FC236}">
                <a16:creationId xmlns:a16="http://schemas.microsoft.com/office/drawing/2014/main" id="{CCD3761D-882A-443A-9C0D-A77F749D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4" name="heading-490-200-298-26">
            <a:extLst xmlns:a="http://schemas.openxmlformats.org/drawingml/2006/main">
              <a:ext uri="{FF2B5EF4-FFF2-40B4-BE49-F238E27FC236}">
                <a16:creationId xmlns:a16="http://schemas.microsoft.com/office/drawing/2014/main" id="{9D7FFAFC-9C87-4C0F-9F6D-8C910EF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15" name="body-490-232-298-238">
            <a:extLst xmlns:a="http://schemas.openxmlformats.org/drawingml/2006/main">
              <a:ext uri="{FF2B5EF4-FFF2-40B4-BE49-F238E27FC236}">
                <a16:creationId xmlns:a16="http://schemas.microsoft.com/office/drawing/2014/main" id="{EE0B8651-59D8-49B2-8E11-68B2FAF9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UTI is sparse (16/532). VF presence/absence does not measure expression, regulation, pathogenic activity, or a causal clinical-state effect.</a:t>
            </a:r>
          </a:p>
        </p:txBody>
      </p:sp>
      <p:sp>
        <p:nvSpPr>
          <p:cNvPr id="16" name="card-Next steps">
            <a:extLst xmlns:a="http://schemas.openxmlformats.org/drawingml/2006/main">
              <a:ext uri="{FF2B5EF4-FFF2-40B4-BE49-F238E27FC236}">
                <a16:creationId xmlns:a16="http://schemas.microsoft.com/office/drawing/2014/main" id="{CD6D3531-FB8E-4B27-88B3-250F46A8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7" name="heading-882-200-298-26">
            <a:extLst xmlns:a="http://schemas.openxmlformats.org/drawingml/2006/main">
              <a:ext uri="{FF2B5EF4-FFF2-40B4-BE49-F238E27FC236}">
                <a16:creationId xmlns:a16="http://schemas.microsoft.com/office/drawing/2014/main" id="{A808AD40-AB0A-4CD0-924C-7135474B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8" name="body-882-232-298-238">
            <a:extLst xmlns:a="http://schemas.openxmlformats.org/drawingml/2006/main">
              <a:ext uri="{FF2B5EF4-FFF2-40B4-BE49-F238E27FC236}">
                <a16:creationId xmlns:a16="http://schemas.microsoft.com/office/drawing/2014/main" id="{E390A4FF-75A1-412D-87E7-B2B30B83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Prioritise lineage-aware longitudinal analyses, targeted transition review, and additional evidence that can separate bacterial change from host-state and sampling effects.</a:t>
            </a:r>
          </a:p>
        </p:txBody>
      </p:sp>
      <p:sp>
        <p:nvSpPr>
          <p:cNvPr id="19" name="body-100-542-1080-32">
            <a:extLst xmlns:a="http://schemas.openxmlformats.org/drawingml/2006/main">
              <a:ext uri="{FF2B5EF4-FFF2-40B4-BE49-F238E27FC236}">
                <a16:creationId xmlns:a16="http://schemas.microsoft.com/office/drawing/2014/main" id="{7D6863A0-CEFC-48D4-85A6-BC4B7994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Discussion: what extra evidence would distinguish stable carriage plus host-state change from unmeasured bacterial regulation?</a:t>
            </a:r>
          </a:p>
        </p:txBody>
      </p:sp>
    </p:spTree>
    <p:extLst>
      <p:ext uri="{BB962C8B-B14F-4D97-AF65-F5344CB8AC3E}">
        <p14:creationId xmlns:p14="http://schemas.microsoft.com/office/powerpoint/2010/main" val="102232359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EE132F-160D-4B23-ACB3-A8404C9C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9840896C-0FDC-410C-ADA5-B85F46CD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15A0A2E-A095-47D8-9538-7694F599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HANDOVER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2EAF1F-0FC1-42A4-A776-837C79A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Practical map: where to enter and rerun the Longcycler-only pipeline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2046EBA-5696-4A34-B977-0B38595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numbered research-question layer runs from RQ01 through RQ10.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0EBBAA6-F7D5-4120-A5CC-1165203B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EE96E3-7BA3-418F-8033-42F3F284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F54DC44-E19B-4AD5-A032-F04EE5DB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82F9EB-227E-4EAC-A744-CA22BCD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handover-row-1">
            <a:extLst xmlns:a="http://schemas.openxmlformats.org/drawingml/2006/main">
              <a:ext uri="{FF2B5EF4-FFF2-40B4-BE49-F238E27FC236}">
                <a16:creationId xmlns:a16="http://schemas.microsoft.com/office/drawing/2014/main" id="{0AD9CCA4-635E-4BA1-89EF-5B703C8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label-96-166-170-34">
            <a:extLst xmlns:a="http://schemas.openxmlformats.org/drawingml/2006/main">
              <a:ext uri="{FF2B5EF4-FFF2-40B4-BE49-F238E27FC236}">
                <a16:creationId xmlns:a16="http://schemas.microsoft.com/office/drawing/2014/main" id="{6D344A19-9506-4961-860D-A2450BF9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manifest</a:t>
            </a:r>
          </a:p>
        </p:txBody>
      </p:sp>
      <p:sp>
        <p:nvSpPr>
          <p:cNvPr id="12" name="body-286-166-410-36">
            <a:extLst xmlns:a="http://schemas.openxmlformats.org/drawingml/2006/main">
              <a:ext uri="{FF2B5EF4-FFF2-40B4-BE49-F238E27FC236}">
                <a16:creationId xmlns:a16="http://schemas.microsoft.com/office/drawing/2014/main" id="{001B6B86-6DAB-4771-978F-A80CB7A5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811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results/assembly/canonical_assembly_selection.csv</a:t>
            </a:r>
          </a:p>
        </p:txBody>
      </p:sp>
      <p:sp>
        <p:nvSpPr>
          <p:cNvPr id="13" name="body-720-166-410-36">
            <a:extLst xmlns:a="http://schemas.openxmlformats.org/drawingml/2006/main">
              <a:ext uri="{FF2B5EF4-FFF2-40B4-BE49-F238E27FC236}">
                <a16:creationId xmlns:a16="http://schemas.microsoft.com/office/drawing/2014/main" id="{A1B58F45-3AF4-4A44-ABAD-8B40485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QC-passing Longcycler assembly per episode</a:t>
            </a:r>
          </a:p>
        </p:txBody>
      </p:sp>
      <p:sp>
        <p:nvSpPr>
          <p:cNvPr id="14" name="handover-row-2">
            <a:extLst xmlns:a="http://schemas.openxmlformats.org/drawingml/2006/main">
              <a:ext uri="{FF2B5EF4-FFF2-40B4-BE49-F238E27FC236}">
                <a16:creationId xmlns:a16="http://schemas.microsoft.com/office/drawing/2014/main" id="{9264BCF8-A7E4-4B64-A8A0-1F9DC56A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label-96-234-170-34">
            <a:extLst xmlns:a="http://schemas.openxmlformats.org/drawingml/2006/main">
              <a:ext uri="{FF2B5EF4-FFF2-40B4-BE49-F238E27FC236}">
                <a16:creationId xmlns:a16="http://schemas.microsoft.com/office/drawing/2014/main" id="{D8BCF729-7F24-4232-B607-0577ED6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Clinical key</a:t>
            </a:r>
          </a:p>
        </p:txBody>
      </p:sp>
      <p:sp>
        <p:nvSpPr>
          <p:cNvPr id="16" name="body-286-234-410-36">
            <a:extLst xmlns:a="http://schemas.openxmlformats.org/drawingml/2006/main">
              <a:ext uri="{FF2B5EF4-FFF2-40B4-BE49-F238E27FC236}">
                <a16:creationId xmlns:a16="http://schemas.microsoft.com/office/drawing/2014/main" id="{C4B46F7F-FC44-4A0D-8D07-AA5D25F5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results/clinical/status_map.csv</a:t>
            </a:r>
          </a:p>
        </p:txBody>
      </p:sp>
      <p:sp>
        <p:nvSpPr>
          <p:cNvPr id="17" name="body-720-234-410-36">
            <a:extLst xmlns:a="http://schemas.openxmlformats.org/drawingml/2006/main">
              <a:ext uri="{FF2B5EF4-FFF2-40B4-BE49-F238E27FC236}">
                <a16:creationId xmlns:a16="http://schemas.microsoft.com/office/drawing/2014/main" id="{D00FA1F1-D733-4363-9BF4-D7ECABE4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288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UTI annotation and audit fields</a:t>
            </a:r>
          </a:p>
        </p:txBody>
      </p:sp>
      <p:sp>
        <p:nvSpPr>
          <p:cNvPr id="18" name="handover-row-3">
            <a:extLst xmlns:a="http://schemas.openxmlformats.org/drawingml/2006/main">
              <a:ext uri="{FF2B5EF4-FFF2-40B4-BE49-F238E27FC236}">
                <a16:creationId xmlns:a16="http://schemas.microsoft.com/office/drawing/2014/main" id="{EFC891BC-4159-422C-B978-0AABA0BA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label-96-302-170-34">
            <a:extLst xmlns:a="http://schemas.openxmlformats.org/drawingml/2006/main">
              <a:ext uri="{FF2B5EF4-FFF2-40B4-BE49-F238E27FC236}">
                <a16:creationId xmlns:a16="http://schemas.microsoft.com/office/drawing/2014/main" id="{2DA42E0D-2436-4FB5-A151-8ACC06EA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VF matrix</a:t>
            </a:r>
          </a:p>
        </p:txBody>
      </p:sp>
      <p:sp>
        <p:nvSpPr>
          <p:cNvPr id="20" name="body-286-302-410-36">
            <a:extLst xmlns:a="http://schemas.openxmlformats.org/drawingml/2006/main">
              <a:ext uri="{FF2B5EF4-FFF2-40B4-BE49-F238E27FC236}">
                <a16:creationId xmlns:a16="http://schemas.microsoft.com/office/drawing/2014/main" id="{1F48190E-ABB6-4B08-86A3-7380885A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results/vf/vf_pa_all.csv</a:t>
            </a:r>
          </a:p>
        </p:txBody>
      </p:sp>
      <p:sp>
        <p:nvSpPr>
          <p:cNvPr id="21" name="body-720-302-410-36">
            <a:extLst xmlns:a="http://schemas.openxmlformats.org/drawingml/2006/main">
              <a:ext uri="{FF2B5EF4-FFF2-40B4-BE49-F238E27FC236}">
                <a16:creationId xmlns:a16="http://schemas.microsoft.com/office/drawing/2014/main" id="{2F3ADDB2-D281-4DCC-ABF7-E245FF3F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Episode-level binary VF profiles</a:t>
            </a:r>
          </a:p>
        </p:txBody>
      </p:sp>
      <p:sp>
        <p:nvSpPr>
          <p:cNvPr id="22" name="handover-row-4">
            <a:extLst xmlns:a="http://schemas.openxmlformats.org/drawingml/2006/main">
              <a:ext uri="{FF2B5EF4-FFF2-40B4-BE49-F238E27FC236}">
                <a16:creationId xmlns:a16="http://schemas.microsoft.com/office/drawing/2014/main" id="{F7CA032F-56A0-4A83-BDF0-216034A6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label-96-370-170-34">
            <a:extLst xmlns:a="http://schemas.openxmlformats.org/drawingml/2006/main">
              <a:ext uri="{FF2B5EF4-FFF2-40B4-BE49-F238E27FC236}">
                <a16:creationId xmlns:a16="http://schemas.microsoft.com/office/drawing/2014/main" id="{85A617B5-C1D0-480E-B572-A4C2D602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Direct pairs</a:t>
            </a:r>
          </a:p>
        </p:txBody>
      </p:sp>
      <p:sp>
        <p:nvSpPr>
          <p:cNvPr id="24" name="body-286-370-410-36">
            <a:extLst xmlns:a="http://schemas.openxmlformats.org/drawingml/2006/main">
              <a:ext uri="{FF2B5EF4-FFF2-40B4-BE49-F238E27FC236}">
                <a16:creationId xmlns:a16="http://schemas.microsoft.com/office/drawing/2014/main" id="{457E950B-2903-4A06-8E10-17049905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242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results/strain/pairwise_metrics.csv</a:t>
            </a:r>
          </a:p>
        </p:txBody>
      </p:sp>
      <p:sp>
        <p:nvSpPr>
          <p:cNvPr id="25" name="body-720-370-410-36">
            <a:extLst xmlns:a="http://schemas.openxmlformats.org/drawingml/2006/main">
              <a:ext uri="{FF2B5EF4-FFF2-40B4-BE49-F238E27FC236}">
                <a16:creationId xmlns:a16="http://schemas.microsoft.com/office/drawing/2014/main" id="{0F03FD5A-F929-49CB-B6D4-33BF121E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within-resident comparisons</a:t>
            </a:r>
          </a:p>
        </p:txBody>
      </p:sp>
      <p:sp>
        <p:nvSpPr>
          <p:cNvPr id="26" name="handover-row-5">
            <a:extLst xmlns:a="http://schemas.openxmlformats.org/drawingml/2006/main">
              <a:ext uri="{FF2B5EF4-FFF2-40B4-BE49-F238E27FC236}">
                <a16:creationId xmlns:a16="http://schemas.microsoft.com/office/drawing/2014/main" id="{5E96A417-7F81-4404-A02C-35EC0EE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label-96-438-170-34">
            <a:extLst xmlns:a="http://schemas.openxmlformats.org/drawingml/2006/main">
              <a:ext uri="{FF2B5EF4-FFF2-40B4-BE49-F238E27FC236}">
                <a16:creationId xmlns:a16="http://schemas.microsoft.com/office/drawing/2014/main" id="{8FBF9A37-9333-4407-9A65-AC8D4D1C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8" name="body-286-438-410-36">
            <a:extLst xmlns:a="http://schemas.openxmlformats.org/drawingml/2006/main">
              <a:ext uri="{FF2B5EF4-FFF2-40B4-BE49-F238E27FC236}">
                <a16:creationId xmlns:a16="http://schemas.microsoft.com/office/drawing/2014/main" id="{7A1B0B07-F020-4183-AFD9-A34E3A4A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719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results/longitudinal/longcycler_transitions.csv</a:t>
            </a:r>
          </a:p>
        </p:txBody>
      </p:sp>
      <p:sp>
        <p:nvSpPr>
          <p:cNvPr id="29" name="body-720-438-410-36">
            <a:extLst xmlns:a="http://schemas.openxmlformats.org/drawingml/2006/main">
              <a:ext uri="{FF2B5EF4-FFF2-40B4-BE49-F238E27FC236}">
                <a16:creationId xmlns:a16="http://schemas.microsoft.com/office/drawing/2014/main" id="{0AE46BD0-8B17-497C-B964-B7A7607C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Temporally ordered comparisons</a:t>
            </a:r>
          </a:p>
        </p:txBody>
      </p:sp>
      <p:sp>
        <p:nvSpPr>
          <p:cNvPr id="30" name="handover-row-6">
            <a:extLst xmlns:a="http://schemas.openxmlformats.org/drawingml/2006/main">
              <a:ext uri="{FF2B5EF4-FFF2-40B4-BE49-F238E27FC236}">
                <a16:creationId xmlns:a16="http://schemas.microsoft.com/office/drawing/2014/main" id="{D0662861-D1D4-496D-B576-18F18EE1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label-96-506-170-34">
            <a:extLst xmlns:a="http://schemas.openxmlformats.org/drawingml/2006/main">
              <a:ext uri="{FF2B5EF4-FFF2-40B4-BE49-F238E27FC236}">
                <a16:creationId xmlns:a16="http://schemas.microsoft.com/office/drawing/2014/main" id="{5EFA27E0-140F-4207-96A7-65596E71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Focused casebook</a:t>
            </a:r>
          </a:p>
        </p:txBody>
      </p:sp>
      <p:sp>
        <p:nvSpPr>
          <p:cNvPr id="32" name="body-286-506-410-36">
            <a:extLst xmlns:a="http://schemas.openxmlformats.org/drawingml/2006/main">
              <a:ext uri="{FF2B5EF4-FFF2-40B4-BE49-F238E27FC236}">
                <a16:creationId xmlns:a16="http://schemas.microsoft.com/office/drawing/2014/main" id="{F76D769B-5753-4ECF-88A9-43A40BA9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196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results/mechanism/not_uti_to_uti_casebook.csv</a:t>
            </a:r>
          </a:p>
        </p:txBody>
      </p:sp>
      <p:sp>
        <p:nvSpPr>
          <p:cNvPr id="33" name="body-720-506-410-36">
            <a:extLst xmlns:a="http://schemas.openxmlformats.org/drawingml/2006/main">
              <a:ext uri="{FF2B5EF4-FFF2-40B4-BE49-F238E27FC236}">
                <a16:creationId xmlns:a16="http://schemas.microsoft.com/office/drawing/2014/main" id="{E503EC86-AD3D-42E6-B25F-A0D9C777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96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Nine linked transition cases</a:t>
            </a:r>
          </a:p>
        </p:txBody>
      </p:sp>
      <p:sp>
        <p:nvSpPr>
          <p:cNvPr id="34" name="handover-row-7">
            <a:extLst xmlns:a="http://schemas.openxmlformats.org/drawingml/2006/main">
              <a:ext uri="{FF2B5EF4-FFF2-40B4-BE49-F238E27FC236}">
                <a16:creationId xmlns:a16="http://schemas.microsoft.com/office/drawing/2014/main" id="{7E1EECCC-71F1-41EF-800C-7B232B92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5" name="label-96-574-170-34">
            <a:extLst xmlns:a="http://schemas.openxmlformats.org/drawingml/2006/main">
              <a:ext uri="{FF2B5EF4-FFF2-40B4-BE49-F238E27FC236}">
                <a16:creationId xmlns:a16="http://schemas.microsoft.com/office/drawing/2014/main" id="{98C2ADC8-BA46-47F2-8139-13DE091B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36" name="body-286-574-410-36">
            <a:extLst xmlns:a="http://schemas.openxmlformats.org/drawingml/2006/main">
              <a:ext uri="{FF2B5EF4-FFF2-40B4-BE49-F238E27FC236}">
                <a16:creationId xmlns:a16="http://schemas.microsoft.com/office/drawing/2014/main" id="{4B9CDD4C-E10E-4FAE-B043-248D8403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673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scripts/research_questions/run_all.R</a:t>
            </a:r>
          </a:p>
        </p:txBody>
      </p:sp>
      <p:sp>
        <p:nvSpPr>
          <p:cNvPr id="37" name="body-720-574-410-36">
            <a:extLst xmlns:a="http://schemas.openxmlformats.org/drawingml/2006/main">
              <a:ext uri="{FF2B5EF4-FFF2-40B4-BE49-F238E27FC236}">
                <a16:creationId xmlns:a16="http://schemas.microsoft.com/office/drawing/2014/main" id="{9DBC9646-5A8C-44AB-9758-D6D788B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RQ01–RQ10 release layer</a:t>
            </a:r>
          </a:p>
        </p:txBody>
      </p:sp>
    </p:spTree>
    <p:extLst>
      <p:ext uri="{BB962C8B-B14F-4D97-AF65-F5344CB8AC3E}">
        <p14:creationId xmlns:p14="http://schemas.microsoft.com/office/powerpoint/2010/main" val="203319798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E526DC9-D0A2-46DF-9F8E-08609E15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49DA431B-9D85-41A7-BAE7-E5EA5B67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35DA2A8-AD31-46BD-817F-58E36FE8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PROJECT ORIENTATION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CEE2AC-734C-4B60-9498-5315CE4D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Unit changes explain denominator changes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E6FC822-F4CB-4F8D-B660-7D78798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Each count answers a different question: episode, resident, profile, pair, or transition.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582EFC8-D981-4F77-BC80-DA7DBEA1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0EB979D-F7ED-4CAD-9013-3E8BCAFD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5182156-54C9-498A-B6C7-44CF1495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99EC8E5-03A3-4E01-B9E3-A63F8E96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label-Source clinical episodes">
            <a:extLst xmlns:a="http://schemas.openxmlformats.org/drawingml/2006/main">
              <a:ext uri="{FF2B5EF4-FFF2-40B4-BE49-F238E27FC236}">
                <a16:creationId xmlns:a16="http://schemas.microsoft.com/office/drawing/2014/main" id="{30B06C58-CEB3-451A-8067-FC6B9130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label-158-180-244-26">
            <a:extLst xmlns:a="http://schemas.openxmlformats.org/drawingml/2006/main">
              <a:ext uri="{FF2B5EF4-FFF2-40B4-BE49-F238E27FC236}">
                <a16:creationId xmlns:a16="http://schemas.microsoft.com/office/drawing/2014/main" id="{5B515EB5-292B-44FA-AFE3-F0B761FC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Source clinical episodes</a:t>
            </a:r>
          </a:p>
        </p:txBody>
      </p:sp>
      <p:sp>
        <p:nvSpPr>
          <p:cNvPr id="12" name="body-454-173-110-38">
            <a:extLst xmlns:a="http://schemas.openxmlformats.org/drawingml/2006/main">
              <a:ext uri="{FF2B5EF4-FFF2-40B4-BE49-F238E27FC236}">
                <a16:creationId xmlns:a16="http://schemas.microsoft.com/office/drawing/2014/main" id="{4A0A8D74-9E55-42C1-9502-D04BCBE4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4782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583</a:t>
            </a:r>
          </a:p>
        </p:txBody>
      </p:sp>
      <p:sp>
        <p:nvSpPr>
          <p:cNvPr id="13" name="body-616-177-530-34">
            <a:extLst xmlns:a="http://schemas.openxmlformats.org/drawingml/2006/main">
              <a:ext uri="{FF2B5EF4-FFF2-40B4-BE49-F238E27FC236}">
                <a16:creationId xmlns:a16="http://schemas.microsoft.com/office/drawing/2014/main" id="{9BD54519-E682-413A-B16B-FE3A7FBB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8592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166 residents; retained for attrition/QC only</a:t>
            </a:r>
          </a:p>
        </p:txBody>
      </p:sp>
      <p:sp>
        <p:nvSpPr>
          <p:cNvPr id="14" name="label-Selected analytical episodes">
            <a:extLst xmlns:a="http://schemas.openxmlformats.org/drawingml/2006/main">
              <a:ext uri="{FF2B5EF4-FFF2-40B4-BE49-F238E27FC236}">
                <a16:creationId xmlns:a16="http://schemas.microsoft.com/office/drawing/2014/main" id="{7CC0976A-5592-4C68-A50C-5C45224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label-158-265-244-26">
            <a:extLst xmlns:a="http://schemas.openxmlformats.org/drawingml/2006/main">
              <a:ext uri="{FF2B5EF4-FFF2-40B4-BE49-F238E27FC236}">
                <a16:creationId xmlns:a16="http://schemas.microsoft.com/office/drawing/2014/main" id="{AABE3955-785B-494F-8027-829206A7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analytical episodes</a:t>
            </a:r>
          </a:p>
        </p:txBody>
      </p:sp>
      <p:sp>
        <p:nvSpPr>
          <p:cNvPr id="16" name="body-454-258-110-38">
            <a:extLst xmlns:a="http://schemas.openxmlformats.org/drawingml/2006/main">
              <a:ext uri="{FF2B5EF4-FFF2-40B4-BE49-F238E27FC236}">
                <a16:creationId xmlns:a16="http://schemas.microsoft.com/office/drawing/2014/main" id="{A588A398-E8E1-4226-AA5D-3A412A8E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17" name="body-616-262-530-34">
            <a:extLst xmlns:a="http://schemas.openxmlformats.org/drawingml/2006/main">
              <a:ext uri="{FF2B5EF4-FFF2-40B4-BE49-F238E27FC236}">
                <a16:creationId xmlns:a16="http://schemas.microsoft.com/office/drawing/2014/main" id="{EFD3E590-2543-4FBF-AE64-8086E793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955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161 residents; one selected genome per episode</a:t>
            </a:r>
          </a:p>
        </p:txBody>
      </p:sp>
      <p:sp>
        <p:nvSpPr>
          <p:cNvPr id="18" name="label-Direct within-resident pairs">
            <a:extLst xmlns:a="http://schemas.openxmlformats.org/drawingml/2006/main">
              <a:ext uri="{FF2B5EF4-FFF2-40B4-BE49-F238E27FC236}">
                <a16:creationId xmlns:a16="http://schemas.microsoft.com/office/drawing/2014/main" id="{BAA637A4-6433-41F0-A931-102AC683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label-158-350-244-26">
            <a:extLst xmlns:a="http://schemas.openxmlformats.org/drawingml/2006/main">
              <a:ext uri="{FF2B5EF4-FFF2-40B4-BE49-F238E27FC236}">
                <a16:creationId xmlns:a16="http://schemas.microsoft.com/office/drawing/2014/main" id="{6C66742C-36CD-46B1-BF96-7D8EE6E9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within-resident pairs</a:t>
            </a:r>
          </a:p>
        </p:txBody>
      </p:sp>
      <p:sp>
        <p:nvSpPr>
          <p:cNvPr id="20" name="body-454-343-110-38">
            <a:extLst xmlns:a="http://schemas.openxmlformats.org/drawingml/2006/main">
              <a:ext uri="{FF2B5EF4-FFF2-40B4-BE49-F238E27FC236}">
                <a16:creationId xmlns:a16="http://schemas.microsoft.com/office/drawing/2014/main" id="{54DF49D9-589F-4F7D-8203-F3EF5B37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6707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893</a:t>
            </a:r>
          </a:p>
        </p:txBody>
      </p:sp>
      <p:sp>
        <p:nvSpPr>
          <p:cNvPr id="21" name="body-616-347-530-34">
            <a:extLst xmlns:a="http://schemas.openxmlformats.org/drawingml/2006/main">
              <a:ext uri="{FF2B5EF4-FFF2-40B4-BE49-F238E27FC236}">
                <a16:creationId xmlns:a16="http://schemas.microsoft.com/office/drawing/2014/main" id="{62D5AA30-9A04-4231-B12A-783041BE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0517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available within-resident comparisons</a:t>
            </a:r>
          </a:p>
        </p:txBody>
      </p:sp>
      <p:sp>
        <p:nvSpPr>
          <p:cNvPr id="22" name="label-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7C331418-E8AC-464A-A467-C58CBD28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label-158-435-244-26">
            <a:extLst xmlns:a="http://schemas.openxmlformats.org/drawingml/2006/main">
              <a:ext uri="{FF2B5EF4-FFF2-40B4-BE49-F238E27FC236}">
                <a16:creationId xmlns:a16="http://schemas.microsoft.com/office/drawing/2014/main" id="{AFDF3D98-315B-407F-9CEB-9F578AD5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43375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4" name="body-454-428-110-38">
            <a:extLst xmlns:a="http://schemas.openxmlformats.org/drawingml/2006/main">
              <a:ext uri="{FF2B5EF4-FFF2-40B4-BE49-F238E27FC236}">
                <a16:creationId xmlns:a16="http://schemas.microsoft.com/office/drawing/2014/main" id="{50EC54D7-141E-4596-B127-290A753E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767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25" name="body-616-432-530-34">
            <a:extLst xmlns:a="http://schemas.openxmlformats.org/drawingml/2006/main">
              <a:ext uri="{FF2B5EF4-FFF2-40B4-BE49-F238E27FC236}">
                <a16:creationId xmlns:a16="http://schemas.microsoft.com/office/drawing/2014/main" id="{A0257C47-B5DD-4699-A678-B90FA368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148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139 residents; 140 at or below 25 SNPs</a:t>
            </a:r>
          </a:p>
        </p:txBody>
      </p:sp>
      <p:sp>
        <p:nvSpPr>
          <p:cNvPr id="26" name="label-Focused Not_UTI→UTI">
            <a:extLst xmlns:a="http://schemas.openxmlformats.org/drawingml/2006/main">
              <a:ext uri="{FF2B5EF4-FFF2-40B4-BE49-F238E27FC236}">
                <a16:creationId xmlns:a16="http://schemas.microsoft.com/office/drawing/2014/main" id="{5E000844-F6C4-45D1-8DC2-85F04D87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label-158-520-244-26">
            <a:extLst xmlns:a="http://schemas.openxmlformats.org/drawingml/2006/main">
              <a:ext uri="{FF2B5EF4-FFF2-40B4-BE49-F238E27FC236}">
                <a16:creationId xmlns:a16="http://schemas.microsoft.com/office/drawing/2014/main" id="{33F71FE0-2460-4F3D-9E6A-B48B04A0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Focused Not_UTI→UTI</a:t>
            </a:r>
          </a:p>
        </p:txBody>
      </p:sp>
      <p:sp>
        <p:nvSpPr>
          <p:cNvPr id="28" name="body-454-513-110-38">
            <a:extLst xmlns:a="http://schemas.openxmlformats.org/drawingml/2006/main">
              <a:ext uri="{FF2B5EF4-FFF2-40B4-BE49-F238E27FC236}">
                <a16:creationId xmlns:a16="http://schemas.microsoft.com/office/drawing/2014/main" id="{467DF06D-B7D7-47C2-983E-5B57AB6C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8632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9" name="body-616-517-530-34">
            <a:extLst xmlns:a="http://schemas.openxmlformats.org/drawingml/2006/main">
              <a:ext uri="{FF2B5EF4-FFF2-40B4-BE49-F238E27FC236}">
                <a16:creationId xmlns:a16="http://schemas.microsoft.com/office/drawing/2014/main" id="{667C04A2-2E2D-497E-B3B9-B7B66FAC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2442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 at or below 25 SNPs</a:t>
            </a:r>
          </a:p>
        </p:txBody>
      </p:sp>
      <p:sp>
        <p:nvSpPr>
          <p:cNvPr id="30" name="label-Always name the unit beside the count">
            <a:extLst xmlns:a="http://schemas.openxmlformats.org/drawingml/2006/main">
              <a:ext uri="{FF2B5EF4-FFF2-40B4-BE49-F238E27FC236}">
                <a16:creationId xmlns:a16="http://schemas.microsoft.com/office/drawing/2014/main" id="{140F0390-DFBB-4D09-80A7-66F58506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10250"/>
            <a:ext cx="36576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label-456-615-368-23">
            <a:extLst xmlns:a="http://schemas.openxmlformats.org/drawingml/2006/main">
              <a:ext uri="{FF2B5EF4-FFF2-40B4-BE49-F238E27FC236}">
                <a16:creationId xmlns:a16="http://schemas.microsoft.com/office/drawing/2014/main" id="{8FE0CEF3-3CA2-444C-BFD3-36734E22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57875"/>
            <a:ext cx="3505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Always name the unit beside the count</a:t>
            </a:r>
          </a:p>
        </p:txBody>
      </p:sp>
    </p:spTree>
    <p:extLst>
      <p:ext uri="{BB962C8B-B14F-4D97-AF65-F5344CB8AC3E}">
        <p14:creationId xmlns:p14="http://schemas.microsoft.com/office/powerpoint/2010/main" val="150707026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84973AB-AB46-42FE-987C-204DE9F3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03FEF2D2-572E-4EBB-A8BF-5725FB19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5C14524-63EC-48CA-8F43-0F25D886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CLINICAL ANNOTATION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8467EC-E8A5-43DB-BC47-8C0FAD01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Module prevalence by status is an exploratory annotation view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7E08C9C-66B9-4109-AC6C-1A623036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phenotype denominator: 16 UTI and 516 Not_UTI selected episodes.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88881C1-2553-498C-B4EC-089C255B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84EC5CD-869F-4BA5-A348-BB14DE9F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056A8D5-BC44-4090-A011-B0EE0565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5B12CE2-3BA0-4632-9689-E81EFC3D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figure-frame-module_prevalence_by_status.png">
            <a:extLst xmlns:a="http://schemas.openxmlformats.org/drawingml/2006/main">
              <a:ext uri="{FF2B5EF4-FFF2-40B4-BE49-F238E27FC236}">
                <a16:creationId xmlns:a16="http://schemas.microsoft.com/office/drawing/2014/main" id="{FF3A187D-E287-4D17-93F1-D4709F59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100393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11342676e4bdd"/>
          <a:stretch xmlns:a="http://schemas.openxmlformats.org/drawingml/2006/main"/>
        </p:blipFill>
        <p:spPr>
          <a:xfrm xmlns:a="http://schemas.openxmlformats.org/drawingml/2006/main">
            <a:off x="2686050" y="1504950"/>
            <a:ext cx="5715000" cy="4572000"/>
          </a:xfrm>
          <a:prstGeom xmlns:a="http://schemas.openxmlformats.org/drawingml/2006/main" prst="rect">
            <a:avLst/>
          </a:prstGeom>
        </p:spPr>
      </p:pic>
      <p:sp>
        <p:nvSpPr>
          <p:cNvPr id="12" name="card-Label">
            <a:extLst xmlns:a="http://schemas.openxmlformats.org/drawingml/2006/main">
              <a:ext uri="{FF2B5EF4-FFF2-40B4-BE49-F238E27FC236}">
                <a16:creationId xmlns:a16="http://schemas.microsoft.com/office/drawing/2014/main" id="{5D2F7094-87F7-48D0-8381-AC3194FF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09750"/>
            <a:ext cx="952500" cy="1619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3" name="heading-1136-206-68-26">
            <a:extLst xmlns:a="http://schemas.openxmlformats.org/drawingml/2006/main">
              <a:ext uri="{FF2B5EF4-FFF2-40B4-BE49-F238E27FC236}">
                <a16:creationId xmlns:a16="http://schemas.microsoft.com/office/drawing/2014/main" id="{6521DB1F-76C0-4CAB-AF67-571CBD85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962150"/>
            <a:ext cx="64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4" name="body-1136-238-68-108">
            <a:extLst xmlns:a="http://schemas.openxmlformats.org/drawingml/2006/main">
              <a:ext uri="{FF2B5EF4-FFF2-40B4-BE49-F238E27FC236}">
                <a16:creationId xmlns:a16="http://schemas.microsoft.com/office/drawing/2014/main" id="{B148D0C5-E8F7-485E-92F0-181B6D9A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66950"/>
            <a:ext cx="647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Exploratory clinical annotation.</a:t>
            </a:r>
          </a:p>
        </p:txBody>
      </p:sp>
    </p:spTree>
    <p:extLst>
      <p:ext uri="{BB962C8B-B14F-4D97-AF65-F5344CB8AC3E}">
        <p14:creationId xmlns:p14="http://schemas.microsoft.com/office/powerpoint/2010/main" val="1227815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FBE2172-A91F-4612-8305-029CA530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49A8982-B46D-42A5-92F9-7AC73B9E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2C9660C-3C73-465A-B729-885BE40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TRANSITION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DEECA3-48D2-4155-801E-520220E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Full focused transition mechanism casebook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D7FB0FF-5698-48D5-AAE5-E3249BF6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cases; 9 linked; 0 missing. Buckets organise evidence, not proof.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41CF4E-F333-4AB8-B3A4-2D7ACE1A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AC61452-CE13-4614-9214-DD01C610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8579066-78DB-4F78-9C6A-EC6F5117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3FB21D-F2E9-4FA9-9EC8-B9DED962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figure-frame-not_uti_to_uti_case_matrix.png">
            <a:extLst xmlns:a="http://schemas.openxmlformats.org/drawingml/2006/main">
              <a:ext uri="{FF2B5EF4-FFF2-40B4-BE49-F238E27FC236}">
                <a16:creationId xmlns:a16="http://schemas.microsoft.com/office/drawing/2014/main" id="{D803BAC7-6EB4-45F0-935D-3C9A296F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107061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4cf169bc471f"/>
          <a:stretch xmlns:a="http://schemas.openxmlformats.org/drawingml/2006/main"/>
        </p:blipFill>
        <p:spPr>
          <a:xfrm xmlns:a="http://schemas.openxmlformats.org/drawingml/2006/main">
            <a:off x="1992190" y="1504950"/>
            <a:ext cx="7769469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9239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BFA30D4-4A62-4F15-99FA-DF51790D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5C9FDC1A-B0FE-425F-B127-8BCF788D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7612428-588F-4452-9D69-90F86453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STABLE-STATE CONTEXT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5923B2-D04F-4B80-AD7D-644FB99C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Stable strain and changing clinical state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181DC7A-10D3-40E9-9052-FEC05526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 of 9 focused transitions are at or below 25 SNPs.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DF03DC9-7330-42C8-988F-3B15983E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F56777A-8B41-46D9-B32A-0F88C84C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2DD0C9F-425B-440B-BA0B-29C2DE07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378541-D722-4845-83AF-6F117C30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0" name="figure-frame-host_context_transition_heatmap.png">
            <a:extLst xmlns:a="http://schemas.openxmlformats.org/drawingml/2006/main">
              <a:ext uri="{FF2B5EF4-FFF2-40B4-BE49-F238E27FC236}">
                <a16:creationId xmlns:a16="http://schemas.microsoft.com/office/drawing/2014/main" id="{D5F5A702-6566-441C-A436-13DB2417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107061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0a75578884781"/>
          <a:stretch xmlns:a="http://schemas.openxmlformats.org/drawingml/2006/main"/>
        </p:blipFill>
        <p:spPr>
          <a:xfrm xmlns:a="http://schemas.openxmlformats.org/drawingml/2006/main">
            <a:off x="1992190" y="1504950"/>
            <a:ext cx="7769469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7780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ADFED69-05C6-43FC-BE13-0D19D6A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A3FD2CC3-0924-4E43-BB67-EE49A110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2DF9D39-568F-453F-9E77-A070FDEE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ROBUSTNESS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D0D3CC-261A-4214-994C-5D629887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Population-level robustness boundary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23DDEFB-9B77-4134-8E3A-3A78DDC5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operational UTI episodes limit adjusted inference; the 17-row near-miss audit is separate.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8AF78E3-7D52-43E5-A94D-5038E584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E495BC-0BE2-4E6B-94DF-62E5588F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07BBC28-AA65-4AD3-9311-7980949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FA2F65-4FE6-4AB7-913A-4B978606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0" name="figure-frame-model_stability_flags.png">
            <a:extLst xmlns:a="http://schemas.openxmlformats.org/drawingml/2006/main">
              <a:ext uri="{FF2B5EF4-FFF2-40B4-BE49-F238E27FC236}">
                <a16:creationId xmlns:a16="http://schemas.microsoft.com/office/drawing/2014/main" id="{915F6794-9F62-4EC0-9263-4817A2E0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107061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ab49a8fbf42ae"/>
          <a:stretch xmlns:a="http://schemas.openxmlformats.org/drawingml/2006/main"/>
        </p:blipFill>
        <p:spPr>
          <a:xfrm xmlns:a="http://schemas.openxmlformats.org/drawingml/2006/main">
            <a:off x="2329295" y="1504950"/>
            <a:ext cx="7095259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1843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C3B39E-860A-4C2A-BA91-CD716A93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DD6AA7CD-0EC7-4E7D-8389-AE27E75E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6F94075-4FF4-47BC-A4E1-FA140253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LINEAGE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17C7B0-F830-4015-83E7-45000AF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Lineage structure is an interpretation check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279BBA9-901B-413B-94DB-73808E7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Virulence-factor profile PCoA by preferred sequence-type label.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25731CF-A59F-4FE7-988B-FC064DF3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02DD7E0-47B3-40BD-B3CC-4F15E05E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C5D3253-4B56-4E22-BE49-78C023B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173EEC-20DF-4D70-922D-35AB65AE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0" name="figure-frame-vf_pcoa_jaccard_ST.png">
            <a:extLst xmlns:a="http://schemas.openxmlformats.org/drawingml/2006/main">
              <a:ext uri="{FF2B5EF4-FFF2-40B4-BE49-F238E27FC236}">
                <a16:creationId xmlns:a16="http://schemas.microsoft.com/office/drawing/2014/main" id="{7FAD81E6-7447-4861-B9CB-7A03422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38275"/>
            <a:ext cx="984885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e8a23e7404fdf"/>
          <a:stretch xmlns:a="http://schemas.openxmlformats.org/drawingml/2006/main"/>
        </p:blipFill>
        <p:spPr>
          <a:xfrm xmlns:a="http://schemas.openxmlformats.org/drawingml/2006/main">
            <a:off x="1973873" y="1504950"/>
            <a:ext cx="7063154" cy="4591050"/>
          </a:xfrm>
          <a:prstGeom xmlns:a="http://schemas.openxmlformats.org/drawingml/2006/main" prst="rect">
            <a:avLst/>
          </a:prstGeom>
        </p:spPr>
      </p:pic>
      <p:sp>
        <p:nvSpPr>
          <p:cNvPr id="12" name="card-Use for">
            <a:extLst xmlns:a="http://schemas.openxmlformats.org/drawingml/2006/main">
              <a:ext uri="{FF2B5EF4-FFF2-40B4-BE49-F238E27FC236}">
                <a16:creationId xmlns:a16="http://schemas.microsoft.com/office/drawing/2014/main" id="{A634D629-60F5-4C62-9E75-95BEB53D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809750"/>
            <a:ext cx="1123950" cy="18097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heading-1118-206-86-26">
            <a:extLst xmlns:a="http://schemas.openxmlformats.org/drawingml/2006/main">
              <a:ext uri="{FF2B5EF4-FFF2-40B4-BE49-F238E27FC236}">
                <a16:creationId xmlns:a16="http://schemas.microsoft.com/office/drawing/2014/main" id="{5A1BAB46-5CD2-4ACF-87C4-931BC196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6215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for</a:t>
            </a:r>
          </a:p>
        </p:txBody>
      </p:sp>
      <p:sp>
        <p:nvSpPr>
          <p:cNvPr id="14" name="body-1118-238-86-128">
            <a:extLst xmlns:a="http://schemas.openxmlformats.org/drawingml/2006/main">
              <a:ext uri="{FF2B5EF4-FFF2-40B4-BE49-F238E27FC236}">
                <a16:creationId xmlns:a16="http://schemas.microsoft.com/office/drawing/2014/main" id="{12C2B33A-02F4-4BDF-914E-53FA760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66950"/>
            <a:ext cx="819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Questions about lineage structure and VF clustering.</a:t>
            </a:r>
          </a:p>
        </p:txBody>
      </p:sp>
    </p:spTree>
    <p:extLst>
      <p:ext uri="{BB962C8B-B14F-4D97-AF65-F5344CB8AC3E}">
        <p14:creationId xmlns:p14="http://schemas.microsoft.com/office/powerpoint/2010/main" val="63125532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F3C11E2-6581-4011-8C15-60090C49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E02E92F-4483-4505-B498-A906570E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82E934A-5A3C-4875-8D1E-99DC573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ACCESSORY CONTEXT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97D83B-E5E9-43A4-BAFE-42175695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Accessory and mobile-element context remains secondary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072EDA6-DCF2-4B4C-A54B-C9A37C7A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only when it helps interpret a transition; this review does not make a dedicated AMR or causal accessory claim.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1203709-633C-48A6-A4A2-7A012E5D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4F20C0D-7476-4E8B-BB5C-39F847E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1E09ECE-8982-496F-AE4F-4B11E63A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1E63760-FC0F-41B0-B953-6C221055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0" name="figure-frame-FigS07_plasmid_amr_context.png">
            <a:extLst xmlns:a="http://schemas.openxmlformats.org/drawingml/2006/main">
              <a:ext uri="{FF2B5EF4-FFF2-40B4-BE49-F238E27FC236}">
                <a16:creationId xmlns:a16="http://schemas.microsoft.com/office/drawing/2014/main" id="{83CE7AF1-C710-4DED-8F90-D5B2F003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9916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8b27fe54c4706"/>
          <a:stretch xmlns:a="http://schemas.openxmlformats.org/drawingml/2006/main"/>
        </p:blipFill>
        <p:spPr>
          <a:xfrm xmlns:a="http://schemas.openxmlformats.org/drawingml/2006/main">
            <a:off x="3269192" y="1504950"/>
            <a:ext cx="3500967" cy="4572000"/>
          </a:xfrm>
          <a:prstGeom xmlns:a="http://schemas.openxmlformats.org/drawingml/2006/main" prst="rect">
            <a:avLst/>
          </a:prstGeom>
        </p:spPr>
      </p:pic>
      <p:sp>
        <p:nvSpPr>
          <p:cNvPr id="12" name="card-Guardrail">
            <a:extLst xmlns:a="http://schemas.openxmlformats.org/drawingml/2006/main">
              <a:ext uri="{FF2B5EF4-FFF2-40B4-BE49-F238E27FC236}">
                <a16:creationId xmlns:a16="http://schemas.microsoft.com/office/drawing/2014/main" id="{7417A23A-4B3D-4A65-9595-B47EDC9C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809750" cy="20764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EDE8"/>
          </a:solidFill>
          <a:ln xmlns:a="http://schemas.openxmlformats.org/drawingml/2006/main" w="9525">
            <a:solidFill>
              <a:srgbClr val="EDB9A7"/>
            </a:solidFill>
            <a:prstDash val="solid"/>
          </a:ln>
        </p:spPr>
      </p:sp>
      <p:sp>
        <p:nvSpPr>
          <p:cNvPr id="13" name="heading-1026-206-158-26">
            <a:extLst xmlns:a="http://schemas.openxmlformats.org/drawingml/2006/main">
              <a:ext uri="{FF2B5EF4-FFF2-40B4-BE49-F238E27FC236}">
                <a16:creationId xmlns:a16="http://schemas.microsoft.com/office/drawing/2014/main" id="{8B481DF1-B456-4DDC-B981-5CE5DA4E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621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5A3C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14" name="body-1026-238-158-156">
            <a:extLst xmlns:a="http://schemas.openxmlformats.org/drawingml/2006/main">
              <a:ext uri="{FF2B5EF4-FFF2-40B4-BE49-F238E27FC236}">
                <a16:creationId xmlns:a16="http://schemas.microsoft.com/office/drawing/2014/main" id="{F1C968B5-9DD5-444D-8E0C-B8BF7309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15049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 dedicated AMR association claim. No causal interpretation. Use transition-level context only.</a:t>
            </a:r>
          </a:p>
        </p:txBody>
      </p:sp>
    </p:spTree>
    <p:extLst>
      <p:ext uri="{BB962C8B-B14F-4D97-AF65-F5344CB8AC3E}">
        <p14:creationId xmlns:p14="http://schemas.microsoft.com/office/powerpoint/2010/main" val="52644222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254F885-1493-4B69-91A1-D738DA10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9A259387-DC9D-411C-9D45-F05CEC15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E442AC4-67A5-4F12-AAC4-8FF958E7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EVIDENCE REGISTRY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85DA46-329B-4592-A2F1-CC82935D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Sources of truth and lookup resources for questions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B094D1C-F665-48C1-BF6F-20E912F0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Counts and plots are bound to the current Longcycler release claim registry.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8D560E6-D065-463B-97B7-A9BFA615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1F99160-1570-4B51-917B-3EEF4700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8275F53-77F2-4956-9507-86ED6DF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review with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CAEB10-A7FE-4B46-B4D5-0AE135D4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0" name="source-row-1">
            <a:extLst xmlns:a="http://schemas.openxmlformats.org/drawingml/2006/main">
              <a:ext uri="{FF2B5EF4-FFF2-40B4-BE49-F238E27FC236}">
                <a16:creationId xmlns:a16="http://schemas.microsoft.com/office/drawing/2014/main" id="{E93E45EE-4E98-4EE9-8488-382EFEE9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label-102-168-210-30">
            <a:extLst xmlns:a="http://schemas.openxmlformats.org/drawingml/2006/main">
              <a:ext uri="{FF2B5EF4-FFF2-40B4-BE49-F238E27FC236}">
                <a16:creationId xmlns:a16="http://schemas.microsoft.com/office/drawing/2014/main" id="{A6FDF9CD-3AA7-42D6-B7A0-AC66F891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Release claim registry</a:t>
            </a:r>
          </a:p>
        </p:txBody>
      </p:sp>
      <p:sp>
        <p:nvSpPr>
          <p:cNvPr id="12" name="body-336-168-836-34">
            <a:extLst xmlns:a="http://schemas.openxmlformats.org/drawingml/2006/main">
              <a:ext uri="{FF2B5EF4-FFF2-40B4-BE49-F238E27FC236}">
                <a16:creationId xmlns:a16="http://schemas.microsoft.com/office/drawing/2014/main" id="{6826E348-17D1-40FC-8B16-2528DBC2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/Users/Aamir/Desktop/rUTIs/results/pipeline/longcycler_release_claim_registry.json</a:t>
            </a:r>
          </a:p>
        </p:txBody>
      </p:sp>
      <p:sp>
        <p:nvSpPr>
          <p:cNvPr id="13" name="source-row-2">
            <a:extLst xmlns:a="http://schemas.openxmlformats.org/drawingml/2006/main">
              <a:ext uri="{FF2B5EF4-FFF2-40B4-BE49-F238E27FC236}">
                <a16:creationId xmlns:a16="http://schemas.microsoft.com/office/drawing/2014/main" id="{8B7FF4EC-B833-4BD6-9702-6985AFB3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label-102-233-210-30">
            <a:extLst xmlns:a="http://schemas.openxmlformats.org/drawingml/2006/main">
              <a:ext uri="{FF2B5EF4-FFF2-40B4-BE49-F238E27FC236}">
                <a16:creationId xmlns:a16="http://schemas.microsoft.com/office/drawing/2014/main" id="{47C271A7-7E58-4FDF-B0C6-CD22CABE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193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Registry SHA-256</a:t>
            </a:r>
          </a:p>
        </p:txBody>
      </p:sp>
      <p:sp>
        <p:nvSpPr>
          <p:cNvPr id="15" name="body-336-233-836-34">
            <a:extLst xmlns:a="http://schemas.openxmlformats.org/drawingml/2006/main">
              <a:ext uri="{FF2B5EF4-FFF2-40B4-BE49-F238E27FC236}">
                <a16:creationId xmlns:a16="http://schemas.microsoft.com/office/drawing/2014/main" id="{3ED55914-BC96-477C-93FD-46BA8CE3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19325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87f65979259a4c92545afbb74b5d3a8efffb8a3d18cd2481df165b97e5c6d30e</a:t>
            </a:r>
          </a:p>
        </p:txBody>
      </p:sp>
      <p:sp>
        <p:nvSpPr>
          <p:cNvPr id="16" name="source-row-3">
            <a:extLst xmlns:a="http://schemas.openxmlformats.org/drawingml/2006/main">
              <a:ext uri="{FF2B5EF4-FFF2-40B4-BE49-F238E27FC236}">
                <a16:creationId xmlns:a16="http://schemas.microsoft.com/office/drawing/2014/main" id="{089C7011-1FFF-47AD-B3AB-27B16A82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label-102-298-210-30">
            <a:extLst xmlns:a="http://schemas.openxmlformats.org/drawingml/2006/main">
              <a:ext uri="{FF2B5EF4-FFF2-40B4-BE49-F238E27FC236}">
                <a16:creationId xmlns:a16="http://schemas.microsoft.com/office/drawing/2014/main" id="{7EDD1F80-CF78-4AF0-9453-3D1F2310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cohort</a:t>
            </a:r>
          </a:p>
        </p:txBody>
      </p:sp>
      <p:sp>
        <p:nvSpPr>
          <p:cNvPr id="18" name="body-336-298-836-34">
            <a:extLst xmlns:a="http://schemas.openxmlformats.org/drawingml/2006/main">
              <a:ext uri="{FF2B5EF4-FFF2-40B4-BE49-F238E27FC236}">
                <a16:creationId xmlns:a16="http://schemas.microsoft.com/office/drawing/2014/main" id="{5022AC01-88A6-4B17-B93C-B3057985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38450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532 episodes / 161 residents / 16 UTI / 516 Not_UTI</a:t>
            </a:r>
          </a:p>
        </p:txBody>
      </p:sp>
      <p:sp>
        <p:nvSpPr>
          <p:cNvPr id="19" name="source-row-4">
            <a:extLst xmlns:a="http://schemas.openxmlformats.org/drawingml/2006/main">
              <a:ext uri="{FF2B5EF4-FFF2-40B4-BE49-F238E27FC236}">
                <a16:creationId xmlns:a16="http://schemas.microsoft.com/office/drawing/2014/main" id="{8E36649D-6C83-474C-9C81-6276B7A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label-102-363-210-30">
            <a:extLst xmlns:a="http://schemas.openxmlformats.org/drawingml/2006/main">
              <a:ext uri="{FF2B5EF4-FFF2-40B4-BE49-F238E27FC236}">
                <a16:creationId xmlns:a16="http://schemas.microsoft.com/office/drawing/2014/main" id="{C8BA768A-B8A1-4DEB-A5AC-E71E0B81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Pair layers</a:t>
            </a:r>
          </a:p>
        </p:txBody>
      </p:sp>
      <p:sp>
        <p:nvSpPr>
          <p:cNvPr id="21" name="body-336-363-836-34">
            <a:extLst xmlns:a="http://schemas.openxmlformats.org/drawingml/2006/main">
              <a:ext uri="{FF2B5EF4-FFF2-40B4-BE49-F238E27FC236}">
                <a16:creationId xmlns:a16="http://schemas.microsoft.com/office/drawing/2014/main" id="{B687705D-DCF5-48D1-B762-1809B35B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57575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893 direct pairs; 371 adjacent transitions from 139 residents</a:t>
            </a:r>
          </a:p>
        </p:txBody>
      </p:sp>
      <p:sp>
        <p:nvSpPr>
          <p:cNvPr id="22" name="source-row-5">
            <a:extLst xmlns:a="http://schemas.openxmlformats.org/drawingml/2006/main">
              <a:ext uri="{FF2B5EF4-FFF2-40B4-BE49-F238E27FC236}">
                <a16:creationId xmlns:a16="http://schemas.microsoft.com/office/drawing/2014/main" id="{F48F3796-6ADF-4CD4-906F-9FE6DE13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label-102-428-210-30">
            <a:extLst xmlns:a="http://schemas.openxmlformats.org/drawingml/2006/main">
              <a:ext uri="{FF2B5EF4-FFF2-40B4-BE49-F238E27FC236}">
                <a16:creationId xmlns:a16="http://schemas.microsoft.com/office/drawing/2014/main" id="{AEF000CB-8673-4620-B1B5-9A917CA8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Focused casebook</a:t>
            </a:r>
          </a:p>
        </p:txBody>
      </p:sp>
      <p:sp>
        <p:nvSpPr>
          <p:cNvPr id="24" name="body-336-428-836-34">
            <a:extLst xmlns:a="http://schemas.openxmlformats.org/drawingml/2006/main">
              <a:ext uri="{FF2B5EF4-FFF2-40B4-BE49-F238E27FC236}">
                <a16:creationId xmlns:a16="http://schemas.microsoft.com/office/drawing/2014/main" id="{E792B499-44A5-46F9-9122-285FCE94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76700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 transitions; 5 ≤25 SNPs; 9/9/0 cases/linked/missing</a:t>
            </a:r>
          </a:p>
        </p:txBody>
      </p:sp>
      <p:sp>
        <p:nvSpPr>
          <p:cNvPr id="25" name="source-row-6">
            <a:extLst xmlns:a="http://schemas.openxmlformats.org/drawingml/2006/main">
              <a:ext uri="{FF2B5EF4-FFF2-40B4-BE49-F238E27FC236}">
                <a16:creationId xmlns:a16="http://schemas.microsoft.com/office/drawing/2014/main" id="{FD188421-5E7B-4185-8083-16E29FFE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label-102-493-210-30">
            <a:extLst xmlns:a="http://schemas.openxmlformats.org/drawingml/2006/main">
              <a:ext uri="{FF2B5EF4-FFF2-40B4-BE49-F238E27FC236}">
                <a16:creationId xmlns:a16="http://schemas.microsoft.com/office/drawing/2014/main" id="{1FDA10BA-068F-4331-8254-E72D9B70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Near-miss audit</a:t>
            </a:r>
          </a:p>
        </p:txBody>
      </p:sp>
      <p:sp>
        <p:nvSpPr>
          <p:cNvPr id="27" name="body-336-493-836-34">
            <a:extLst xmlns:a="http://schemas.openxmlformats.org/drawingml/2006/main">
              <a:ext uri="{FF2B5EF4-FFF2-40B4-BE49-F238E27FC236}">
                <a16:creationId xmlns:a16="http://schemas.microsoft.com/office/drawing/2014/main" id="{4A1AA008-C898-4EB4-A1A9-B2709C6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95825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17 rows; separate from operational UTI cases</a:t>
            </a:r>
          </a:p>
        </p:txBody>
      </p:sp>
      <p:sp>
        <p:nvSpPr>
          <p:cNvPr id="28" name="source-row-7">
            <a:extLst xmlns:a="http://schemas.openxmlformats.org/drawingml/2006/main">
              <a:ext uri="{FF2B5EF4-FFF2-40B4-BE49-F238E27FC236}">
                <a16:creationId xmlns:a16="http://schemas.microsoft.com/office/drawing/2014/main" id="{F239BE24-7A0B-4441-9088-B7A07B57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62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label-102-558-210-30">
            <a:extLst xmlns:a="http://schemas.openxmlformats.org/drawingml/2006/main">
              <a:ext uri="{FF2B5EF4-FFF2-40B4-BE49-F238E27FC236}">
                <a16:creationId xmlns:a16="http://schemas.microsoft.com/office/drawing/2014/main" id="{1B6D9110-F73F-426D-A174-0D24628D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30" name="body-336-558-836-34">
            <a:extLst xmlns:a="http://schemas.openxmlformats.org/drawingml/2006/main">
              <a:ext uri="{FF2B5EF4-FFF2-40B4-BE49-F238E27FC236}">
                <a16:creationId xmlns:a16="http://schemas.microsoft.com/office/drawing/2014/main" id="{45D5BBE5-64FD-4BD3-A1BF-F344D04D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14950"/>
            <a:ext cx="796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RQ01–RQ10</a:t>
            </a:r>
          </a:p>
        </p:txBody>
      </p:sp>
      <p:sp>
        <p:nvSpPr>
          <p:cNvPr id="31" name="label-583/166/18/565 is attrition/QC context only">
            <a:extLst xmlns:a="http://schemas.openxmlformats.org/drawingml/2006/main">
              <a:ext uri="{FF2B5EF4-FFF2-40B4-BE49-F238E27FC236}">
                <a16:creationId xmlns:a16="http://schemas.microsoft.com/office/drawing/2014/main" id="{7A749327-DE5B-4351-97AB-64445F77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6265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label-418-631-444-22">
            <a:extLst xmlns:a="http://schemas.openxmlformats.org/drawingml/2006/main">
              <a:ext uri="{FF2B5EF4-FFF2-40B4-BE49-F238E27FC236}">
                <a16:creationId xmlns:a16="http://schemas.microsoft.com/office/drawing/2014/main" id="{264D5D55-CA55-4D4D-A0F6-35668721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010275"/>
            <a:ext cx="422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583/166/18/565 is attrition/QC context only</a:t>
            </a:r>
          </a:p>
        </p:txBody>
      </p:sp>
    </p:spTree>
    <p:extLst>
      <p:ext uri="{BB962C8B-B14F-4D97-AF65-F5344CB8AC3E}">
        <p14:creationId xmlns:p14="http://schemas.microsoft.com/office/powerpoint/2010/main" val="1427247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2026-07-15T07:27:50.1990000Z</dcterms:created>
  <dcterms:modified xsi:type="dcterms:W3CDTF">2026-07-15T07:27:50.1990000Z</dcterms:modified>
</coreProperties>
</file>