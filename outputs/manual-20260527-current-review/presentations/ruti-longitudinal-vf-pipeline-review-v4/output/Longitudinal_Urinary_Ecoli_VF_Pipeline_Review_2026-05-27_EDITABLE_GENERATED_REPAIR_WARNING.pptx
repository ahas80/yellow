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920c4664754c34" /><Relationship Type="http://schemas.openxmlformats.org/officeDocument/2006/relationships/extended-properties" Target="/docProps/app.xml" Id="R049e52cf09b94b19" /><Relationship Type="http://schemas.openxmlformats.org/officeDocument/2006/relationships/officeDocument" Target="/ppt/presentation.xml" Id="Rbb2d984e5ea04847" /></Relationships>
</file>

<file path=ppt/presentation.xml><?xml version="1.0" encoding="utf-8"?>
<p:presentation xmlns:p="http://schemas.openxmlformats.org/presentationml/2006/main">
  <p:sldMasterIdLst>
    <p:sldMasterId xmlns:r="http://schemas.openxmlformats.org/officeDocument/2006/relationships" id="2147483648" r:id="R13735c7b5ffc442a"/>
  </p:sldMasterIdLst>
  <p:notesMasterIdLst>
    <p:notesMasterId xmlns:r="http://schemas.openxmlformats.org/officeDocument/2006/relationships" r:id="R9e7623e7da414467"/>
  </p:notesMasterIdLst>
  <p:sldIdLst>
    <p:sldId xmlns:r="http://schemas.openxmlformats.org/officeDocument/2006/relationships" id="256" r:id="Rc766625b4e3a4ed7"/>
    <p:sldId xmlns:r="http://schemas.openxmlformats.org/officeDocument/2006/relationships" id="257" r:id="R98fe024d2f9b47ef"/>
    <p:sldId xmlns:r="http://schemas.openxmlformats.org/officeDocument/2006/relationships" id="258" r:id="R7a6b878b14654c05"/>
    <p:sldId xmlns:r="http://schemas.openxmlformats.org/officeDocument/2006/relationships" id="259" r:id="R0216994583b84f83"/>
    <p:sldId xmlns:r="http://schemas.openxmlformats.org/officeDocument/2006/relationships" id="260" r:id="R29a009e94bcd46df"/>
    <p:sldId xmlns:r="http://schemas.openxmlformats.org/officeDocument/2006/relationships" id="261" r:id="R3b3b4547e9254441"/>
    <p:sldId xmlns:r="http://schemas.openxmlformats.org/officeDocument/2006/relationships" id="262" r:id="Raab6723f475245db"/>
    <p:sldId xmlns:r="http://schemas.openxmlformats.org/officeDocument/2006/relationships" id="263" r:id="R2142abc4566441d6"/>
    <p:sldId xmlns:r="http://schemas.openxmlformats.org/officeDocument/2006/relationships" id="264" r:id="Rda092eb6f1ee422e"/>
    <p:sldId xmlns:r="http://schemas.openxmlformats.org/officeDocument/2006/relationships" id="265" r:id="Rc9c89893bfe943cb"/>
    <p:sldId xmlns:r="http://schemas.openxmlformats.org/officeDocument/2006/relationships" id="266" r:id="Rd85adbf32fe64d32"/>
    <p:sldId xmlns:r="http://schemas.openxmlformats.org/officeDocument/2006/relationships" id="267" r:id="R46cb3d30f9a941d3"/>
    <p:sldId xmlns:r="http://schemas.openxmlformats.org/officeDocument/2006/relationships" id="268" r:id="Reb024d2aa6ba4696"/>
    <p:sldId xmlns:r="http://schemas.openxmlformats.org/officeDocument/2006/relationships" id="269" r:id="R3e13f45ac27a4d7e"/>
    <p:sldId xmlns:r="http://schemas.openxmlformats.org/officeDocument/2006/relationships" id="270" r:id="R8334aa5b89c7438e"/>
    <p:sldId xmlns:r="http://schemas.openxmlformats.org/officeDocument/2006/relationships" id="271" r:id="Rcbc875e5fa2b435f"/>
    <p:sldId xmlns:r="http://schemas.openxmlformats.org/officeDocument/2006/relationships" id="272" r:id="R0d8429f8e8dc4b80"/>
    <p:sldId xmlns:r="http://schemas.openxmlformats.org/officeDocument/2006/relationships" id="273" r:id="R5866234b6f5040df"/>
    <p:sldId xmlns:r="http://schemas.openxmlformats.org/officeDocument/2006/relationships" id="274" r:id="Rf06a9f424c4247f9"/>
    <p:sldId xmlns:r="http://schemas.openxmlformats.org/officeDocument/2006/relationships" id="275" r:id="R399b5f99f3bd402a"/>
    <p:sldId xmlns:r="http://schemas.openxmlformats.org/officeDocument/2006/relationships" id="276" r:id="Ra1e564d19b9c4b81"/>
    <p:sldId xmlns:r="http://schemas.openxmlformats.org/officeDocument/2006/relationships" id="277" r:id="R3f86060a3f7941f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13735c7b5ffc442a" /><Relationship Type="http://schemas.openxmlformats.org/officeDocument/2006/relationships/theme" Target="/ppt/theme/theme1.xml" Id="R634e9c26bc4b49c5" /><Relationship Type="http://schemas.openxmlformats.org/officeDocument/2006/relationships/notesMaster" Target="/ppt/notesMasters/notesMaster1.xml" Id="R9e7623e7da414467" /><Relationship Type="http://schemas.openxmlformats.org/officeDocument/2006/relationships/presProps" Target="/ppt/presProps.xml" Id="Rfbbfc06911a74029" /><Relationship Type="http://schemas.openxmlformats.org/officeDocument/2006/relationships/viewProps" Target="/ppt/viewProps.xml" Id="Rbbebcf9647ec448b" /><Relationship Type="http://schemas.openxmlformats.org/officeDocument/2006/relationships/tableStyles" Target="/ppt/tableStyles.xml" Id="R0187cceaac7d49f5" /><Relationship Type="http://schemas.openxmlformats.org/officeDocument/2006/relationships/slide" Target="/ppt/slides/slide1.xml" Id="Rc766625b4e3a4ed7" /><Relationship Type="http://schemas.openxmlformats.org/officeDocument/2006/relationships/slide" Target="/ppt/slides/slide2.xml" Id="R98fe024d2f9b47ef" /><Relationship Type="http://schemas.openxmlformats.org/officeDocument/2006/relationships/slide" Target="/ppt/slides/slide3.xml" Id="R7a6b878b14654c05" /><Relationship Type="http://schemas.openxmlformats.org/officeDocument/2006/relationships/slide" Target="/ppt/slides/slide4.xml" Id="R0216994583b84f83" /><Relationship Type="http://schemas.openxmlformats.org/officeDocument/2006/relationships/slide" Target="/ppt/slides/slide5.xml" Id="R29a009e94bcd46df" /><Relationship Type="http://schemas.openxmlformats.org/officeDocument/2006/relationships/slide" Target="/ppt/slides/slide6.xml" Id="R3b3b4547e9254441" /><Relationship Type="http://schemas.openxmlformats.org/officeDocument/2006/relationships/slide" Target="/ppt/slides/slide7.xml" Id="Raab6723f475245db" /><Relationship Type="http://schemas.openxmlformats.org/officeDocument/2006/relationships/slide" Target="/ppt/slides/slide8.xml" Id="R2142abc4566441d6" /><Relationship Type="http://schemas.openxmlformats.org/officeDocument/2006/relationships/slide" Target="/ppt/slides/slide9.xml" Id="Rda092eb6f1ee422e" /><Relationship Type="http://schemas.openxmlformats.org/officeDocument/2006/relationships/slide" Target="/ppt/slides/slide10.xml" Id="Rc9c89893bfe943cb" /><Relationship Type="http://schemas.openxmlformats.org/officeDocument/2006/relationships/slide" Target="/ppt/slides/slide11.xml" Id="Rd85adbf32fe64d32" /><Relationship Type="http://schemas.openxmlformats.org/officeDocument/2006/relationships/slide" Target="/ppt/slides/slide12.xml" Id="R46cb3d30f9a941d3" /><Relationship Type="http://schemas.openxmlformats.org/officeDocument/2006/relationships/slide" Target="/ppt/slides/slide13.xml" Id="Reb024d2aa6ba4696" /><Relationship Type="http://schemas.openxmlformats.org/officeDocument/2006/relationships/slide" Target="/ppt/slides/slide14.xml" Id="R3e13f45ac27a4d7e" /><Relationship Type="http://schemas.openxmlformats.org/officeDocument/2006/relationships/slide" Target="/ppt/slides/slide15.xml" Id="R8334aa5b89c7438e" /><Relationship Type="http://schemas.openxmlformats.org/officeDocument/2006/relationships/slide" Target="/ppt/slides/slide16.xml" Id="Rcbc875e5fa2b435f" /><Relationship Type="http://schemas.openxmlformats.org/officeDocument/2006/relationships/slide" Target="/ppt/slides/slide17.xml" Id="R0d8429f8e8dc4b80" /><Relationship Type="http://schemas.openxmlformats.org/officeDocument/2006/relationships/slide" Target="/ppt/slides/slide18.xml" Id="R5866234b6f5040df" /><Relationship Type="http://schemas.openxmlformats.org/officeDocument/2006/relationships/slide" Target="/ppt/slides/slide19.xml" Id="Rf06a9f424c4247f9" /><Relationship Type="http://schemas.openxmlformats.org/officeDocument/2006/relationships/slide" Target="/ppt/slides/slide20.xml" Id="R399b5f99f3bd402a" /><Relationship Type="http://schemas.openxmlformats.org/officeDocument/2006/relationships/slide" Target="/ppt/slides/slide21.xml" Id="Ra1e564d19b9c4b81" /><Relationship Type="http://schemas.openxmlformats.org/officeDocument/2006/relationships/slide" Target="/ppt/slides/slide22.xml" Id="R3f86060a3f7941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b5f5aec8d54041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0719201fa54577" /><Relationship Type="http://schemas.openxmlformats.org/officeDocument/2006/relationships/notesMaster" Target="/ppt/notesMasters/notesMaster1.xml" Id="R5bdc0309d1aa4f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a75390ac3f43fb" /><Relationship Type="http://schemas.openxmlformats.org/officeDocument/2006/relationships/notesMaster" Target="/ppt/notesMasters/notesMaster1.xml" Id="Rfee463c6e1eb4a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1531bc32424ac0" /><Relationship Type="http://schemas.openxmlformats.org/officeDocument/2006/relationships/notesMaster" Target="/ppt/notesMasters/notesMaster1.xml" Id="R977bb6be2e0c44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5963911e314101" /><Relationship Type="http://schemas.openxmlformats.org/officeDocument/2006/relationships/notesMaster" Target="/ppt/notesMasters/notesMaster1.xml" Id="R46a6c35a7ecf41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9384380b9a4067" /><Relationship Type="http://schemas.openxmlformats.org/officeDocument/2006/relationships/notesMaster" Target="/ppt/notesMasters/notesMaster1.xml" Id="R4fc7f2f5278d4b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45a4c5486245e3" /><Relationship Type="http://schemas.openxmlformats.org/officeDocument/2006/relationships/notesMaster" Target="/ppt/notesMasters/notesMaster1.xml" Id="R30119abb81684e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3b806f43054181" /><Relationship Type="http://schemas.openxmlformats.org/officeDocument/2006/relationships/notesMaster" Target="/ppt/notesMasters/notesMaster1.xml" Id="R95d3a8a648ac4a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e8ab1ff49c4944" /><Relationship Type="http://schemas.openxmlformats.org/officeDocument/2006/relationships/notesMaster" Target="/ppt/notesMasters/notesMaster1.xml" Id="R98a066806ced44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cb70858f4c45f1" /><Relationship Type="http://schemas.openxmlformats.org/officeDocument/2006/relationships/notesMaster" Target="/ppt/notesMasters/notesMaster1.xml" Id="R75949e921fbf49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e8b256fc6b4bda" /><Relationship Type="http://schemas.openxmlformats.org/officeDocument/2006/relationships/notesMaster" Target="/ppt/notesMasters/notesMaster1.xml" Id="Rdd196974a0634d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f0f0e243f64242" /><Relationship Type="http://schemas.openxmlformats.org/officeDocument/2006/relationships/notesMaster" Target="/ppt/notesMasters/notesMaster1.xml" Id="R013b93fcf6994f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585b2cf0764d5e" /><Relationship Type="http://schemas.openxmlformats.org/officeDocument/2006/relationships/notesMaster" Target="/ppt/notesMasters/notesMaster1.xml" Id="R6e56d439fb184f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de179bb692404c" /><Relationship Type="http://schemas.openxmlformats.org/officeDocument/2006/relationships/notesMaster" Target="/ppt/notesMasters/notesMaster1.xml" Id="R92230cd119a24b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590f8904bd4849" /><Relationship Type="http://schemas.openxmlformats.org/officeDocument/2006/relationships/notesMaster" Target="/ppt/notesMasters/notesMaster1.xml" Id="R16b15796619d47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de1cc4813a4da1" /><Relationship Type="http://schemas.openxmlformats.org/officeDocument/2006/relationships/notesMaster" Target="/ppt/notesMasters/notesMaster1.xml" Id="R54bf8135a0bd41f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03b390a27544499" /><Relationship Type="http://schemas.openxmlformats.org/officeDocument/2006/relationships/notesMaster" Target="/ppt/notesMasters/notesMaster1.xml" Id="R3e49866c557a48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4bd78c37c634877" /><Relationship Type="http://schemas.openxmlformats.org/officeDocument/2006/relationships/notesMaster" Target="/ppt/notesMasters/notesMaster1.xml" Id="R6e84da41970a47a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b555e0eb1e34c4b" /><Relationship Type="http://schemas.openxmlformats.org/officeDocument/2006/relationships/notesMaster" Target="/ppt/notesMasters/notesMaster1.xml" Id="Rdd83863f341d494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514523238a945ca" /><Relationship Type="http://schemas.openxmlformats.org/officeDocument/2006/relationships/notesMaster" Target="/ppt/notesMasters/notesMaster1.xml" Id="R79e39764ba58421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3fc0618e39c42a6" /><Relationship Type="http://schemas.openxmlformats.org/officeDocument/2006/relationships/notesMaster" Target="/ppt/notesMasters/notesMaster1.xml" Id="Ra8ff5353f4bf4cd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22be7509fe4e26" /><Relationship Type="http://schemas.openxmlformats.org/officeDocument/2006/relationships/notesMaster" Target="/ppt/notesMasters/notesMaster1.xml" Id="R210d2ff8c99a4e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90019e859dc49cc" /><Relationship Type="http://schemas.openxmlformats.org/officeDocument/2006/relationships/notesMaster" Target="/ppt/notesMasters/notesMaster1.xml" Id="R29ee90a9ae8f4e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d54c9f7eea4b4e"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67509727017e426a" /><Relationship Type="http://schemas.openxmlformats.org/officeDocument/2006/relationships/slideLayout" Target="/ppt/slideLayouts/slideLayout2.xml" Id="R41c91472b9ac4a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c91472b9ac4a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44c71a2df0c1482d" /><Relationship Type="http://schemas.openxmlformats.org/officeDocument/2006/relationships/notesSlide" Target="/ppt/notesSlides/notesSlide1.xml" Id="Ref986ba86dc149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4e5af12908c455e" /><Relationship Type="http://schemas.openxmlformats.org/officeDocument/2006/relationships/notesSlide" Target="/ppt/notesSlides/notesSlide2.xml" Id="R04e511d03d8342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a9b0a17d5164aa5" /><Relationship Type="http://schemas.openxmlformats.org/officeDocument/2006/relationships/notesSlide" Target="/ppt/notesSlides/notesSlide3.xml" Id="R1fa6eac715d344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ada98001c6946f7" /><Relationship Type="http://schemas.openxmlformats.org/officeDocument/2006/relationships/notesSlide" Target="/ppt/notesSlides/notesSlide4.xml" Id="Rea45bcb7c29f44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c7a54193f7c41b8" /><Relationship Type="http://schemas.openxmlformats.org/officeDocument/2006/relationships/notesSlide" Target="/ppt/notesSlides/notesSlide5.xml" Id="R6cf9c889c20349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91b7b60975c4830" /><Relationship Type="http://schemas.openxmlformats.org/officeDocument/2006/relationships/image" Target="/ppt/media/image.png" Id="R885e03ccb711444a" /><Relationship Type="http://schemas.openxmlformats.org/officeDocument/2006/relationships/notesSlide" Target="/ppt/notesSlides/notesSlide6.xml" Id="R810f4e260bf048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0ef44767ed543ec" /><Relationship Type="http://schemas.openxmlformats.org/officeDocument/2006/relationships/image" Target="/ppt/media/image2.png" Id="R90c0723b992141c9" /><Relationship Type="http://schemas.openxmlformats.org/officeDocument/2006/relationships/notesSlide" Target="/ppt/notesSlides/notesSlide7.xml" Id="R5ea6f6f65ac541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05fe679d6214c95" /><Relationship Type="http://schemas.openxmlformats.org/officeDocument/2006/relationships/image" Target="/ppt/media/image3.png" Id="R05d0c46e8d0d457c" /><Relationship Type="http://schemas.openxmlformats.org/officeDocument/2006/relationships/notesSlide" Target="/ppt/notesSlides/notesSlide8.xml" Id="R3ab00539b6ea47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d2a155da18040f1" /><Relationship Type="http://schemas.openxmlformats.org/officeDocument/2006/relationships/image" Target="/ppt/media/image4.png" Id="R15f9fde02cf24754" /><Relationship Type="http://schemas.openxmlformats.org/officeDocument/2006/relationships/notesSlide" Target="/ppt/notesSlides/notesSlide9.xml" Id="Rfcc129affcce4d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eb2ab6f319e4cab" /><Relationship Type="http://schemas.openxmlformats.org/officeDocument/2006/relationships/image" Target="/ppt/media/image5.png" Id="R377093c720294f26" /><Relationship Type="http://schemas.openxmlformats.org/officeDocument/2006/relationships/notesSlide" Target="/ppt/notesSlides/notesSlide10.xml" Id="R0f3273b785034a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2323a0c3a9a453f" /><Relationship Type="http://schemas.openxmlformats.org/officeDocument/2006/relationships/image" Target="/ppt/media/image6.png" Id="R5e6191209f644e83" /><Relationship Type="http://schemas.openxmlformats.org/officeDocument/2006/relationships/notesSlide" Target="/ppt/notesSlides/notesSlide11.xml" Id="R31632c2bbde844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952992ac0b354fb8" /><Relationship Type="http://schemas.openxmlformats.org/officeDocument/2006/relationships/notesSlide" Target="/ppt/notesSlides/notesSlide12.xml" Id="R6f8ab73468954e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8d3daad1c634371" /><Relationship Type="http://schemas.openxmlformats.org/officeDocument/2006/relationships/notesSlide" Target="/ppt/notesSlides/notesSlide13.xml" Id="R23e173e6bee647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39a5c7e6b8284266" /><Relationship Type="http://schemas.openxmlformats.org/officeDocument/2006/relationships/notesSlide" Target="/ppt/notesSlides/notesSlide14.xml" Id="R2b09f601e18146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25c48c0e82641e3" /><Relationship Type="http://schemas.openxmlformats.org/officeDocument/2006/relationships/image" Target="/ppt/media/image7.png" Id="R52b252378e864fb1" /><Relationship Type="http://schemas.openxmlformats.org/officeDocument/2006/relationships/notesSlide" Target="/ppt/notesSlides/notesSlide15.xml" Id="R7b35e06da5ef4f9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294452c940a647f0" /><Relationship Type="http://schemas.openxmlformats.org/officeDocument/2006/relationships/image" Target="/ppt/media/image8.png" Id="R1a1e41f1a3234704" /><Relationship Type="http://schemas.openxmlformats.org/officeDocument/2006/relationships/notesSlide" Target="/ppt/notesSlides/notesSlide16.xml" Id="Rbc2e5589bd304c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0fad1bd5a4c4348" /><Relationship Type="http://schemas.openxmlformats.org/officeDocument/2006/relationships/image" Target="/ppt/media/image9.png" Id="Rba3ff8ed9ce8424c" /><Relationship Type="http://schemas.openxmlformats.org/officeDocument/2006/relationships/notesSlide" Target="/ppt/notesSlides/notesSlide17.xml" Id="Rf100f68cd59b4c7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4a8ad565089b4339" /><Relationship Type="http://schemas.openxmlformats.org/officeDocument/2006/relationships/image" Target="/ppt/media/image10.png" Id="Rfefa44f25b924d5d" /><Relationship Type="http://schemas.openxmlformats.org/officeDocument/2006/relationships/notesSlide" Target="/ppt/notesSlides/notesSlide18.xml" Id="R4f655a74a1f04ad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1e45617543824b41" /><Relationship Type="http://schemas.openxmlformats.org/officeDocument/2006/relationships/image" Target="/ppt/media/image11.png" Id="R56b1a1984e9543c6" /><Relationship Type="http://schemas.openxmlformats.org/officeDocument/2006/relationships/notesSlide" Target="/ppt/notesSlides/notesSlide19.xml" Id="R21226221c67d44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216dcc7297294b64" /><Relationship Type="http://schemas.openxmlformats.org/officeDocument/2006/relationships/image" Target="/ppt/media/image12.png" Id="Rd121bed5b1ba42ef" /><Relationship Type="http://schemas.openxmlformats.org/officeDocument/2006/relationships/notesSlide" Target="/ppt/notesSlides/notesSlide20.xml" Id="Raa5d58114aca400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31e48294b094275" /><Relationship Type="http://schemas.openxmlformats.org/officeDocument/2006/relationships/image" Target="/ppt/media/image13.png" Id="R17b3c6e24f634f4a" /><Relationship Type="http://schemas.openxmlformats.org/officeDocument/2006/relationships/notesSlide" Target="/ppt/notesSlides/notesSlide21.xml" Id="R608b724743fd408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b62fd35de28f4a2e" /><Relationship Type="http://schemas.openxmlformats.org/officeDocument/2006/relationships/notesSlide" Target="/ppt/notesSlides/notesSlide22.xml" Id="R3d164fd23ee941e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ABC447-2E66-4AC5-BEA9-5F15EC517D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DB20F7F-B2D7-4AC6-BA1E-83950B4E212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BEFD88D-44F5-4311-B806-E65514DAC094}"/>
              </a:ext>
            </a:extLst>
          </p:cNvPr>
          <p:cNvSpPr>
            <a:spLocks xmlns:a="http://schemas.openxmlformats.org/drawingml/2006/main" noGrp="1"/>
          </p:cNvSpPr>
          <p:nvPr/>
        </p:nvSpPr>
        <p:spPr>
          <a:xfrm xmlns:a="http://schemas.openxmlformats.org/drawingml/2006/main">
            <a:off x="590550" y="552450"/>
            <a:ext cx="1000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64748B"/>
                </a:solidFill>
                <a:latin typeface="Aptos"/>
                <a:ea typeface="Aptos"/>
                <a:cs typeface="Aptos"/>
              </a:defRPr>
            </a:pPr>
            <a:r>
              <a:rPr sz="938" b="1">
                <a:solidFill>
                  <a:srgbClr val="64748B"/>
                </a:solidFill>
                <a:latin typeface="Aptos"/>
                <a:ea typeface="Aptos"/>
                <a:cs typeface="Aptos"/>
              </a:rPr>
              <a:t>CURRENT PIPELINE REVIEW  /  LONGITUDINAL VF ANALYSIS</a:t>
            </a:r>
          </a:p>
        </p:txBody>
      </p:sp>
      <p:sp>
        <p:nvSpPr>
          <p:cNvPr id="4" name="">
            <a:extLst xmlns:a="http://schemas.openxmlformats.org/drawingml/2006/main">
              <a:ext uri="{FF2B5EF4-FFF2-40B4-BE49-F238E27FC236}">
                <a16:creationId xmlns:a16="http://schemas.microsoft.com/office/drawing/2014/main" id="{00DDB4E5-4073-43C7-9A27-E410E2785B4A}"/>
              </a:ext>
            </a:extLst>
          </p:cNvPr>
          <p:cNvSpPr>
            <a:spLocks xmlns:a="http://schemas.openxmlformats.org/drawingml/2006/main" noGrp="1"/>
          </p:cNvSpPr>
          <p:nvPr/>
        </p:nvSpPr>
        <p:spPr>
          <a:xfrm xmlns:a="http://schemas.openxmlformats.org/drawingml/2006/main">
            <a:off x="590550" y="914400"/>
            <a:ext cx="100012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11827"/>
                </a:solidFill>
                <a:latin typeface="Aptos Display"/>
                <a:ea typeface="Aptos Display"/>
                <a:cs typeface="Aptos Display"/>
              </a:defRPr>
            </a:pPr>
            <a:r>
              <a:rPr sz="2925" b="1">
                <a:solidFill>
                  <a:srgbClr val="111827"/>
                </a:solidFill>
                <a:latin typeface="Aptos Display"/>
                <a:ea typeface="Aptos Display"/>
                <a:cs typeface="Aptos Display"/>
              </a:rPr>
              <a:t>Virulence-factor profiling of longitudinal urinary E. coli isolates</a:t>
            </a:r>
          </a:p>
        </p:txBody>
      </p:sp>
      <p:sp>
        <p:nvSpPr>
          <p:cNvPr id="5" name="">
            <a:extLst xmlns:a="http://schemas.openxmlformats.org/drawingml/2006/main">
              <a:ext uri="{FF2B5EF4-FFF2-40B4-BE49-F238E27FC236}">
                <a16:creationId xmlns:a16="http://schemas.microsoft.com/office/drawing/2014/main" id="{CDCE4D07-AE53-46F6-8B6A-3747FE25C546}"/>
              </a:ext>
            </a:extLst>
          </p:cNvPr>
          <p:cNvSpPr>
            <a:spLocks xmlns:a="http://schemas.openxmlformats.org/drawingml/2006/main" noGrp="1"/>
          </p:cNvSpPr>
          <p:nvPr/>
        </p:nvSpPr>
        <p:spPr>
          <a:xfrm xmlns:a="http://schemas.openxmlformats.org/drawingml/2006/main">
            <a:off x="609600" y="1809750"/>
            <a:ext cx="8572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Aptos"/>
                <a:ea typeface="Aptos"/>
                <a:cs typeface="Aptos"/>
              </a:defRPr>
            </a:pPr>
            <a:r>
              <a:rPr sz="1350" b="0">
                <a:solidFill>
                  <a:srgbClr val="64748B"/>
                </a:solidFill>
                <a:latin typeface="Aptos"/>
                <a:ea typeface="Aptos"/>
                <a:cs typeface="Aptos"/>
              </a:rPr>
              <a:t>Current pipeline, descriptive longitudinal findings, and cautious clinical-status overlay</a:t>
            </a:r>
          </a:p>
        </p:txBody>
      </p:sp>
      <p:sp>
        <p:nvSpPr>
          <p:cNvPr id="6" name="">
            <a:extLst xmlns:a="http://schemas.openxmlformats.org/drawingml/2006/main">
              <a:ext uri="{FF2B5EF4-FFF2-40B4-BE49-F238E27FC236}">
                <a16:creationId xmlns:a16="http://schemas.microsoft.com/office/drawing/2014/main" id="{E0C10EF9-B9E3-47AA-B62E-9398BADEFF4E}"/>
              </a:ext>
            </a:extLst>
          </p:cNvPr>
          <p:cNvSpPr>
            <a:spLocks xmlns:a="http://schemas.openxmlformats.org/drawingml/2006/main" noGrp="1"/>
          </p:cNvSpPr>
          <p:nvPr/>
        </p:nvSpPr>
        <p:spPr>
          <a:xfrm xmlns:a="http://schemas.openxmlformats.org/drawingml/2006/main">
            <a:off x="609600" y="2724150"/>
            <a:ext cx="3238500" cy="1352550"/>
          </a:xfrm>
          <a:prstGeom xmlns:a="http://schemas.openxmlformats.org/drawingml/2006/main" prst="roundRect">
            <a:avLst>
              <a:gd name="adj" fmla="val 5634"/>
            </a:avLst>
          </a:prstGeom>
          <a:solidFill xmlns:a="http://schemas.openxmlformats.org/drawingml/2006/main">
            <a:srgbClr val="E8F1FA"/>
          </a:solidFill>
          <a:ln xmlns:a="http://schemas.openxmlformats.org/drawingml/2006/main" w="9525">
            <a:solidFill>
              <a:srgbClr val="B9D5F0"/>
            </a:solidFill>
            <a:prstDash val="solid"/>
          </a:ln>
        </p:spPr>
      </p:sp>
      <p:sp>
        <p:nvSpPr>
          <p:cNvPr id="7" name="">
            <a:extLst xmlns:a="http://schemas.openxmlformats.org/drawingml/2006/main">
              <a:ext uri="{FF2B5EF4-FFF2-40B4-BE49-F238E27FC236}">
                <a16:creationId xmlns:a16="http://schemas.microsoft.com/office/drawing/2014/main" id="{07485EF8-61E3-4CD4-9816-53890B9D5591}"/>
              </a:ext>
            </a:extLst>
          </p:cNvPr>
          <p:cNvSpPr>
            <a:spLocks xmlns:a="http://schemas.openxmlformats.org/drawingml/2006/main" noGrp="1"/>
          </p:cNvSpPr>
          <p:nvPr/>
        </p:nvSpPr>
        <p:spPr>
          <a:xfrm xmlns:a="http://schemas.openxmlformats.org/drawingml/2006/main">
            <a:off x="78105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2B6CB0"/>
                </a:solidFill>
                <a:latin typeface="Aptos"/>
                <a:ea typeface="Aptos"/>
                <a:cs typeface="Aptos"/>
              </a:defRPr>
            </a:pPr>
            <a:r>
              <a:rPr sz="788" b="1">
                <a:solidFill>
                  <a:srgbClr val="2B6CB0"/>
                </a:solidFill>
                <a:latin typeface="Aptos"/>
                <a:ea typeface="Aptos"/>
                <a:cs typeface="Aptos"/>
              </a:rPr>
              <a:t>Question 1</a:t>
            </a:r>
          </a:p>
        </p:txBody>
      </p:sp>
      <p:sp>
        <p:nvSpPr>
          <p:cNvPr id="8" name="">
            <a:extLst xmlns:a="http://schemas.openxmlformats.org/drawingml/2006/main">
              <a:ext uri="{FF2B5EF4-FFF2-40B4-BE49-F238E27FC236}">
                <a16:creationId xmlns:a16="http://schemas.microsoft.com/office/drawing/2014/main" id="{49065149-8600-4EBC-AEB9-F9DA4F99CE98}"/>
              </a:ext>
            </a:extLst>
          </p:cNvPr>
          <p:cNvSpPr>
            <a:spLocks xmlns:a="http://schemas.openxmlformats.org/drawingml/2006/main" noGrp="1"/>
          </p:cNvSpPr>
          <p:nvPr/>
        </p:nvSpPr>
        <p:spPr>
          <a:xfrm xmlns:a="http://schemas.openxmlformats.org/drawingml/2006/main">
            <a:off x="78105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What VF repertoire is present?</a:t>
            </a:r>
          </a:p>
        </p:txBody>
      </p:sp>
      <p:sp>
        <p:nvSpPr>
          <p:cNvPr id="9" name="">
            <a:extLst xmlns:a="http://schemas.openxmlformats.org/drawingml/2006/main">
              <a:ext uri="{FF2B5EF4-FFF2-40B4-BE49-F238E27FC236}">
                <a16:creationId xmlns:a16="http://schemas.microsoft.com/office/drawing/2014/main" id="{88751D11-A695-4FA2-A664-EDB655A31543}"/>
              </a:ext>
            </a:extLst>
          </p:cNvPr>
          <p:cNvSpPr>
            <a:spLocks xmlns:a="http://schemas.openxmlformats.org/drawingml/2006/main" noGrp="1"/>
          </p:cNvSpPr>
          <p:nvPr/>
        </p:nvSpPr>
        <p:spPr>
          <a:xfrm xmlns:a="http://schemas.openxmlformats.org/drawingml/2006/main">
            <a:off x="78105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Describe the observed virulence-factor gene space and curated modules in 556 VF/WGS-ready urinary E. coli isolates.</a:t>
            </a:r>
          </a:p>
        </p:txBody>
      </p:sp>
      <p:sp>
        <p:nvSpPr>
          <p:cNvPr id="10" name="">
            <a:extLst xmlns:a="http://schemas.openxmlformats.org/drawingml/2006/main">
              <a:ext uri="{FF2B5EF4-FFF2-40B4-BE49-F238E27FC236}">
                <a16:creationId xmlns:a16="http://schemas.microsoft.com/office/drawing/2014/main" id="{D648CEE4-14B6-4D32-A64B-DD7AEA3A63F6}"/>
              </a:ext>
            </a:extLst>
          </p:cNvPr>
          <p:cNvSpPr>
            <a:spLocks xmlns:a="http://schemas.openxmlformats.org/drawingml/2006/main" noGrp="1"/>
          </p:cNvSpPr>
          <p:nvPr/>
        </p:nvSpPr>
        <p:spPr>
          <a:xfrm xmlns:a="http://schemas.openxmlformats.org/drawingml/2006/main">
            <a:off x="4400550" y="2724150"/>
            <a:ext cx="3238500" cy="1352550"/>
          </a:xfrm>
          <a:prstGeom xmlns:a="http://schemas.openxmlformats.org/drawingml/2006/main" prst="roundRect">
            <a:avLst>
              <a:gd name="adj" fmla="val 5634"/>
            </a:avLst>
          </a:prstGeom>
          <a:solidFill xmlns:a="http://schemas.openxmlformats.org/drawingml/2006/main">
            <a:srgbClr val="EAF7EF"/>
          </a:solidFill>
          <a:ln xmlns:a="http://schemas.openxmlformats.org/drawingml/2006/main" w="9525">
            <a:solidFill>
              <a:srgbClr val="BCE4C9"/>
            </a:solidFill>
            <a:prstDash val="solid"/>
          </a:ln>
        </p:spPr>
      </p:sp>
      <p:sp>
        <p:nvSpPr>
          <p:cNvPr id="11" name="">
            <a:extLst xmlns:a="http://schemas.openxmlformats.org/drawingml/2006/main">
              <a:ext uri="{FF2B5EF4-FFF2-40B4-BE49-F238E27FC236}">
                <a16:creationId xmlns:a16="http://schemas.microsoft.com/office/drawing/2014/main" id="{1A7C8F86-3363-4277-BFA0-5623DE4773FA}"/>
              </a:ext>
            </a:extLst>
          </p:cNvPr>
          <p:cNvSpPr>
            <a:spLocks xmlns:a="http://schemas.openxmlformats.org/drawingml/2006/main" noGrp="1"/>
          </p:cNvSpPr>
          <p:nvPr/>
        </p:nvSpPr>
        <p:spPr>
          <a:xfrm xmlns:a="http://schemas.openxmlformats.org/drawingml/2006/main">
            <a:off x="457200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2F855A"/>
                </a:solidFill>
                <a:latin typeface="Aptos"/>
                <a:ea typeface="Aptos"/>
                <a:cs typeface="Aptos"/>
              </a:defRPr>
            </a:pPr>
            <a:r>
              <a:rPr sz="788" b="1">
                <a:solidFill>
                  <a:srgbClr val="2F855A"/>
                </a:solidFill>
                <a:latin typeface="Aptos"/>
                <a:ea typeface="Aptos"/>
                <a:cs typeface="Aptos"/>
              </a:rPr>
              <a:t>Question 2</a:t>
            </a:r>
          </a:p>
        </p:txBody>
      </p:sp>
      <p:sp>
        <p:nvSpPr>
          <p:cNvPr id="12" name="">
            <a:extLst xmlns:a="http://schemas.openxmlformats.org/drawingml/2006/main">
              <a:ext uri="{FF2B5EF4-FFF2-40B4-BE49-F238E27FC236}">
                <a16:creationId xmlns:a16="http://schemas.microsoft.com/office/drawing/2014/main" id="{74BEBEDC-7E62-49C2-BC09-BF84C5AA5804}"/>
              </a:ext>
            </a:extLst>
          </p:cNvPr>
          <p:cNvSpPr>
            <a:spLocks xmlns:a="http://schemas.openxmlformats.org/drawingml/2006/main" noGrp="1"/>
          </p:cNvSpPr>
          <p:nvPr/>
        </p:nvSpPr>
        <p:spPr>
          <a:xfrm xmlns:a="http://schemas.openxmlformats.org/drawingml/2006/main">
            <a:off x="457200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How stable are profiles over time?</a:t>
            </a:r>
          </a:p>
        </p:txBody>
      </p:sp>
      <p:sp>
        <p:nvSpPr>
          <p:cNvPr id="13" name="">
            <a:extLst xmlns:a="http://schemas.openxmlformats.org/drawingml/2006/main">
              <a:ext uri="{FF2B5EF4-FFF2-40B4-BE49-F238E27FC236}">
                <a16:creationId xmlns:a16="http://schemas.microsoft.com/office/drawing/2014/main" id="{1A40D91C-BF3E-4DE3-81BC-A3C76165B9CD}"/>
              </a:ext>
            </a:extLst>
          </p:cNvPr>
          <p:cNvSpPr>
            <a:spLocks xmlns:a="http://schemas.openxmlformats.org/drawingml/2006/main" noGrp="1"/>
          </p:cNvSpPr>
          <p:nvPr/>
        </p:nvSpPr>
        <p:spPr>
          <a:xfrm xmlns:a="http://schemas.openxmlformats.org/drawingml/2006/main">
            <a:off x="457200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Use consecutive within-resident isolate-pair comparisons to quantify VF similarity and gene gain/loss.</a:t>
            </a:r>
          </a:p>
        </p:txBody>
      </p:sp>
      <p:sp>
        <p:nvSpPr>
          <p:cNvPr id="14" name="">
            <a:extLst xmlns:a="http://schemas.openxmlformats.org/drawingml/2006/main">
              <a:ext uri="{FF2B5EF4-FFF2-40B4-BE49-F238E27FC236}">
                <a16:creationId xmlns:a16="http://schemas.microsoft.com/office/drawing/2014/main" id="{B6E66581-73EB-4A39-B3F2-EC0287551DA6}"/>
              </a:ext>
            </a:extLst>
          </p:cNvPr>
          <p:cNvSpPr>
            <a:spLocks xmlns:a="http://schemas.openxmlformats.org/drawingml/2006/main" noGrp="1"/>
          </p:cNvSpPr>
          <p:nvPr/>
        </p:nvSpPr>
        <p:spPr>
          <a:xfrm xmlns:a="http://schemas.openxmlformats.org/drawingml/2006/main">
            <a:off x="8191500" y="2724150"/>
            <a:ext cx="3238500" cy="1352550"/>
          </a:xfrm>
          <a:prstGeom xmlns:a="http://schemas.openxmlformats.org/drawingml/2006/main" prst="roundRect">
            <a:avLst>
              <a:gd name="adj" fmla="val 5634"/>
            </a:avLst>
          </a:prstGeom>
          <a:solidFill xmlns:a="http://schemas.openxmlformats.org/drawingml/2006/main">
            <a:srgbClr val="FFF4E6"/>
          </a:solidFill>
          <a:ln xmlns:a="http://schemas.openxmlformats.org/drawingml/2006/main" w="9525">
            <a:solidFill>
              <a:srgbClr val="F4C98A"/>
            </a:solidFill>
            <a:prstDash val="solid"/>
          </a:ln>
        </p:spPr>
      </p:sp>
      <p:sp>
        <p:nvSpPr>
          <p:cNvPr id="15" name="">
            <a:extLst xmlns:a="http://schemas.openxmlformats.org/drawingml/2006/main">
              <a:ext uri="{FF2B5EF4-FFF2-40B4-BE49-F238E27FC236}">
                <a16:creationId xmlns:a16="http://schemas.microsoft.com/office/drawing/2014/main" id="{DBA7BD13-9E45-4F85-9E9F-4400B30F5B7B}"/>
              </a:ext>
            </a:extLst>
          </p:cNvPr>
          <p:cNvSpPr>
            <a:spLocks xmlns:a="http://schemas.openxmlformats.org/drawingml/2006/main" noGrp="1"/>
          </p:cNvSpPr>
          <p:nvPr/>
        </p:nvSpPr>
        <p:spPr>
          <a:xfrm xmlns:a="http://schemas.openxmlformats.org/drawingml/2006/main">
            <a:off x="836295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D97706"/>
                </a:solidFill>
                <a:latin typeface="Aptos"/>
                <a:ea typeface="Aptos"/>
                <a:cs typeface="Aptos"/>
              </a:defRPr>
            </a:pPr>
            <a:r>
              <a:rPr sz="788" b="1">
                <a:solidFill>
                  <a:srgbClr val="D97706"/>
                </a:solidFill>
                <a:latin typeface="Aptos"/>
                <a:ea typeface="Aptos"/>
                <a:cs typeface="Aptos"/>
              </a:rPr>
              <a:t>Question 3</a:t>
            </a:r>
          </a:p>
        </p:txBody>
      </p:sp>
      <p:sp>
        <p:nvSpPr>
          <p:cNvPr id="16" name="">
            <a:extLst xmlns:a="http://schemas.openxmlformats.org/drawingml/2006/main">
              <a:ext uri="{FF2B5EF4-FFF2-40B4-BE49-F238E27FC236}">
                <a16:creationId xmlns:a16="http://schemas.microsoft.com/office/drawing/2014/main" id="{D8C22810-86EF-4009-BDB4-43748ACDC419}"/>
              </a:ext>
            </a:extLst>
          </p:cNvPr>
          <p:cNvSpPr>
            <a:spLocks xmlns:a="http://schemas.openxmlformats.org/drawingml/2006/main" noGrp="1"/>
          </p:cNvSpPr>
          <p:nvPr/>
        </p:nvSpPr>
        <p:spPr>
          <a:xfrm xmlns:a="http://schemas.openxmlformats.org/drawingml/2006/main">
            <a:off x="836295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Clinical status overlay</a:t>
            </a:r>
          </a:p>
        </p:txBody>
      </p:sp>
      <p:sp>
        <p:nvSpPr>
          <p:cNvPr id="17" name="">
            <a:extLst xmlns:a="http://schemas.openxmlformats.org/drawingml/2006/main">
              <a:ext uri="{FF2B5EF4-FFF2-40B4-BE49-F238E27FC236}">
                <a16:creationId xmlns:a16="http://schemas.microsoft.com/office/drawing/2014/main" id="{1F9DD281-BEA1-4B51-8A7D-3DE62064DE9F}"/>
              </a:ext>
            </a:extLst>
          </p:cNvPr>
          <p:cNvSpPr>
            <a:spLocks xmlns:a="http://schemas.openxmlformats.org/drawingml/2006/main" noGrp="1"/>
          </p:cNvSpPr>
          <p:nvPr/>
        </p:nvSpPr>
        <p:spPr>
          <a:xfrm xmlns:a="http://schemas.openxmlformats.org/drawingml/2006/main">
            <a:off x="836295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Treat UTI versus Not_UTI as a sparse, exploratory phenotype annotation rather than the whole study frame.</a:t>
            </a:r>
          </a:p>
        </p:txBody>
      </p:sp>
      <p:sp>
        <p:nvSpPr>
          <p:cNvPr id="18" name="">
            <a:extLst xmlns:a="http://schemas.openxmlformats.org/drawingml/2006/main">
              <a:ext uri="{FF2B5EF4-FFF2-40B4-BE49-F238E27FC236}">
                <a16:creationId xmlns:a16="http://schemas.microsoft.com/office/drawing/2014/main" id="{3EA797E3-F0A7-4006-94B7-43451D5ACC16}"/>
              </a:ext>
            </a:extLst>
          </p:cNvPr>
          <p:cNvSpPr>
            <a:spLocks xmlns:a="http://schemas.openxmlformats.org/drawingml/2006/main" noGrp="1"/>
          </p:cNvSpPr>
          <p:nvPr/>
        </p:nvSpPr>
        <p:spPr>
          <a:xfrm xmlns:a="http://schemas.openxmlformats.org/drawingml/2006/main">
            <a:off x="1809750" y="4762500"/>
            <a:ext cx="1762125" cy="819150"/>
          </a:xfrm>
          <a:prstGeom xmlns:a="http://schemas.openxmlformats.org/drawingml/2006/main" prst="roundRect">
            <a:avLst>
              <a:gd name="adj" fmla="val 9302"/>
            </a:avLst>
          </a:prstGeom>
          <a:solidFill xmlns:a="http://schemas.openxmlformats.org/drawingml/2006/main">
            <a:srgbClr val="E8F1FA"/>
          </a:solidFill>
          <a:ln xmlns:a="http://schemas.openxmlformats.org/drawingml/2006/main" w="0">
            <a:solidFill>
              <a:srgbClr val="E8F1FA"/>
            </a:solidFill>
            <a:prstDash val="solid"/>
          </a:ln>
        </p:spPr>
      </p:sp>
      <p:sp>
        <p:nvSpPr>
          <p:cNvPr id="19" name="">
            <a:extLst xmlns:a="http://schemas.openxmlformats.org/drawingml/2006/main">
              <a:ext uri="{FF2B5EF4-FFF2-40B4-BE49-F238E27FC236}">
                <a16:creationId xmlns:a16="http://schemas.microsoft.com/office/drawing/2014/main" id="{61CCD312-3E09-440B-B554-810101832CBB}"/>
              </a:ext>
            </a:extLst>
          </p:cNvPr>
          <p:cNvSpPr>
            <a:spLocks xmlns:a="http://schemas.openxmlformats.org/drawingml/2006/main" noGrp="1"/>
          </p:cNvSpPr>
          <p:nvPr/>
        </p:nvSpPr>
        <p:spPr>
          <a:xfrm xmlns:a="http://schemas.openxmlformats.org/drawingml/2006/main">
            <a:off x="1962150"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B6CB0"/>
                </a:solidFill>
                <a:latin typeface="Aptos"/>
                <a:ea typeface="Aptos"/>
                <a:cs typeface="Aptos"/>
              </a:defRPr>
            </a:pPr>
            <a:r>
              <a:rPr sz="2100" b="1">
                <a:solidFill>
                  <a:srgbClr val="2B6CB0"/>
                </a:solidFill>
                <a:latin typeface="Aptos"/>
                <a:ea typeface="Aptos"/>
                <a:cs typeface="Aptos"/>
              </a:rPr>
              <a:t>556</a:t>
            </a:r>
          </a:p>
        </p:txBody>
      </p:sp>
      <p:sp>
        <p:nvSpPr>
          <p:cNvPr id="20" name="">
            <a:extLst xmlns:a="http://schemas.openxmlformats.org/drawingml/2006/main">
              <a:ext uri="{FF2B5EF4-FFF2-40B4-BE49-F238E27FC236}">
                <a16:creationId xmlns:a16="http://schemas.microsoft.com/office/drawing/2014/main" id="{07E8AB0D-8FDA-46CA-8776-D301C77ECEE4}"/>
              </a:ext>
            </a:extLst>
          </p:cNvPr>
          <p:cNvSpPr>
            <a:spLocks xmlns:a="http://schemas.openxmlformats.org/drawingml/2006/main" noGrp="1"/>
          </p:cNvSpPr>
          <p:nvPr/>
        </p:nvSpPr>
        <p:spPr>
          <a:xfrm xmlns:a="http://schemas.openxmlformats.org/drawingml/2006/main">
            <a:off x="1962150"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B6CB0"/>
                </a:solidFill>
                <a:latin typeface="Aptos"/>
                <a:ea typeface="Aptos"/>
                <a:cs typeface="Aptos"/>
              </a:defRPr>
            </a:pPr>
            <a:r>
              <a:rPr sz="863" b="0">
                <a:solidFill>
                  <a:srgbClr val="2B6CB0"/>
                </a:solidFill>
                <a:latin typeface="Aptos"/>
                <a:ea typeface="Aptos"/>
                <a:cs typeface="Aptos"/>
              </a:rPr>
              <a:t>VF-ready episodes</a:t>
            </a:r>
          </a:p>
        </p:txBody>
      </p:sp>
      <p:sp>
        <p:nvSpPr>
          <p:cNvPr id="21" name="">
            <a:extLst xmlns:a="http://schemas.openxmlformats.org/drawingml/2006/main">
              <a:ext uri="{FF2B5EF4-FFF2-40B4-BE49-F238E27FC236}">
                <a16:creationId xmlns:a16="http://schemas.microsoft.com/office/drawing/2014/main" id="{449CE7BC-7439-4074-919E-CD83B393A33E}"/>
              </a:ext>
            </a:extLst>
          </p:cNvPr>
          <p:cNvSpPr>
            <a:spLocks xmlns:a="http://schemas.openxmlformats.org/drawingml/2006/main" noGrp="1"/>
          </p:cNvSpPr>
          <p:nvPr/>
        </p:nvSpPr>
        <p:spPr>
          <a:xfrm xmlns:a="http://schemas.openxmlformats.org/drawingml/2006/main">
            <a:off x="3952875" y="4762500"/>
            <a:ext cx="1762125" cy="819150"/>
          </a:xfrm>
          <a:prstGeom xmlns:a="http://schemas.openxmlformats.org/drawingml/2006/main" prst="roundRect">
            <a:avLst>
              <a:gd name="adj" fmla="val 9302"/>
            </a:avLst>
          </a:prstGeom>
          <a:solidFill xmlns:a="http://schemas.openxmlformats.org/drawingml/2006/main">
            <a:srgbClr val="EEF3F8"/>
          </a:solidFill>
          <a:ln xmlns:a="http://schemas.openxmlformats.org/drawingml/2006/main" w="0">
            <a:solidFill>
              <a:srgbClr val="EEF3F8"/>
            </a:solidFill>
            <a:prstDash val="solid"/>
          </a:ln>
        </p:spPr>
      </p:sp>
      <p:sp>
        <p:nvSpPr>
          <p:cNvPr id="22" name="">
            <a:extLst xmlns:a="http://schemas.openxmlformats.org/drawingml/2006/main">
              <a:ext uri="{FF2B5EF4-FFF2-40B4-BE49-F238E27FC236}">
                <a16:creationId xmlns:a16="http://schemas.microsoft.com/office/drawing/2014/main" id="{C596E8D8-3369-4943-8F15-2918B9BAD258}"/>
              </a:ext>
            </a:extLst>
          </p:cNvPr>
          <p:cNvSpPr>
            <a:spLocks xmlns:a="http://schemas.openxmlformats.org/drawingml/2006/main" noGrp="1"/>
          </p:cNvSpPr>
          <p:nvPr/>
        </p:nvSpPr>
        <p:spPr>
          <a:xfrm xmlns:a="http://schemas.openxmlformats.org/drawingml/2006/main">
            <a:off x="4105275"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11827"/>
                </a:solidFill>
                <a:latin typeface="Aptos"/>
                <a:ea typeface="Aptos"/>
                <a:cs typeface="Aptos"/>
              </a:defRPr>
            </a:pPr>
            <a:r>
              <a:rPr sz="2100" b="1">
                <a:solidFill>
                  <a:srgbClr val="111827"/>
                </a:solidFill>
                <a:latin typeface="Aptos"/>
                <a:ea typeface="Aptos"/>
                <a:cs typeface="Aptos"/>
              </a:rPr>
              <a:t>227</a:t>
            </a:r>
          </a:p>
        </p:txBody>
      </p:sp>
      <p:sp>
        <p:nvSpPr>
          <p:cNvPr id="23" name="">
            <a:extLst xmlns:a="http://schemas.openxmlformats.org/drawingml/2006/main">
              <a:ext uri="{FF2B5EF4-FFF2-40B4-BE49-F238E27FC236}">
                <a16:creationId xmlns:a16="http://schemas.microsoft.com/office/drawing/2014/main" id="{CA831574-00A8-4E45-B2E1-6A86E1C648AA}"/>
              </a:ext>
            </a:extLst>
          </p:cNvPr>
          <p:cNvSpPr>
            <a:spLocks xmlns:a="http://schemas.openxmlformats.org/drawingml/2006/main" noGrp="1"/>
          </p:cNvSpPr>
          <p:nvPr/>
        </p:nvSpPr>
        <p:spPr>
          <a:xfrm xmlns:a="http://schemas.openxmlformats.org/drawingml/2006/main">
            <a:off x="4105275"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111827"/>
                </a:solidFill>
                <a:latin typeface="Aptos"/>
                <a:ea typeface="Aptos"/>
                <a:cs typeface="Aptos"/>
              </a:defRPr>
            </a:pPr>
            <a:r>
              <a:rPr sz="863" b="0">
                <a:solidFill>
                  <a:srgbClr val="111827"/>
                </a:solidFill>
                <a:latin typeface="Aptos"/>
                <a:ea typeface="Aptos"/>
                <a:cs typeface="Aptos"/>
              </a:rPr>
              <a:t>VF gene columns</a:t>
            </a:r>
          </a:p>
        </p:txBody>
      </p:sp>
      <p:sp>
        <p:nvSpPr>
          <p:cNvPr id="24" name="">
            <a:extLst xmlns:a="http://schemas.openxmlformats.org/drawingml/2006/main">
              <a:ext uri="{FF2B5EF4-FFF2-40B4-BE49-F238E27FC236}">
                <a16:creationId xmlns:a16="http://schemas.microsoft.com/office/drawing/2014/main" id="{D98514C5-9088-44C5-B512-3330AE67078A}"/>
              </a:ext>
            </a:extLst>
          </p:cNvPr>
          <p:cNvSpPr>
            <a:spLocks xmlns:a="http://schemas.openxmlformats.org/drawingml/2006/main" noGrp="1"/>
          </p:cNvSpPr>
          <p:nvPr/>
        </p:nvSpPr>
        <p:spPr>
          <a:xfrm xmlns:a="http://schemas.openxmlformats.org/drawingml/2006/main">
            <a:off x="6096000" y="4762500"/>
            <a:ext cx="1762125"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5" name="">
            <a:extLst xmlns:a="http://schemas.openxmlformats.org/drawingml/2006/main">
              <a:ext uri="{FF2B5EF4-FFF2-40B4-BE49-F238E27FC236}">
                <a16:creationId xmlns:a16="http://schemas.microsoft.com/office/drawing/2014/main" id="{7F26A660-2B52-4504-B4A1-115DA7B6D9F0}"/>
              </a:ext>
            </a:extLst>
          </p:cNvPr>
          <p:cNvSpPr>
            <a:spLocks xmlns:a="http://schemas.openxmlformats.org/drawingml/2006/main" noGrp="1"/>
          </p:cNvSpPr>
          <p:nvPr/>
        </p:nvSpPr>
        <p:spPr>
          <a:xfrm xmlns:a="http://schemas.openxmlformats.org/drawingml/2006/main">
            <a:off x="6248400"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394</a:t>
            </a:r>
          </a:p>
        </p:txBody>
      </p:sp>
      <p:sp>
        <p:nvSpPr>
          <p:cNvPr id="26" name="">
            <a:extLst xmlns:a="http://schemas.openxmlformats.org/drawingml/2006/main">
              <a:ext uri="{FF2B5EF4-FFF2-40B4-BE49-F238E27FC236}">
                <a16:creationId xmlns:a16="http://schemas.microsoft.com/office/drawing/2014/main" id="{105FE152-1446-4DDF-9295-C81D45784E6B}"/>
              </a:ext>
            </a:extLst>
          </p:cNvPr>
          <p:cNvSpPr>
            <a:spLocks xmlns:a="http://schemas.openxmlformats.org/drawingml/2006/main" noGrp="1"/>
          </p:cNvSpPr>
          <p:nvPr/>
        </p:nvSpPr>
        <p:spPr>
          <a:xfrm xmlns:a="http://schemas.openxmlformats.org/drawingml/2006/main">
            <a:off x="6248400"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longitudinal pairs</a:t>
            </a:r>
          </a:p>
        </p:txBody>
      </p:sp>
      <p:sp>
        <p:nvSpPr>
          <p:cNvPr id="27" name="">
            <a:extLst xmlns:a="http://schemas.openxmlformats.org/drawingml/2006/main">
              <a:ext uri="{FF2B5EF4-FFF2-40B4-BE49-F238E27FC236}">
                <a16:creationId xmlns:a16="http://schemas.microsoft.com/office/drawing/2014/main" id="{4747DE63-171F-47D9-B7D2-5EC311900E9B}"/>
              </a:ext>
            </a:extLst>
          </p:cNvPr>
          <p:cNvSpPr>
            <a:spLocks xmlns:a="http://schemas.openxmlformats.org/drawingml/2006/main" noGrp="1"/>
          </p:cNvSpPr>
          <p:nvPr/>
        </p:nvSpPr>
        <p:spPr>
          <a:xfrm xmlns:a="http://schemas.openxmlformats.org/drawingml/2006/main">
            <a:off x="8239125" y="4762500"/>
            <a:ext cx="1762125" cy="819150"/>
          </a:xfrm>
          <a:prstGeom xmlns:a="http://schemas.openxmlformats.org/drawingml/2006/main" prst="roundRect">
            <a:avLst>
              <a:gd name="adj" fmla="val 9302"/>
            </a:avLst>
          </a:prstGeom>
          <a:solidFill xmlns:a="http://schemas.openxmlformats.org/drawingml/2006/main">
            <a:srgbClr val="FFF4E6"/>
          </a:solidFill>
          <a:ln xmlns:a="http://schemas.openxmlformats.org/drawingml/2006/main" w="0">
            <a:solidFill>
              <a:srgbClr val="FFF4E6"/>
            </a:solidFill>
            <a:prstDash val="solid"/>
          </a:ln>
        </p:spPr>
      </p:sp>
      <p:sp>
        <p:nvSpPr>
          <p:cNvPr id="28" name="">
            <a:extLst xmlns:a="http://schemas.openxmlformats.org/drawingml/2006/main">
              <a:ext uri="{FF2B5EF4-FFF2-40B4-BE49-F238E27FC236}">
                <a16:creationId xmlns:a16="http://schemas.microsoft.com/office/drawing/2014/main" id="{9515030C-8021-47A4-A7E9-5C6240537E7F}"/>
              </a:ext>
            </a:extLst>
          </p:cNvPr>
          <p:cNvSpPr>
            <a:spLocks xmlns:a="http://schemas.openxmlformats.org/drawingml/2006/main" noGrp="1"/>
          </p:cNvSpPr>
          <p:nvPr/>
        </p:nvSpPr>
        <p:spPr>
          <a:xfrm xmlns:a="http://schemas.openxmlformats.org/drawingml/2006/main">
            <a:off x="8391525"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D97706"/>
                </a:solidFill>
                <a:latin typeface="Aptos"/>
                <a:ea typeface="Aptos"/>
                <a:cs typeface="Aptos"/>
              </a:defRPr>
            </a:pPr>
            <a:r>
              <a:rPr sz="2100" b="1">
                <a:solidFill>
                  <a:srgbClr val="D97706"/>
                </a:solidFill>
                <a:latin typeface="Aptos"/>
                <a:ea typeface="Aptos"/>
                <a:cs typeface="Aptos"/>
              </a:rPr>
              <a:t>17</a:t>
            </a:r>
          </a:p>
        </p:txBody>
      </p:sp>
      <p:sp>
        <p:nvSpPr>
          <p:cNvPr id="29" name="">
            <a:extLst xmlns:a="http://schemas.openxmlformats.org/drawingml/2006/main">
              <a:ext uri="{FF2B5EF4-FFF2-40B4-BE49-F238E27FC236}">
                <a16:creationId xmlns:a16="http://schemas.microsoft.com/office/drawing/2014/main" id="{9D735D03-2838-445D-8DB9-C9BB102AA5A5}"/>
              </a:ext>
            </a:extLst>
          </p:cNvPr>
          <p:cNvSpPr>
            <a:spLocks xmlns:a="http://schemas.openxmlformats.org/drawingml/2006/main" noGrp="1"/>
          </p:cNvSpPr>
          <p:nvPr/>
        </p:nvSpPr>
        <p:spPr>
          <a:xfrm xmlns:a="http://schemas.openxmlformats.org/drawingml/2006/main">
            <a:off x="8391525"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D97706"/>
                </a:solidFill>
                <a:latin typeface="Aptos"/>
                <a:ea typeface="Aptos"/>
                <a:cs typeface="Aptos"/>
              </a:defRPr>
            </a:pPr>
            <a:r>
              <a:rPr sz="863" b="0">
                <a:solidFill>
                  <a:srgbClr val="D97706"/>
                </a:solidFill>
                <a:latin typeface="Aptos"/>
                <a:ea typeface="Aptos"/>
                <a:cs typeface="Aptos"/>
              </a:rPr>
              <a:t>UTI annotations</a:t>
            </a:r>
          </a:p>
        </p:txBody>
      </p:sp>
      <p:sp>
        <p:nvSpPr>
          <p:cNvPr id="30" name="">
            <a:extLst xmlns:a="http://schemas.openxmlformats.org/drawingml/2006/main">
              <a:ext uri="{FF2B5EF4-FFF2-40B4-BE49-F238E27FC236}">
                <a16:creationId xmlns:a16="http://schemas.microsoft.com/office/drawing/2014/main" id="{3C7F74E6-71E0-4B67-B008-455DB464098B}"/>
              </a:ext>
            </a:extLst>
          </p:cNvPr>
          <p:cNvSpPr>
            <a:spLocks xmlns:a="http://schemas.openxmlformats.org/drawingml/2006/main" noGrp="1"/>
          </p:cNvSpPr>
          <p:nvPr/>
        </p:nvSpPr>
        <p:spPr>
          <a:xfrm xmlns:a="http://schemas.openxmlformats.org/drawingml/2006/main">
            <a:off x="590550" y="64960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Designed for a 22 min scientific review plus discussion</a:t>
            </a:r>
          </a:p>
        </p:txBody>
      </p:sp>
    </p:spTree>
    <p:extLst>
      <p:ext uri="{BB962C8B-B14F-4D97-AF65-F5344CB8AC3E}">
        <p14:creationId xmlns:p14="http://schemas.microsoft.com/office/powerpoint/2010/main" val="124525760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8750CE-92DB-4FEC-9B84-104C0D3529A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3F38E13-266E-4DE1-8A37-54C11E7C2EE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71B5C4A-22C5-4B16-BBF5-E8B9D0E68A17}"/>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WHY THIS FRAMING</a:t>
            </a:r>
          </a:p>
        </p:txBody>
      </p:sp>
      <p:sp>
        <p:nvSpPr>
          <p:cNvPr id="4" name="">
            <a:extLst xmlns:a="http://schemas.openxmlformats.org/drawingml/2006/main">
              <a:ext uri="{FF2B5EF4-FFF2-40B4-BE49-F238E27FC236}">
                <a16:creationId xmlns:a16="http://schemas.microsoft.com/office/drawing/2014/main" id="{8A0E9CC9-FC3C-4F01-8B61-902B39BC9907}"/>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Longitudinal urinary E. coli VF analysis asks about repertoire and stability</a:t>
            </a:r>
          </a:p>
        </p:txBody>
      </p:sp>
      <p:sp>
        <p:nvSpPr>
          <p:cNvPr id="5" name="">
            <a:extLst xmlns:a="http://schemas.openxmlformats.org/drawingml/2006/main">
              <a:ext uri="{FF2B5EF4-FFF2-40B4-BE49-F238E27FC236}">
                <a16:creationId xmlns:a16="http://schemas.microsoft.com/office/drawing/2014/main" id="{5D6678E2-E04E-42EF-BE1B-5E99260AFBF8}"/>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Clinical status is an annotation layer; the core object is repeated isolate VF profiles.</a:t>
            </a:r>
          </a:p>
        </p:txBody>
      </p:sp>
      <p:sp>
        <p:nvSpPr>
          <p:cNvPr id="6" name="">
            <a:extLst xmlns:a="http://schemas.openxmlformats.org/drawingml/2006/main">
              <a:ext uri="{FF2B5EF4-FFF2-40B4-BE49-F238E27FC236}">
                <a16:creationId xmlns:a16="http://schemas.microsoft.com/office/drawing/2014/main" id="{A585471C-645A-48F5-8F0D-3114D92EA02E}"/>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EF3E764-E189-4290-8E14-58AB5CD852CE}"/>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1F06FEE-42A2-4CEA-A0F8-050A7F04ED0F}"/>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9C3D63A2-7E53-4686-8036-E561BDC8C21C}"/>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0C3ADA8A-45E9-409A-BA86-FA52842D72E0}"/>
              </a:ext>
            </a:extLst>
          </p:cNvPr>
          <p:cNvSpPr>
            <a:spLocks xmlns:a="http://schemas.openxmlformats.org/drawingml/2006/main" noGrp="1"/>
          </p:cNvSpPr>
          <p:nvPr/>
        </p:nvSpPr>
        <p:spPr>
          <a:xfrm xmlns:a="http://schemas.openxmlformats.org/drawingml/2006/main">
            <a:off x="742950" y="1752600"/>
            <a:ext cx="2781300" cy="2952750"/>
          </a:xfrm>
          <a:prstGeom xmlns:a="http://schemas.openxmlformats.org/drawingml/2006/main" prst="roundRect">
            <a:avLst>
              <a:gd name="adj" fmla="val 2740"/>
            </a:avLst>
          </a:prstGeom>
          <a:solidFill xmlns:a="http://schemas.openxmlformats.org/drawingml/2006/main">
            <a:srgbClr val="E8F1FA"/>
          </a:solidFill>
          <a:ln xmlns:a="http://schemas.openxmlformats.org/drawingml/2006/main" w="9525">
            <a:solidFill>
              <a:srgbClr val="BDD7EE"/>
            </a:solidFill>
            <a:prstDash val="solid"/>
          </a:ln>
        </p:spPr>
      </p:sp>
      <p:sp>
        <p:nvSpPr>
          <p:cNvPr id="11" name="">
            <a:extLst xmlns:a="http://schemas.openxmlformats.org/drawingml/2006/main">
              <a:ext uri="{FF2B5EF4-FFF2-40B4-BE49-F238E27FC236}">
                <a16:creationId xmlns:a16="http://schemas.microsoft.com/office/drawing/2014/main" id="{29D9EC2C-578C-4BBA-AA2B-67CEBAD958A3}"/>
              </a:ext>
            </a:extLst>
          </p:cNvPr>
          <p:cNvSpPr>
            <a:spLocks xmlns:a="http://schemas.openxmlformats.org/drawingml/2006/main" noGrp="1"/>
          </p:cNvSpPr>
          <p:nvPr/>
        </p:nvSpPr>
        <p:spPr>
          <a:xfrm xmlns:a="http://schemas.openxmlformats.org/drawingml/2006/main">
            <a:off x="914400" y="1924050"/>
            <a:ext cx="2438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Repeated resident isolates</a:t>
            </a:r>
          </a:p>
        </p:txBody>
      </p:sp>
      <p:sp>
        <p:nvSpPr>
          <p:cNvPr id="12" name="">
            <a:extLst xmlns:a="http://schemas.openxmlformats.org/drawingml/2006/main">
              <a:ext uri="{FF2B5EF4-FFF2-40B4-BE49-F238E27FC236}">
                <a16:creationId xmlns:a16="http://schemas.microsoft.com/office/drawing/2014/main" id="{C34394A0-A3A1-4462-BF48-444A026AA287}"/>
              </a:ext>
            </a:extLst>
          </p:cNvPr>
          <p:cNvSpPr>
            <a:spLocks xmlns:a="http://schemas.openxmlformats.org/drawingml/2006/main" noGrp="1"/>
          </p:cNvSpPr>
          <p:nvPr/>
        </p:nvSpPr>
        <p:spPr>
          <a:xfrm xmlns:a="http://schemas.openxmlformats.org/drawingml/2006/main">
            <a:off x="914400" y="2209800"/>
            <a:ext cx="2438400" cy="2362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Urinary E. coli can recur or persist across serial sampling. A one-time status comparison cannot separate stable carriage, replacement, and longitudinal change.</a:t>
            </a:r>
          </a:p>
        </p:txBody>
      </p:sp>
      <p:sp>
        <p:nvSpPr>
          <p:cNvPr id="13" name="">
            <a:extLst xmlns:a="http://schemas.openxmlformats.org/drawingml/2006/main">
              <a:ext uri="{FF2B5EF4-FFF2-40B4-BE49-F238E27FC236}">
                <a16:creationId xmlns:a16="http://schemas.microsoft.com/office/drawing/2014/main" id="{DD68547E-A82A-4B5E-9B59-D34B6B621379}"/>
              </a:ext>
            </a:extLst>
          </p:cNvPr>
          <p:cNvSpPr>
            <a:spLocks xmlns:a="http://schemas.openxmlformats.org/drawingml/2006/main" noGrp="1"/>
          </p:cNvSpPr>
          <p:nvPr/>
        </p:nvSpPr>
        <p:spPr>
          <a:xfrm xmlns:a="http://schemas.openxmlformats.org/drawingml/2006/main">
            <a:off x="4095750" y="1771650"/>
            <a:ext cx="3810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11827"/>
                </a:solidFill>
                <a:latin typeface="Aptos"/>
                <a:ea typeface="Aptos"/>
                <a:cs typeface="Aptos"/>
              </a:defRPr>
            </a:pPr>
            <a:r>
              <a:rPr sz="1425" b="1">
                <a:solidFill>
                  <a:srgbClr val="111827"/>
                </a:solidFill>
                <a:latin typeface="Aptos"/>
                <a:ea typeface="Aptos"/>
                <a:cs typeface="Aptos"/>
              </a:rPr>
              <a:t>Three observable longitudinal patterns</a:t>
            </a:r>
          </a:p>
        </p:txBody>
      </p:sp>
      <p:sp>
        <p:nvSpPr>
          <p:cNvPr id="14" name="">
            <a:extLst xmlns:a="http://schemas.openxmlformats.org/drawingml/2006/main">
              <a:ext uri="{FF2B5EF4-FFF2-40B4-BE49-F238E27FC236}">
                <a16:creationId xmlns:a16="http://schemas.microsoft.com/office/drawing/2014/main" id="{C7939E38-D831-4590-89F5-94E2FC6F5C62}"/>
              </a:ext>
            </a:extLst>
          </p:cNvPr>
          <p:cNvSpPr>
            <a:spLocks xmlns:a="http://schemas.openxmlformats.org/drawingml/2006/main" noGrp="1"/>
          </p:cNvSpPr>
          <p:nvPr/>
        </p:nvSpPr>
        <p:spPr>
          <a:xfrm xmlns:a="http://schemas.openxmlformats.org/drawingml/2006/main">
            <a:off x="4095750" y="2095500"/>
            <a:ext cx="2762250" cy="514350"/>
          </a:xfrm>
          <a:prstGeom xmlns:a="http://schemas.openxmlformats.org/drawingml/2006/main" prst="roundRect">
            <a:avLst>
              <a:gd name="adj" fmla="val 14815"/>
            </a:avLst>
          </a:prstGeom>
          <a:solidFill xmlns:a="http://schemas.openxmlformats.org/drawingml/2006/main">
            <a:srgbClr val="EAF7EF"/>
          </a:solidFill>
          <a:ln xmlns:a="http://schemas.openxmlformats.org/drawingml/2006/main" w="0">
            <a:solidFill>
              <a:srgbClr val="EAF7EF"/>
            </a:solidFill>
            <a:prstDash val="solid"/>
          </a:ln>
        </p:spPr>
      </p:sp>
      <p:sp>
        <p:nvSpPr>
          <p:cNvPr id="15" name="">
            <a:extLst xmlns:a="http://schemas.openxmlformats.org/drawingml/2006/main">
              <a:ext uri="{FF2B5EF4-FFF2-40B4-BE49-F238E27FC236}">
                <a16:creationId xmlns:a16="http://schemas.microsoft.com/office/drawing/2014/main" id="{042FDD36-F19C-4835-9E3C-F96B48D6FC77}"/>
              </a:ext>
            </a:extLst>
          </p:cNvPr>
          <p:cNvSpPr>
            <a:spLocks xmlns:a="http://schemas.openxmlformats.org/drawingml/2006/main" noGrp="1"/>
          </p:cNvSpPr>
          <p:nvPr/>
        </p:nvSpPr>
        <p:spPr>
          <a:xfrm xmlns:a="http://schemas.openxmlformats.org/drawingml/2006/main">
            <a:off x="4267200" y="21907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2F855A"/>
                </a:solidFill>
                <a:latin typeface="Aptos"/>
                <a:ea typeface="Aptos"/>
                <a:cs typeface="Aptos"/>
              </a:defRPr>
            </a:pPr>
            <a:r>
              <a:rPr sz="1125" b="1">
                <a:solidFill>
                  <a:srgbClr val="2F855A"/>
                </a:solidFill>
                <a:latin typeface="Aptos"/>
                <a:ea typeface="Aptos"/>
                <a:cs typeface="Aptos"/>
              </a:rPr>
              <a:t>Persistent lineage</a:t>
            </a:r>
          </a:p>
        </p:txBody>
      </p:sp>
      <p:sp>
        <p:nvSpPr>
          <p:cNvPr id="16" name="">
            <a:extLst xmlns:a="http://schemas.openxmlformats.org/drawingml/2006/main">
              <a:ext uri="{FF2B5EF4-FFF2-40B4-BE49-F238E27FC236}">
                <a16:creationId xmlns:a16="http://schemas.microsoft.com/office/drawing/2014/main" id="{45AB3761-956A-4DFA-B5FF-61EF4F78C710}"/>
              </a:ext>
            </a:extLst>
          </p:cNvPr>
          <p:cNvSpPr>
            <a:spLocks xmlns:a="http://schemas.openxmlformats.org/drawingml/2006/main" noGrp="1"/>
          </p:cNvSpPr>
          <p:nvPr/>
        </p:nvSpPr>
        <p:spPr>
          <a:xfrm xmlns:a="http://schemas.openxmlformats.org/drawingml/2006/main">
            <a:off x="4267200" y="239077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High VF similarity across repeated isolates</a:t>
            </a:r>
          </a:p>
        </p:txBody>
      </p:sp>
      <p:sp>
        <p:nvSpPr>
          <p:cNvPr id="17" name="">
            <a:extLst xmlns:a="http://schemas.openxmlformats.org/drawingml/2006/main">
              <a:ext uri="{FF2B5EF4-FFF2-40B4-BE49-F238E27FC236}">
                <a16:creationId xmlns:a16="http://schemas.microsoft.com/office/drawing/2014/main" id="{4D45CCF9-8FA9-448E-A6CB-BBE1A385B154}"/>
              </a:ext>
            </a:extLst>
          </p:cNvPr>
          <p:cNvSpPr>
            <a:spLocks xmlns:a="http://schemas.openxmlformats.org/drawingml/2006/main" noGrp="1"/>
          </p:cNvSpPr>
          <p:nvPr/>
        </p:nvSpPr>
        <p:spPr>
          <a:xfrm xmlns:a="http://schemas.openxmlformats.org/drawingml/2006/main">
            <a:off x="4095750" y="2914650"/>
            <a:ext cx="2762250" cy="514350"/>
          </a:xfrm>
          <a:prstGeom xmlns:a="http://schemas.openxmlformats.org/drawingml/2006/main" prst="roundRect">
            <a:avLst>
              <a:gd name="adj" fmla="val 14815"/>
            </a:avLst>
          </a:prstGeom>
          <a:solidFill xmlns:a="http://schemas.openxmlformats.org/drawingml/2006/main">
            <a:srgbClr val="FBEDE8"/>
          </a:solidFill>
          <a:ln xmlns:a="http://schemas.openxmlformats.org/drawingml/2006/main" w="0">
            <a:solidFill>
              <a:srgbClr val="FBEDE8"/>
            </a:solidFill>
            <a:prstDash val="solid"/>
          </a:ln>
        </p:spPr>
      </p:sp>
      <p:sp>
        <p:nvSpPr>
          <p:cNvPr id="18" name="">
            <a:extLst xmlns:a="http://schemas.openxmlformats.org/drawingml/2006/main">
              <a:ext uri="{FF2B5EF4-FFF2-40B4-BE49-F238E27FC236}">
                <a16:creationId xmlns:a16="http://schemas.microsoft.com/office/drawing/2014/main" id="{9685215A-8C57-4B9F-B052-B16D95E8FE0F}"/>
              </a:ext>
            </a:extLst>
          </p:cNvPr>
          <p:cNvSpPr>
            <a:spLocks xmlns:a="http://schemas.openxmlformats.org/drawingml/2006/main" noGrp="1"/>
          </p:cNvSpPr>
          <p:nvPr/>
        </p:nvSpPr>
        <p:spPr>
          <a:xfrm xmlns:a="http://schemas.openxmlformats.org/drawingml/2006/main">
            <a:off x="4267200" y="300990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B65A3C"/>
                </a:solidFill>
                <a:latin typeface="Aptos"/>
                <a:ea typeface="Aptos"/>
                <a:cs typeface="Aptos"/>
              </a:defRPr>
            </a:pPr>
            <a:r>
              <a:rPr sz="1125" b="1">
                <a:solidFill>
                  <a:srgbClr val="B65A3C"/>
                </a:solidFill>
                <a:latin typeface="Aptos"/>
                <a:ea typeface="Aptos"/>
                <a:cs typeface="Aptos"/>
              </a:rPr>
              <a:t>Replacement</a:t>
            </a:r>
          </a:p>
        </p:txBody>
      </p:sp>
      <p:sp>
        <p:nvSpPr>
          <p:cNvPr id="19" name="">
            <a:extLst xmlns:a="http://schemas.openxmlformats.org/drawingml/2006/main">
              <a:ext uri="{FF2B5EF4-FFF2-40B4-BE49-F238E27FC236}">
                <a16:creationId xmlns:a16="http://schemas.microsoft.com/office/drawing/2014/main" id="{B62DB02C-3EE6-4FD7-A150-77864C91B389}"/>
              </a:ext>
            </a:extLst>
          </p:cNvPr>
          <p:cNvSpPr>
            <a:spLocks xmlns:a="http://schemas.openxmlformats.org/drawingml/2006/main" noGrp="1"/>
          </p:cNvSpPr>
          <p:nvPr/>
        </p:nvSpPr>
        <p:spPr>
          <a:xfrm xmlns:a="http://schemas.openxmlformats.org/drawingml/2006/main">
            <a:off x="4267200" y="320992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Different lineage or large genomic distance</a:t>
            </a:r>
          </a:p>
        </p:txBody>
      </p:sp>
      <p:sp>
        <p:nvSpPr>
          <p:cNvPr id="20" name="">
            <a:extLst xmlns:a="http://schemas.openxmlformats.org/drawingml/2006/main">
              <a:ext uri="{FF2B5EF4-FFF2-40B4-BE49-F238E27FC236}">
                <a16:creationId xmlns:a16="http://schemas.microsoft.com/office/drawing/2014/main" id="{EEE30A91-250D-4C2A-913C-D37DDA189076}"/>
              </a:ext>
            </a:extLst>
          </p:cNvPr>
          <p:cNvSpPr>
            <a:spLocks xmlns:a="http://schemas.openxmlformats.org/drawingml/2006/main" noGrp="1"/>
          </p:cNvSpPr>
          <p:nvPr/>
        </p:nvSpPr>
        <p:spPr>
          <a:xfrm xmlns:a="http://schemas.openxmlformats.org/drawingml/2006/main">
            <a:off x="4095750" y="3733800"/>
            <a:ext cx="2762250" cy="514350"/>
          </a:xfrm>
          <a:prstGeom xmlns:a="http://schemas.openxmlformats.org/drawingml/2006/main" prst="roundRect">
            <a:avLst>
              <a:gd name="adj" fmla="val 14815"/>
            </a:avLst>
          </a:prstGeom>
          <a:solidFill xmlns:a="http://schemas.openxmlformats.org/drawingml/2006/main">
            <a:srgbClr val="EEF3F8"/>
          </a:solidFill>
          <a:ln xmlns:a="http://schemas.openxmlformats.org/drawingml/2006/main" w="0">
            <a:solidFill>
              <a:srgbClr val="EEF3F8"/>
            </a:solidFill>
            <a:prstDash val="solid"/>
          </a:ln>
        </p:spPr>
      </p:sp>
      <p:sp>
        <p:nvSpPr>
          <p:cNvPr id="21" name="">
            <a:extLst xmlns:a="http://schemas.openxmlformats.org/drawingml/2006/main">
              <a:ext uri="{FF2B5EF4-FFF2-40B4-BE49-F238E27FC236}">
                <a16:creationId xmlns:a16="http://schemas.microsoft.com/office/drawing/2014/main" id="{E623E349-ACE3-4D33-8374-58A10C9BFE79}"/>
              </a:ext>
            </a:extLst>
          </p:cNvPr>
          <p:cNvSpPr>
            <a:spLocks xmlns:a="http://schemas.openxmlformats.org/drawingml/2006/main" noGrp="1"/>
          </p:cNvSpPr>
          <p:nvPr/>
        </p:nvSpPr>
        <p:spPr>
          <a:xfrm xmlns:a="http://schemas.openxmlformats.org/drawingml/2006/main">
            <a:off x="4267200" y="38290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Gene-content change</a:t>
            </a:r>
          </a:p>
        </p:txBody>
      </p:sp>
      <p:sp>
        <p:nvSpPr>
          <p:cNvPr id="22" name="">
            <a:extLst xmlns:a="http://schemas.openxmlformats.org/drawingml/2006/main">
              <a:ext uri="{FF2B5EF4-FFF2-40B4-BE49-F238E27FC236}">
                <a16:creationId xmlns:a16="http://schemas.microsoft.com/office/drawing/2014/main" id="{9625ECED-C863-420D-AB19-06EC558E04C2}"/>
              </a:ext>
            </a:extLst>
          </p:cNvPr>
          <p:cNvSpPr>
            <a:spLocks xmlns:a="http://schemas.openxmlformats.org/drawingml/2006/main" noGrp="1"/>
          </p:cNvSpPr>
          <p:nvPr/>
        </p:nvSpPr>
        <p:spPr>
          <a:xfrm xmlns:a="http://schemas.openxmlformats.org/drawingml/2006/main">
            <a:off x="4267200" y="402907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Detected VF gains/losses between visits</a:t>
            </a:r>
          </a:p>
        </p:txBody>
      </p:sp>
      <p:sp>
        <p:nvSpPr>
          <p:cNvPr id="23" name="">
            <a:extLst xmlns:a="http://schemas.openxmlformats.org/drawingml/2006/main">
              <a:ext uri="{FF2B5EF4-FFF2-40B4-BE49-F238E27FC236}">
                <a16:creationId xmlns:a16="http://schemas.microsoft.com/office/drawing/2014/main" id="{DA382733-3C09-4E7F-90A5-C717CF9D5843}"/>
              </a:ext>
            </a:extLst>
          </p:cNvPr>
          <p:cNvSpPr>
            <a:spLocks xmlns:a="http://schemas.openxmlformats.org/drawingml/2006/main" noGrp="1"/>
          </p:cNvSpPr>
          <p:nvPr/>
        </p:nvSpPr>
        <p:spPr>
          <a:xfrm xmlns:a="http://schemas.openxmlformats.org/drawingml/2006/main">
            <a:off x="7524750" y="1752600"/>
            <a:ext cx="356235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98A03186-9061-48F1-9FE3-B37CB0F1C18F}"/>
              </a:ext>
            </a:extLst>
          </p:cNvPr>
          <p:cNvSpPr>
            <a:spLocks xmlns:a="http://schemas.openxmlformats.org/drawingml/2006/main" noGrp="1"/>
          </p:cNvSpPr>
          <p:nvPr/>
        </p:nvSpPr>
        <p:spPr>
          <a:xfrm xmlns:a="http://schemas.openxmlformats.org/drawingml/2006/main">
            <a:off x="7696200" y="1924050"/>
            <a:ext cx="3219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Clinical overlay comes later</a:t>
            </a:r>
          </a:p>
        </p:txBody>
      </p:sp>
      <p:sp>
        <p:nvSpPr>
          <p:cNvPr id="25" name="">
            <a:extLst xmlns:a="http://schemas.openxmlformats.org/drawingml/2006/main">
              <a:ext uri="{FF2B5EF4-FFF2-40B4-BE49-F238E27FC236}">
                <a16:creationId xmlns:a16="http://schemas.microsoft.com/office/drawing/2014/main" id="{E897253E-E396-4269-B0CF-3C8D628FBB8A}"/>
              </a:ext>
            </a:extLst>
          </p:cNvPr>
          <p:cNvSpPr>
            <a:spLocks xmlns:a="http://schemas.openxmlformats.org/drawingml/2006/main" noGrp="1"/>
          </p:cNvSpPr>
          <p:nvPr/>
        </p:nvSpPr>
        <p:spPr>
          <a:xfrm xmlns:a="http://schemas.openxmlformats.org/drawingml/2006/main">
            <a:off x="7696200" y="2209800"/>
            <a:ext cx="3219450" cy="2362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UTI_Status still matters, but the sparse UTI denominator means clinical contrasts should be labelled exploratory. The VF pipeline first establishes what was measured, how profiles are curated, and how stable those profiles are within residents.</a:t>
            </a:r>
          </a:p>
        </p:txBody>
      </p:sp>
      <p:sp>
        <p:nvSpPr>
          <p:cNvPr id="26" name="">
            <a:extLst xmlns:a="http://schemas.openxmlformats.org/drawingml/2006/main">
              <a:ext uri="{FF2B5EF4-FFF2-40B4-BE49-F238E27FC236}">
                <a16:creationId xmlns:a16="http://schemas.microsoft.com/office/drawing/2014/main" id="{62170081-7C29-455A-9668-6DB87D28E947}"/>
              </a:ext>
            </a:extLst>
          </p:cNvPr>
          <p:cNvSpPr>
            <a:spLocks xmlns:a="http://schemas.openxmlformats.org/drawingml/2006/main" noGrp="1"/>
          </p:cNvSpPr>
          <p:nvPr/>
        </p:nvSpPr>
        <p:spPr>
          <a:xfrm xmlns:a="http://schemas.openxmlformats.org/drawingml/2006/main">
            <a:off x="7524750" y="5010150"/>
            <a:ext cx="1409700" cy="247650"/>
          </a:xfrm>
          <a:prstGeom xmlns:a="http://schemas.openxmlformats.org/drawingml/2006/main" prst="rect">
            <a:avLst/>
          </a:prstGeom>
          <a:solidFill xmlns:a="http://schemas.openxmlformats.org/drawingml/2006/main">
            <a:srgbClr val="E8F1FA"/>
          </a:solidFill>
          <a:ln xmlns:a="http://schemas.openxmlformats.org/drawingml/2006/main" w="0">
            <a:solidFill>
              <a:srgbClr val="E8F1FA"/>
            </a:solidFill>
            <a:prstDash val="solid"/>
          </a:ln>
        </p:spPr>
      </p:sp>
      <p:sp>
        <p:nvSpPr>
          <p:cNvPr id="27" name="">
            <a:extLst xmlns:a="http://schemas.openxmlformats.org/drawingml/2006/main">
              <a:ext uri="{FF2B5EF4-FFF2-40B4-BE49-F238E27FC236}">
                <a16:creationId xmlns:a16="http://schemas.microsoft.com/office/drawing/2014/main" id="{23797014-92D4-4752-B084-C0550CA5A25D}"/>
              </a:ext>
            </a:extLst>
          </p:cNvPr>
          <p:cNvSpPr>
            <a:spLocks xmlns:a="http://schemas.openxmlformats.org/drawingml/2006/main" noGrp="1"/>
          </p:cNvSpPr>
          <p:nvPr/>
        </p:nvSpPr>
        <p:spPr>
          <a:xfrm xmlns:a="http://schemas.openxmlformats.org/drawingml/2006/main">
            <a:off x="7620000" y="5057775"/>
            <a:ext cx="1219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B6CB0"/>
                </a:solidFill>
                <a:latin typeface="Aptos"/>
                <a:ea typeface="Aptos"/>
                <a:cs typeface="Aptos"/>
              </a:defRPr>
            </a:pPr>
            <a:r>
              <a:rPr sz="788" b="1">
                <a:solidFill>
                  <a:srgbClr val="2B6CB0"/>
                </a:solidFill>
                <a:latin typeface="Aptos"/>
                <a:ea typeface="Aptos"/>
                <a:cs typeface="Aptos"/>
              </a:rPr>
              <a:t>Not_UTI</a:t>
            </a:r>
          </a:p>
        </p:txBody>
      </p:sp>
      <p:sp>
        <p:nvSpPr>
          <p:cNvPr id="28" name="">
            <a:extLst xmlns:a="http://schemas.openxmlformats.org/drawingml/2006/main">
              <a:ext uri="{FF2B5EF4-FFF2-40B4-BE49-F238E27FC236}">
                <a16:creationId xmlns:a16="http://schemas.microsoft.com/office/drawing/2014/main" id="{582089DF-F31F-4948-A3A4-0545E65A9B5E}"/>
              </a:ext>
            </a:extLst>
          </p:cNvPr>
          <p:cNvSpPr>
            <a:spLocks xmlns:a="http://schemas.openxmlformats.org/drawingml/2006/main" noGrp="1"/>
          </p:cNvSpPr>
          <p:nvPr/>
        </p:nvSpPr>
        <p:spPr>
          <a:xfrm xmlns:a="http://schemas.openxmlformats.org/drawingml/2006/main">
            <a:off x="9239250" y="5010150"/>
            <a:ext cx="140970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29" name="">
            <a:extLst xmlns:a="http://schemas.openxmlformats.org/drawingml/2006/main">
              <a:ext uri="{FF2B5EF4-FFF2-40B4-BE49-F238E27FC236}">
                <a16:creationId xmlns:a16="http://schemas.microsoft.com/office/drawing/2014/main" id="{BE16DCD9-83F8-44C7-80BF-B3C925EDF199}"/>
              </a:ext>
            </a:extLst>
          </p:cNvPr>
          <p:cNvSpPr>
            <a:spLocks xmlns:a="http://schemas.openxmlformats.org/drawingml/2006/main" noGrp="1"/>
          </p:cNvSpPr>
          <p:nvPr/>
        </p:nvSpPr>
        <p:spPr>
          <a:xfrm xmlns:a="http://schemas.openxmlformats.org/drawingml/2006/main">
            <a:off x="9334500" y="5057775"/>
            <a:ext cx="1219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D97706"/>
                </a:solidFill>
                <a:latin typeface="Aptos"/>
                <a:ea typeface="Aptos"/>
                <a:cs typeface="Aptos"/>
              </a:defRPr>
            </a:pPr>
            <a:r>
              <a:rPr sz="788" b="1">
                <a:solidFill>
                  <a:srgbClr val="D97706"/>
                </a:solidFill>
                <a:latin typeface="Aptos"/>
                <a:ea typeface="Aptos"/>
                <a:cs typeface="Aptos"/>
              </a:rPr>
              <a:t>UTI</a:t>
            </a:r>
          </a:p>
        </p:txBody>
      </p:sp>
      <p:sp>
        <p:nvSpPr>
          <p:cNvPr id="30" name="">
            <a:extLst xmlns:a="http://schemas.openxmlformats.org/drawingml/2006/main">
              <a:ext uri="{FF2B5EF4-FFF2-40B4-BE49-F238E27FC236}">
                <a16:creationId xmlns:a16="http://schemas.microsoft.com/office/drawing/2014/main" id="{63A7B9E8-C370-4B02-BD40-946E06661AE9}"/>
              </a:ext>
            </a:extLst>
          </p:cNvPr>
          <p:cNvSpPr>
            <a:spLocks xmlns:a="http://schemas.openxmlformats.org/drawingml/2006/main" noGrp="1"/>
          </p:cNvSpPr>
          <p:nvPr/>
        </p:nvSpPr>
        <p:spPr>
          <a:xfrm xmlns:a="http://schemas.openxmlformats.org/drawingml/2006/main" rot="0">
            <a:off x="8915400" y="5124450"/>
            <a:ext cx="28575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0CEF40E7-4E61-44C8-816B-C4E59A742175}"/>
              </a:ext>
            </a:extLst>
          </p:cNvPr>
          <p:cNvSpPr>
            <a:spLocks xmlns:a="http://schemas.openxmlformats.org/drawingml/2006/main" noGrp="1"/>
          </p:cNvSpPr>
          <p:nvPr/>
        </p:nvSpPr>
        <p:spPr>
          <a:xfrm xmlns:a="http://schemas.openxmlformats.org/drawingml/2006/main" rot="5400000">
            <a:off x="9134475" y="5086350"/>
            <a:ext cx="95250" cy="95250"/>
          </a:xfrm>
          <a:prstGeom xmlns:a="http://schemas.openxmlformats.org/drawingml/2006/main" prst="triangle">
            <a:avLst/>
          </a:prstGeom>
          <a:solidFill xmlns:a="http://schemas.openxmlformats.org/drawingml/2006/main">
            <a:srgbClr val="CBD5E1"/>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10106127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C7DDFF-CE5A-47EE-9B3C-BE407FFA79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2EE163F-4FB7-4456-9213-AA2CFD2EBA7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91E6C72-46C1-46BD-B825-C22BD7B2E030}"/>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DATA ASSET</a:t>
            </a:r>
          </a:p>
        </p:txBody>
      </p:sp>
      <p:sp>
        <p:nvSpPr>
          <p:cNvPr id="4" name="">
            <a:extLst xmlns:a="http://schemas.openxmlformats.org/drawingml/2006/main">
              <a:ext uri="{FF2B5EF4-FFF2-40B4-BE49-F238E27FC236}">
                <a16:creationId xmlns:a16="http://schemas.microsoft.com/office/drawing/2014/main" id="{1C0D1FEE-AEAC-4525-B639-BAE56CBF2F0D}"/>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VF-ready data link repeated urinary E. coli genomes to clinical episodes</a:t>
            </a:r>
          </a:p>
        </p:txBody>
      </p:sp>
      <p:sp>
        <p:nvSpPr>
          <p:cNvPr id="5" name="">
            <a:extLst xmlns:a="http://schemas.openxmlformats.org/drawingml/2006/main">
              <a:ext uri="{FF2B5EF4-FFF2-40B4-BE49-F238E27FC236}">
                <a16:creationId xmlns:a16="http://schemas.microsoft.com/office/drawing/2014/main" id="{4400B5DB-3EF6-4CB1-ACE9-B83F9DE32376}"/>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Dataset-level counts are VF-ready denominators; no disputed clinical participant total is displayed.</a:t>
            </a:r>
          </a:p>
        </p:txBody>
      </p:sp>
      <p:sp>
        <p:nvSpPr>
          <p:cNvPr id="6" name="">
            <a:extLst xmlns:a="http://schemas.openxmlformats.org/drawingml/2006/main">
              <a:ext uri="{FF2B5EF4-FFF2-40B4-BE49-F238E27FC236}">
                <a16:creationId xmlns:a16="http://schemas.microsoft.com/office/drawing/2014/main" id="{A111A3B1-5B1B-4253-B066-FC83297391D0}"/>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5346C1D-0D2B-4ABE-A573-D47905EB22A8}"/>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9D51A62-D4E0-46A8-9928-1AF884EDA5CC}"/>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D490C76A-65FB-41B0-B038-62D08DBBAFA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CE073314-451D-40DD-AFAF-05E50171A7C8}"/>
              </a:ext>
            </a:extLst>
          </p:cNvPr>
          <p:cNvSpPr>
            <a:spLocks xmlns:a="http://schemas.openxmlformats.org/drawingml/2006/main" noGrp="1"/>
          </p:cNvSpPr>
          <p:nvPr/>
        </p:nvSpPr>
        <p:spPr>
          <a:xfrm xmlns:a="http://schemas.openxmlformats.org/drawingml/2006/main">
            <a:off x="762000" y="1714500"/>
            <a:ext cx="1809750" cy="819150"/>
          </a:xfrm>
          <a:prstGeom xmlns:a="http://schemas.openxmlformats.org/drawingml/2006/main" prst="roundRect">
            <a:avLst>
              <a:gd name="adj" fmla="val 9302"/>
            </a:avLst>
          </a:prstGeom>
          <a:solidFill xmlns:a="http://schemas.openxmlformats.org/drawingml/2006/main">
            <a:srgbClr val="E8F1FA"/>
          </a:solidFill>
          <a:ln xmlns:a="http://schemas.openxmlformats.org/drawingml/2006/main" w="0">
            <a:solidFill>
              <a:srgbClr val="E8F1FA"/>
            </a:solidFill>
            <a:prstDash val="solid"/>
          </a:ln>
        </p:spPr>
      </p:sp>
      <p:sp>
        <p:nvSpPr>
          <p:cNvPr id="11" name="">
            <a:extLst xmlns:a="http://schemas.openxmlformats.org/drawingml/2006/main">
              <a:ext uri="{FF2B5EF4-FFF2-40B4-BE49-F238E27FC236}">
                <a16:creationId xmlns:a16="http://schemas.microsoft.com/office/drawing/2014/main" id="{82330E74-E379-44E3-ACD1-FBF3222577FB}"/>
              </a:ext>
            </a:extLst>
          </p:cNvPr>
          <p:cNvSpPr>
            <a:spLocks xmlns:a="http://schemas.openxmlformats.org/drawingml/2006/main" noGrp="1"/>
          </p:cNvSpPr>
          <p:nvPr/>
        </p:nvSpPr>
        <p:spPr>
          <a:xfrm xmlns:a="http://schemas.openxmlformats.org/drawingml/2006/main">
            <a:off x="914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B6CB0"/>
                </a:solidFill>
                <a:latin typeface="Aptos"/>
                <a:ea typeface="Aptos"/>
                <a:cs typeface="Aptos"/>
              </a:defRPr>
            </a:pPr>
            <a:r>
              <a:rPr sz="2100" b="1">
                <a:solidFill>
                  <a:srgbClr val="2B6CB0"/>
                </a:solidFill>
                <a:latin typeface="Aptos"/>
                <a:ea typeface="Aptos"/>
                <a:cs typeface="Aptos"/>
              </a:rPr>
              <a:t>556</a:t>
            </a:r>
          </a:p>
        </p:txBody>
      </p:sp>
      <p:sp>
        <p:nvSpPr>
          <p:cNvPr id="12" name="">
            <a:extLst xmlns:a="http://schemas.openxmlformats.org/drawingml/2006/main">
              <a:ext uri="{FF2B5EF4-FFF2-40B4-BE49-F238E27FC236}">
                <a16:creationId xmlns:a16="http://schemas.microsoft.com/office/drawing/2014/main" id="{FE0C7B11-4434-4D46-BEA0-10ABA03FFD7C}"/>
              </a:ext>
            </a:extLst>
          </p:cNvPr>
          <p:cNvSpPr>
            <a:spLocks xmlns:a="http://schemas.openxmlformats.org/drawingml/2006/main" noGrp="1"/>
          </p:cNvSpPr>
          <p:nvPr/>
        </p:nvSpPr>
        <p:spPr>
          <a:xfrm xmlns:a="http://schemas.openxmlformats.org/drawingml/2006/main">
            <a:off x="914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B6CB0"/>
                </a:solidFill>
                <a:latin typeface="Aptos"/>
                <a:ea typeface="Aptos"/>
                <a:cs typeface="Aptos"/>
              </a:defRPr>
            </a:pPr>
            <a:r>
              <a:rPr sz="863" b="0">
                <a:solidFill>
                  <a:srgbClr val="2B6CB0"/>
                </a:solidFill>
                <a:latin typeface="Aptos"/>
                <a:ea typeface="Aptos"/>
                <a:cs typeface="Aptos"/>
              </a:rPr>
              <a:t>episode-level selected assemblies</a:t>
            </a:r>
          </a:p>
        </p:txBody>
      </p:sp>
      <p:sp>
        <p:nvSpPr>
          <p:cNvPr id="13" name="">
            <a:extLst xmlns:a="http://schemas.openxmlformats.org/drawingml/2006/main">
              <a:ext uri="{FF2B5EF4-FFF2-40B4-BE49-F238E27FC236}">
                <a16:creationId xmlns:a16="http://schemas.microsoft.com/office/drawing/2014/main" id="{9874981A-1203-4897-8862-F3C32B3BB4ED}"/>
              </a:ext>
            </a:extLst>
          </p:cNvPr>
          <p:cNvSpPr>
            <a:spLocks xmlns:a="http://schemas.openxmlformats.org/drawingml/2006/main" noGrp="1"/>
          </p:cNvSpPr>
          <p:nvPr/>
        </p:nvSpPr>
        <p:spPr>
          <a:xfrm xmlns:a="http://schemas.openxmlformats.org/drawingml/2006/main">
            <a:off x="2857500" y="1714500"/>
            <a:ext cx="1809750" cy="819150"/>
          </a:xfrm>
          <a:prstGeom xmlns:a="http://schemas.openxmlformats.org/drawingml/2006/main" prst="roundRect">
            <a:avLst>
              <a:gd name="adj" fmla="val 9302"/>
            </a:avLst>
          </a:prstGeom>
          <a:solidFill xmlns:a="http://schemas.openxmlformats.org/drawingml/2006/main">
            <a:srgbClr val="EEF3F8"/>
          </a:solidFill>
          <a:ln xmlns:a="http://schemas.openxmlformats.org/drawingml/2006/main" w="0">
            <a:solidFill>
              <a:srgbClr val="EEF3F8"/>
            </a:solidFill>
            <a:prstDash val="solid"/>
          </a:ln>
        </p:spPr>
      </p:sp>
      <p:sp>
        <p:nvSpPr>
          <p:cNvPr id="14" name="">
            <a:extLst xmlns:a="http://schemas.openxmlformats.org/drawingml/2006/main">
              <a:ext uri="{FF2B5EF4-FFF2-40B4-BE49-F238E27FC236}">
                <a16:creationId xmlns:a16="http://schemas.microsoft.com/office/drawing/2014/main" id="{C60D3E45-937D-4A6E-B515-4708929BF82D}"/>
              </a:ext>
            </a:extLst>
          </p:cNvPr>
          <p:cNvSpPr>
            <a:spLocks xmlns:a="http://schemas.openxmlformats.org/drawingml/2006/main" noGrp="1"/>
          </p:cNvSpPr>
          <p:nvPr/>
        </p:nvSpPr>
        <p:spPr>
          <a:xfrm xmlns:a="http://schemas.openxmlformats.org/drawingml/2006/main">
            <a:off x="30099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11827"/>
                </a:solidFill>
                <a:latin typeface="Aptos"/>
                <a:ea typeface="Aptos"/>
                <a:cs typeface="Aptos"/>
              </a:defRPr>
            </a:pPr>
            <a:r>
              <a:rPr sz="2100" b="1">
                <a:solidFill>
                  <a:srgbClr val="111827"/>
                </a:solidFill>
                <a:latin typeface="Aptos"/>
                <a:ea typeface="Aptos"/>
                <a:cs typeface="Aptos"/>
              </a:rPr>
              <a:t>162</a:t>
            </a:r>
          </a:p>
        </p:txBody>
      </p:sp>
      <p:sp>
        <p:nvSpPr>
          <p:cNvPr id="15" name="">
            <a:extLst xmlns:a="http://schemas.openxmlformats.org/drawingml/2006/main">
              <a:ext uri="{FF2B5EF4-FFF2-40B4-BE49-F238E27FC236}">
                <a16:creationId xmlns:a16="http://schemas.microsoft.com/office/drawing/2014/main" id="{559A49E3-D90B-4500-B5C1-AA2D974631CB}"/>
              </a:ext>
            </a:extLst>
          </p:cNvPr>
          <p:cNvSpPr>
            <a:spLocks xmlns:a="http://schemas.openxmlformats.org/drawingml/2006/main" noGrp="1"/>
          </p:cNvSpPr>
          <p:nvPr/>
        </p:nvSpPr>
        <p:spPr>
          <a:xfrm xmlns:a="http://schemas.openxmlformats.org/drawingml/2006/main">
            <a:off x="30099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111827"/>
                </a:solidFill>
                <a:latin typeface="Aptos"/>
                <a:ea typeface="Aptos"/>
                <a:cs typeface="Aptos"/>
              </a:defRPr>
            </a:pPr>
            <a:r>
              <a:rPr sz="863" b="0">
                <a:solidFill>
                  <a:srgbClr val="111827"/>
                </a:solidFill>
                <a:latin typeface="Aptos"/>
                <a:ea typeface="Aptos"/>
                <a:cs typeface="Aptos"/>
              </a:rPr>
              <a:t>participants in VF-ready dataset</a:t>
            </a:r>
          </a:p>
        </p:txBody>
      </p:sp>
      <p:sp>
        <p:nvSpPr>
          <p:cNvPr id="16" name="">
            <a:extLst xmlns:a="http://schemas.openxmlformats.org/drawingml/2006/main">
              <a:ext uri="{FF2B5EF4-FFF2-40B4-BE49-F238E27FC236}">
                <a16:creationId xmlns:a16="http://schemas.microsoft.com/office/drawing/2014/main" id="{C904E2A9-02A1-4B86-9621-40909AA06573}"/>
              </a:ext>
            </a:extLst>
          </p:cNvPr>
          <p:cNvSpPr>
            <a:spLocks xmlns:a="http://schemas.openxmlformats.org/drawingml/2006/main" noGrp="1"/>
          </p:cNvSpPr>
          <p:nvPr/>
        </p:nvSpPr>
        <p:spPr>
          <a:xfrm xmlns:a="http://schemas.openxmlformats.org/drawingml/2006/main">
            <a:off x="4953000" y="1714500"/>
            <a:ext cx="180975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17" name="">
            <a:extLst xmlns:a="http://schemas.openxmlformats.org/drawingml/2006/main">
              <a:ext uri="{FF2B5EF4-FFF2-40B4-BE49-F238E27FC236}">
                <a16:creationId xmlns:a16="http://schemas.microsoft.com/office/drawing/2014/main" id="{D89A564F-FB58-4C52-B384-73C9D23D7FF1}"/>
              </a:ext>
            </a:extLst>
          </p:cNvPr>
          <p:cNvSpPr>
            <a:spLocks xmlns:a="http://schemas.openxmlformats.org/drawingml/2006/main" noGrp="1"/>
          </p:cNvSpPr>
          <p:nvPr/>
        </p:nvSpPr>
        <p:spPr>
          <a:xfrm xmlns:a="http://schemas.openxmlformats.org/drawingml/2006/main">
            <a:off x="5105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227</a:t>
            </a:r>
          </a:p>
        </p:txBody>
      </p:sp>
      <p:sp>
        <p:nvSpPr>
          <p:cNvPr id="18" name="">
            <a:extLst xmlns:a="http://schemas.openxmlformats.org/drawingml/2006/main">
              <a:ext uri="{FF2B5EF4-FFF2-40B4-BE49-F238E27FC236}">
                <a16:creationId xmlns:a16="http://schemas.microsoft.com/office/drawing/2014/main" id="{DE86C5C4-C92B-4F44-81AA-7E22A9F0B29B}"/>
              </a:ext>
            </a:extLst>
          </p:cNvPr>
          <p:cNvSpPr>
            <a:spLocks xmlns:a="http://schemas.openxmlformats.org/drawingml/2006/main" noGrp="1"/>
          </p:cNvSpPr>
          <p:nvPr/>
        </p:nvSpPr>
        <p:spPr>
          <a:xfrm xmlns:a="http://schemas.openxmlformats.org/drawingml/2006/main">
            <a:off x="5105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binary VF gene columns</a:t>
            </a:r>
          </a:p>
        </p:txBody>
      </p:sp>
      <p:sp>
        <p:nvSpPr>
          <p:cNvPr id="19" name="">
            <a:extLst xmlns:a="http://schemas.openxmlformats.org/drawingml/2006/main">
              <a:ext uri="{FF2B5EF4-FFF2-40B4-BE49-F238E27FC236}">
                <a16:creationId xmlns:a16="http://schemas.microsoft.com/office/drawing/2014/main" id="{0CF92B96-C4A8-4E06-8184-C8EA60CC92D4}"/>
              </a:ext>
            </a:extLst>
          </p:cNvPr>
          <p:cNvSpPr>
            <a:spLocks xmlns:a="http://schemas.openxmlformats.org/drawingml/2006/main" noGrp="1"/>
          </p:cNvSpPr>
          <p:nvPr/>
        </p:nvSpPr>
        <p:spPr>
          <a:xfrm xmlns:a="http://schemas.openxmlformats.org/drawingml/2006/main">
            <a:off x="7048500" y="1714500"/>
            <a:ext cx="1809750" cy="819150"/>
          </a:xfrm>
          <a:prstGeom xmlns:a="http://schemas.openxmlformats.org/drawingml/2006/main" prst="roundRect">
            <a:avLst>
              <a:gd name="adj" fmla="val 9302"/>
            </a:avLst>
          </a:prstGeom>
          <a:solidFill xmlns:a="http://schemas.openxmlformats.org/drawingml/2006/main">
            <a:srgbClr val="FFF4E6"/>
          </a:solidFill>
          <a:ln xmlns:a="http://schemas.openxmlformats.org/drawingml/2006/main" w="0">
            <a:solidFill>
              <a:srgbClr val="FFF4E6"/>
            </a:solidFill>
            <a:prstDash val="solid"/>
          </a:ln>
        </p:spPr>
      </p:sp>
      <p:sp>
        <p:nvSpPr>
          <p:cNvPr id="20" name="">
            <a:extLst xmlns:a="http://schemas.openxmlformats.org/drawingml/2006/main">
              <a:ext uri="{FF2B5EF4-FFF2-40B4-BE49-F238E27FC236}">
                <a16:creationId xmlns:a16="http://schemas.microsoft.com/office/drawing/2014/main" id="{45BE3C26-B258-4D5D-9483-6F79100B89D4}"/>
              </a:ext>
            </a:extLst>
          </p:cNvPr>
          <p:cNvSpPr>
            <a:spLocks xmlns:a="http://schemas.openxmlformats.org/drawingml/2006/main" noGrp="1"/>
          </p:cNvSpPr>
          <p:nvPr/>
        </p:nvSpPr>
        <p:spPr>
          <a:xfrm xmlns:a="http://schemas.openxmlformats.org/drawingml/2006/main">
            <a:off x="72009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D97706"/>
                </a:solidFill>
                <a:latin typeface="Aptos"/>
                <a:ea typeface="Aptos"/>
                <a:cs typeface="Aptos"/>
              </a:defRPr>
            </a:pPr>
            <a:r>
              <a:rPr sz="2100" b="1">
                <a:solidFill>
                  <a:srgbClr val="D97706"/>
                </a:solidFill>
                <a:latin typeface="Aptos"/>
                <a:ea typeface="Aptos"/>
                <a:cs typeface="Aptos"/>
              </a:rPr>
              <a:t>32</a:t>
            </a:r>
          </a:p>
        </p:txBody>
      </p:sp>
      <p:sp>
        <p:nvSpPr>
          <p:cNvPr id="21" name="">
            <a:extLst xmlns:a="http://schemas.openxmlformats.org/drawingml/2006/main">
              <a:ext uri="{FF2B5EF4-FFF2-40B4-BE49-F238E27FC236}">
                <a16:creationId xmlns:a16="http://schemas.microsoft.com/office/drawing/2014/main" id="{62F3E59C-5C41-4AC2-8EE4-7C7C90F910A9}"/>
              </a:ext>
            </a:extLst>
          </p:cNvPr>
          <p:cNvSpPr>
            <a:spLocks xmlns:a="http://schemas.openxmlformats.org/drawingml/2006/main" noGrp="1"/>
          </p:cNvSpPr>
          <p:nvPr/>
        </p:nvSpPr>
        <p:spPr>
          <a:xfrm xmlns:a="http://schemas.openxmlformats.org/drawingml/2006/main">
            <a:off x="72009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D97706"/>
                </a:solidFill>
                <a:latin typeface="Aptos"/>
                <a:ea typeface="Aptos"/>
                <a:cs typeface="Aptos"/>
              </a:defRPr>
            </a:pPr>
            <a:r>
              <a:rPr sz="863" b="0">
                <a:solidFill>
                  <a:srgbClr val="D97706"/>
                </a:solidFill>
                <a:latin typeface="Aptos"/>
                <a:ea typeface="Aptos"/>
                <a:cs typeface="Aptos"/>
              </a:rPr>
              <a:t>curated modules</a:t>
            </a:r>
          </a:p>
        </p:txBody>
      </p:sp>
      <p:sp>
        <p:nvSpPr>
          <p:cNvPr id="22" name="">
            <a:extLst xmlns:a="http://schemas.openxmlformats.org/drawingml/2006/main">
              <a:ext uri="{FF2B5EF4-FFF2-40B4-BE49-F238E27FC236}">
                <a16:creationId xmlns:a16="http://schemas.microsoft.com/office/drawing/2014/main" id="{E4E09047-D088-41D0-8E75-F9DC0363D75C}"/>
              </a:ext>
            </a:extLst>
          </p:cNvPr>
          <p:cNvSpPr>
            <a:spLocks xmlns:a="http://schemas.openxmlformats.org/drawingml/2006/main" noGrp="1"/>
          </p:cNvSpPr>
          <p:nvPr/>
        </p:nvSpPr>
        <p:spPr>
          <a:xfrm xmlns:a="http://schemas.openxmlformats.org/drawingml/2006/main">
            <a:off x="9144000" y="1714500"/>
            <a:ext cx="1809750" cy="819150"/>
          </a:xfrm>
          <a:prstGeom xmlns:a="http://schemas.openxmlformats.org/drawingml/2006/main" prst="roundRect">
            <a:avLst>
              <a:gd name="adj" fmla="val 9302"/>
            </a:avLst>
          </a:prstGeom>
          <a:solidFill xmlns:a="http://schemas.openxmlformats.org/drawingml/2006/main">
            <a:srgbClr val="FBEDE8"/>
          </a:solidFill>
          <a:ln xmlns:a="http://schemas.openxmlformats.org/drawingml/2006/main" w="0">
            <a:solidFill>
              <a:srgbClr val="FBEDE8"/>
            </a:solidFill>
            <a:prstDash val="solid"/>
          </a:ln>
        </p:spPr>
      </p:sp>
      <p:sp>
        <p:nvSpPr>
          <p:cNvPr id="23" name="">
            <a:extLst xmlns:a="http://schemas.openxmlformats.org/drawingml/2006/main">
              <a:ext uri="{FF2B5EF4-FFF2-40B4-BE49-F238E27FC236}">
                <a16:creationId xmlns:a16="http://schemas.microsoft.com/office/drawing/2014/main" id="{CEB35776-455D-4DB6-B561-592B32572362}"/>
              </a:ext>
            </a:extLst>
          </p:cNvPr>
          <p:cNvSpPr>
            <a:spLocks xmlns:a="http://schemas.openxmlformats.org/drawingml/2006/main" noGrp="1"/>
          </p:cNvSpPr>
          <p:nvPr/>
        </p:nvSpPr>
        <p:spPr>
          <a:xfrm xmlns:a="http://schemas.openxmlformats.org/drawingml/2006/main">
            <a:off x="9296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B65A3C"/>
                </a:solidFill>
                <a:latin typeface="Aptos"/>
                <a:ea typeface="Aptos"/>
                <a:cs typeface="Aptos"/>
              </a:defRPr>
            </a:pPr>
            <a:r>
              <a:rPr sz="2100" b="1">
                <a:solidFill>
                  <a:srgbClr val="B65A3C"/>
                </a:solidFill>
                <a:latin typeface="Aptos"/>
                <a:ea typeface="Aptos"/>
                <a:cs typeface="Aptos"/>
              </a:rPr>
              <a:t>18</a:t>
            </a:r>
          </a:p>
        </p:txBody>
      </p:sp>
      <p:sp>
        <p:nvSpPr>
          <p:cNvPr id="24" name="">
            <a:extLst xmlns:a="http://schemas.openxmlformats.org/drawingml/2006/main">
              <a:ext uri="{FF2B5EF4-FFF2-40B4-BE49-F238E27FC236}">
                <a16:creationId xmlns:a16="http://schemas.microsoft.com/office/drawing/2014/main" id="{0A5AFAC8-5601-435F-9F48-84D2090F6762}"/>
              </a:ext>
            </a:extLst>
          </p:cNvPr>
          <p:cNvSpPr>
            <a:spLocks xmlns:a="http://schemas.openxmlformats.org/drawingml/2006/main" noGrp="1"/>
          </p:cNvSpPr>
          <p:nvPr/>
        </p:nvSpPr>
        <p:spPr>
          <a:xfrm xmlns:a="http://schemas.openxmlformats.org/drawingml/2006/main">
            <a:off x="9296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B65A3C"/>
                </a:solidFill>
                <a:latin typeface="Aptos"/>
                <a:ea typeface="Aptos"/>
                <a:cs typeface="Aptos"/>
              </a:defRPr>
            </a:pPr>
            <a:r>
              <a:rPr sz="863" b="0">
                <a:solidFill>
                  <a:srgbClr val="B65A3C"/>
                </a:solidFill>
                <a:latin typeface="Aptos"/>
                <a:ea typeface="Aptos"/>
                <a:cs typeface="Aptos"/>
              </a:rPr>
              <a:t>UPEC-candidate modules</a:t>
            </a:r>
          </a:p>
        </p:txBody>
      </p:sp>
      <p:sp>
        <p:nvSpPr>
          <p:cNvPr id="25" name="">
            <a:extLst xmlns:a="http://schemas.openxmlformats.org/drawingml/2006/main">
              <a:ext uri="{FF2B5EF4-FFF2-40B4-BE49-F238E27FC236}">
                <a16:creationId xmlns:a16="http://schemas.microsoft.com/office/drawing/2014/main" id="{429E710C-7C3A-4C49-B715-80954CB072C2}"/>
              </a:ext>
            </a:extLst>
          </p:cNvPr>
          <p:cNvSpPr>
            <a:spLocks xmlns:a="http://schemas.openxmlformats.org/drawingml/2006/main" noGrp="1"/>
          </p:cNvSpPr>
          <p:nvPr/>
        </p:nvSpPr>
        <p:spPr>
          <a:xfrm xmlns:a="http://schemas.openxmlformats.org/drawingml/2006/main">
            <a:off x="933450" y="3238500"/>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Repeated isolate design</a:t>
            </a:r>
          </a:p>
        </p:txBody>
      </p:sp>
      <p:sp>
        <p:nvSpPr>
          <p:cNvPr id="26" name="">
            <a:extLst xmlns:a="http://schemas.openxmlformats.org/drawingml/2006/main">
              <a:ext uri="{FF2B5EF4-FFF2-40B4-BE49-F238E27FC236}">
                <a16:creationId xmlns:a16="http://schemas.microsoft.com/office/drawing/2014/main" id="{3E11AC51-F012-487A-B560-3F3AA5821F86}"/>
              </a:ext>
            </a:extLst>
          </p:cNvPr>
          <p:cNvSpPr>
            <a:spLocks xmlns:a="http://schemas.openxmlformats.org/drawingml/2006/main" noGrp="1"/>
          </p:cNvSpPr>
          <p:nvPr/>
        </p:nvSpPr>
        <p:spPr>
          <a:xfrm xmlns:a="http://schemas.openxmlformats.org/drawingml/2006/main">
            <a:off x="1428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27" name="">
            <a:extLst xmlns:a="http://schemas.openxmlformats.org/drawingml/2006/main">
              <a:ext uri="{FF2B5EF4-FFF2-40B4-BE49-F238E27FC236}">
                <a16:creationId xmlns:a16="http://schemas.microsoft.com/office/drawing/2014/main" id="{818300C9-7A61-4D4C-AE32-D6137031BADA}"/>
              </a:ext>
            </a:extLst>
          </p:cNvPr>
          <p:cNvSpPr>
            <a:spLocks xmlns:a="http://schemas.openxmlformats.org/drawingml/2006/main" noGrp="1"/>
          </p:cNvSpPr>
          <p:nvPr/>
        </p:nvSpPr>
        <p:spPr>
          <a:xfrm xmlns:a="http://schemas.openxmlformats.org/drawingml/2006/main">
            <a:off x="1352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28" name="">
            <a:extLst xmlns:a="http://schemas.openxmlformats.org/drawingml/2006/main">
              <a:ext uri="{FF2B5EF4-FFF2-40B4-BE49-F238E27FC236}">
                <a16:creationId xmlns:a16="http://schemas.microsoft.com/office/drawing/2014/main" id="{8B742C41-A7D3-4D54-8941-8DB4DE772C7D}"/>
              </a:ext>
            </a:extLst>
          </p:cNvPr>
          <p:cNvSpPr>
            <a:spLocks xmlns:a="http://schemas.openxmlformats.org/drawingml/2006/main" noGrp="1"/>
          </p:cNvSpPr>
          <p:nvPr/>
        </p:nvSpPr>
        <p:spPr>
          <a:xfrm xmlns:a="http://schemas.openxmlformats.org/drawingml/2006/main" rot="0">
            <a:off x="21907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6EFDA248-4EB5-4AD2-875E-3FB8D277B179}"/>
              </a:ext>
            </a:extLst>
          </p:cNvPr>
          <p:cNvSpPr>
            <a:spLocks xmlns:a="http://schemas.openxmlformats.org/drawingml/2006/main" noGrp="1"/>
          </p:cNvSpPr>
          <p:nvPr/>
        </p:nvSpPr>
        <p:spPr>
          <a:xfrm xmlns:a="http://schemas.openxmlformats.org/drawingml/2006/main" rot="5400000">
            <a:off x="33623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B10D452E-8E17-4870-B0F3-FE91CDB44C2F}"/>
              </a:ext>
            </a:extLst>
          </p:cNvPr>
          <p:cNvSpPr>
            <a:spLocks xmlns:a="http://schemas.openxmlformats.org/drawingml/2006/main" noGrp="1"/>
          </p:cNvSpPr>
          <p:nvPr/>
        </p:nvSpPr>
        <p:spPr>
          <a:xfrm xmlns:a="http://schemas.openxmlformats.org/drawingml/2006/main">
            <a:off x="1276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1</a:t>
            </a:r>
          </a:p>
        </p:txBody>
      </p:sp>
      <p:sp>
        <p:nvSpPr>
          <p:cNvPr id="31" name="">
            <a:extLst xmlns:a="http://schemas.openxmlformats.org/drawingml/2006/main">
              <a:ext uri="{FF2B5EF4-FFF2-40B4-BE49-F238E27FC236}">
                <a16:creationId xmlns:a16="http://schemas.microsoft.com/office/drawing/2014/main" id="{91752332-FC17-4AA2-8322-3809094D03D9}"/>
              </a:ext>
            </a:extLst>
          </p:cNvPr>
          <p:cNvSpPr>
            <a:spLocks xmlns:a="http://schemas.openxmlformats.org/drawingml/2006/main" noGrp="1"/>
          </p:cNvSpPr>
          <p:nvPr/>
        </p:nvSpPr>
        <p:spPr>
          <a:xfrm xmlns:a="http://schemas.openxmlformats.org/drawingml/2006/main">
            <a:off x="35242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32" name="">
            <a:extLst xmlns:a="http://schemas.openxmlformats.org/drawingml/2006/main">
              <a:ext uri="{FF2B5EF4-FFF2-40B4-BE49-F238E27FC236}">
                <a16:creationId xmlns:a16="http://schemas.microsoft.com/office/drawing/2014/main" id="{43C8DC97-42C8-409A-A59D-1847E2BE86C2}"/>
              </a:ext>
            </a:extLst>
          </p:cNvPr>
          <p:cNvSpPr>
            <a:spLocks xmlns:a="http://schemas.openxmlformats.org/drawingml/2006/main" noGrp="1"/>
          </p:cNvSpPr>
          <p:nvPr/>
        </p:nvSpPr>
        <p:spPr>
          <a:xfrm xmlns:a="http://schemas.openxmlformats.org/drawingml/2006/main">
            <a:off x="34480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33" name="">
            <a:extLst xmlns:a="http://schemas.openxmlformats.org/drawingml/2006/main">
              <a:ext uri="{FF2B5EF4-FFF2-40B4-BE49-F238E27FC236}">
                <a16:creationId xmlns:a16="http://schemas.microsoft.com/office/drawing/2014/main" id="{EAACE67A-6054-48A3-889E-9EBD54B56C68}"/>
              </a:ext>
            </a:extLst>
          </p:cNvPr>
          <p:cNvSpPr>
            <a:spLocks xmlns:a="http://schemas.openxmlformats.org/drawingml/2006/main" noGrp="1"/>
          </p:cNvSpPr>
          <p:nvPr/>
        </p:nvSpPr>
        <p:spPr>
          <a:xfrm xmlns:a="http://schemas.openxmlformats.org/drawingml/2006/main" rot="0">
            <a:off x="42862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09A61A58-4BF1-472E-B791-DD18F784B00D}"/>
              </a:ext>
            </a:extLst>
          </p:cNvPr>
          <p:cNvSpPr>
            <a:spLocks xmlns:a="http://schemas.openxmlformats.org/drawingml/2006/main" noGrp="1"/>
          </p:cNvSpPr>
          <p:nvPr/>
        </p:nvSpPr>
        <p:spPr>
          <a:xfrm xmlns:a="http://schemas.openxmlformats.org/drawingml/2006/main" rot="5400000">
            <a:off x="54578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5D6C7391-4AB5-4CC6-BD58-DF0AA72A7251}"/>
              </a:ext>
            </a:extLst>
          </p:cNvPr>
          <p:cNvSpPr>
            <a:spLocks xmlns:a="http://schemas.openxmlformats.org/drawingml/2006/main" noGrp="1"/>
          </p:cNvSpPr>
          <p:nvPr/>
        </p:nvSpPr>
        <p:spPr>
          <a:xfrm xmlns:a="http://schemas.openxmlformats.org/drawingml/2006/main">
            <a:off x="33718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2</a:t>
            </a:r>
          </a:p>
        </p:txBody>
      </p:sp>
      <p:sp>
        <p:nvSpPr>
          <p:cNvPr id="36" name="">
            <a:extLst xmlns:a="http://schemas.openxmlformats.org/drawingml/2006/main">
              <a:ext uri="{FF2B5EF4-FFF2-40B4-BE49-F238E27FC236}">
                <a16:creationId xmlns:a16="http://schemas.microsoft.com/office/drawing/2014/main" id="{3013267F-22CC-43B1-B0B8-390822E71CE5}"/>
              </a:ext>
            </a:extLst>
          </p:cNvPr>
          <p:cNvSpPr>
            <a:spLocks xmlns:a="http://schemas.openxmlformats.org/drawingml/2006/main" noGrp="1"/>
          </p:cNvSpPr>
          <p:nvPr/>
        </p:nvSpPr>
        <p:spPr>
          <a:xfrm xmlns:a="http://schemas.openxmlformats.org/drawingml/2006/main">
            <a:off x="5619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37" name="">
            <a:extLst xmlns:a="http://schemas.openxmlformats.org/drawingml/2006/main">
              <a:ext uri="{FF2B5EF4-FFF2-40B4-BE49-F238E27FC236}">
                <a16:creationId xmlns:a16="http://schemas.microsoft.com/office/drawing/2014/main" id="{6C51488F-9157-414F-8B3B-2B32FFFFC1B2}"/>
              </a:ext>
            </a:extLst>
          </p:cNvPr>
          <p:cNvSpPr>
            <a:spLocks xmlns:a="http://schemas.openxmlformats.org/drawingml/2006/main" noGrp="1"/>
          </p:cNvSpPr>
          <p:nvPr/>
        </p:nvSpPr>
        <p:spPr>
          <a:xfrm xmlns:a="http://schemas.openxmlformats.org/drawingml/2006/main">
            <a:off x="5543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38" name="">
            <a:extLst xmlns:a="http://schemas.openxmlformats.org/drawingml/2006/main">
              <a:ext uri="{FF2B5EF4-FFF2-40B4-BE49-F238E27FC236}">
                <a16:creationId xmlns:a16="http://schemas.microsoft.com/office/drawing/2014/main" id="{5332BC79-8141-4BEC-B14E-BF502A9294AD}"/>
              </a:ext>
            </a:extLst>
          </p:cNvPr>
          <p:cNvSpPr>
            <a:spLocks xmlns:a="http://schemas.openxmlformats.org/drawingml/2006/main" noGrp="1"/>
          </p:cNvSpPr>
          <p:nvPr/>
        </p:nvSpPr>
        <p:spPr>
          <a:xfrm xmlns:a="http://schemas.openxmlformats.org/drawingml/2006/main" rot="0">
            <a:off x="63817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AF6D37C4-CB76-49C8-B031-F4C59042838B}"/>
              </a:ext>
            </a:extLst>
          </p:cNvPr>
          <p:cNvSpPr>
            <a:spLocks xmlns:a="http://schemas.openxmlformats.org/drawingml/2006/main" noGrp="1"/>
          </p:cNvSpPr>
          <p:nvPr/>
        </p:nvSpPr>
        <p:spPr>
          <a:xfrm xmlns:a="http://schemas.openxmlformats.org/drawingml/2006/main" rot="5400000">
            <a:off x="75533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36BC1E4E-A95E-4FAF-9AA0-2173FDD91D87}"/>
              </a:ext>
            </a:extLst>
          </p:cNvPr>
          <p:cNvSpPr>
            <a:spLocks xmlns:a="http://schemas.openxmlformats.org/drawingml/2006/main" noGrp="1"/>
          </p:cNvSpPr>
          <p:nvPr/>
        </p:nvSpPr>
        <p:spPr>
          <a:xfrm xmlns:a="http://schemas.openxmlformats.org/drawingml/2006/main">
            <a:off x="5467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3</a:t>
            </a:r>
          </a:p>
        </p:txBody>
      </p:sp>
      <p:sp>
        <p:nvSpPr>
          <p:cNvPr id="41" name="">
            <a:extLst xmlns:a="http://schemas.openxmlformats.org/drawingml/2006/main">
              <a:ext uri="{FF2B5EF4-FFF2-40B4-BE49-F238E27FC236}">
                <a16:creationId xmlns:a16="http://schemas.microsoft.com/office/drawing/2014/main" id="{CA7A815A-6EDD-408F-8D06-23C077F8F890}"/>
              </a:ext>
            </a:extLst>
          </p:cNvPr>
          <p:cNvSpPr>
            <a:spLocks xmlns:a="http://schemas.openxmlformats.org/drawingml/2006/main" noGrp="1"/>
          </p:cNvSpPr>
          <p:nvPr/>
        </p:nvSpPr>
        <p:spPr>
          <a:xfrm xmlns:a="http://schemas.openxmlformats.org/drawingml/2006/main">
            <a:off x="7715250" y="4191000"/>
            <a:ext cx="666750" cy="666750"/>
          </a:xfrm>
          <a:prstGeom xmlns:a="http://schemas.openxmlformats.org/drawingml/2006/main" prst="ellipse">
            <a:avLst/>
          </a:prstGeom>
          <a:solidFill xmlns:a="http://schemas.openxmlformats.org/drawingml/2006/main">
            <a:srgbClr val="FFF4E6"/>
          </a:solidFill>
          <a:ln xmlns:a="http://schemas.openxmlformats.org/drawingml/2006/main" w="19050">
            <a:solidFill>
              <a:srgbClr val="F4B15F"/>
            </a:solidFill>
            <a:prstDash val="solid"/>
          </a:ln>
        </p:spPr>
      </p:sp>
      <p:sp>
        <p:nvSpPr>
          <p:cNvPr id="42" name="">
            <a:extLst xmlns:a="http://schemas.openxmlformats.org/drawingml/2006/main">
              <a:ext uri="{FF2B5EF4-FFF2-40B4-BE49-F238E27FC236}">
                <a16:creationId xmlns:a16="http://schemas.microsoft.com/office/drawing/2014/main" id="{12B7BC04-03E9-486E-B1CB-60318A7A1597}"/>
              </a:ext>
            </a:extLst>
          </p:cNvPr>
          <p:cNvSpPr>
            <a:spLocks xmlns:a="http://schemas.openxmlformats.org/drawingml/2006/main" noGrp="1"/>
          </p:cNvSpPr>
          <p:nvPr/>
        </p:nvSpPr>
        <p:spPr>
          <a:xfrm xmlns:a="http://schemas.openxmlformats.org/drawingml/2006/main">
            <a:off x="76390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D97706"/>
                </a:solidFill>
                <a:latin typeface="Aptos"/>
                <a:ea typeface="Aptos"/>
                <a:cs typeface="Aptos"/>
              </a:defRPr>
            </a:pPr>
            <a:r>
              <a:rPr sz="825" b="1">
                <a:solidFill>
                  <a:srgbClr val="D97706"/>
                </a:solidFill>
                <a:latin typeface="Aptos"/>
                <a:ea typeface="Aptos"/>
                <a:cs typeface="Aptos"/>
              </a:rPr>
              <a:t>UTI</a:t>
            </a:r>
          </a:p>
        </p:txBody>
      </p:sp>
      <p:sp>
        <p:nvSpPr>
          <p:cNvPr id="43" name="">
            <a:extLst xmlns:a="http://schemas.openxmlformats.org/drawingml/2006/main">
              <a:ext uri="{FF2B5EF4-FFF2-40B4-BE49-F238E27FC236}">
                <a16:creationId xmlns:a16="http://schemas.microsoft.com/office/drawing/2014/main" id="{4522ADEE-F835-40F1-828C-0FF9F0617926}"/>
              </a:ext>
            </a:extLst>
          </p:cNvPr>
          <p:cNvSpPr>
            <a:spLocks xmlns:a="http://schemas.openxmlformats.org/drawingml/2006/main" noGrp="1"/>
          </p:cNvSpPr>
          <p:nvPr/>
        </p:nvSpPr>
        <p:spPr>
          <a:xfrm xmlns:a="http://schemas.openxmlformats.org/drawingml/2006/main" rot="0">
            <a:off x="84772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97566559-321D-4CD2-8F1F-0727B6005501}"/>
              </a:ext>
            </a:extLst>
          </p:cNvPr>
          <p:cNvSpPr>
            <a:spLocks xmlns:a="http://schemas.openxmlformats.org/drawingml/2006/main" noGrp="1"/>
          </p:cNvSpPr>
          <p:nvPr/>
        </p:nvSpPr>
        <p:spPr>
          <a:xfrm xmlns:a="http://schemas.openxmlformats.org/drawingml/2006/main" rot="5400000">
            <a:off x="96488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56143907-D022-4841-948E-A0BAC6545119}"/>
              </a:ext>
            </a:extLst>
          </p:cNvPr>
          <p:cNvSpPr>
            <a:spLocks xmlns:a="http://schemas.openxmlformats.org/drawingml/2006/main" noGrp="1"/>
          </p:cNvSpPr>
          <p:nvPr/>
        </p:nvSpPr>
        <p:spPr>
          <a:xfrm xmlns:a="http://schemas.openxmlformats.org/drawingml/2006/main">
            <a:off x="75628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4</a:t>
            </a:r>
          </a:p>
        </p:txBody>
      </p:sp>
      <p:sp>
        <p:nvSpPr>
          <p:cNvPr id="46" name="">
            <a:extLst xmlns:a="http://schemas.openxmlformats.org/drawingml/2006/main">
              <a:ext uri="{FF2B5EF4-FFF2-40B4-BE49-F238E27FC236}">
                <a16:creationId xmlns:a16="http://schemas.microsoft.com/office/drawing/2014/main" id="{C10AC783-CD21-4FDB-A2DD-6101CF4B486D}"/>
              </a:ext>
            </a:extLst>
          </p:cNvPr>
          <p:cNvSpPr>
            <a:spLocks xmlns:a="http://schemas.openxmlformats.org/drawingml/2006/main" noGrp="1"/>
          </p:cNvSpPr>
          <p:nvPr/>
        </p:nvSpPr>
        <p:spPr>
          <a:xfrm xmlns:a="http://schemas.openxmlformats.org/drawingml/2006/main">
            <a:off x="9810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47" name="">
            <a:extLst xmlns:a="http://schemas.openxmlformats.org/drawingml/2006/main">
              <a:ext uri="{FF2B5EF4-FFF2-40B4-BE49-F238E27FC236}">
                <a16:creationId xmlns:a16="http://schemas.microsoft.com/office/drawing/2014/main" id="{9122F5FC-E9B4-452B-8E44-A720940E21A6}"/>
              </a:ext>
            </a:extLst>
          </p:cNvPr>
          <p:cNvSpPr>
            <a:spLocks xmlns:a="http://schemas.openxmlformats.org/drawingml/2006/main" noGrp="1"/>
          </p:cNvSpPr>
          <p:nvPr/>
        </p:nvSpPr>
        <p:spPr>
          <a:xfrm xmlns:a="http://schemas.openxmlformats.org/drawingml/2006/main">
            <a:off x="9734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48" name="">
            <a:extLst xmlns:a="http://schemas.openxmlformats.org/drawingml/2006/main">
              <a:ext uri="{FF2B5EF4-FFF2-40B4-BE49-F238E27FC236}">
                <a16:creationId xmlns:a16="http://schemas.microsoft.com/office/drawing/2014/main" id="{4DA15FD6-D844-4964-8769-589D7CCA437E}"/>
              </a:ext>
            </a:extLst>
          </p:cNvPr>
          <p:cNvSpPr>
            <a:spLocks xmlns:a="http://schemas.openxmlformats.org/drawingml/2006/main" noGrp="1"/>
          </p:cNvSpPr>
          <p:nvPr/>
        </p:nvSpPr>
        <p:spPr>
          <a:xfrm xmlns:a="http://schemas.openxmlformats.org/drawingml/2006/main">
            <a:off x="9658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5</a:t>
            </a:r>
          </a:p>
        </p:txBody>
      </p:sp>
      <p:sp>
        <p:nvSpPr>
          <p:cNvPr id="49" name="">
            <a:extLst xmlns:a="http://schemas.openxmlformats.org/drawingml/2006/main">
              <a:ext uri="{FF2B5EF4-FFF2-40B4-BE49-F238E27FC236}">
                <a16:creationId xmlns:a16="http://schemas.microsoft.com/office/drawing/2014/main" id="{721A6737-4BE9-45D4-A23D-1B3465E0B92D}"/>
              </a:ext>
            </a:extLst>
          </p:cNvPr>
          <p:cNvSpPr>
            <a:spLocks xmlns:a="http://schemas.openxmlformats.org/drawingml/2006/main" noGrp="1"/>
          </p:cNvSpPr>
          <p:nvPr/>
        </p:nvSpPr>
        <p:spPr>
          <a:xfrm xmlns:a="http://schemas.openxmlformats.org/drawingml/2006/main">
            <a:off x="933450" y="5314950"/>
            <a:ext cx="10001250" cy="781050"/>
          </a:xfrm>
          <a:prstGeom xmlns:a="http://schemas.openxmlformats.org/drawingml/2006/main" prst="roundRect">
            <a:avLst>
              <a:gd name="adj" fmla="val 9756"/>
            </a:avLst>
          </a:prstGeom>
          <a:solidFill xmlns:a="http://schemas.openxmlformats.org/drawingml/2006/main">
            <a:srgbClr val="F8FAFC"/>
          </a:solidFill>
          <a:ln xmlns:a="http://schemas.openxmlformats.org/drawingml/2006/main" w="9525">
            <a:solidFill>
              <a:srgbClr val="CBD5E1"/>
            </a:solidFill>
            <a:prstDash val="solid"/>
          </a:ln>
        </p:spPr>
      </p:sp>
      <p:sp>
        <p:nvSpPr>
          <p:cNvPr id="50" name="">
            <a:extLst xmlns:a="http://schemas.openxmlformats.org/drawingml/2006/main">
              <a:ext uri="{FF2B5EF4-FFF2-40B4-BE49-F238E27FC236}">
                <a16:creationId xmlns:a16="http://schemas.microsoft.com/office/drawing/2014/main" id="{8B140217-2878-42B1-B457-4AA2B5AAF0DA}"/>
              </a:ext>
            </a:extLst>
          </p:cNvPr>
          <p:cNvSpPr>
            <a:spLocks xmlns:a="http://schemas.openxmlformats.org/drawingml/2006/main" noGrp="1"/>
          </p:cNvSpPr>
          <p:nvPr/>
        </p:nvSpPr>
        <p:spPr>
          <a:xfrm xmlns:a="http://schemas.openxmlformats.org/drawingml/2006/main">
            <a:off x="1104900" y="5486400"/>
            <a:ext cx="965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827"/>
                </a:solidFill>
                <a:latin typeface="Aptos"/>
                <a:ea typeface="Aptos"/>
                <a:cs typeface="Aptos"/>
              </a:defRPr>
            </a:pPr>
            <a:r>
              <a:rPr sz="1050" b="1">
                <a:solidFill>
                  <a:srgbClr val="111827"/>
                </a:solidFill>
                <a:latin typeface="Aptos"/>
                <a:ea typeface="Aptos"/>
                <a:cs typeface="Aptos"/>
              </a:rPr>
              <a:t>Interpretation stance</a:t>
            </a:r>
          </a:p>
        </p:txBody>
      </p:sp>
      <p:sp>
        <p:nvSpPr>
          <p:cNvPr id="51" name="">
            <a:extLst xmlns:a="http://schemas.openxmlformats.org/drawingml/2006/main">
              <a:ext uri="{FF2B5EF4-FFF2-40B4-BE49-F238E27FC236}">
                <a16:creationId xmlns:a16="http://schemas.microsoft.com/office/drawing/2014/main" id="{D747E986-69CA-4BED-97F2-D5D8D9B3398B}"/>
              </a:ext>
            </a:extLst>
          </p:cNvPr>
          <p:cNvSpPr>
            <a:spLocks xmlns:a="http://schemas.openxmlformats.org/drawingml/2006/main" noGrp="1"/>
          </p:cNvSpPr>
          <p:nvPr/>
        </p:nvSpPr>
        <p:spPr>
          <a:xfrm xmlns:a="http://schemas.openxmlformats.org/drawingml/2006/main">
            <a:off x="1104900" y="5772150"/>
            <a:ext cx="965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The unit of VF measurement is an episode-level isolate profile. Status labels can be overlaid, but repeated measures, lineage structure, and sparse UTI counts limit causal status claims.</a:t>
            </a:r>
          </a:p>
        </p:txBody>
      </p:sp>
    </p:spTree>
    <p:extLst>
      <p:ext uri="{BB962C8B-B14F-4D97-AF65-F5344CB8AC3E}">
        <p14:creationId xmlns:p14="http://schemas.microsoft.com/office/powerpoint/2010/main" val="16355530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A10A3C9-F4E0-457A-A55E-4E7A0CA018C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6274280-AC5F-4BFF-9364-FB515F62D5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15D084B-59B2-4A88-9877-9632C79BF5A3}"/>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CURRENT PIPELINE</a:t>
            </a:r>
          </a:p>
        </p:txBody>
      </p:sp>
      <p:sp>
        <p:nvSpPr>
          <p:cNvPr id="4" name="">
            <a:extLst xmlns:a="http://schemas.openxmlformats.org/drawingml/2006/main">
              <a:ext uri="{FF2B5EF4-FFF2-40B4-BE49-F238E27FC236}">
                <a16:creationId xmlns:a16="http://schemas.microsoft.com/office/drawing/2014/main" id="{E7FA02F2-C797-4B1B-B808-BA30B24DDD88}"/>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Numbered clinical-to-VF pipeline with visible denominators at each handoff</a:t>
            </a:r>
          </a:p>
        </p:txBody>
      </p:sp>
      <p:sp>
        <p:nvSpPr>
          <p:cNvPr id="5" name="">
            <a:extLst xmlns:a="http://schemas.openxmlformats.org/drawingml/2006/main">
              <a:ext uri="{FF2B5EF4-FFF2-40B4-BE49-F238E27FC236}">
                <a16:creationId xmlns:a16="http://schemas.microsoft.com/office/drawing/2014/main" id="{EB0A4712-18DB-44E3-83E3-82D7042D14B1}"/>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Counts come from current denominator summaries and validation checks; assembler alternatives are labelled explicitly.</a:t>
            </a:r>
          </a:p>
        </p:txBody>
      </p:sp>
      <p:sp>
        <p:nvSpPr>
          <p:cNvPr id="6" name="">
            <a:extLst xmlns:a="http://schemas.openxmlformats.org/drawingml/2006/main">
              <a:ext uri="{FF2B5EF4-FFF2-40B4-BE49-F238E27FC236}">
                <a16:creationId xmlns:a16="http://schemas.microsoft.com/office/drawing/2014/main" id="{1974C6FA-9F6E-4D83-A998-CDEF3979FF80}"/>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1078576-FE24-4CE4-B0E9-A19E831B638A}"/>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70D38CC-E7D4-4F15-9BB9-90D3115C02FB}"/>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EF07B0BE-F935-4951-8A89-5AB0327E54FA}"/>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04</a:t>
            </a:r>
          </a:p>
        </p:txBody>
      </p:sp>
      <p:sp>
        <p:nvSpPr>
          <p:cNvPr id="10" name="">
            <a:extLst xmlns:a="http://schemas.openxmlformats.org/drawingml/2006/main">
              <a:ext uri="{FF2B5EF4-FFF2-40B4-BE49-F238E27FC236}">
                <a16:creationId xmlns:a16="http://schemas.microsoft.com/office/drawing/2014/main" id="{E8A628B2-9A22-4DE8-ABE8-F6C99DF289D0}"/>
              </a:ext>
            </a:extLst>
          </p:cNvPr>
          <p:cNvSpPr>
            <a:spLocks xmlns:a="http://schemas.openxmlformats.org/drawingml/2006/main" noGrp="1"/>
          </p:cNvSpPr>
          <p:nvPr/>
        </p:nvSpPr>
        <p:spPr>
          <a:xfrm xmlns:a="http://schemas.openxmlformats.org/drawingml/2006/main">
            <a:off x="666750" y="1581150"/>
            <a:ext cx="3276600" cy="1066800"/>
          </a:xfrm>
          <a:prstGeom xmlns:a="http://schemas.openxmlformats.org/drawingml/2006/main" prst="roundRect">
            <a:avLst>
              <a:gd name="adj" fmla="val 7143"/>
            </a:avLst>
          </a:prstGeom>
          <a:solidFill xmlns:a="http://schemas.openxmlformats.org/drawingml/2006/main">
            <a:srgbClr val="FFF4E6"/>
          </a:solidFill>
          <a:ln xmlns:a="http://schemas.openxmlformats.org/drawingml/2006/main" w="9525">
            <a:solidFill>
              <a:srgbClr val="D8DEE8"/>
            </a:solidFill>
            <a:prstDash val="solid"/>
          </a:ln>
        </p:spPr>
      </p:sp>
      <p:sp>
        <p:nvSpPr>
          <p:cNvPr id="11" name="">
            <a:extLst xmlns:a="http://schemas.openxmlformats.org/drawingml/2006/main">
              <a:ext uri="{FF2B5EF4-FFF2-40B4-BE49-F238E27FC236}">
                <a16:creationId xmlns:a16="http://schemas.microsoft.com/office/drawing/2014/main" id="{C78D1B4C-7A7D-484E-B516-A07903D45000}"/>
              </a:ext>
            </a:extLst>
          </p:cNvPr>
          <p:cNvSpPr>
            <a:spLocks xmlns:a="http://schemas.openxmlformats.org/drawingml/2006/main" noGrp="1"/>
          </p:cNvSpPr>
          <p:nvPr/>
        </p:nvSpPr>
        <p:spPr>
          <a:xfrm xmlns:a="http://schemas.openxmlformats.org/drawingml/2006/main">
            <a:off x="8191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0F283AB-26F0-4726-BE55-1C43679F555E}"/>
              </a:ext>
            </a:extLst>
          </p:cNvPr>
          <p:cNvSpPr>
            <a:spLocks xmlns:a="http://schemas.openxmlformats.org/drawingml/2006/main" noGrp="1"/>
          </p:cNvSpPr>
          <p:nvPr/>
        </p:nvSpPr>
        <p:spPr>
          <a:xfrm xmlns:a="http://schemas.openxmlformats.org/drawingml/2006/main">
            <a:off x="8191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1</a:t>
            </a:r>
          </a:p>
        </p:txBody>
      </p:sp>
      <p:sp>
        <p:nvSpPr>
          <p:cNvPr id="13" name="">
            <a:extLst xmlns:a="http://schemas.openxmlformats.org/drawingml/2006/main">
              <a:ext uri="{FF2B5EF4-FFF2-40B4-BE49-F238E27FC236}">
                <a16:creationId xmlns:a16="http://schemas.microsoft.com/office/drawing/2014/main" id="{F48F3ACA-CA07-47CA-AB88-94BFBD876BE8}"/>
              </a:ext>
            </a:extLst>
          </p:cNvPr>
          <p:cNvSpPr>
            <a:spLocks xmlns:a="http://schemas.openxmlformats.org/drawingml/2006/main" noGrp="1"/>
          </p:cNvSpPr>
          <p:nvPr/>
        </p:nvSpPr>
        <p:spPr>
          <a:xfrm xmlns:a="http://schemas.openxmlformats.org/drawingml/2006/main">
            <a:off x="12192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Clinical classification</a:t>
            </a:r>
          </a:p>
        </p:txBody>
      </p:sp>
      <p:sp>
        <p:nvSpPr>
          <p:cNvPr id="14" name="">
            <a:extLst xmlns:a="http://schemas.openxmlformats.org/drawingml/2006/main">
              <a:ext uri="{FF2B5EF4-FFF2-40B4-BE49-F238E27FC236}">
                <a16:creationId xmlns:a16="http://schemas.microsoft.com/office/drawing/2014/main" id="{58DD5A9F-6E6C-46D7-918D-2F9200EFD379}"/>
              </a:ext>
            </a:extLst>
          </p:cNvPr>
          <p:cNvSpPr>
            <a:spLocks xmlns:a="http://schemas.openxmlformats.org/drawingml/2006/main" noGrp="1"/>
          </p:cNvSpPr>
          <p:nvPr/>
        </p:nvSpPr>
        <p:spPr>
          <a:xfrm xmlns:a="http://schemas.openxmlformats.org/drawingml/2006/main">
            <a:off x="12192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00a / 00b</a:t>
            </a:r>
          </a:p>
        </p:txBody>
      </p:sp>
      <p:sp>
        <p:nvSpPr>
          <p:cNvPr id="15" name="">
            <a:extLst xmlns:a="http://schemas.openxmlformats.org/drawingml/2006/main">
              <a:ext uri="{FF2B5EF4-FFF2-40B4-BE49-F238E27FC236}">
                <a16:creationId xmlns:a16="http://schemas.microsoft.com/office/drawing/2014/main" id="{89540AD9-7A10-4B5F-A85F-654D298D1B18}"/>
              </a:ext>
            </a:extLst>
          </p:cNvPr>
          <p:cNvSpPr>
            <a:spLocks xmlns:a="http://schemas.openxmlformats.org/drawingml/2006/main" noGrp="1"/>
          </p:cNvSpPr>
          <p:nvPr/>
        </p:nvSpPr>
        <p:spPr>
          <a:xfrm xmlns:a="http://schemas.openxmlformats.org/drawingml/2006/main">
            <a:off x="8382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585 classified episodes before manual exclusions</a:t>
            </a:r>
          </a:p>
        </p:txBody>
      </p:sp>
      <p:sp>
        <p:nvSpPr>
          <p:cNvPr id="16" name="">
            <a:extLst xmlns:a="http://schemas.openxmlformats.org/drawingml/2006/main">
              <a:ext uri="{FF2B5EF4-FFF2-40B4-BE49-F238E27FC236}">
                <a16:creationId xmlns:a16="http://schemas.microsoft.com/office/drawing/2014/main" id="{6F4C1A23-02A6-486C-AC20-BC19E1E02878}"/>
              </a:ext>
            </a:extLst>
          </p:cNvPr>
          <p:cNvSpPr>
            <a:spLocks xmlns:a="http://schemas.openxmlformats.org/drawingml/2006/main" noGrp="1"/>
          </p:cNvSpPr>
          <p:nvPr/>
        </p:nvSpPr>
        <p:spPr>
          <a:xfrm xmlns:a="http://schemas.openxmlformats.org/drawingml/2006/main" rot="0">
            <a:off x="3981450" y="21050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AF3A3F3B-12DC-4BFB-98FA-0360E788186C}"/>
              </a:ext>
            </a:extLst>
          </p:cNvPr>
          <p:cNvSpPr>
            <a:spLocks xmlns:a="http://schemas.openxmlformats.org/drawingml/2006/main" noGrp="1"/>
          </p:cNvSpPr>
          <p:nvPr/>
        </p:nvSpPr>
        <p:spPr>
          <a:xfrm xmlns:a="http://schemas.openxmlformats.org/drawingml/2006/main" rot="5400000">
            <a:off x="4238625" y="20669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C5826F4F-B706-4E42-BFB4-0B4FFBF4FE89}"/>
              </a:ext>
            </a:extLst>
          </p:cNvPr>
          <p:cNvSpPr>
            <a:spLocks xmlns:a="http://schemas.openxmlformats.org/drawingml/2006/main" noGrp="1"/>
          </p:cNvSpPr>
          <p:nvPr/>
        </p:nvSpPr>
        <p:spPr>
          <a:xfrm xmlns:a="http://schemas.openxmlformats.org/drawingml/2006/main">
            <a:off x="4400550" y="1581150"/>
            <a:ext cx="3276600" cy="1066800"/>
          </a:xfrm>
          <a:prstGeom xmlns:a="http://schemas.openxmlformats.org/drawingml/2006/main" prst="roundRect">
            <a:avLst>
              <a:gd name="adj" fmla="val 7143"/>
            </a:avLst>
          </a:prstGeom>
          <a:solidFill xmlns:a="http://schemas.openxmlformats.org/drawingml/2006/main">
            <a:srgbClr val="FFF4E6"/>
          </a:solidFill>
          <a:ln xmlns:a="http://schemas.openxmlformats.org/drawingml/2006/main" w="9525">
            <a:solidFill>
              <a:srgbClr val="D8DEE8"/>
            </a:solidFill>
            <a:prstDash val="solid"/>
          </a:ln>
        </p:spPr>
      </p:sp>
      <p:sp>
        <p:nvSpPr>
          <p:cNvPr id="19" name="">
            <a:extLst xmlns:a="http://schemas.openxmlformats.org/drawingml/2006/main">
              <a:ext uri="{FF2B5EF4-FFF2-40B4-BE49-F238E27FC236}">
                <a16:creationId xmlns:a16="http://schemas.microsoft.com/office/drawing/2014/main" id="{86EB06F0-8F9C-4795-8C5A-1F1D5EB4729D}"/>
              </a:ext>
            </a:extLst>
          </p:cNvPr>
          <p:cNvSpPr>
            <a:spLocks xmlns:a="http://schemas.openxmlformats.org/drawingml/2006/main" noGrp="1"/>
          </p:cNvSpPr>
          <p:nvPr/>
        </p:nvSpPr>
        <p:spPr>
          <a:xfrm xmlns:a="http://schemas.openxmlformats.org/drawingml/2006/main">
            <a:off x="45529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5A544523-B00F-4FBB-BE9B-37FFA3702A52}"/>
              </a:ext>
            </a:extLst>
          </p:cNvPr>
          <p:cNvSpPr>
            <a:spLocks xmlns:a="http://schemas.openxmlformats.org/drawingml/2006/main" noGrp="1"/>
          </p:cNvSpPr>
          <p:nvPr/>
        </p:nvSpPr>
        <p:spPr>
          <a:xfrm xmlns:a="http://schemas.openxmlformats.org/drawingml/2006/main">
            <a:off x="45529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2</a:t>
            </a:r>
          </a:p>
        </p:txBody>
      </p:sp>
      <p:sp>
        <p:nvSpPr>
          <p:cNvPr id="21" name="">
            <a:extLst xmlns:a="http://schemas.openxmlformats.org/drawingml/2006/main">
              <a:ext uri="{FF2B5EF4-FFF2-40B4-BE49-F238E27FC236}">
                <a16:creationId xmlns:a16="http://schemas.microsoft.com/office/drawing/2014/main" id="{64D78577-3499-481E-8B4C-F3770E4D04F0}"/>
              </a:ext>
            </a:extLst>
          </p:cNvPr>
          <p:cNvSpPr>
            <a:spLocks xmlns:a="http://schemas.openxmlformats.org/drawingml/2006/main" noGrp="1"/>
          </p:cNvSpPr>
          <p:nvPr/>
        </p:nvSpPr>
        <p:spPr>
          <a:xfrm xmlns:a="http://schemas.openxmlformats.org/drawingml/2006/main">
            <a:off x="49530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Primary inclusion</a:t>
            </a:r>
          </a:p>
        </p:txBody>
      </p:sp>
      <p:sp>
        <p:nvSpPr>
          <p:cNvPr id="22" name="">
            <a:extLst xmlns:a="http://schemas.openxmlformats.org/drawingml/2006/main">
              <a:ext uri="{FF2B5EF4-FFF2-40B4-BE49-F238E27FC236}">
                <a16:creationId xmlns:a16="http://schemas.microsoft.com/office/drawing/2014/main" id="{D03FB75C-5F93-4A47-8458-EA1A3011BC4B}"/>
              </a:ext>
            </a:extLst>
          </p:cNvPr>
          <p:cNvSpPr>
            <a:spLocks xmlns:a="http://schemas.openxmlformats.org/drawingml/2006/main" noGrp="1"/>
          </p:cNvSpPr>
          <p:nvPr/>
        </p:nvSpPr>
        <p:spPr>
          <a:xfrm xmlns:a="http://schemas.openxmlformats.org/drawingml/2006/main">
            <a:off x="49530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status_map.csv</a:t>
            </a:r>
          </a:p>
        </p:txBody>
      </p:sp>
      <p:sp>
        <p:nvSpPr>
          <p:cNvPr id="23" name="">
            <a:extLst xmlns:a="http://schemas.openxmlformats.org/drawingml/2006/main">
              <a:ext uri="{FF2B5EF4-FFF2-40B4-BE49-F238E27FC236}">
                <a16:creationId xmlns:a16="http://schemas.microsoft.com/office/drawing/2014/main" id="{46C0B88E-A223-4C03-B297-A7FB85649F7F}"/>
              </a:ext>
            </a:extLst>
          </p:cNvPr>
          <p:cNvSpPr>
            <a:spLocks xmlns:a="http://schemas.openxmlformats.org/drawingml/2006/main" noGrp="1"/>
          </p:cNvSpPr>
          <p:nvPr/>
        </p:nvSpPr>
        <p:spPr>
          <a:xfrm xmlns:a="http://schemas.openxmlformats.org/drawingml/2006/main">
            <a:off x="45720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583 included: 18 UTI, 565 Not_UTI; 2 excluded</a:t>
            </a:r>
          </a:p>
        </p:txBody>
      </p:sp>
      <p:sp>
        <p:nvSpPr>
          <p:cNvPr id="24" name="">
            <a:extLst xmlns:a="http://schemas.openxmlformats.org/drawingml/2006/main">
              <a:ext uri="{FF2B5EF4-FFF2-40B4-BE49-F238E27FC236}">
                <a16:creationId xmlns:a16="http://schemas.microsoft.com/office/drawing/2014/main" id="{1E3708B9-718B-4397-B8BB-717BAC7F51F9}"/>
              </a:ext>
            </a:extLst>
          </p:cNvPr>
          <p:cNvSpPr>
            <a:spLocks xmlns:a="http://schemas.openxmlformats.org/drawingml/2006/main" noGrp="1"/>
          </p:cNvSpPr>
          <p:nvPr/>
        </p:nvSpPr>
        <p:spPr>
          <a:xfrm xmlns:a="http://schemas.openxmlformats.org/drawingml/2006/main" rot="0">
            <a:off x="7715250" y="21050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A064B294-7EC1-44C1-84DE-E64EA88B20E2}"/>
              </a:ext>
            </a:extLst>
          </p:cNvPr>
          <p:cNvSpPr>
            <a:spLocks xmlns:a="http://schemas.openxmlformats.org/drawingml/2006/main" noGrp="1"/>
          </p:cNvSpPr>
          <p:nvPr/>
        </p:nvSpPr>
        <p:spPr>
          <a:xfrm xmlns:a="http://schemas.openxmlformats.org/drawingml/2006/main" rot="5400000">
            <a:off x="7972425" y="20669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9140C7B8-BA52-48F5-BF7D-319F03B027C3}"/>
              </a:ext>
            </a:extLst>
          </p:cNvPr>
          <p:cNvSpPr>
            <a:spLocks xmlns:a="http://schemas.openxmlformats.org/drawingml/2006/main" noGrp="1"/>
          </p:cNvSpPr>
          <p:nvPr/>
        </p:nvSpPr>
        <p:spPr>
          <a:xfrm xmlns:a="http://schemas.openxmlformats.org/drawingml/2006/main">
            <a:off x="8134350" y="158115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27" name="">
            <a:extLst xmlns:a="http://schemas.openxmlformats.org/drawingml/2006/main">
              <a:ext uri="{FF2B5EF4-FFF2-40B4-BE49-F238E27FC236}">
                <a16:creationId xmlns:a16="http://schemas.microsoft.com/office/drawing/2014/main" id="{0F811EBC-DB39-468E-965A-8105E6140F79}"/>
              </a:ext>
            </a:extLst>
          </p:cNvPr>
          <p:cNvSpPr>
            <a:spLocks xmlns:a="http://schemas.openxmlformats.org/drawingml/2006/main" noGrp="1"/>
          </p:cNvSpPr>
          <p:nvPr/>
        </p:nvSpPr>
        <p:spPr>
          <a:xfrm xmlns:a="http://schemas.openxmlformats.org/drawingml/2006/main">
            <a:off x="82867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EB27FF1-E57D-459B-8682-EC34A798C430}"/>
              </a:ext>
            </a:extLst>
          </p:cNvPr>
          <p:cNvSpPr>
            <a:spLocks xmlns:a="http://schemas.openxmlformats.org/drawingml/2006/main" noGrp="1"/>
          </p:cNvSpPr>
          <p:nvPr/>
        </p:nvSpPr>
        <p:spPr>
          <a:xfrm xmlns:a="http://schemas.openxmlformats.org/drawingml/2006/main">
            <a:off x="82867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3</a:t>
            </a:r>
          </a:p>
        </p:txBody>
      </p:sp>
      <p:sp>
        <p:nvSpPr>
          <p:cNvPr id="29" name="">
            <a:extLst xmlns:a="http://schemas.openxmlformats.org/drawingml/2006/main">
              <a:ext uri="{FF2B5EF4-FFF2-40B4-BE49-F238E27FC236}">
                <a16:creationId xmlns:a16="http://schemas.microsoft.com/office/drawing/2014/main" id="{1210196D-6EDD-4F26-B55E-E9DB0BBD8AF3}"/>
              </a:ext>
            </a:extLst>
          </p:cNvPr>
          <p:cNvSpPr>
            <a:spLocks xmlns:a="http://schemas.openxmlformats.org/drawingml/2006/main" noGrp="1"/>
          </p:cNvSpPr>
          <p:nvPr/>
        </p:nvSpPr>
        <p:spPr>
          <a:xfrm xmlns:a="http://schemas.openxmlformats.org/drawingml/2006/main">
            <a:off x="86868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Assembly QC</a:t>
            </a:r>
          </a:p>
        </p:txBody>
      </p:sp>
      <p:sp>
        <p:nvSpPr>
          <p:cNvPr id="30" name="">
            <a:extLst xmlns:a="http://schemas.openxmlformats.org/drawingml/2006/main">
              <a:ext uri="{FF2B5EF4-FFF2-40B4-BE49-F238E27FC236}">
                <a16:creationId xmlns:a16="http://schemas.microsoft.com/office/drawing/2014/main" id="{899337E2-FA9C-4339-B865-046F3BC0B99F}"/>
              </a:ext>
            </a:extLst>
          </p:cNvPr>
          <p:cNvSpPr>
            <a:spLocks xmlns:a="http://schemas.openxmlformats.org/drawingml/2006/main" noGrp="1"/>
          </p:cNvSpPr>
          <p:nvPr/>
        </p:nvSpPr>
        <p:spPr>
          <a:xfrm xmlns:a="http://schemas.openxmlformats.org/drawingml/2006/main">
            <a:off x="86868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12a_wgs_qc.R</a:t>
            </a:r>
          </a:p>
        </p:txBody>
      </p:sp>
      <p:sp>
        <p:nvSpPr>
          <p:cNvPr id="31" name="">
            <a:extLst xmlns:a="http://schemas.openxmlformats.org/drawingml/2006/main">
              <a:ext uri="{FF2B5EF4-FFF2-40B4-BE49-F238E27FC236}">
                <a16:creationId xmlns:a16="http://schemas.microsoft.com/office/drawing/2014/main" id="{7095FB67-F359-48B1-A3A0-5E0D63AA87D8}"/>
              </a:ext>
            </a:extLst>
          </p:cNvPr>
          <p:cNvSpPr>
            <a:spLocks xmlns:a="http://schemas.openxmlformats.org/drawingml/2006/main" noGrp="1"/>
          </p:cNvSpPr>
          <p:nvPr/>
        </p:nvSpPr>
        <p:spPr>
          <a:xfrm xmlns:a="http://schemas.openxmlformats.org/drawingml/2006/main">
            <a:off x="83058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1,291 assembly-level QC records incl. assembler alternatives</a:t>
            </a:r>
          </a:p>
        </p:txBody>
      </p:sp>
      <p:sp>
        <p:nvSpPr>
          <p:cNvPr id="32" name="">
            <a:extLst xmlns:a="http://schemas.openxmlformats.org/drawingml/2006/main">
              <a:ext uri="{FF2B5EF4-FFF2-40B4-BE49-F238E27FC236}">
                <a16:creationId xmlns:a16="http://schemas.microsoft.com/office/drawing/2014/main" id="{8A18C1B1-B5F6-400C-A13B-7D9FBF6FD56A}"/>
              </a:ext>
            </a:extLst>
          </p:cNvPr>
          <p:cNvSpPr>
            <a:spLocks xmlns:a="http://schemas.openxmlformats.org/drawingml/2006/main" noGrp="1"/>
          </p:cNvSpPr>
          <p:nvPr/>
        </p:nvSpPr>
        <p:spPr>
          <a:xfrm xmlns:a="http://schemas.openxmlformats.org/drawingml/2006/main">
            <a:off x="6667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33" name="">
            <a:extLst xmlns:a="http://schemas.openxmlformats.org/drawingml/2006/main">
              <a:ext uri="{FF2B5EF4-FFF2-40B4-BE49-F238E27FC236}">
                <a16:creationId xmlns:a16="http://schemas.microsoft.com/office/drawing/2014/main" id="{6D3D61E2-0313-4B54-8AA4-B72044C446D7}"/>
              </a:ext>
            </a:extLst>
          </p:cNvPr>
          <p:cNvSpPr>
            <a:spLocks xmlns:a="http://schemas.openxmlformats.org/drawingml/2006/main" noGrp="1"/>
          </p:cNvSpPr>
          <p:nvPr/>
        </p:nvSpPr>
        <p:spPr>
          <a:xfrm xmlns:a="http://schemas.openxmlformats.org/drawingml/2006/main">
            <a:off x="8191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03880269-533D-4B6A-8BBA-BA7FE9C32FFE}"/>
              </a:ext>
            </a:extLst>
          </p:cNvPr>
          <p:cNvSpPr>
            <a:spLocks xmlns:a="http://schemas.openxmlformats.org/drawingml/2006/main" noGrp="1"/>
          </p:cNvSpPr>
          <p:nvPr/>
        </p:nvSpPr>
        <p:spPr>
          <a:xfrm xmlns:a="http://schemas.openxmlformats.org/drawingml/2006/main">
            <a:off x="8191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4</a:t>
            </a:r>
          </a:p>
        </p:txBody>
      </p:sp>
      <p:sp>
        <p:nvSpPr>
          <p:cNvPr id="35" name="">
            <a:extLst xmlns:a="http://schemas.openxmlformats.org/drawingml/2006/main">
              <a:ext uri="{FF2B5EF4-FFF2-40B4-BE49-F238E27FC236}">
                <a16:creationId xmlns:a16="http://schemas.microsoft.com/office/drawing/2014/main" id="{CAF4BE1C-D0BD-4554-87B1-1EE742D56218}"/>
              </a:ext>
            </a:extLst>
          </p:cNvPr>
          <p:cNvSpPr>
            <a:spLocks xmlns:a="http://schemas.openxmlformats.org/drawingml/2006/main" noGrp="1"/>
          </p:cNvSpPr>
          <p:nvPr/>
        </p:nvSpPr>
        <p:spPr>
          <a:xfrm xmlns:a="http://schemas.openxmlformats.org/drawingml/2006/main">
            <a:off x="12192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Canonical selection</a:t>
            </a:r>
          </a:p>
        </p:txBody>
      </p:sp>
      <p:sp>
        <p:nvSpPr>
          <p:cNvPr id="36" name="">
            <a:extLst xmlns:a="http://schemas.openxmlformats.org/drawingml/2006/main">
              <a:ext uri="{FF2B5EF4-FFF2-40B4-BE49-F238E27FC236}">
                <a16:creationId xmlns:a16="http://schemas.microsoft.com/office/drawing/2014/main" id="{668882DA-06AD-4488-B525-4FE4E43FC584}"/>
              </a:ext>
            </a:extLst>
          </p:cNvPr>
          <p:cNvSpPr>
            <a:spLocks xmlns:a="http://schemas.openxmlformats.org/drawingml/2006/main" noGrp="1"/>
          </p:cNvSpPr>
          <p:nvPr/>
        </p:nvSpPr>
        <p:spPr>
          <a:xfrm xmlns:a="http://schemas.openxmlformats.org/drawingml/2006/main">
            <a:off x="12192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canonical_assembly_selection.csv</a:t>
            </a:r>
          </a:p>
        </p:txBody>
      </p:sp>
      <p:sp>
        <p:nvSpPr>
          <p:cNvPr id="37" name="">
            <a:extLst xmlns:a="http://schemas.openxmlformats.org/drawingml/2006/main">
              <a:ext uri="{FF2B5EF4-FFF2-40B4-BE49-F238E27FC236}">
                <a16:creationId xmlns:a16="http://schemas.microsoft.com/office/drawing/2014/main" id="{F0E0B9AD-2357-4C56-8BA0-196738C75B16}"/>
              </a:ext>
            </a:extLst>
          </p:cNvPr>
          <p:cNvSpPr>
            <a:spLocks xmlns:a="http://schemas.openxmlformats.org/drawingml/2006/main" noGrp="1"/>
          </p:cNvSpPr>
          <p:nvPr/>
        </p:nvSpPr>
        <p:spPr>
          <a:xfrm xmlns:a="http://schemas.openxmlformats.org/drawingml/2006/main">
            <a:off x="8382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556 selected episode-level assemblies</a:t>
            </a:r>
          </a:p>
        </p:txBody>
      </p:sp>
      <p:sp>
        <p:nvSpPr>
          <p:cNvPr id="38" name="">
            <a:extLst xmlns:a="http://schemas.openxmlformats.org/drawingml/2006/main">
              <a:ext uri="{FF2B5EF4-FFF2-40B4-BE49-F238E27FC236}">
                <a16:creationId xmlns:a16="http://schemas.microsoft.com/office/drawing/2014/main" id="{B569FB72-FE09-4B83-B6C9-12A70AE2252F}"/>
              </a:ext>
            </a:extLst>
          </p:cNvPr>
          <p:cNvSpPr>
            <a:spLocks xmlns:a="http://schemas.openxmlformats.org/drawingml/2006/main" noGrp="1"/>
          </p:cNvSpPr>
          <p:nvPr/>
        </p:nvSpPr>
        <p:spPr>
          <a:xfrm xmlns:a="http://schemas.openxmlformats.org/drawingml/2006/main" rot="0">
            <a:off x="3981450" y="360997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ED13D537-EE02-4EED-BB0C-5DBFF3D1C17A}"/>
              </a:ext>
            </a:extLst>
          </p:cNvPr>
          <p:cNvSpPr>
            <a:spLocks xmlns:a="http://schemas.openxmlformats.org/drawingml/2006/main" noGrp="1"/>
          </p:cNvSpPr>
          <p:nvPr/>
        </p:nvSpPr>
        <p:spPr>
          <a:xfrm xmlns:a="http://schemas.openxmlformats.org/drawingml/2006/main" rot="5400000">
            <a:off x="4238625" y="35718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024C7E56-920D-43D0-9567-350B2549F734}"/>
              </a:ext>
            </a:extLst>
          </p:cNvPr>
          <p:cNvSpPr>
            <a:spLocks xmlns:a="http://schemas.openxmlformats.org/drawingml/2006/main" noGrp="1"/>
          </p:cNvSpPr>
          <p:nvPr/>
        </p:nvSpPr>
        <p:spPr>
          <a:xfrm xmlns:a="http://schemas.openxmlformats.org/drawingml/2006/main">
            <a:off x="44005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41" name="">
            <a:extLst xmlns:a="http://schemas.openxmlformats.org/drawingml/2006/main">
              <a:ext uri="{FF2B5EF4-FFF2-40B4-BE49-F238E27FC236}">
                <a16:creationId xmlns:a16="http://schemas.microsoft.com/office/drawing/2014/main" id="{4C7A8C0E-9AAF-4414-88C8-90CAFDF5F7E5}"/>
              </a:ext>
            </a:extLst>
          </p:cNvPr>
          <p:cNvSpPr>
            <a:spLocks xmlns:a="http://schemas.openxmlformats.org/drawingml/2006/main" noGrp="1"/>
          </p:cNvSpPr>
          <p:nvPr/>
        </p:nvSpPr>
        <p:spPr>
          <a:xfrm xmlns:a="http://schemas.openxmlformats.org/drawingml/2006/main">
            <a:off x="45529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ABFA1CA8-C7D1-4466-B485-3CD8F1C1DCC4}"/>
              </a:ext>
            </a:extLst>
          </p:cNvPr>
          <p:cNvSpPr>
            <a:spLocks xmlns:a="http://schemas.openxmlformats.org/drawingml/2006/main" noGrp="1"/>
          </p:cNvSpPr>
          <p:nvPr/>
        </p:nvSpPr>
        <p:spPr>
          <a:xfrm xmlns:a="http://schemas.openxmlformats.org/drawingml/2006/main">
            <a:off x="45529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5</a:t>
            </a:r>
          </a:p>
        </p:txBody>
      </p:sp>
      <p:sp>
        <p:nvSpPr>
          <p:cNvPr id="43" name="">
            <a:extLst xmlns:a="http://schemas.openxmlformats.org/drawingml/2006/main">
              <a:ext uri="{FF2B5EF4-FFF2-40B4-BE49-F238E27FC236}">
                <a16:creationId xmlns:a16="http://schemas.microsoft.com/office/drawing/2014/main" id="{7861C6A0-1F34-4AAC-B3D9-2069C20E7CEB}"/>
              </a:ext>
            </a:extLst>
          </p:cNvPr>
          <p:cNvSpPr>
            <a:spLocks xmlns:a="http://schemas.openxmlformats.org/drawingml/2006/main" noGrp="1"/>
          </p:cNvSpPr>
          <p:nvPr/>
        </p:nvSpPr>
        <p:spPr>
          <a:xfrm xmlns:a="http://schemas.openxmlformats.org/drawingml/2006/main">
            <a:off x="49530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VF P/A matrix</a:t>
            </a:r>
          </a:p>
        </p:txBody>
      </p:sp>
      <p:sp>
        <p:nvSpPr>
          <p:cNvPr id="44" name="">
            <a:extLst xmlns:a="http://schemas.openxmlformats.org/drawingml/2006/main">
              <a:ext uri="{FF2B5EF4-FFF2-40B4-BE49-F238E27FC236}">
                <a16:creationId xmlns:a16="http://schemas.microsoft.com/office/drawing/2014/main" id="{4F983BF1-12A0-4898-97E1-514A2783119F}"/>
              </a:ext>
            </a:extLst>
          </p:cNvPr>
          <p:cNvSpPr>
            <a:spLocks xmlns:a="http://schemas.openxmlformats.org/drawingml/2006/main" noGrp="1"/>
          </p:cNvSpPr>
          <p:nvPr/>
        </p:nvSpPr>
        <p:spPr>
          <a:xfrm xmlns:a="http://schemas.openxmlformats.org/drawingml/2006/main">
            <a:off x="49530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02_gene_presence_analysis.R</a:t>
            </a:r>
          </a:p>
        </p:txBody>
      </p:sp>
      <p:sp>
        <p:nvSpPr>
          <p:cNvPr id="45" name="">
            <a:extLst xmlns:a="http://schemas.openxmlformats.org/drawingml/2006/main">
              <a:ext uri="{FF2B5EF4-FFF2-40B4-BE49-F238E27FC236}">
                <a16:creationId xmlns:a16="http://schemas.microsoft.com/office/drawing/2014/main" id="{EA9ECE22-0330-4A2C-ABE8-93679A521611}"/>
              </a:ext>
            </a:extLst>
          </p:cNvPr>
          <p:cNvSpPr>
            <a:spLocks xmlns:a="http://schemas.openxmlformats.org/drawingml/2006/main" noGrp="1"/>
          </p:cNvSpPr>
          <p:nvPr/>
        </p:nvSpPr>
        <p:spPr>
          <a:xfrm xmlns:a="http://schemas.openxmlformats.org/drawingml/2006/main">
            <a:off x="45720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556 episode-level VF rows</a:t>
            </a:r>
          </a:p>
        </p:txBody>
      </p:sp>
      <p:sp>
        <p:nvSpPr>
          <p:cNvPr id="46" name="">
            <a:extLst xmlns:a="http://schemas.openxmlformats.org/drawingml/2006/main">
              <a:ext uri="{FF2B5EF4-FFF2-40B4-BE49-F238E27FC236}">
                <a16:creationId xmlns:a16="http://schemas.microsoft.com/office/drawing/2014/main" id="{DB0DAF20-4D09-498D-9625-FC0268F5A40C}"/>
              </a:ext>
            </a:extLst>
          </p:cNvPr>
          <p:cNvSpPr>
            <a:spLocks xmlns:a="http://schemas.openxmlformats.org/drawingml/2006/main" noGrp="1"/>
          </p:cNvSpPr>
          <p:nvPr/>
        </p:nvSpPr>
        <p:spPr>
          <a:xfrm xmlns:a="http://schemas.openxmlformats.org/drawingml/2006/main" rot="0">
            <a:off x="7715250" y="360997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E4D1DD86-F282-4800-A2FB-A8E6FDC67D79}"/>
              </a:ext>
            </a:extLst>
          </p:cNvPr>
          <p:cNvSpPr>
            <a:spLocks xmlns:a="http://schemas.openxmlformats.org/drawingml/2006/main" noGrp="1"/>
          </p:cNvSpPr>
          <p:nvPr/>
        </p:nvSpPr>
        <p:spPr>
          <a:xfrm xmlns:a="http://schemas.openxmlformats.org/drawingml/2006/main" rot="5400000">
            <a:off x="7972425" y="35718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38258444-09FB-433B-9E61-6B90CB563DFB}"/>
              </a:ext>
            </a:extLst>
          </p:cNvPr>
          <p:cNvSpPr>
            <a:spLocks xmlns:a="http://schemas.openxmlformats.org/drawingml/2006/main" noGrp="1"/>
          </p:cNvSpPr>
          <p:nvPr/>
        </p:nvSpPr>
        <p:spPr>
          <a:xfrm xmlns:a="http://schemas.openxmlformats.org/drawingml/2006/main">
            <a:off x="81343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49" name="">
            <a:extLst xmlns:a="http://schemas.openxmlformats.org/drawingml/2006/main">
              <a:ext uri="{FF2B5EF4-FFF2-40B4-BE49-F238E27FC236}">
                <a16:creationId xmlns:a16="http://schemas.microsoft.com/office/drawing/2014/main" id="{AD8DC748-B39D-4382-A68E-8E9A3070CB69}"/>
              </a:ext>
            </a:extLst>
          </p:cNvPr>
          <p:cNvSpPr>
            <a:spLocks xmlns:a="http://schemas.openxmlformats.org/drawingml/2006/main" noGrp="1"/>
          </p:cNvSpPr>
          <p:nvPr/>
        </p:nvSpPr>
        <p:spPr>
          <a:xfrm xmlns:a="http://schemas.openxmlformats.org/drawingml/2006/main">
            <a:off x="82867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DCCAB1E8-A67C-414E-A8D4-2A191FFDE7AB}"/>
              </a:ext>
            </a:extLst>
          </p:cNvPr>
          <p:cNvSpPr>
            <a:spLocks xmlns:a="http://schemas.openxmlformats.org/drawingml/2006/main" noGrp="1"/>
          </p:cNvSpPr>
          <p:nvPr/>
        </p:nvSpPr>
        <p:spPr>
          <a:xfrm xmlns:a="http://schemas.openxmlformats.org/drawingml/2006/main">
            <a:off x="82867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6</a:t>
            </a:r>
          </a:p>
        </p:txBody>
      </p:sp>
      <p:sp>
        <p:nvSpPr>
          <p:cNvPr id="51" name="">
            <a:extLst xmlns:a="http://schemas.openxmlformats.org/drawingml/2006/main">
              <a:ext uri="{FF2B5EF4-FFF2-40B4-BE49-F238E27FC236}">
                <a16:creationId xmlns:a16="http://schemas.microsoft.com/office/drawing/2014/main" id="{80897021-FF8A-47BD-8853-0C4948F9F2B8}"/>
              </a:ext>
            </a:extLst>
          </p:cNvPr>
          <p:cNvSpPr>
            <a:spLocks xmlns:a="http://schemas.openxmlformats.org/drawingml/2006/main" noGrp="1"/>
          </p:cNvSpPr>
          <p:nvPr/>
        </p:nvSpPr>
        <p:spPr>
          <a:xfrm xmlns:a="http://schemas.openxmlformats.org/drawingml/2006/main">
            <a:off x="86868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VF/model-ready</a:t>
            </a:r>
          </a:p>
        </p:txBody>
      </p:sp>
      <p:sp>
        <p:nvSpPr>
          <p:cNvPr id="52" name="">
            <a:extLst xmlns:a="http://schemas.openxmlformats.org/drawingml/2006/main">
              <a:ext uri="{FF2B5EF4-FFF2-40B4-BE49-F238E27FC236}">
                <a16:creationId xmlns:a16="http://schemas.microsoft.com/office/drawing/2014/main" id="{5A451DFB-FEF0-4EF0-9832-C6AF613A3C3C}"/>
              </a:ext>
            </a:extLst>
          </p:cNvPr>
          <p:cNvSpPr>
            <a:spLocks xmlns:a="http://schemas.openxmlformats.org/drawingml/2006/main" noGrp="1"/>
          </p:cNvSpPr>
          <p:nvPr/>
        </p:nvSpPr>
        <p:spPr>
          <a:xfrm xmlns:a="http://schemas.openxmlformats.org/drawingml/2006/main">
            <a:off x="86868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22_vf_build_analysis_dataset.R</a:t>
            </a:r>
          </a:p>
        </p:txBody>
      </p:sp>
      <p:sp>
        <p:nvSpPr>
          <p:cNvPr id="53" name="">
            <a:extLst xmlns:a="http://schemas.openxmlformats.org/drawingml/2006/main">
              <a:ext uri="{FF2B5EF4-FFF2-40B4-BE49-F238E27FC236}">
                <a16:creationId xmlns:a16="http://schemas.microsoft.com/office/drawing/2014/main" id="{6A278683-19D5-4F07-B511-C5D08E2213A1}"/>
              </a:ext>
            </a:extLst>
          </p:cNvPr>
          <p:cNvSpPr>
            <a:spLocks xmlns:a="http://schemas.openxmlformats.org/drawingml/2006/main" noGrp="1"/>
          </p:cNvSpPr>
          <p:nvPr/>
        </p:nvSpPr>
        <p:spPr>
          <a:xfrm xmlns:a="http://schemas.openxmlformats.org/drawingml/2006/main">
            <a:off x="83058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556 episodes: 17 UTI, 539 Not_UTI; 27 clinical episodes lack VF-ready evidence</a:t>
            </a:r>
          </a:p>
        </p:txBody>
      </p:sp>
      <p:sp>
        <p:nvSpPr>
          <p:cNvPr id="54" name="">
            <a:extLst xmlns:a="http://schemas.openxmlformats.org/drawingml/2006/main">
              <a:ext uri="{FF2B5EF4-FFF2-40B4-BE49-F238E27FC236}">
                <a16:creationId xmlns:a16="http://schemas.microsoft.com/office/drawing/2014/main" id="{CCF4AA21-F57E-42A3-B903-736DA42A2730}"/>
              </a:ext>
            </a:extLst>
          </p:cNvPr>
          <p:cNvSpPr>
            <a:spLocks xmlns:a="http://schemas.openxmlformats.org/drawingml/2006/main" noGrp="1"/>
          </p:cNvSpPr>
          <p:nvPr/>
        </p:nvSpPr>
        <p:spPr>
          <a:xfrm xmlns:a="http://schemas.openxmlformats.org/drawingml/2006/main">
            <a:off x="666750" y="4591050"/>
            <a:ext cx="3276600" cy="1066800"/>
          </a:xfrm>
          <a:prstGeom xmlns:a="http://schemas.openxmlformats.org/drawingml/2006/main" prst="roundRect">
            <a:avLst>
              <a:gd name="adj" fmla="val 7143"/>
            </a:avLst>
          </a:prstGeom>
          <a:solidFill xmlns:a="http://schemas.openxmlformats.org/drawingml/2006/main">
            <a:srgbClr val="EEF3F8"/>
          </a:solidFill>
          <a:ln xmlns:a="http://schemas.openxmlformats.org/drawingml/2006/main" w="9525">
            <a:solidFill>
              <a:srgbClr val="D8DEE8"/>
            </a:solidFill>
            <a:prstDash val="solid"/>
          </a:ln>
        </p:spPr>
      </p:sp>
      <p:sp>
        <p:nvSpPr>
          <p:cNvPr id="55" name="">
            <a:extLst xmlns:a="http://schemas.openxmlformats.org/drawingml/2006/main">
              <a:ext uri="{FF2B5EF4-FFF2-40B4-BE49-F238E27FC236}">
                <a16:creationId xmlns:a16="http://schemas.microsoft.com/office/drawing/2014/main" id="{F360DB81-D597-4D89-849C-EEB6792FF791}"/>
              </a:ext>
            </a:extLst>
          </p:cNvPr>
          <p:cNvSpPr>
            <a:spLocks xmlns:a="http://schemas.openxmlformats.org/drawingml/2006/main" noGrp="1"/>
          </p:cNvSpPr>
          <p:nvPr/>
        </p:nvSpPr>
        <p:spPr>
          <a:xfrm xmlns:a="http://schemas.openxmlformats.org/drawingml/2006/main">
            <a:off x="8191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A7A475EF-2F6F-4BFD-AFB2-83BFC7C5463B}"/>
              </a:ext>
            </a:extLst>
          </p:cNvPr>
          <p:cNvSpPr>
            <a:spLocks xmlns:a="http://schemas.openxmlformats.org/drawingml/2006/main" noGrp="1"/>
          </p:cNvSpPr>
          <p:nvPr/>
        </p:nvSpPr>
        <p:spPr>
          <a:xfrm xmlns:a="http://schemas.openxmlformats.org/drawingml/2006/main">
            <a:off x="8191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7</a:t>
            </a:r>
          </a:p>
        </p:txBody>
      </p:sp>
      <p:sp>
        <p:nvSpPr>
          <p:cNvPr id="57" name="">
            <a:extLst xmlns:a="http://schemas.openxmlformats.org/drawingml/2006/main">
              <a:ext uri="{FF2B5EF4-FFF2-40B4-BE49-F238E27FC236}">
                <a16:creationId xmlns:a16="http://schemas.microsoft.com/office/drawing/2014/main" id="{00925101-66E9-476E-A09E-5572F48FCC5E}"/>
              </a:ext>
            </a:extLst>
          </p:cNvPr>
          <p:cNvSpPr>
            <a:spLocks xmlns:a="http://schemas.openxmlformats.org/drawingml/2006/main" noGrp="1"/>
          </p:cNvSpPr>
          <p:nvPr/>
        </p:nvSpPr>
        <p:spPr>
          <a:xfrm xmlns:a="http://schemas.openxmlformats.org/drawingml/2006/main">
            <a:off x="12192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Feature framework</a:t>
            </a:r>
          </a:p>
        </p:txBody>
      </p:sp>
      <p:sp>
        <p:nvSpPr>
          <p:cNvPr id="58" name="">
            <a:extLst xmlns:a="http://schemas.openxmlformats.org/drawingml/2006/main">
              <a:ext uri="{FF2B5EF4-FFF2-40B4-BE49-F238E27FC236}">
                <a16:creationId xmlns:a16="http://schemas.microsoft.com/office/drawing/2014/main" id="{35AC8356-258D-49D2-8EC8-73598AA8CD27}"/>
              </a:ext>
            </a:extLst>
          </p:cNvPr>
          <p:cNvSpPr>
            <a:spLocks xmlns:a="http://schemas.openxmlformats.org/drawingml/2006/main" noGrp="1"/>
          </p:cNvSpPr>
          <p:nvPr/>
        </p:nvSpPr>
        <p:spPr>
          <a:xfrm xmlns:a="http://schemas.openxmlformats.org/drawingml/2006/main">
            <a:off x="12192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26_vf_define_gene_modules.R</a:t>
            </a:r>
          </a:p>
        </p:txBody>
      </p:sp>
      <p:sp>
        <p:nvSpPr>
          <p:cNvPr id="59" name="">
            <a:extLst xmlns:a="http://schemas.openxmlformats.org/drawingml/2006/main">
              <a:ext uri="{FF2B5EF4-FFF2-40B4-BE49-F238E27FC236}">
                <a16:creationId xmlns:a16="http://schemas.microsoft.com/office/drawing/2014/main" id="{74E85C8D-943E-4B18-8ACE-A282FEDFD357}"/>
              </a:ext>
            </a:extLst>
          </p:cNvPr>
          <p:cNvSpPr>
            <a:spLocks xmlns:a="http://schemas.openxmlformats.org/drawingml/2006/main" noGrp="1"/>
          </p:cNvSpPr>
          <p:nvPr/>
        </p:nvSpPr>
        <p:spPr>
          <a:xfrm xmlns:a="http://schemas.openxmlformats.org/drawingml/2006/main">
            <a:off x="8382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227 VF gene columns -&gt; 32 modules, incl. 18 UPEC-candidate modules</a:t>
            </a:r>
          </a:p>
        </p:txBody>
      </p:sp>
      <p:sp>
        <p:nvSpPr>
          <p:cNvPr id="60" name="">
            <a:extLst xmlns:a="http://schemas.openxmlformats.org/drawingml/2006/main">
              <a:ext uri="{FF2B5EF4-FFF2-40B4-BE49-F238E27FC236}">
                <a16:creationId xmlns:a16="http://schemas.microsoft.com/office/drawing/2014/main" id="{2E0AA312-3B96-46D1-8449-550A6B3184E2}"/>
              </a:ext>
            </a:extLst>
          </p:cNvPr>
          <p:cNvSpPr>
            <a:spLocks xmlns:a="http://schemas.openxmlformats.org/drawingml/2006/main" noGrp="1"/>
          </p:cNvSpPr>
          <p:nvPr/>
        </p:nvSpPr>
        <p:spPr>
          <a:xfrm xmlns:a="http://schemas.openxmlformats.org/drawingml/2006/main" rot="0">
            <a:off x="3981450" y="51149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B32A9552-8E19-4E15-B2B0-5FCCA41D368E}"/>
              </a:ext>
            </a:extLst>
          </p:cNvPr>
          <p:cNvSpPr>
            <a:spLocks xmlns:a="http://schemas.openxmlformats.org/drawingml/2006/main" noGrp="1"/>
          </p:cNvSpPr>
          <p:nvPr/>
        </p:nvSpPr>
        <p:spPr>
          <a:xfrm xmlns:a="http://schemas.openxmlformats.org/drawingml/2006/main" rot="5400000">
            <a:off x="4238625" y="50768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2" name="">
            <a:extLst xmlns:a="http://schemas.openxmlformats.org/drawingml/2006/main">
              <a:ext uri="{FF2B5EF4-FFF2-40B4-BE49-F238E27FC236}">
                <a16:creationId xmlns:a16="http://schemas.microsoft.com/office/drawing/2014/main" id="{F58A051C-0854-401C-85CB-45537B459FDE}"/>
              </a:ext>
            </a:extLst>
          </p:cNvPr>
          <p:cNvSpPr>
            <a:spLocks xmlns:a="http://schemas.openxmlformats.org/drawingml/2006/main" noGrp="1"/>
          </p:cNvSpPr>
          <p:nvPr/>
        </p:nvSpPr>
        <p:spPr>
          <a:xfrm xmlns:a="http://schemas.openxmlformats.org/drawingml/2006/main">
            <a:off x="4400550" y="4591050"/>
            <a:ext cx="3276600" cy="1066800"/>
          </a:xfrm>
          <a:prstGeom xmlns:a="http://schemas.openxmlformats.org/drawingml/2006/main" prst="roundRect">
            <a:avLst>
              <a:gd name="adj" fmla="val 7143"/>
            </a:avLst>
          </a:prstGeom>
          <a:solidFill xmlns:a="http://schemas.openxmlformats.org/drawingml/2006/main">
            <a:srgbClr val="EAF7EF"/>
          </a:solidFill>
          <a:ln xmlns:a="http://schemas.openxmlformats.org/drawingml/2006/main" w="9525">
            <a:solidFill>
              <a:srgbClr val="D8DEE8"/>
            </a:solidFill>
            <a:prstDash val="solid"/>
          </a:ln>
        </p:spPr>
      </p:sp>
      <p:sp>
        <p:nvSpPr>
          <p:cNvPr id="63" name="">
            <a:extLst xmlns:a="http://schemas.openxmlformats.org/drawingml/2006/main">
              <a:ext uri="{FF2B5EF4-FFF2-40B4-BE49-F238E27FC236}">
                <a16:creationId xmlns:a16="http://schemas.microsoft.com/office/drawing/2014/main" id="{C244473D-48C4-45EA-A1E6-2758EE208778}"/>
              </a:ext>
            </a:extLst>
          </p:cNvPr>
          <p:cNvSpPr>
            <a:spLocks xmlns:a="http://schemas.openxmlformats.org/drawingml/2006/main" noGrp="1"/>
          </p:cNvSpPr>
          <p:nvPr/>
        </p:nvSpPr>
        <p:spPr>
          <a:xfrm xmlns:a="http://schemas.openxmlformats.org/drawingml/2006/main">
            <a:off x="45529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69231C4F-3E33-41E9-95C3-AE0539C2CE16}"/>
              </a:ext>
            </a:extLst>
          </p:cNvPr>
          <p:cNvSpPr>
            <a:spLocks xmlns:a="http://schemas.openxmlformats.org/drawingml/2006/main" noGrp="1"/>
          </p:cNvSpPr>
          <p:nvPr/>
        </p:nvSpPr>
        <p:spPr>
          <a:xfrm xmlns:a="http://schemas.openxmlformats.org/drawingml/2006/main">
            <a:off x="45529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8</a:t>
            </a:r>
          </a:p>
        </p:txBody>
      </p:sp>
      <p:sp>
        <p:nvSpPr>
          <p:cNvPr id="65" name="">
            <a:extLst xmlns:a="http://schemas.openxmlformats.org/drawingml/2006/main">
              <a:ext uri="{FF2B5EF4-FFF2-40B4-BE49-F238E27FC236}">
                <a16:creationId xmlns:a16="http://schemas.microsoft.com/office/drawing/2014/main" id="{529F0FFE-BC63-46EC-93BE-58C534166977}"/>
              </a:ext>
            </a:extLst>
          </p:cNvPr>
          <p:cNvSpPr>
            <a:spLocks xmlns:a="http://schemas.openxmlformats.org/drawingml/2006/main" noGrp="1"/>
          </p:cNvSpPr>
          <p:nvPr/>
        </p:nvSpPr>
        <p:spPr>
          <a:xfrm xmlns:a="http://schemas.openxmlformats.org/drawingml/2006/main">
            <a:off x="49530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Longitudinal pairs</a:t>
            </a:r>
          </a:p>
        </p:txBody>
      </p:sp>
      <p:sp>
        <p:nvSpPr>
          <p:cNvPr id="66" name="">
            <a:extLst xmlns:a="http://schemas.openxmlformats.org/drawingml/2006/main">
              <a:ext uri="{FF2B5EF4-FFF2-40B4-BE49-F238E27FC236}">
                <a16:creationId xmlns:a16="http://schemas.microsoft.com/office/drawing/2014/main" id="{72F7B18F-034D-4C16-99C2-197F8D1B115A}"/>
              </a:ext>
            </a:extLst>
          </p:cNvPr>
          <p:cNvSpPr>
            <a:spLocks xmlns:a="http://schemas.openxmlformats.org/drawingml/2006/main" noGrp="1"/>
          </p:cNvSpPr>
          <p:nvPr/>
        </p:nvSpPr>
        <p:spPr>
          <a:xfrm xmlns:a="http://schemas.openxmlformats.org/drawingml/2006/main">
            <a:off x="49530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24_vf_longitudinal_dynamics.R</a:t>
            </a:r>
          </a:p>
        </p:txBody>
      </p:sp>
      <p:sp>
        <p:nvSpPr>
          <p:cNvPr id="67" name="">
            <a:extLst xmlns:a="http://schemas.openxmlformats.org/drawingml/2006/main">
              <a:ext uri="{FF2B5EF4-FFF2-40B4-BE49-F238E27FC236}">
                <a16:creationId xmlns:a16="http://schemas.microsoft.com/office/drawing/2014/main" id="{62DFAADE-EE13-4F1F-9ACB-48210F156814}"/>
              </a:ext>
            </a:extLst>
          </p:cNvPr>
          <p:cNvSpPr>
            <a:spLocks xmlns:a="http://schemas.openxmlformats.org/drawingml/2006/main" noGrp="1"/>
          </p:cNvSpPr>
          <p:nvPr/>
        </p:nvSpPr>
        <p:spPr>
          <a:xfrm xmlns:a="http://schemas.openxmlformats.org/drawingml/2006/main">
            <a:off x="45720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394 consecutive comparisons from 144 participants</a:t>
            </a:r>
          </a:p>
        </p:txBody>
      </p:sp>
      <p:sp>
        <p:nvSpPr>
          <p:cNvPr id="68" name="">
            <a:extLst xmlns:a="http://schemas.openxmlformats.org/drawingml/2006/main">
              <a:ext uri="{FF2B5EF4-FFF2-40B4-BE49-F238E27FC236}">
                <a16:creationId xmlns:a16="http://schemas.microsoft.com/office/drawing/2014/main" id="{086F058C-B4D0-435D-AF1F-31BE6E0AF367}"/>
              </a:ext>
            </a:extLst>
          </p:cNvPr>
          <p:cNvSpPr>
            <a:spLocks xmlns:a="http://schemas.openxmlformats.org/drawingml/2006/main" noGrp="1"/>
          </p:cNvSpPr>
          <p:nvPr/>
        </p:nvSpPr>
        <p:spPr>
          <a:xfrm xmlns:a="http://schemas.openxmlformats.org/drawingml/2006/main" rot="0">
            <a:off x="7715250" y="51149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846CC5E7-39D2-4D9D-AD88-C226564C1559}"/>
              </a:ext>
            </a:extLst>
          </p:cNvPr>
          <p:cNvSpPr>
            <a:spLocks xmlns:a="http://schemas.openxmlformats.org/drawingml/2006/main" noGrp="1"/>
          </p:cNvSpPr>
          <p:nvPr/>
        </p:nvSpPr>
        <p:spPr>
          <a:xfrm xmlns:a="http://schemas.openxmlformats.org/drawingml/2006/main" rot="5400000">
            <a:off x="7972425" y="50768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70" name="">
            <a:extLst xmlns:a="http://schemas.openxmlformats.org/drawingml/2006/main">
              <a:ext uri="{FF2B5EF4-FFF2-40B4-BE49-F238E27FC236}">
                <a16:creationId xmlns:a16="http://schemas.microsoft.com/office/drawing/2014/main" id="{C4345094-D411-43C7-BA18-3CE6BBAD0934}"/>
              </a:ext>
            </a:extLst>
          </p:cNvPr>
          <p:cNvSpPr>
            <a:spLocks xmlns:a="http://schemas.openxmlformats.org/drawingml/2006/main" noGrp="1"/>
          </p:cNvSpPr>
          <p:nvPr/>
        </p:nvSpPr>
        <p:spPr>
          <a:xfrm xmlns:a="http://schemas.openxmlformats.org/drawingml/2006/main">
            <a:off x="8134350" y="4591050"/>
            <a:ext cx="3276600" cy="1066800"/>
          </a:xfrm>
          <a:prstGeom xmlns:a="http://schemas.openxmlformats.org/drawingml/2006/main" prst="roundRect">
            <a:avLst>
              <a:gd name="adj" fmla="val 7143"/>
            </a:avLst>
          </a:prstGeom>
          <a:solidFill xmlns:a="http://schemas.openxmlformats.org/drawingml/2006/main">
            <a:srgbClr val="EEF3F8"/>
          </a:solidFill>
          <a:ln xmlns:a="http://schemas.openxmlformats.org/drawingml/2006/main" w="9525">
            <a:solidFill>
              <a:srgbClr val="D8DEE8"/>
            </a:solidFill>
            <a:prstDash val="solid"/>
          </a:ln>
        </p:spPr>
      </p:sp>
      <p:sp>
        <p:nvSpPr>
          <p:cNvPr id="71" name="">
            <a:extLst xmlns:a="http://schemas.openxmlformats.org/drawingml/2006/main">
              <a:ext uri="{FF2B5EF4-FFF2-40B4-BE49-F238E27FC236}">
                <a16:creationId xmlns:a16="http://schemas.microsoft.com/office/drawing/2014/main" id="{58607E28-1F32-491D-A6F6-1002FC3B76A6}"/>
              </a:ext>
            </a:extLst>
          </p:cNvPr>
          <p:cNvSpPr>
            <a:spLocks xmlns:a="http://schemas.openxmlformats.org/drawingml/2006/main" noGrp="1"/>
          </p:cNvSpPr>
          <p:nvPr/>
        </p:nvSpPr>
        <p:spPr>
          <a:xfrm xmlns:a="http://schemas.openxmlformats.org/drawingml/2006/main">
            <a:off x="82867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7C8BA4C7-6227-4358-B5BB-51F7BC210374}"/>
              </a:ext>
            </a:extLst>
          </p:cNvPr>
          <p:cNvSpPr>
            <a:spLocks xmlns:a="http://schemas.openxmlformats.org/drawingml/2006/main" noGrp="1"/>
          </p:cNvSpPr>
          <p:nvPr/>
        </p:nvSpPr>
        <p:spPr>
          <a:xfrm xmlns:a="http://schemas.openxmlformats.org/drawingml/2006/main">
            <a:off x="82867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9</a:t>
            </a:r>
          </a:p>
        </p:txBody>
      </p:sp>
      <p:sp>
        <p:nvSpPr>
          <p:cNvPr id="73" name="">
            <a:extLst xmlns:a="http://schemas.openxmlformats.org/drawingml/2006/main">
              <a:ext uri="{FF2B5EF4-FFF2-40B4-BE49-F238E27FC236}">
                <a16:creationId xmlns:a16="http://schemas.microsoft.com/office/drawing/2014/main" id="{62937577-C7D3-4EB1-9431-FC023699C10C}"/>
              </a:ext>
            </a:extLst>
          </p:cNvPr>
          <p:cNvSpPr>
            <a:spLocks xmlns:a="http://schemas.openxmlformats.org/drawingml/2006/main" noGrp="1"/>
          </p:cNvSpPr>
          <p:nvPr/>
        </p:nvSpPr>
        <p:spPr>
          <a:xfrm xmlns:a="http://schemas.openxmlformats.org/drawingml/2006/main">
            <a:off x="86868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Clinical application</a:t>
            </a:r>
          </a:p>
        </p:txBody>
      </p:sp>
      <p:sp>
        <p:nvSpPr>
          <p:cNvPr id="74" name="">
            <a:extLst xmlns:a="http://schemas.openxmlformats.org/drawingml/2006/main">
              <a:ext uri="{FF2B5EF4-FFF2-40B4-BE49-F238E27FC236}">
                <a16:creationId xmlns:a16="http://schemas.microsoft.com/office/drawing/2014/main" id="{29925CFD-1870-4D4A-A7AB-54052A2714D5}"/>
              </a:ext>
            </a:extLst>
          </p:cNvPr>
          <p:cNvSpPr>
            <a:spLocks xmlns:a="http://schemas.openxmlformats.org/drawingml/2006/main" noGrp="1"/>
          </p:cNvSpPr>
          <p:nvPr/>
        </p:nvSpPr>
        <p:spPr>
          <a:xfrm xmlns:a="http://schemas.openxmlformats.org/drawingml/2006/main">
            <a:off x="86868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casebook outputs</a:t>
            </a:r>
          </a:p>
        </p:txBody>
      </p:sp>
      <p:sp>
        <p:nvSpPr>
          <p:cNvPr id="75" name="">
            <a:extLst xmlns:a="http://schemas.openxmlformats.org/drawingml/2006/main">
              <a:ext uri="{FF2B5EF4-FFF2-40B4-BE49-F238E27FC236}">
                <a16:creationId xmlns:a16="http://schemas.microsoft.com/office/drawing/2014/main" id="{BBEA978A-05E0-40A2-8ABA-9A33D460F694}"/>
              </a:ext>
            </a:extLst>
          </p:cNvPr>
          <p:cNvSpPr>
            <a:spLocks xmlns:a="http://schemas.openxmlformats.org/drawingml/2006/main" noGrp="1"/>
          </p:cNvSpPr>
          <p:nvPr/>
        </p:nvSpPr>
        <p:spPr>
          <a:xfrm xmlns:a="http://schemas.openxmlformats.org/drawingml/2006/main">
            <a:off x="83058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11 Not_UTI -&gt; UTI transitions; 10 WGS/VF-linked; 1 missing endpoint</a:t>
            </a:r>
          </a:p>
        </p:txBody>
      </p:sp>
    </p:spTree>
    <p:extLst>
      <p:ext uri="{BB962C8B-B14F-4D97-AF65-F5344CB8AC3E}">
        <p14:creationId xmlns:p14="http://schemas.microsoft.com/office/powerpoint/2010/main" val="177992305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CEDA9F2-C43B-4586-956E-01BB5A43EC6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B776868-3C86-4A1F-B687-30B1F647237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A7699A4-08BF-4C5D-9F2F-BB6450352EEF}"/>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VF REPRESENTATION</a:t>
            </a:r>
          </a:p>
        </p:txBody>
      </p:sp>
      <p:sp>
        <p:nvSpPr>
          <p:cNvPr id="4" name="">
            <a:extLst xmlns:a="http://schemas.openxmlformats.org/drawingml/2006/main">
              <a:ext uri="{FF2B5EF4-FFF2-40B4-BE49-F238E27FC236}">
                <a16:creationId xmlns:a16="http://schemas.microsoft.com/office/drawing/2014/main" id="{514F26EB-904B-447C-A41F-E9BBF43DAEB0}"/>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VF features: genes, curated modules, and longitudinal similarity</a:t>
            </a:r>
          </a:p>
        </p:txBody>
      </p:sp>
      <p:sp>
        <p:nvSpPr>
          <p:cNvPr id="5" name="">
            <a:extLst xmlns:a="http://schemas.openxmlformats.org/drawingml/2006/main">
              <a:ext uri="{FF2B5EF4-FFF2-40B4-BE49-F238E27FC236}">
                <a16:creationId xmlns:a16="http://schemas.microsoft.com/office/drawing/2014/main" id="{CE4BA398-4577-4078-9A47-5ADD43C7B0AD}"/>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Module and score outputs help interpretation, but they are not validated disease-causality scores.</a:t>
            </a:r>
          </a:p>
        </p:txBody>
      </p:sp>
      <p:sp>
        <p:nvSpPr>
          <p:cNvPr id="6" name="">
            <a:extLst xmlns:a="http://schemas.openxmlformats.org/drawingml/2006/main">
              <a:ext uri="{FF2B5EF4-FFF2-40B4-BE49-F238E27FC236}">
                <a16:creationId xmlns:a16="http://schemas.microsoft.com/office/drawing/2014/main" id="{3680B4F4-8D4D-4A3A-BB0E-15E086750A41}"/>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8166CDA-C3B7-4A07-947D-395965A58EFD}"/>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06FF1A0-6286-417D-AFFF-E905E64073D1}"/>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064AA7F7-8B27-4F7A-A479-1AF322ACA04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05</a:t>
            </a:r>
          </a:p>
        </p:txBody>
      </p:sp>
      <p:sp>
        <p:nvSpPr>
          <p:cNvPr id="10" name="">
            <a:extLst xmlns:a="http://schemas.openxmlformats.org/drawingml/2006/main">
              <a:ext uri="{FF2B5EF4-FFF2-40B4-BE49-F238E27FC236}">
                <a16:creationId xmlns:a16="http://schemas.microsoft.com/office/drawing/2014/main" id="{96514800-D840-4004-9F45-E17428B38EA0}"/>
              </a:ext>
            </a:extLst>
          </p:cNvPr>
          <p:cNvSpPr>
            <a:spLocks xmlns:a="http://schemas.openxmlformats.org/drawingml/2006/main" noGrp="1"/>
          </p:cNvSpPr>
          <p:nvPr/>
        </p:nvSpPr>
        <p:spPr>
          <a:xfrm xmlns:a="http://schemas.openxmlformats.org/drawingml/2006/main">
            <a:off x="704850" y="1752600"/>
            <a:ext cx="2667000" cy="1333500"/>
          </a:xfrm>
          <a:prstGeom xmlns:a="http://schemas.openxmlformats.org/drawingml/2006/main" prst="roundRect">
            <a:avLst>
              <a:gd name="adj" fmla="val 5714"/>
            </a:avLst>
          </a:prstGeom>
          <a:solidFill xmlns:a="http://schemas.openxmlformats.org/drawingml/2006/main">
            <a:srgbClr val="E8F1FA"/>
          </a:solidFill>
          <a:ln xmlns:a="http://schemas.openxmlformats.org/drawingml/2006/main" w="9525">
            <a:solidFill>
              <a:srgbClr val="B9D5F0"/>
            </a:solidFill>
            <a:prstDash val="solid"/>
          </a:ln>
        </p:spPr>
      </p:sp>
      <p:sp>
        <p:nvSpPr>
          <p:cNvPr id="11" name="">
            <a:extLst xmlns:a="http://schemas.openxmlformats.org/drawingml/2006/main">
              <a:ext uri="{FF2B5EF4-FFF2-40B4-BE49-F238E27FC236}">
                <a16:creationId xmlns:a16="http://schemas.microsoft.com/office/drawing/2014/main" id="{0B6A6A49-3913-4407-BC00-23B172B1C0EE}"/>
              </a:ext>
            </a:extLst>
          </p:cNvPr>
          <p:cNvSpPr>
            <a:spLocks xmlns:a="http://schemas.openxmlformats.org/drawingml/2006/main" noGrp="1"/>
          </p:cNvSpPr>
          <p:nvPr/>
        </p:nvSpPr>
        <p:spPr>
          <a:xfrm xmlns:a="http://schemas.openxmlformats.org/drawingml/2006/main">
            <a:off x="87630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B6CB0"/>
                </a:solidFill>
                <a:latin typeface="Aptos"/>
                <a:ea typeface="Aptos"/>
                <a:cs typeface="Aptos"/>
              </a:defRPr>
            </a:pPr>
            <a:r>
              <a:rPr sz="1350" b="1">
                <a:solidFill>
                  <a:srgbClr val="2B6CB0"/>
                </a:solidFill>
                <a:latin typeface="Aptos"/>
                <a:ea typeface="Aptos"/>
                <a:cs typeface="Aptos"/>
              </a:rPr>
              <a:t>Binary VF gene matrix</a:t>
            </a:r>
          </a:p>
        </p:txBody>
      </p:sp>
      <p:sp>
        <p:nvSpPr>
          <p:cNvPr id="12" name="">
            <a:extLst xmlns:a="http://schemas.openxmlformats.org/drawingml/2006/main">
              <a:ext uri="{FF2B5EF4-FFF2-40B4-BE49-F238E27FC236}">
                <a16:creationId xmlns:a16="http://schemas.microsoft.com/office/drawing/2014/main" id="{4F7543DF-3898-44EC-837F-897F9C8381C6}"/>
              </a:ext>
            </a:extLst>
          </p:cNvPr>
          <p:cNvSpPr>
            <a:spLocks xmlns:a="http://schemas.openxmlformats.org/drawingml/2006/main" noGrp="1"/>
          </p:cNvSpPr>
          <p:nvPr/>
        </p:nvSpPr>
        <p:spPr>
          <a:xfrm xmlns:a="http://schemas.openxmlformats.org/drawingml/2006/main">
            <a:off x="87630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227 presence/absence gene columns per episode-level isolate.</a:t>
            </a:r>
          </a:p>
        </p:txBody>
      </p:sp>
      <p:sp>
        <p:nvSpPr>
          <p:cNvPr id="13" name="">
            <a:extLst xmlns:a="http://schemas.openxmlformats.org/drawingml/2006/main">
              <a:ext uri="{FF2B5EF4-FFF2-40B4-BE49-F238E27FC236}">
                <a16:creationId xmlns:a16="http://schemas.microsoft.com/office/drawing/2014/main" id="{ECC7C961-2934-4893-9482-C24B19993C42}"/>
              </a:ext>
            </a:extLst>
          </p:cNvPr>
          <p:cNvSpPr>
            <a:spLocks xmlns:a="http://schemas.openxmlformats.org/drawingml/2006/main" noGrp="1"/>
          </p:cNvSpPr>
          <p:nvPr/>
        </p:nvSpPr>
        <p:spPr>
          <a:xfrm xmlns:a="http://schemas.openxmlformats.org/drawingml/2006/main">
            <a:off x="4762500" y="1752600"/>
            <a:ext cx="2667000" cy="1333500"/>
          </a:xfrm>
          <a:prstGeom xmlns:a="http://schemas.openxmlformats.org/drawingml/2006/main" prst="roundRect">
            <a:avLst>
              <a:gd name="adj" fmla="val 5714"/>
            </a:avLst>
          </a:prstGeom>
          <a:solidFill xmlns:a="http://schemas.openxmlformats.org/drawingml/2006/main">
            <a:srgbClr val="EAF7EF"/>
          </a:solidFill>
          <a:ln xmlns:a="http://schemas.openxmlformats.org/drawingml/2006/main" w="9525">
            <a:solidFill>
              <a:srgbClr val="BCE4C9"/>
            </a:solidFill>
            <a:prstDash val="solid"/>
          </a:ln>
        </p:spPr>
      </p:sp>
      <p:sp>
        <p:nvSpPr>
          <p:cNvPr id="14" name="">
            <a:extLst xmlns:a="http://schemas.openxmlformats.org/drawingml/2006/main">
              <a:ext uri="{FF2B5EF4-FFF2-40B4-BE49-F238E27FC236}">
                <a16:creationId xmlns:a16="http://schemas.microsoft.com/office/drawing/2014/main" id="{F6AA4B2B-8470-4997-B016-A19135014C5E}"/>
              </a:ext>
            </a:extLst>
          </p:cNvPr>
          <p:cNvSpPr>
            <a:spLocks xmlns:a="http://schemas.openxmlformats.org/drawingml/2006/main" noGrp="1"/>
          </p:cNvSpPr>
          <p:nvPr/>
        </p:nvSpPr>
        <p:spPr>
          <a:xfrm xmlns:a="http://schemas.openxmlformats.org/drawingml/2006/main">
            <a:off x="493395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855A"/>
                </a:solidFill>
                <a:latin typeface="Aptos"/>
                <a:ea typeface="Aptos"/>
                <a:cs typeface="Aptos"/>
              </a:defRPr>
            </a:pPr>
            <a:r>
              <a:rPr sz="1350" b="1">
                <a:solidFill>
                  <a:srgbClr val="2F855A"/>
                </a:solidFill>
                <a:latin typeface="Aptos"/>
                <a:ea typeface="Aptos"/>
                <a:cs typeface="Aptos"/>
              </a:rPr>
              <a:t>Curated modules</a:t>
            </a:r>
          </a:p>
        </p:txBody>
      </p:sp>
      <p:sp>
        <p:nvSpPr>
          <p:cNvPr id="15" name="">
            <a:extLst xmlns:a="http://schemas.openxmlformats.org/drawingml/2006/main">
              <a:ext uri="{FF2B5EF4-FFF2-40B4-BE49-F238E27FC236}">
                <a16:creationId xmlns:a16="http://schemas.microsoft.com/office/drawing/2014/main" id="{793E9911-20CC-4911-9FCF-3C06B24836AF}"/>
              </a:ext>
            </a:extLst>
          </p:cNvPr>
          <p:cNvSpPr>
            <a:spLocks xmlns:a="http://schemas.openxmlformats.org/drawingml/2006/main" noGrp="1"/>
          </p:cNvSpPr>
          <p:nvPr/>
        </p:nvSpPr>
        <p:spPr>
          <a:xfrm xmlns:a="http://schemas.openxmlformats.org/drawingml/2006/main">
            <a:off x="493395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32 biological curation units, including 18 UPEC-candidate modules.</a:t>
            </a:r>
          </a:p>
        </p:txBody>
      </p:sp>
      <p:sp>
        <p:nvSpPr>
          <p:cNvPr id="16" name="">
            <a:extLst xmlns:a="http://schemas.openxmlformats.org/drawingml/2006/main">
              <a:ext uri="{FF2B5EF4-FFF2-40B4-BE49-F238E27FC236}">
                <a16:creationId xmlns:a16="http://schemas.microsoft.com/office/drawing/2014/main" id="{3EE5F425-8255-4F35-A31C-2B73F3A9D391}"/>
              </a:ext>
            </a:extLst>
          </p:cNvPr>
          <p:cNvSpPr>
            <a:spLocks xmlns:a="http://schemas.openxmlformats.org/drawingml/2006/main" noGrp="1"/>
          </p:cNvSpPr>
          <p:nvPr/>
        </p:nvSpPr>
        <p:spPr>
          <a:xfrm xmlns:a="http://schemas.openxmlformats.org/drawingml/2006/main">
            <a:off x="8820150" y="1752600"/>
            <a:ext cx="2667000" cy="1333500"/>
          </a:xfrm>
          <a:prstGeom xmlns:a="http://schemas.openxmlformats.org/drawingml/2006/main" prst="roundRect">
            <a:avLst>
              <a:gd name="adj" fmla="val 5714"/>
            </a:avLst>
          </a:prstGeom>
          <a:solidFill xmlns:a="http://schemas.openxmlformats.org/drawingml/2006/main">
            <a:srgbClr val="FFF4E6"/>
          </a:solidFill>
          <a:ln xmlns:a="http://schemas.openxmlformats.org/drawingml/2006/main" w="9525">
            <a:solidFill>
              <a:srgbClr val="F4C98A"/>
            </a:solidFill>
            <a:prstDash val="solid"/>
          </a:ln>
        </p:spPr>
      </p:sp>
      <p:sp>
        <p:nvSpPr>
          <p:cNvPr id="17" name="">
            <a:extLst xmlns:a="http://schemas.openxmlformats.org/drawingml/2006/main">
              <a:ext uri="{FF2B5EF4-FFF2-40B4-BE49-F238E27FC236}">
                <a16:creationId xmlns:a16="http://schemas.microsoft.com/office/drawing/2014/main" id="{8FF86FF1-AE0B-4C01-99FC-DA26D20957B7}"/>
              </a:ext>
            </a:extLst>
          </p:cNvPr>
          <p:cNvSpPr>
            <a:spLocks xmlns:a="http://schemas.openxmlformats.org/drawingml/2006/main" noGrp="1"/>
          </p:cNvSpPr>
          <p:nvPr/>
        </p:nvSpPr>
        <p:spPr>
          <a:xfrm xmlns:a="http://schemas.openxmlformats.org/drawingml/2006/main">
            <a:off x="899160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Outputs</a:t>
            </a:r>
          </a:p>
        </p:txBody>
      </p:sp>
      <p:sp>
        <p:nvSpPr>
          <p:cNvPr id="18" name="">
            <a:extLst xmlns:a="http://schemas.openxmlformats.org/drawingml/2006/main">
              <a:ext uri="{FF2B5EF4-FFF2-40B4-BE49-F238E27FC236}">
                <a16:creationId xmlns:a16="http://schemas.microsoft.com/office/drawing/2014/main" id="{D2333323-857A-429A-8C56-06E9BE1E5747}"/>
              </a:ext>
            </a:extLst>
          </p:cNvPr>
          <p:cNvSpPr>
            <a:spLocks xmlns:a="http://schemas.openxmlformats.org/drawingml/2006/main" noGrp="1"/>
          </p:cNvSpPr>
          <p:nvPr/>
        </p:nvSpPr>
        <p:spPr>
          <a:xfrm xmlns:a="http://schemas.openxmlformats.org/drawingml/2006/main">
            <a:off x="899160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Burden, prevalence, Jaccard similarity, gain/loss, and exploratory models.</a:t>
            </a:r>
          </a:p>
        </p:txBody>
      </p:sp>
      <p:sp>
        <p:nvSpPr>
          <p:cNvPr id="19" name="">
            <a:extLst xmlns:a="http://schemas.openxmlformats.org/drawingml/2006/main">
              <a:ext uri="{FF2B5EF4-FFF2-40B4-BE49-F238E27FC236}">
                <a16:creationId xmlns:a16="http://schemas.microsoft.com/office/drawing/2014/main" id="{4FDF3EED-661A-4327-9DB2-D2D965321D4B}"/>
              </a:ext>
            </a:extLst>
          </p:cNvPr>
          <p:cNvSpPr>
            <a:spLocks xmlns:a="http://schemas.openxmlformats.org/drawingml/2006/main" noGrp="1"/>
          </p:cNvSpPr>
          <p:nvPr/>
        </p:nvSpPr>
        <p:spPr>
          <a:xfrm xmlns:a="http://schemas.openxmlformats.org/drawingml/2006/main" rot="0">
            <a:off x="3505200" y="2390775"/>
            <a:ext cx="11239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798FA934-063C-40E6-A1C9-BB9990DBE949}"/>
              </a:ext>
            </a:extLst>
          </p:cNvPr>
          <p:cNvSpPr>
            <a:spLocks xmlns:a="http://schemas.openxmlformats.org/drawingml/2006/main" noGrp="1"/>
          </p:cNvSpPr>
          <p:nvPr/>
        </p:nvSpPr>
        <p:spPr>
          <a:xfrm xmlns:a="http://schemas.openxmlformats.org/drawingml/2006/main" rot="5400000">
            <a:off x="4562475" y="23526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E7EDA22F-0F7D-4918-93FE-926A1FF0E8BF}"/>
              </a:ext>
            </a:extLst>
          </p:cNvPr>
          <p:cNvSpPr>
            <a:spLocks xmlns:a="http://schemas.openxmlformats.org/drawingml/2006/main" noGrp="1"/>
          </p:cNvSpPr>
          <p:nvPr/>
        </p:nvSpPr>
        <p:spPr>
          <a:xfrm xmlns:a="http://schemas.openxmlformats.org/drawingml/2006/main" rot="0">
            <a:off x="7562850" y="2390775"/>
            <a:ext cx="11239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F524F807-EDFB-40CF-A891-F57AB26A069A}"/>
              </a:ext>
            </a:extLst>
          </p:cNvPr>
          <p:cNvSpPr>
            <a:spLocks xmlns:a="http://schemas.openxmlformats.org/drawingml/2006/main" noGrp="1"/>
          </p:cNvSpPr>
          <p:nvPr/>
        </p:nvSpPr>
        <p:spPr>
          <a:xfrm xmlns:a="http://schemas.openxmlformats.org/drawingml/2006/main" rot="5400000">
            <a:off x="8620125" y="23526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FAC820A4-CD24-4437-AB94-0D2EB955B481}"/>
              </a:ext>
            </a:extLst>
          </p:cNvPr>
          <p:cNvSpPr>
            <a:spLocks xmlns:a="http://schemas.openxmlformats.org/drawingml/2006/main" noGrp="1"/>
          </p:cNvSpPr>
          <p:nvPr/>
        </p:nvSpPr>
        <p:spPr>
          <a:xfrm xmlns:a="http://schemas.openxmlformats.org/drawingml/2006/main">
            <a:off x="1047750"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58989CD7-3671-400A-B08E-177F04FB8FC5}"/>
              </a:ext>
            </a:extLst>
          </p:cNvPr>
          <p:cNvSpPr>
            <a:spLocks xmlns:a="http://schemas.openxmlformats.org/drawingml/2006/main" noGrp="1"/>
          </p:cNvSpPr>
          <p:nvPr/>
        </p:nvSpPr>
        <p:spPr>
          <a:xfrm xmlns:a="http://schemas.openxmlformats.org/drawingml/2006/main">
            <a:off x="122872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2B079FA8-F0DC-4D83-92FD-2E9B558B11FD}"/>
              </a:ext>
            </a:extLst>
          </p:cNvPr>
          <p:cNvSpPr>
            <a:spLocks xmlns:a="http://schemas.openxmlformats.org/drawingml/2006/main" noGrp="1"/>
          </p:cNvSpPr>
          <p:nvPr/>
        </p:nvSpPr>
        <p:spPr>
          <a:xfrm xmlns:a="http://schemas.openxmlformats.org/drawingml/2006/main">
            <a:off x="140970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C86A3596-B831-4547-BCD3-D2A9D0F6A1AE}"/>
              </a:ext>
            </a:extLst>
          </p:cNvPr>
          <p:cNvSpPr>
            <a:spLocks xmlns:a="http://schemas.openxmlformats.org/drawingml/2006/main" noGrp="1"/>
          </p:cNvSpPr>
          <p:nvPr/>
        </p:nvSpPr>
        <p:spPr>
          <a:xfrm xmlns:a="http://schemas.openxmlformats.org/drawingml/2006/main">
            <a:off x="1590675"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E6F8C72B-1F2E-4EDD-817A-35B00084675A}"/>
              </a:ext>
            </a:extLst>
          </p:cNvPr>
          <p:cNvSpPr>
            <a:spLocks xmlns:a="http://schemas.openxmlformats.org/drawingml/2006/main" noGrp="1"/>
          </p:cNvSpPr>
          <p:nvPr/>
        </p:nvSpPr>
        <p:spPr>
          <a:xfrm xmlns:a="http://schemas.openxmlformats.org/drawingml/2006/main">
            <a:off x="177165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9A6DA2FF-3BB9-4EAC-8B9F-D996496C9443}"/>
              </a:ext>
            </a:extLst>
          </p:cNvPr>
          <p:cNvSpPr>
            <a:spLocks xmlns:a="http://schemas.openxmlformats.org/drawingml/2006/main" noGrp="1"/>
          </p:cNvSpPr>
          <p:nvPr/>
        </p:nvSpPr>
        <p:spPr>
          <a:xfrm xmlns:a="http://schemas.openxmlformats.org/drawingml/2006/main">
            <a:off x="195262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CD32262C-E1B0-4F2D-9CC6-31CA8CA9DCBB}"/>
              </a:ext>
            </a:extLst>
          </p:cNvPr>
          <p:cNvSpPr>
            <a:spLocks xmlns:a="http://schemas.openxmlformats.org/drawingml/2006/main" noGrp="1"/>
          </p:cNvSpPr>
          <p:nvPr/>
        </p:nvSpPr>
        <p:spPr>
          <a:xfrm xmlns:a="http://schemas.openxmlformats.org/drawingml/2006/main">
            <a:off x="2133600"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E4D1F3DD-DA77-4CCE-828A-411362602168}"/>
              </a:ext>
            </a:extLst>
          </p:cNvPr>
          <p:cNvSpPr>
            <a:spLocks xmlns:a="http://schemas.openxmlformats.org/drawingml/2006/main" noGrp="1"/>
          </p:cNvSpPr>
          <p:nvPr/>
        </p:nvSpPr>
        <p:spPr>
          <a:xfrm xmlns:a="http://schemas.openxmlformats.org/drawingml/2006/main">
            <a:off x="231457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3BE41205-3F03-4D4B-8129-D9DDE9BC3630}"/>
              </a:ext>
            </a:extLst>
          </p:cNvPr>
          <p:cNvSpPr>
            <a:spLocks xmlns:a="http://schemas.openxmlformats.org/drawingml/2006/main" noGrp="1"/>
          </p:cNvSpPr>
          <p:nvPr/>
        </p:nvSpPr>
        <p:spPr>
          <a:xfrm xmlns:a="http://schemas.openxmlformats.org/drawingml/2006/main">
            <a:off x="249555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D2BFDAFC-E98A-4FF0-BC48-E3E53D325AAC}"/>
              </a:ext>
            </a:extLst>
          </p:cNvPr>
          <p:cNvSpPr>
            <a:spLocks xmlns:a="http://schemas.openxmlformats.org/drawingml/2006/main" noGrp="1"/>
          </p:cNvSpPr>
          <p:nvPr/>
        </p:nvSpPr>
        <p:spPr>
          <a:xfrm xmlns:a="http://schemas.openxmlformats.org/drawingml/2006/main">
            <a:off x="2676525"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A95FE89E-3936-4D57-B611-74674C1F0AFC}"/>
              </a:ext>
            </a:extLst>
          </p:cNvPr>
          <p:cNvSpPr>
            <a:spLocks xmlns:a="http://schemas.openxmlformats.org/drawingml/2006/main" noGrp="1"/>
          </p:cNvSpPr>
          <p:nvPr/>
        </p:nvSpPr>
        <p:spPr>
          <a:xfrm xmlns:a="http://schemas.openxmlformats.org/drawingml/2006/main">
            <a:off x="104775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B851E95A-22C1-4848-95E3-F690E5EFC2D6}"/>
              </a:ext>
            </a:extLst>
          </p:cNvPr>
          <p:cNvSpPr>
            <a:spLocks xmlns:a="http://schemas.openxmlformats.org/drawingml/2006/main" noGrp="1"/>
          </p:cNvSpPr>
          <p:nvPr/>
        </p:nvSpPr>
        <p:spPr>
          <a:xfrm xmlns:a="http://schemas.openxmlformats.org/drawingml/2006/main">
            <a:off x="1228725"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2E19FE22-68DE-4FAC-B988-D81E2CCA91E4}"/>
              </a:ext>
            </a:extLst>
          </p:cNvPr>
          <p:cNvSpPr>
            <a:spLocks xmlns:a="http://schemas.openxmlformats.org/drawingml/2006/main" noGrp="1"/>
          </p:cNvSpPr>
          <p:nvPr/>
        </p:nvSpPr>
        <p:spPr>
          <a:xfrm xmlns:a="http://schemas.openxmlformats.org/drawingml/2006/main">
            <a:off x="140970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6C6E7F29-A7BF-4530-8A47-DCC84C213875}"/>
              </a:ext>
            </a:extLst>
          </p:cNvPr>
          <p:cNvSpPr>
            <a:spLocks xmlns:a="http://schemas.openxmlformats.org/drawingml/2006/main" noGrp="1"/>
          </p:cNvSpPr>
          <p:nvPr/>
        </p:nvSpPr>
        <p:spPr>
          <a:xfrm xmlns:a="http://schemas.openxmlformats.org/drawingml/2006/main">
            <a:off x="159067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05FB445D-FB0C-439D-A9CF-E352B332F99F}"/>
              </a:ext>
            </a:extLst>
          </p:cNvPr>
          <p:cNvSpPr>
            <a:spLocks xmlns:a="http://schemas.openxmlformats.org/drawingml/2006/main" noGrp="1"/>
          </p:cNvSpPr>
          <p:nvPr/>
        </p:nvSpPr>
        <p:spPr>
          <a:xfrm xmlns:a="http://schemas.openxmlformats.org/drawingml/2006/main">
            <a:off x="1771650"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4211E0AD-F927-417E-BF76-1910D47F84A0}"/>
              </a:ext>
            </a:extLst>
          </p:cNvPr>
          <p:cNvSpPr>
            <a:spLocks xmlns:a="http://schemas.openxmlformats.org/drawingml/2006/main" noGrp="1"/>
          </p:cNvSpPr>
          <p:nvPr/>
        </p:nvSpPr>
        <p:spPr>
          <a:xfrm xmlns:a="http://schemas.openxmlformats.org/drawingml/2006/main">
            <a:off x="195262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C77291D2-446C-4ECD-8F40-74D2170EA13E}"/>
              </a:ext>
            </a:extLst>
          </p:cNvPr>
          <p:cNvSpPr>
            <a:spLocks xmlns:a="http://schemas.openxmlformats.org/drawingml/2006/main" noGrp="1"/>
          </p:cNvSpPr>
          <p:nvPr/>
        </p:nvSpPr>
        <p:spPr>
          <a:xfrm xmlns:a="http://schemas.openxmlformats.org/drawingml/2006/main">
            <a:off x="213360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92C392A8-6313-48E2-8BDC-FD3D1B952F6F}"/>
              </a:ext>
            </a:extLst>
          </p:cNvPr>
          <p:cNvSpPr>
            <a:spLocks xmlns:a="http://schemas.openxmlformats.org/drawingml/2006/main" noGrp="1"/>
          </p:cNvSpPr>
          <p:nvPr/>
        </p:nvSpPr>
        <p:spPr>
          <a:xfrm xmlns:a="http://schemas.openxmlformats.org/drawingml/2006/main">
            <a:off x="2314575"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CA66BB83-B042-4907-9683-E33A13298A6E}"/>
              </a:ext>
            </a:extLst>
          </p:cNvPr>
          <p:cNvSpPr>
            <a:spLocks xmlns:a="http://schemas.openxmlformats.org/drawingml/2006/main" noGrp="1"/>
          </p:cNvSpPr>
          <p:nvPr/>
        </p:nvSpPr>
        <p:spPr>
          <a:xfrm xmlns:a="http://schemas.openxmlformats.org/drawingml/2006/main">
            <a:off x="249555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EBDD9142-01C5-4948-B166-813C4DA0885C}"/>
              </a:ext>
            </a:extLst>
          </p:cNvPr>
          <p:cNvSpPr>
            <a:spLocks xmlns:a="http://schemas.openxmlformats.org/drawingml/2006/main" noGrp="1"/>
          </p:cNvSpPr>
          <p:nvPr/>
        </p:nvSpPr>
        <p:spPr>
          <a:xfrm xmlns:a="http://schemas.openxmlformats.org/drawingml/2006/main">
            <a:off x="267652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5A0B20D3-F95B-4015-AA86-208F737076F9}"/>
              </a:ext>
            </a:extLst>
          </p:cNvPr>
          <p:cNvSpPr>
            <a:spLocks xmlns:a="http://schemas.openxmlformats.org/drawingml/2006/main" noGrp="1"/>
          </p:cNvSpPr>
          <p:nvPr/>
        </p:nvSpPr>
        <p:spPr>
          <a:xfrm xmlns:a="http://schemas.openxmlformats.org/drawingml/2006/main">
            <a:off x="104775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549675BD-0168-4A56-A57D-A6E716CADFB2}"/>
              </a:ext>
            </a:extLst>
          </p:cNvPr>
          <p:cNvSpPr>
            <a:spLocks xmlns:a="http://schemas.openxmlformats.org/drawingml/2006/main" noGrp="1"/>
          </p:cNvSpPr>
          <p:nvPr/>
        </p:nvSpPr>
        <p:spPr>
          <a:xfrm xmlns:a="http://schemas.openxmlformats.org/drawingml/2006/main">
            <a:off x="122872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56AA7A36-77C9-41E8-84BB-A8745770AF7B}"/>
              </a:ext>
            </a:extLst>
          </p:cNvPr>
          <p:cNvSpPr>
            <a:spLocks xmlns:a="http://schemas.openxmlformats.org/drawingml/2006/main" noGrp="1"/>
          </p:cNvSpPr>
          <p:nvPr/>
        </p:nvSpPr>
        <p:spPr>
          <a:xfrm xmlns:a="http://schemas.openxmlformats.org/drawingml/2006/main">
            <a:off x="1409700"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50453ED1-F8F7-4230-BFA1-06F0AD1F369E}"/>
              </a:ext>
            </a:extLst>
          </p:cNvPr>
          <p:cNvSpPr>
            <a:spLocks xmlns:a="http://schemas.openxmlformats.org/drawingml/2006/main" noGrp="1"/>
          </p:cNvSpPr>
          <p:nvPr/>
        </p:nvSpPr>
        <p:spPr>
          <a:xfrm xmlns:a="http://schemas.openxmlformats.org/drawingml/2006/main">
            <a:off x="159067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35C7F527-E597-4167-83C1-85E6E224151E}"/>
              </a:ext>
            </a:extLst>
          </p:cNvPr>
          <p:cNvSpPr>
            <a:spLocks xmlns:a="http://schemas.openxmlformats.org/drawingml/2006/main" noGrp="1"/>
          </p:cNvSpPr>
          <p:nvPr/>
        </p:nvSpPr>
        <p:spPr>
          <a:xfrm xmlns:a="http://schemas.openxmlformats.org/drawingml/2006/main">
            <a:off x="177165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F0178AC9-F9E2-4E2D-9433-8E40BD166950}"/>
              </a:ext>
            </a:extLst>
          </p:cNvPr>
          <p:cNvSpPr>
            <a:spLocks xmlns:a="http://schemas.openxmlformats.org/drawingml/2006/main" noGrp="1"/>
          </p:cNvSpPr>
          <p:nvPr/>
        </p:nvSpPr>
        <p:spPr>
          <a:xfrm xmlns:a="http://schemas.openxmlformats.org/drawingml/2006/main">
            <a:off x="1952625"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289C372E-A630-4669-8AE4-88ABFE67DB6A}"/>
              </a:ext>
            </a:extLst>
          </p:cNvPr>
          <p:cNvSpPr>
            <a:spLocks xmlns:a="http://schemas.openxmlformats.org/drawingml/2006/main" noGrp="1"/>
          </p:cNvSpPr>
          <p:nvPr/>
        </p:nvSpPr>
        <p:spPr>
          <a:xfrm xmlns:a="http://schemas.openxmlformats.org/drawingml/2006/main">
            <a:off x="213360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301D9914-04E5-4B41-83C7-1A0DEEE6646F}"/>
              </a:ext>
            </a:extLst>
          </p:cNvPr>
          <p:cNvSpPr>
            <a:spLocks xmlns:a="http://schemas.openxmlformats.org/drawingml/2006/main" noGrp="1"/>
          </p:cNvSpPr>
          <p:nvPr/>
        </p:nvSpPr>
        <p:spPr>
          <a:xfrm xmlns:a="http://schemas.openxmlformats.org/drawingml/2006/main">
            <a:off x="231457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8C67BDDA-8E3C-4C0B-8443-B6C6B9D55980}"/>
              </a:ext>
            </a:extLst>
          </p:cNvPr>
          <p:cNvSpPr>
            <a:spLocks xmlns:a="http://schemas.openxmlformats.org/drawingml/2006/main" noGrp="1"/>
          </p:cNvSpPr>
          <p:nvPr/>
        </p:nvSpPr>
        <p:spPr>
          <a:xfrm xmlns:a="http://schemas.openxmlformats.org/drawingml/2006/main">
            <a:off x="2495550"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7FF4A2AB-4862-496F-B34C-CC3A10EDA77E}"/>
              </a:ext>
            </a:extLst>
          </p:cNvPr>
          <p:cNvSpPr>
            <a:spLocks xmlns:a="http://schemas.openxmlformats.org/drawingml/2006/main" noGrp="1"/>
          </p:cNvSpPr>
          <p:nvPr/>
        </p:nvSpPr>
        <p:spPr>
          <a:xfrm xmlns:a="http://schemas.openxmlformats.org/drawingml/2006/main">
            <a:off x="267652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CDFAE027-A16E-481C-8120-59E62B7690A9}"/>
              </a:ext>
            </a:extLst>
          </p:cNvPr>
          <p:cNvSpPr>
            <a:spLocks xmlns:a="http://schemas.openxmlformats.org/drawingml/2006/main" noGrp="1"/>
          </p:cNvSpPr>
          <p:nvPr/>
        </p:nvSpPr>
        <p:spPr>
          <a:xfrm xmlns:a="http://schemas.openxmlformats.org/drawingml/2006/main">
            <a:off x="1047750"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4" name="">
            <a:extLst xmlns:a="http://schemas.openxmlformats.org/drawingml/2006/main">
              <a:ext uri="{FF2B5EF4-FFF2-40B4-BE49-F238E27FC236}">
                <a16:creationId xmlns:a16="http://schemas.microsoft.com/office/drawing/2014/main" id="{6790028C-4BF2-401C-B24B-1EA0C9E325C5}"/>
              </a:ext>
            </a:extLst>
          </p:cNvPr>
          <p:cNvSpPr>
            <a:spLocks xmlns:a="http://schemas.openxmlformats.org/drawingml/2006/main" noGrp="1"/>
          </p:cNvSpPr>
          <p:nvPr/>
        </p:nvSpPr>
        <p:spPr>
          <a:xfrm xmlns:a="http://schemas.openxmlformats.org/drawingml/2006/main">
            <a:off x="122872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ACE619A4-F602-4749-A60B-49D10974B26C}"/>
              </a:ext>
            </a:extLst>
          </p:cNvPr>
          <p:cNvSpPr>
            <a:spLocks xmlns:a="http://schemas.openxmlformats.org/drawingml/2006/main" noGrp="1"/>
          </p:cNvSpPr>
          <p:nvPr/>
        </p:nvSpPr>
        <p:spPr>
          <a:xfrm xmlns:a="http://schemas.openxmlformats.org/drawingml/2006/main">
            <a:off x="140970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8FF4FB4F-96C7-4E65-BD9D-3D8729F3EDB0}"/>
              </a:ext>
            </a:extLst>
          </p:cNvPr>
          <p:cNvSpPr>
            <a:spLocks xmlns:a="http://schemas.openxmlformats.org/drawingml/2006/main" noGrp="1"/>
          </p:cNvSpPr>
          <p:nvPr/>
        </p:nvSpPr>
        <p:spPr>
          <a:xfrm xmlns:a="http://schemas.openxmlformats.org/drawingml/2006/main">
            <a:off x="1590675"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7F0E094F-5C30-4498-9CAC-D0FD10A8F77E}"/>
              </a:ext>
            </a:extLst>
          </p:cNvPr>
          <p:cNvSpPr>
            <a:spLocks xmlns:a="http://schemas.openxmlformats.org/drawingml/2006/main" noGrp="1"/>
          </p:cNvSpPr>
          <p:nvPr/>
        </p:nvSpPr>
        <p:spPr>
          <a:xfrm xmlns:a="http://schemas.openxmlformats.org/drawingml/2006/main">
            <a:off x="177165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8" name="">
            <a:extLst xmlns:a="http://schemas.openxmlformats.org/drawingml/2006/main">
              <a:ext uri="{FF2B5EF4-FFF2-40B4-BE49-F238E27FC236}">
                <a16:creationId xmlns:a16="http://schemas.microsoft.com/office/drawing/2014/main" id="{7EEC5F9A-C484-4E3F-BA63-9720367FDB9A}"/>
              </a:ext>
            </a:extLst>
          </p:cNvPr>
          <p:cNvSpPr>
            <a:spLocks xmlns:a="http://schemas.openxmlformats.org/drawingml/2006/main" noGrp="1"/>
          </p:cNvSpPr>
          <p:nvPr/>
        </p:nvSpPr>
        <p:spPr>
          <a:xfrm xmlns:a="http://schemas.openxmlformats.org/drawingml/2006/main">
            <a:off x="195262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9" name="">
            <a:extLst xmlns:a="http://schemas.openxmlformats.org/drawingml/2006/main">
              <a:ext uri="{FF2B5EF4-FFF2-40B4-BE49-F238E27FC236}">
                <a16:creationId xmlns:a16="http://schemas.microsoft.com/office/drawing/2014/main" id="{BD9B40C1-7A34-4318-8F4C-A0E96C55F9BC}"/>
              </a:ext>
            </a:extLst>
          </p:cNvPr>
          <p:cNvSpPr>
            <a:spLocks xmlns:a="http://schemas.openxmlformats.org/drawingml/2006/main" noGrp="1"/>
          </p:cNvSpPr>
          <p:nvPr/>
        </p:nvSpPr>
        <p:spPr>
          <a:xfrm xmlns:a="http://schemas.openxmlformats.org/drawingml/2006/main">
            <a:off x="2133600"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0" name="">
            <a:extLst xmlns:a="http://schemas.openxmlformats.org/drawingml/2006/main">
              <a:ext uri="{FF2B5EF4-FFF2-40B4-BE49-F238E27FC236}">
                <a16:creationId xmlns:a16="http://schemas.microsoft.com/office/drawing/2014/main" id="{EA9F2CA1-9F77-4539-BFF7-9321EBBB26D7}"/>
              </a:ext>
            </a:extLst>
          </p:cNvPr>
          <p:cNvSpPr>
            <a:spLocks xmlns:a="http://schemas.openxmlformats.org/drawingml/2006/main" noGrp="1"/>
          </p:cNvSpPr>
          <p:nvPr/>
        </p:nvSpPr>
        <p:spPr>
          <a:xfrm xmlns:a="http://schemas.openxmlformats.org/drawingml/2006/main">
            <a:off x="231457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9F86BB43-7182-4788-9C98-885F917DE648}"/>
              </a:ext>
            </a:extLst>
          </p:cNvPr>
          <p:cNvSpPr>
            <a:spLocks xmlns:a="http://schemas.openxmlformats.org/drawingml/2006/main" noGrp="1"/>
          </p:cNvSpPr>
          <p:nvPr/>
        </p:nvSpPr>
        <p:spPr>
          <a:xfrm xmlns:a="http://schemas.openxmlformats.org/drawingml/2006/main">
            <a:off x="249555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2" name="">
            <a:extLst xmlns:a="http://schemas.openxmlformats.org/drawingml/2006/main">
              <a:ext uri="{FF2B5EF4-FFF2-40B4-BE49-F238E27FC236}">
                <a16:creationId xmlns:a16="http://schemas.microsoft.com/office/drawing/2014/main" id="{7F08830B-F5C2-4A13-8729-7E7220D81E53}"/>
              </a:ext>
            </a:extLst>
          </p:cNvPr>
          <p:cNvSpPr>
            <a:spLocks xmlns:a="http://schemas.openxmlformats.org/drawingml/2006/main" noGrp="1"/>
          </p:cNvSpPr>
          <p:nvPr/>
        </p:nvSpPr>
        <p:spPr>
          <a:xfrm xmlns:a="http://schemas.openxmlformats.org/drawingml/2006/main">
            <a:off x="2676525"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E5FA602E-6FA3-4CC4-A376-9D99EB6D8EA4}"/>
              </a:ext>
            </a:extLst>
          </p:cNvPr>
          <p:cNvSpPr>
            <a:spLocks xmlns:a="http://schemas.openxmlformats.org/drawingml/2006/main" noGrp="1"/>
          </p:cNvSpPr>
          <p:nvPr/>
        </p:nvSpPr>
        <p:spPr>
          <a:xfrm xmlns:a="http://schemas.openxmlformats.org/drawingml/2006/main">
            <a:off x="104775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3B998B14-3161-4A3A-88F0-BD915ABDC9F4}"/>
              </a:ext>
            </a:extLst>
          </p:cNvPr>
          <p:cNvSpPr>
            <a:spLocks xmlns:a="http://schemas.openxmlformats.org/drawingml/2006/main" noGrp="1"/>
          </p:cNvSpPr>
          <p:nvPr/>
        </p:nvSpPr>
        <p:spPr>
          <a:xfrm xmlns:a="http://schemas.openxmlformats.org/drawingml/2006/main">
            <a:off x="1228725"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5" name="">
            <a:extLst xmlns:a="http://schemas.openxmlformats.org/drawingml/2006/main">
              <a:ext uri="{FF2B5EF4-FFF2-40B4-BE49-F238E27FC236}">
                <a16:creationId xmlns:a16="http://schemas.microsoft.com/office/drawing/2014/main" id="{F760C2AA-F557-4E3C-B418-5260D0528B6D}"/>
              </a:ext>
            </a:extLst>
          </p:cNvPr>
          <p:cNvSpPr>
            <a:spLocks xmlns:a="http://schemas.openxmlformats.org/drawingml/2006/main" noGrp="1"/>
          </p:cNvSpPr>
          <p:nvPr/>
        </p:nvSpPr>
        <p:spPr>
          <a:xfrm xmlns:a="http://schemas.openxmlformats.org/drawingml/2006/main">
            <a:off x="140970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6" name="">
            <a:extLst xmlns:a="http://schemas.openxmlformats.org/drawingml/2006/main">
              <a:ext uri="{FF2B5EF4-FFF2-40B4-BE49-F238E27FC236}">
                <a16:creationId xmlns:a16="http://schemas.microsoft.com/office/drawing/2014/main" id="{9E07BCC0-8324-484E-BDBB-8464F75893F8}"/>
              </a:ext>
            </a:extLst>
          </p:cNvPr>
          <p:cNvSpPr>
            <a:spLocks xmlns:a="http://schemas.openxmlformats.org/drawingml/2006/main" noGrp="1"/>
          </p:cNvSpPr>
          <p:nvPr/>
        </p:nvSpPr>
        <p:spPr>
          <a:xfrm xmlns:a="http://schemas.openxmlformats.org/drawingml/2006/main">
            <a:off x="159067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7" name="">
            <a:extLst xmlns:a="http://schemas.openxmlformats.org/drawingml/2006/main">
              <a:ext uri="{FF2B5EF4-FFF2-40B4-BE49-F238E27FC236}">
                <a16:creationId xmlns:a16="http://schemas.microsoft.com/office/drawing/2014/main" id="{9C13D838-8871-443C-BFA8-A2028D33EF7A}"/>
              </a:ext>
            </a:extLst>
          </p:cNvPr>
          <p:cNvSpPr>
            <a:spLocks xmlns:a="http://schemas.openxmlformats.org/drawingml/2006/main" noGrp="1"/>
          </p:cNvSpPr>
          <p:nvPr/>
        </p:nvSpPr>
        <p:spPr>
          <a:xfrm xmlns:a="http://schemas.openxmlformats.org/drawingml/2006/main">
            <a:off x="1771650"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8" name="">
            <a:extLst xmlns:a="http://schemas.openxmlformats.org/drawingml/2006/main">
              <a:ext uri="{FF2B5EF4-FFF2-40B4-BE49-F238E27FC236}">
                <a16:creationId xmlns:a16="http://schemas.microsoft.com/office/drawing/2014/main" id="{4AE23FE2-84D4-45C7-B629-BFBD5361B5EB}"/>
              </a:ext>
            </a:extLst>
          </p:cNvPr>
          <p:cNvSpPr>
            <a:spLocks xmlns:a="http://schemas.openxmlformats.org/drawingml/2006/main" noGrp="1"/>
          </p:cNvSpPr>
          <p:nvPr/>
        </p:nvSpPr>
        <p:spPr>
          <a:xfrm xmlns:a="http://schemas.openxmlformats.org/drawingml/2006/main">
            <a:off x="195262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44E73C39-3684-4ACE-B062-EA45F2B76598}"/>
              </a:ext>
            </a:extLst>
          </p:cNvPr>
          <p:cNvSpPr>
            <a:spLocks xmlns:a="http://schemas.openxmlformats.org/drawingml/2006/main" noGrp="1"/>
          </p:cNvSpPr>
          <p:nvPr/>
        </p:nvSpPr>
        <p:spPr>
          <a:xfrm xmlns:a="http://schemas.openxmlformats.org/drawingml/2006/main">
            <a:off x="213360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0" name="">
            <a:extLst xmlns:a="http://schemas.openxmlformats.org/drawingml/2006/main">
              <a:ext uri="{FF2B5EF4-FFF2-40B4-BE49-F238E27FC236}">
                <a16:creationId xmlns:a16="http://schemas.microsoft.com/office/drawing/2014/main" id="{8469AF12-9F54-4A8D-90BB-72944FC14C41}"/>
              </a:ext>
            </a:extLst>
          </p:cNvPr>
          <p:cNvSpPr>
            <a:spLocks xmlns:a="http://schemas.openxmlformats.org/drawingml/2006/main" noGrp="1"/>
          </p:cNvSpPr>
          <p:nvPr/>
        </p:nvSpPr>
        <p:spPr>
          <a:xfrm xmlns:a="http://schemas.openxmlformats.org/drawingml/2006/main">
            <a:off x="2314575"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1" name="">
            <a:extLst xmlns:a="http://schemas.openxmlformats.org/drawingml/2006/main">
              <a:ext uri="{FF2B5EF4-FFF2-40B4-BE49-F238E27FC236}">
                <a16:creationId xmlns:a16="http://schemas.microsoft.com/office/drawing/2014/main" id="{F5C2C9F0-2043-4CA7-A512-EB0CB1C6B536}"/>
              </a:ext>
            </a:extLst>
          </p:cNvPr>
          <p:cNvSpPr>
            <a:spLocks xmlns:a="http://schemas.openxmlformats.org/drawingml/2006/main" noGrp="1"/>
          </p:cNvSpPr>
          <p:nvPr/>
        </p:nvSpPr>
        <p:spPr>
          <a:xfrm xmlns:a="http://schemas.openxmlformats.org/drawingml/2006/main">
            <a:off x="249555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A42886E4-2276-403A-8351-1FD0EB62B2BA}"/>
              </a:ext>
            </a:extLst>
          </p:cNvPr>
          <p:cNvSpPr>
            <a:spLocks xmlns:a="http://schemas.openxmlformats.org/drawingml/2006/main" noGrp="1"/>
          </p:cNvSpPr>
          <p:nvPr/>
        </p:nvSpPr>
        <p:spPr>
          <a:xfrm xmlns:a="http://schemas.openxmlformats.org/drawingml/2006/main">
            <a:off x="267652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3" name="">
            <a:extLst xmlns:a="http://schemas.openxmlformats.org/drawingml/2006/main">
              <a:ext uri="{FF2B5EF4-FFF2-40B4-BE49-F238E27FC236}">
                <a16:creationId xmlns:a16="http://schemas.microsoft.com/office/drawing/2014/main" id="{84919E50-C096-4004-AB36-136B2804C0B2}"/>
              </a:ext>
            </a:extLst>
          </p:cNvPr>
          <p:cNvSpPr>
            <a:spLocks xmlns:a="http://schemas.openxmlformats.org/drawingml/2006/main" noGrp="1"/>
          </p:cNvSpPr>
          <p:nvPr/>
        </p:nvSpPr>
        <p:spPr>
          <a:xfrm xmlns:a="http://schemas.openxmlformats.org/drawingml/2006/main">
            <a:off x="104775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4" name="">
            <a:extLst xmlns:a="http://schemas.openxmlformats.org/drawingml/2006/main">
              <a:ext uri="{FF2B5EF4-FFF2-40B4-BE49-F238E27FC236}">
                <a16:creationId xmlns:a16="http://schemas.microsoft.com/office/drawing/2014/main" id="{FF66B693-BB82-437D-B92C-4A8F64AF8B09}"/>
              </a:ext>
            </a:extLst>
          </p:cNvPr>
          <p:cNvSpPr>
            <a:spLocks xmlns:a="http://schemas.openxmlformats.org/drawingml/2006/main" noGrp="1"/>
          </p:cNvSpPr>
          <p:nvPr/>
        </p:nvSpPr>
        <p:spPr>
          <a:xfrm xmlns:a="http://schemas.openxmlformats.org/drawingml/2006/main">
            <a:off x="122872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5" name="">
            <a:extLst xmlns:a="http://schemas.openxmlformats.org/drawingml/2006/main">
              <a:ext uri="{FF2B5EF4-FFF2-40B4-BE49-F238E27FC236}">
                <a16:creationId xmlns:a16="http://schemas.microsoft.com/office/drawing/2014/main" id="{C10CB3CA-9337-4C2B-BEF3-70885B15FDF4}"/>
              </a:ext>
            </a:extLst>
          </p:cNvPr>
          <p:cNvSpPr>
            <a:spLocks xmlns:a="http://schemas.openxmlformats.org/drawingml/2006/main" noGrp="1"/>
          </p:cNvSpPr>
          <p:nvPr/>
        </p:nvSpPr>
        <p:spPr>
          <a:xfrm xmlns:a="http://schemas.openxmlformats.org/drawingml/2006/main">
            <a:off x="1409700"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6" name="">
            <a:extLst xmlns:a="http://schemas.openxmlformats.org/drawingml/2006/main">
              <a:ext uri="{FF2B5EF4-FFF2-40B4-BE49-F238E27FC236}">
                <a16:creationId xmlns:a16="http://schemas.microsoft.com/office/drawing/2014/main" id="{3E865343-4B46-40CC-987F-5CE60822C0DF}"/>
              </a:ext>
            </a:extLst>
          </p:cNvPr>
          <p:cNvSpPr>
            <a:spLocks xmlns:a="http://schemas.openxmlformats.org/drawingml/2006/main" noGrp="1"/>
          </p:cNvSpPr>
          <p:nvPr/>
        </p:nvSpPr>
        <p:spPr>
          <a:xfrm xmlns:a="http://schemas.openxmlformats.org/drawingml/2006/main">
            <a:off x="159067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7" name="">
            <a:extLst xmlns:a="http://schemas.openxmlformats.org/drawingml/2006/main">
              <a:ext uri="{FF2B5EF4-FFF2-40B4-BE49-F238E27FC236}">
                <a16:creationId xmlns:a16="http://schemas.microsoft.com/office/drawing/2014/main" id="{5F3585A6-FE8C-4A2F-9C0C-F933741EA746}"/>
              </a:ext>
            </a:extLst>
          </p:cNvPr>
          <p:cNvSpPr>
            <a:spLocks xmlns:a="http://schemas.openxmlformats.org/drawingml/2006/main" noGrp="1"/>
          </p:cNvSpPr>
          <p:nvPr/>
        </p:nvSpPr>
        <p:spPr>
          <a:xfrm xmlns:a="http://schemas.openxmlformats.org/drawingml/2006/main">
            <a:off x="177165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8" name="">
            <a:extLst xmlns:a="http://schemas.openxmlformats.org/drawingml/2006/main">
              <a:ext uri="{FF2B5EF4-FFF2-40B4-BE49-F238E27FC236}">
                <a16:creationId xmlns:a16="http://schemas.microsoft.com/office/drawing/2014/main" id="{D4685E1B-E6D4-45E7-BC07-EB3AD0FB129B}"/>
              </a:ext>
            </a:extLst>
          </p:cNvPr>
          <p:cNvSpPr>
            <a:spLocks xmlns:a="http://schemas.openxmlformats.org/drawingml/2006/main" noGrp="1"/>
          </p:cNvSpPr>
          <p:nvPr/>
        </p:nvSpPr>
        <p:spPr>
          <a:xfrm xmlns:a="http://schemas.openxmlformats.org/drawingml/2006/main">
            <a:off x="1952625"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9" name="">
            <a:extLst xmlns:a="http://schemas.openxmlformats.org/drawingml/2006/main">
              <a:ext uri="{FF2B5EF4-FFF2-40B4-BE49-F238E27FC236}">
                <a16:creationId xmlns:a16="http://schemas.microsoft.com/office/drawing/2014/main" id="{AB736208-DD5E-4407-90BD-22932A573B0C}"/>
              </a:ext>
            </a:extLst>
          </p:cNvPr>
          <p:cNvSpPr>
            <a:spLocks xmlns:a="http://schemas.openxmlformats.org/drawingml/2006/main" noGrp="1"/>
          </p:cNvSpPr>
          <p:nvPr/>
        </p:nvSpPr>
        <p:spPr>
          <a:xfrm xmlns:a="http://schemas.openxmlformats.org/drawingml/2006/main">
            <a:off x="213360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0" name="">
            <a:extLst xmlns:a="http://schemas.openxmlformats.org/drawingml/2006/main">
              <a:ext uri="{FF2B5EF4-FFF2-40B4-BE49-F238E27FC236}">
                <a16:creationId xmlns:a16="http://schemas.microsoft.com/office/drawing/2014/main" id="{C4A8D1F5-5F21-4CF7-A258-D292CF03C870}"/>
              </a:ext>
            </a:extLst>
          </p:cNvPr>
          <p:cNvSpPr>
            <a:spLocks xmlns:a="http://schemas.openxmlformats.org/drawingml/2006/main" noGrp="1"/>
          </p:cNvSpPr>
          <p:nvPr/>
        </p:nvSpPr>
        <p:spPr>
          <a:xfrm xmlns:a="http://schemas.openxmlformats.org/drawingml/2006/main">
            <a:off x="231457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1" name="">
            <a:extLst xmlns:a="http://schemas.openxmlformats.org/drawingml/2006/main">
              <a:ext uri="{FF2B5EF4-FFF2-40B4-BE49-F238E27FC236}">
                <a16:creationId xmlns:a16="http://schemas.microsoft.com/office/drawing/2014/main" id="{4F8ED47C-D356-4F3D-AB27-F9E527BB09C9}"/>
              </a:ext>
            </a:extLst>
          </p:cNvPr>
          <p:cNvSpPr>
            <a:spLocks xmlns:a="http://schemas.openxmlformats.org/drawingml/2006/main" noGrp="1"/>
          </p:cNvSpPr>
          <p:nvPr/>
        </p:nvSpPr>
        <p:spPr>
          <a:xfrm xmlns:a="http://schemas.openxmlformats.org/drawingml/2006/main">
            <a:off x="2495550"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82" name="">
            <a:extLst xmlns:a="http://schemas.openxmlformats.org/drawingml/2006/main">
              <a:ext uri="{FF2B5EF4-FFF2-40B4-BE49-F238E27FC236}">
                <a16:creationId xmlns:a16="http://schemas.microsoft.com/office/drawing/2014/main" id="{4F033A3B-23D4-46C3-B500-976C696E1507}"/>
              </a:ext>
            </a:extLst>
          </p:cNvPr>
          <p:cNvSpPr>
            <a:spLocks xmlns:a="http://schemas.openxmlformats.org/drawingml/2006/main" noGrp="1"/>
          </p:cNvSpPr>
          <p:nvPr/>
        </p:nvSpPr>
        <p:spPr>
          <a:xfrm xmlns:a="http://schemas.openxmlformats.org/drawingml/2006/main">
            <a:off x="267652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3" name="">
            <a:extLst xmlns:a="http://schemas.openxmlformats.org/drawingml/2006/main">
              <a:ext uri="{FF2B5EF4-FFF2-40B4-BE49-F238E27FC236}">
                <a16:creationId xmlns:a16="http://schemas.microsoft.com/office/drawing/2014/main" id="{6821C4C0-E31D-40A0-9395-79463BAB130E}"/>
              </a:ext>
            </a:extLst>
          </p:cNvPr>
          <p:cNvSpPr>
            <a:spLocks xmlns:a="http://schemas.openxmlformats.org/drawingml/2006/main" noGrp="1"/>
          </p:cNvSpPr>
          <p:nvPr/>
        </p:nvSpPr>
        <p:spPr>
          <a:xfrm xmlns:a="http://schemas.openxmlformats.org/drawingml/2006/main">
            <a:off x="704850" y="4933950"/>
            <a:ext cx="2762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Rows are episode-level isolates; columns are VF genes detected from current selected assemblies.</a:t>
            </a:r>
          </a:p>
        </p:txBody>
      </p:sp>
      <p:sp>
        <p:nvSpPr>
          <p:cNvPr id="84" name="">
            <a:extLst xmlns:a="http://schemas.openxmlformats.org/drawingml/2006/main">
              <a:ext uri="{FF2B5EF4-FFF2-40B4-BE49-F238E27FC236}">
                <a16:creationId xmlns:a16="http://schemas.microsoft.com/office/drawing/2014/main" id="{E1F60031-EFBF-4BA1-8D06-8CD6FEC02EFC}"/>
              </a:ext>
            </a:extLst>
          </p:cNvPr>
          <p:cNvSpPr>
            <a:spLocks xmlns:a="http://schemas.openxmlformats.org/drawingml/2006/main" noGrp="1"/>
          </p:cNvSpPr>
          <p:nvPr/>
        </p:nvSpPr>
        <p:spPr>
          <a:xfrm xmlns:a="http://schemas.openxmlformats.org/drawingml/2006/main">
            <a:off x="4838700" y="36766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5" name="">
            <a:extLst xmlns:a="http://schemas.openxmlformats.org/drawingml/2006/main">
              <a:ext uri="{FF2B5EF4-FFF2-40B4-BE49-F238E27FC236}">
                <a16:creationId xmlns:a16="http://schemas.microsoft.com/office/drawing/2014/main" id="{0D19EDE0-540E-40CC-98CF-27B0A484A8FF}"/>
              </a:ext>
            </a:extLst>
          </p:cNvPr>
          <p:cNvSpPr>
            <a:spLocks xmlns:a="http://schemas.openxmlformats.org/drawingml/2006/main" noGrp="1"/>
          </p:cNvSpPr>
          <p:nvPr/>
        </p:nvSpPr>
        <p:spPr>
          <a:xfrm xmlns:a="http://schemas.openxmlformats.org/drawingml/2006/main">
            <a:off x="4914900" y="37433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Adhesion</a:t>
            </a:r>
          </a:p>
        </p:txBody>
      </p:sp>
      <p:sp>
        <p:nvSpPr>
          <p:cNvPr id="86" name="">
            <a:extLst xmlns:a="http://schemas.openxmlformats.org/drawingml/2006/main">
              <a:ext uri="{FF2B5EF4-FFF2-40B4-BE49-F238E27FC236}">
                <a16:creationId xmlns:a16="http://schemas.microsoft.com/office/drawing/2014/main" id="{8D7EC94D-C31C-4557-92D4-BBAE91B6513D}"/>
              </a:ext>
            </a:extLst>
          </p:cNvPr>
          <p:cNvSpPr>
            <a:spLocks xmlns:a="http://schemas.openxmlformats.org/drawingml/2006/main" noGrp="1"/>
          </p:cNvSpPr>
          <p:nvPr/>
        </p:nvSpPr>
        <p:spPr>
          <a:xfrm xmlns:a="http://schemas.openxmlformats.org/drawingml/2006/main">
            <a:off x="6191250" y="36766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7" name="">
            <a:extLst xmlns:a="http://schemas.openxmlformats.org/drawingml/2006/main">
              <a:ext uri="{FF2B5EF4-FFF2-40B4-BE49-F238E27FC236}">
                <a16:creationId xmlns:a16="http://schemas.microsoft.com/office/drawing/2014/main" id="{F79F57CD-2D3F-4ECF-8722-CDDB8ECC7E83}"/>
              </a:ext>
            </a:extLst>
          </p:cNvPr>
          <p:cNvSpPr>
            <a:spLocks xmlns:a="http://schemas.openxmlformats.org/drawingml/2006/main" noGrp="1"/>
          </p:cNvSpPr>
          <p:nvPr/>
        </p:nvSpPr>
        <p:spPr>
          <a:xfrm xmlns:a="http://schemas.openxmlformats.org/drawingml/2006/main">
            <a:off x="6267450" y="37433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Iron acquisition</a:t>
            </a:r>
          </a:p>
        </p:txBody>
      </p:sp>
      <p:sp>
        <p:nvSpPr>
          <p:cNvPr id="88" name="">
            <a:extLst xmlns:a="http://schemas.openxmlformats.org/drawingml/2006/main">
              <a:ext uri="{FF2B5EF4-FFF2-40B4-BE49-F238E27FC236}">
                <a16:creationId xmlns:a16="http://schemas.microsoft.com/office/drawing/2014/main" id="{5296428C-2BD1-4D89-8E24-C55515369A88}"/>
              </a:ext>
            </a:extLst>
          </p:cNvPr>
          <p:cNvSpPr>
            <a:spLocks xmlns:a="http://schemas.openxmlformats.org/drawingml/2006/main" noGrp="1"/>
          </p:cNvSpPr>
          <p:nvPr/>
        </p:nvSpPr>
        <p:spPr>
          <a:xfrm xmlns:a="http://schemas.openxmlformats.org/drawingml/2006/main">
            <a:off x="4838700" y="40957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9" name="">
            <a:extLst xmlns:a="http://schemas.openxmlformats.org/drawingml/2006/main">
              <a:ext uri="{FF2B5EF4-FFF2-40B4-BE49-F238E27FC236}">
                <a16:creationId xmlns:a16="http://schemas.microsoft.com/office/drawing/2014/main" id="{C8BF04F9-6E8D-490E-9256-3E836718A672}"/>
              </a:ext>
            </a:extLst>
          </p:cNvPr>
          <p:cNvSpPr>
            <a:spLocks xmlns:a="http://schemas.openxmlformats.org/drawingml/2006/main" noGrp="1"/>
          </p:cNvSpPr>
          <p:nvPr/>
        </p:nvSpPr>
        <p:spPr>
          <a:xfrm xmlns:a="http://schemas.openxmlformats.org/drawingml/2006/main">
            <a:off x="4914900" y="41624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Secretion</a:t>
            </a:r>
          </a:p>
        </p:txBody>
      </p:sp>
      <p:sp>
        <p:nvSpPr>
          <p:cNvPr id="90" name="">
            <a:extLst xmlns:a="http://schemas.openxmlformats.org/drawingml/2006/main">
              <a:ext uri="{FF2B5EF4-FFF2-40B4-BE49-F238E27FC236}">
                <a16:creationId xmlns:a16="http://schemas.microsoft.com/office/drawing/2014/main" id="{C974FA77-09D1-4B9B-AE9A-827D209C20C2}"/>
              </a:ext>
            </a:extLst>
          </p:cNvPr>
          <p:cNvSpPr>
            <a:spLocks xmlns:a="http://schemas.openxmlformats.org/drawingml/2006/main" noGrp="1"/>
          </p:cNvSpPr>
          <p:nvPr/>
        </p:nvSpPr>
        <p:spPr>
          <a:xfrm xmlns:a="http://schemas.openxmlformats.org/drawingml/2006/main">
            <a:off x="6191250" y="40957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91" name="">
            <a:extLst xmlns:a="http://schemas.openxmlformats.org/drawingml/2006/main">
              <a:ext uri="{FF2B5EF4-FFF2-40B4-BE49-F238E27FC236}">
                <a16:creationId xmlns:a16="http://schemas.microsoft.com/office/drawing/2014/main" id="{32ED125E-6117-4F33-854B-DE672A3B59E9}"/>
              </a:ext>
            </a:extLst>
          </p:cNvPr>
          <p:cNvSpPr>
            <a:spLocks xmlns:a="http://schemas.openxmlformats.org/drawingml/2006/main" noGrp="1"/>
          </p:cNvSpPr>
          <p:nvPr/>
        </p:nvSpPr>
        <p:spPr>
          <a:xfrm xmlns:a="http://schemas.openxmlformats.org/drawingml/2006/main">
            <a:off x="6267450" y="41624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Toxin</a:t>
            </a:r>
          </a:p>
        </p:txBody>
      </p:sp>
      <p:sp>
        <p:nvSpPr>
          <p:cNvPr id="92" name="">
            <a:extLst xmlns:a="http://schemas.openxmlformats.org/drawingml/2006/main">
              <a:ext uri="{FF2B5EF4-FFF2-40B4-BE49-F238E27FC236}">
                <a16:creationId xmlns:a16="http://schemas.microsoft.com/office/drawing/2014/main" id="{95044D96-5F98-4F43-938B-85993B3E93C0}"/>
              </a:ext>
            </a:extLst>
          </p:cNvPr>
          <p:cNvSpPr>
            <a:spLocks xmlns:a="http://schemas.openxmlformats.org/drawingml/2006/main" noGrp="1"/>
          </p:cNvSpPr>
          <p:nvPr/>
        </p:nvSpPr>
        <p:spPr>
          <a:xfrm xmlns:a="http://schemas.openxmlformats.org/drawingml/2006/main">
            <a:off x="4838700" y="45148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93" name="">
            <a:extLst xmlns:a="http://schemas.openxmlformats.org/drawingml/2006/main">
              <a:ext uri="{FF2B5EF4-FFF2-40B4-BE49-F238E27FC236}">
                <a16:creationId xmlns:a16="http://schemas.microsoft.com/office/drawing/2014/main" id="{28CD8FDF-ABF0-4EA4-8E60-23BEAECFE7DD}"/>
              </a:ext>
            </a:extLst>
          </p:cNvPr>
          <p:cNvSpPr>
            <a:spLocks xmlns:a="http://schemas.openxmlformats.org/drawingml/2006/main" noGrp="1"/>
          </p:cNvSpPr>
          <p:nvPr/>
        </p:nvSpPr>
        <p:spPr>
          <a:xfrm xmlns:a="http://schemas.openxmlformats.org/drawingml/2006/main">
            <a:off x="4914900" y="45815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Capsule</a:t>
            </a:r>
          </a:p>
        </p:txBody>
      </p:sp>
      <p:sp>
        <p:nvSpPr>
          <p:cNvPr id="94" name="">
            <a:extLst xmlns:a="http://schemas.openxmlformats.org/drawingml/2006/main">
              <a:ext uri="{FF2B5EF4-FFF2-40B4-BE49-F238E27FC236}">
                <a16:creationId xmlns:a16="http://schemas.microsoft.com/office/drawing/2014/main" id="{09333C3C-8C47-4B09-8800-E89C87A03CB3}"/>
              </a:ext>
            </a:extLst>
          </p:cNvPr>
          <p:cNvSpPr>
            <a:spLocks xmlns:a="http://schemas.openxmlformats.org/drawingml/2006/main" noGrp="1"/>
          </p:cNvSpPr>
          <p:nvPr/>
        </p:nvSpPr>
        <p:spPr>
          <a:xfrm xmlns:a="http://schemas.openxmlformats.org/drawingml/2006/main">
            <a:off x="6191250" y="4514850"/>
            <a:ext cx="1162050" cy="266700"/>
          </a:xfrm>
          <a:prstGeom xmlns:a="http://schemas.openxmlformats.org/drawingml/2006/main" prst="roundRect">
            <a:avLst>
              <a:gd name="adj" fmla="val 28571"/>
            </a:avLst>
          </a:prstGeom>
          <a:solidFill xmlns:a="http://schemas.openxmlformats.org/drawingml/2006/main">
            <a:srgbClr val="EEF3F8"/>
          </a:solidFill>
          <a:ln xmlns:a="http://schemas.openxmlformats.org/drawingml/2006/main" w="9525">
            <a:solidFill>
              <a:srgbClr val="D8DEE8"/>
            </a:solidFill>
            <a:prstDash val="solid"/>
          </a:ln>
        </p:spPr>
      </p:sp>
      <p:sp>
        <p:nvSpPr>
          <p:cNvPr id="95" name="">
            <a:extLst xmlns:a="http://schemas.openxmlformats.org/drawingml/2006/main">
              <a:ext uri="{FF2B5EF4-FFF2-40B4-BE49-F238E27FC236}">
                <a16:creationId xmlns:a16="http://schemas.microsoft.com/office/drawing/2014/main" id="{7A46BE7B-FC8C-40EA-A5BB-74A167F5E49E}"/>
              </a:ext>
            </a:extLst>
          </p:cNvPr>
          <p:cNvSpPr>
            <a:spLocks xmlns:a="http://schemas.openxmlformats.org/drawingml/2006/main" noGrp="1"/>
          </p:cNvSpPr>
          <p:nvPr/>
        </p:nvSpPr>
        <p:spPr>
          <a:xfrm xmlns:a="http://schemas.openxmlformats.org/drawingml/2006/main">
            <a:off x="6267450" y="45815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Unassigned</a:t>
            </a:r>
          </a:p>
        </p:txBody>
      </p:sp>
      <p:sp>
        <p:nvSpPr>
          <p:cNvPr id="96" name="">
            <a:extLst xmlns:a="http://schemas.openxmlformats.org/drawingml/2006/main">
              <a:ext uri="{FF2B5EF4-FFF2-40B4-BE49-F238E27FC236}">
                <a16:creationId xmlns:a16="http://schemas.microsoft.com/office/drawing/2014/main" id="{7AB0C70E-F792-47C7-B14C-5B287F245E98}"/>
              </a:ext>
            </a:extLst>
          </p:cNvPr>
          <p:cNvSpPr>
            <a:spLocks xmlns:a="http://schemas.openxmlformats.org/drawingml/2006/main" noGrp="1"/>
          </p:cNvSpPr>
          <p:nvPr/>
        </p:nvSpPr>
        <p:spPr>
          <a:xfrm xmlns:a="http://schemas.openxmlformats.org/drawingml/2006/main">
            <a:off x="8591550" y="3619500"/>
            <a:ext cx="2857500" cy="1390650"/>
          </a:xfrm>
          <a:prstGeom xmlns:a="http://schemas.openxmlformats.org/drawingml/2006/main" prst="roundRect">
            <a:avLst>
              <a:gd name="adj" fmla="val 5479"/>
            </a:avLst>
          </a:prstGeom>
          <a:solidFill xmlns:a="http://schemas.openxmlformats.org/drawingml/2006/main">
            <a:srgbClr val="FFF7ED"/>
          </a:solidFill>
          <a:ln xmlns:a="http://schemas.openxmlformats.org/drawingml/2006/main" w="9525">
            <a:solidFill>
              <a:srgbClr val="FED7AA"/>
            </a:solidFill>
            <a:prstDash val="solid"/>
          </a:ln>
        </p:spPr>
      </p:sp>
      <p:sp>
        <p:nvSpPr>
          <p:cNvPr id="97" name="">
            <a:extLst xmlns:a="http://schemas.openxmlformats.org/drawingml/2006/main">
              <a:ext uri="{FF2B5EF4-FFF2-40B4-BE49-F238E27FC236}">
                <a16:creationId xmlns:a16="http://schemas.microsoft.com/office/drawing/2014/main" id="{4A0748A0-BE43-4855-A99D-E06397F5CD73}"/>
              </a:ext>
            </a:extLst>
          </p:cNvPr>
          <p:cNvSpPr>
            <a:spLocks xmlns:a="http://schemas.openxmlformats.org/drawingml/2006/main" noGrp="1"/>
          </p:cNvSpPr>
          <p:nvPr/>
        </p:nvSpPr>
        <p:spPr>
          <a:xfrm xmlns:a="http://schemas.openxmlformats.org/drawingml/2006/main">
            <a:off x="8763000" y="37909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Interpretation caution</a:t>
            </a:r>
          </a:p>
        </p:txBody>
      </p:sp>
      <p:sp>
        <p:nvSpPr>
          <p:cNvPr id="98" name="">
            <a:extLst xmlns:a="http://schemas.openxmlformats.org/drawingml/2006/main">
              <a:ext uri="{FF2B5EF4-FFF2-40B4-BE49-F238E27FC236}">
                <a16:creationId xmlns:a16="http://schemas.microsoft.com/office/drawing/2014/main" id="{9CE8686B-61AC-4385-B5FC-F4FF34E32A7B}"/>
              </a:ext>
            </a:extLst>
          </p:cNvPr>
          <p:cNvSpPr>
            <a:spLocks xmlns:a="http://schemas.openxmlformats.org/drawingml/2006/main" noGrp="1"/>
          </p:cNvSpPr>
          <p:nvPr/>
        </p:nvSpPr>
        <p:spPr>
          <a:xfrm xmlns:a="http://schemas.openxmlformats.org/drawingml/2006/main">
            <a:off x="8763000" y="4076700"/>
            <a:ext cx="25146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Unassigned genes are 25.1% of the VF matrix. Interpret total burden separately from curated and UPEC-candidate summaries.</a:t>
            </a:r>
          </a:p>
        </p:txBody>
      </p:sp>
      <p:sp>
        <p:nvSpPr>
          <p:cNvPr id="99" name="">
            <a:extLst xmlns:a="http://schemas.openxmlformats.org/drawingml/2006/main">
              <a:ext uri="{FF2B5EF4-FFF2-40B4-BE49-F238E27FC236}">
                <a16:creationId xmlns:a16="http://schemas.microsoft.com/office/drawing/2014/main" id="{B2BC1A67-1706-4334-BD84-AA22EE26279D}"/>
              </a:ext>
            </a:extLst>
          </p:cNvPr>
          <p:cNvSpPr>
            <a:spLocks xmlns:a="http://schemas.openxmlformats.org/drawingml/2006/main" noGrp="1"/>
          </p:cNvSpPr>
          <p:nvPr/>
        </p:nvSpPr>
        <p:spPr>
          <a:xfrm xmlns:a="http://schemas.openxmlformats.org/drawingml/2006/main">
            <a:off x="8705850" y="5219700"/>
            <a:ext cx="1905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00" name="">
            <a:extLst xmlns:a="http://schemas.openxmlformats.org/drawingml/2006/main">
              <a:ext uri="{FF2B5EF4-FFF2-40B4-BE49-F238E27FC236}">
                <a16:creationId xmlns:a16="http://schemas.microsoft.com/office/drawing/2014/main" id="{8744EE0A-EC8C-4AF5-9029-075A0AB2E290}"/>
              </a:ext>
            </a:extLst>
          </p:cNvPr>
          <p:cNvSpPr>
            <a:spLocks xmlns:a="http://schemas.openxmlformats.org/drawingml/2006/main" noGrp="1"/>
          </p:cNvSpPr>
          <p:nvPr/>
        </p:nvSpPr>
        <p:spPr>
          <a:xfrm xmlns:a="http://schemas.openxmlformats.org/drawingml/2006/main">
            <a:off x="8801100" y="526732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Descriptive framework</a:t>
            </a:r>
          </a:p>
        </p:txBody>
      </p:sp>
    </p:spTree>
    <p:extLst>
      <p:ext uri="{BB962C8B-B14F-4D97-AF65-F5344CB8AC3E}">
        <p14:creationId xmlns:p14="http://schemas.microsoft.com/office/powerpoint/2010/main" val="82098290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B78B98-D679-49AE-A8C7-E753CDC90B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7A8B43D-AC38-4B30-BC12-563C86B7758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CAA63C6-30DE-4492-805B-EA03752C4D96}"/>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VF REPERTOIRE</a:t>
            </a:r>
          </a:p>
        </p:txBody>
      </p:sp>
      <p:sp>
        <p:nvSpPr>
          <p:cNvPr id="4" name="">
            <a:extLst xmlns:a="http://schemas.openxmlformats.org/drawingml/2006/main">
              <a:ext uri="{FF2B5EF4-FFF2-40B4-BE49-F238E27FC236}">
                <a16:creationId xmlns:a16="http://schemas.microsoft.com/office/drawing/2014/main" id="{C73A1315-DC23-4917-932D-9F09BCB3320F}"/>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Common VF genes describe the observed repertoire, not disease association</a:t>
            </a:r>
          </a:p>
        </p:txBody>
      </p:sp>
      <p:sp>
        <p:nvSpPr>
          <p:cNvPr id="5" name="">
            <a:extLst xmlns:a="http://schemas.openxmlformats.org/drawingml/2006/main">
              <a:ext uri="{FF2B5EF4-FFF2-40B4-BE49-F238E27FC236}">
                <a16:creationId xmlns:a16="http://schemas.microsoft.com/office/drawing/2014/main" id="{10D5BB92-8A63-4629-AE26-E43CADA8000D}"/>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Top-gene prevalence across 556 VF/WGS-linked urinary E. coli isolates.</a:t>
            </a:r>
          </a:p>
        </p:txBody>
      </p:sp>
      <p:sp>
        <p:nvSpPr>
          <p:cNvPr id="6" name="">
            <a:extLst xmlns:a="http://schemas.openxmlformats.org/drawingml/2006/main">
              <a:ext uri="{FF2B5EF4-FFF2-40B4-BE49-F238E27FC236}">
                <a16:creationId xmlns:a16="http://schemas.microsoft.com/office/drawing/2014/main" id="{8EABD48C-73F7-4E3E-8BE9-A8D5EDD43391}"/>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40099F9-AB61-42FA-B4A2-BF72EA719C53}"/>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880B78D-5365-429A-9BAF-E2ACCD11C0CE}"/>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224B29A5-F88C-4ACE-BBB0-C0464FC7F7F1}"/>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06</a:t>
            </a:r>
          </a:p>
        </p:txBody>
      </p:sp>
      <p:sp>
        <p:nvSpPr>
          <p:cNvPr id="10" name="">
            <a:extLst xmlns:a="http://schemas.openxmlformats.org/drawingml/2006/main">
              <a:ext uri="{FF2B5EF4-FFF2-40B4-BE49-F238E27FC236}">
                <a16:creationId xmlns:a16="http://schemas.microsoft.com/office/drawing/2014/main" id="{2AFD1399-50A0-4A9F-91CF-6AC7DB0BD78C}"/>
              </a:ext>
            </a:extLst>
          </p:cNvPr>
          <p:cNvSpPr>
            <a:spLocks xmlns:a="http://schemas.openxmlformats.org/drawingml/2006/main" noGrp="1"/>
          </p:cNvSpPr>
          <p:nvPr/>
        </p:nvSpPr>
        <p:spPr>
          <a:xfrm xmlns:a="http://schemas.openxmlformats.org/drawingml/2006/main">
            <a:off x="514350" y="1428750"/>
            <a:ext cx="8724900" cy="4648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85e03ccb711444a"/>
          <a:stretch xmlns:a="http://schemas.openxmlformats.org/drawingml/2006/main"/>
        </p:blipFill>
        <p:spPr>
          <a:xfrm xmlns:a="http://schemas.openxmlformats.org/drawingml/2006/main">
            <a:off x="2878667" y="1504950"/>
            <a:ext cx="3996267" cy="4495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57E3943-3DDD-4772-BD20-E1AB8C252D86}"/>
              </a:ext>
            </a:extLst>
          </p:cNvPr>
          <p:cNvSpPr>
            <a:spLocks xmlns:a="http://schemas.openxmlformats.org/drawingml/2006/main" noGrp="1"/>
          </p:cNvSpPr>
          <p:nvPr/>
        </p:nvSpPr>
        <p:spPr>
          <a:xfrm xmlns:a="http://schemas.openxmlformats.org/drawingml/2006/main">
            <a:off x="9620250" y="1771650"/>
            <a:ext cx="1714500" cy="1619250"/>
          </a:xfrm>
          <a:prstGeom xmlns:a="http://schemas.openxmlformats.org/drawingml/2006/main" prst="roundRect">
            <a:avLst>
              <a:gd name="adj" fmla="val 4706"/>
            </a:avLst>
          </a:prstGeom>
          <a:solidFill xmlns:a="http://schemas.openxmlformats.org/drawingml/2006/main">
            <a:srgbClr val="E8F1FA"/>
          </a:solidFill>
          <a:ln xmlns:a="http://schemas.openxmlformats.org/drawingml/2006/main" w="9525">
            <a:solidFill>
              <a:srgbClr val="B9D5F0"/>
            </a:solidFill>
            <a:prstDash val="solid"/>
          </a:ln>
        </p:spPr>
      </p:sp>
      <p:sp>
        <p:nvSpPr>
          <p:cNvPr id="13" name="">
            <a:extLst xmlns:a="http://schemas.openxmlformats.org/drawingml/2006/main">
              <a:ext uri="{FF2B5EF4-FFF2-40B4-BE49-F238E27FC236}">
                <a16:creationId xmlns:a16="http://schemas.microsoft.com/office/drawing/2014/main" id="{7F05EDE7-4ECC-4D95-BA9E-246BCA02B05D}"/>
              </a:ext>
            </a:extLst>
          </p:cNvPr>
          <p:cNvSpPr>
            <a:spLocks xmlns:a="http://schemas.openxmlformats.org/drawingml/2006/main" noGrp="1"/>
          </p:cNvSpPr>
          <p:nvPr/>
        </p:nvSpPr>
        <p:spPr>
          <a:xfrm xmlns:a="http://schemas.openxmlformats.org/drawingml/2006/main">
            <a:off x="9791700" y="194310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B6CB0"/>
                </a:solidFill>
                <a:latin typeface="Aptos"/>
                <a:ea typeface="Aptos"/>
                <a:cs typeface="Aptos"/>
              </a:defRPr>
            </a:pPr>
            <a:r>
              <a:rPr sz="1350" b="1">
                <a:solidFill>
                  <a:srgbClr val="2B6CB0"/>
                </a:solidFill>
                <a:latin typeface="Aptos"/>
                <a:ea typeface="Aptos"/>
                <a:cs typeface="Aptos"/>
              </a:rPr>
              <a:t>Read as</a:t>
            </a:r>
          </a:p>
        </p:txBody>
      </p:sp>
      <p:sp>
        <p:nvSpPr>
          <p:cNvPr id="14" name="">
            <a:extLst xmlns:a="http://schemas.openxmlformats.org/drawingml/2006/main">
              <a:ext uri="{FF2B5EF4-FFF2-40B4-BE49-F238E27FC236}">
                <a16:creationId xmlns:a16="http://schemas.microsoft.com/office/drawing/2014/main" id="{F7A6EBE8-9528-4B06-9CBD-D5F14806B7BD}"/>
              </a:ext>
            </a:extLst>
          </p:cNvPr>
          <p:cNvSpPr>
            <a:spLocks xmlns:a="http://schemas.openxmlformats.org/drawingml/2006/main" noGrp="1"/>
          </p:cNvSpPr>
          <p:nvPr/>
        </p:nvSpPr>
        <p:spPr>
          <a:xfrm xmlns:a="http://schemas.openxmlformats.org/drawingml/2006/main">
            <a:off x="9791700" y="2228850"/>
            <a:ext cx="13716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Descriptive prevalence ranking only. Gene presence does not imply expression, function, or UTI association.</a:t>
            </a:r>
          </a:p>
        </p:txBody>
      </p:sp>
      <p:sp>
        <p:nvSpPr>
          <p:cNvPr id="15" name="">
            <a:extLst xmlns:a="http://schemas.openxmlformats.org/drawingml/2006/main">
              <a:ext uri="{FF2B5EF4-FFF2-40B4-BE49-F238E27FC236}">
                <a16:creationId xmlns:a16="http://schemas.microsoft.com/office/drawing/2014/main" id="{413E7F38-0A94-4694-B5F2-0576E770239B}"/>
              </a:ext>
            </a:extLst>
          </p:cNvPr>
          <p:cNvSpPr>
            <a:spLocks xmlns:a="http://schemas.openxmlformats.org/drawingml/2006/main" noGrp="1"/>
          </p:cNvSpPr>
          <p:nvPr/>
        </p:nvSpPr>
        <p:spPr>
          <a:xfrm xmlns:a="http://schemas.openxmlformats.org/drawingml/2006/main">
            <a:off x="9620250" y="1524000"/>
            <a:ext cx="1695450" cy="247650"/>
          </a:xfrm>
          <a:prstGeom xmlns:a="http://schemas.openxmlformats.org/drawingml/2006/main" prst="rect">
            <a:avLst/>
          </a:prstGeom>
          <a:solidFill xmlns:a="http://schemas.openxmlformats.org/drawingml/2006/main">
            <a:srgbClr val="E8F1FA"/>
          </a:solidFill>
          <a:ln xmlns:a="http://schemas.openxmlformats.org/drawingml/2006/main" w="0">
            <a:solidFill>
              <a:srgbClr val="E8F1FA"/>
            </a:solidFill>
            <a:prstDash val="solid"/>
          </a:ln>
        </p:spPr>
      </p:sp>
      <p:sp>
        <p:nvSpPr>
          <p:cNvPr id="16" name="">
            <a:extLst xmlns:a="http://schemas.openxmlformats.org/drawingml/2006/main">
              <a:ext uri="{FF2B5EF4-FFF2-40B4-BE49-F238E27FC236}">
                <a16:creationId xmlns:a16="http://schemas.microsoft.com/office/drawing/2014/main" id="{D2FFE262-0312-459E-A309-814E6717C6D7}"/>
              </a:ext>
            </a:extLst>
          </p:cNvPr>
          <p:cNvSpPr>
            <a:spLocks xmlns:a="http://schemas.openxmlformats.org/drawingml/2006/main" noGrp="1"/>
          </p:cNvSpPr>
          <p:nvPr/>
        </p:nvSpPr>
        <p:spPr>
          <a:xfrm xmlns:a="http://schemas.openxmlformats.org/drawingml/2006/main">
            <a:off x="9715500" y="1571625"/>
            <a:ext cx="1504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B6CB0"/>
                </a:solidFill>
                <a:latin typeface="Aptos"/>
                <a:ea typeface="Aptos"/>
                <a:cs typeface="Aptos"/>
              </a:defRPr>
            </a:pPr>
            <a:r>
              <a:rPr sz="788" b="1">
                <a:solidFill>
                  <a:srgbClr val="2B6CB0"/>
                </a:solidFill>
                <a:latin typeface="Aptos"/>
                <a:ea typeface="Aptos"/>
                <a:cs typeface="Aptos"/>
              </a:rPr>
              <a:t>Descriptive</a:t>
            </a:r>
          </a:p>
        </p:txBody>
      </p:sp>
    </p:spTree>
    <p:extLst>
      <p:ext uri="{BB962C8B-B14F-4D97-AF65-F5344CB8AC3E}">
        <p14:creationId xmlns:p14="http://schemas.microsoft.com/office/powerpoint/2010/main" val="66210841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CC10C3-9E39-422D-AB64-ED6DD494B65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5BFA635-3B9D-4024-A18F-B2D8AD737C0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0D7ABC5-1BDC-48D2-9075-7ECD397842BB}"/>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VF FRAMEWORK</a:t>
            </a:r>
          </a:p>
        </p:txBody>
      </p:sp>
      <p:sp>
        <p:nvSpPr>
          <p:cNvPr id="4" name="">
            <a:extLst xmlns:a="http://schemas.openxmlformats.org/drawingml/2006/main">
              <a:ext uri="{FF2B5EF4-FFF2-40B4-BE49-F238E27FC236}">
                <a16:creationId xmlns:a16="http://schemas.microsoft.com/office/drawing/2014/main" id="{8500DC53-E5F2-48C8-9F40-C030F41992B8}"/>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Curated modules organise genes into interpretable biological systems</a:t>
            </a:r>
          </a:p>
        </p:txBody>
      </p:sp>
      <p:sp>
        <p:nvSpPr>
          <p:cNvPr id="5" name="">
            <a:extLst xmlns:a="http://schemas.openxmlformats.org/drawingml/2006/main">
              <a:ext uri="{FF2B5EF4-FFF2-40B4-BE49-F238E27FC236}">
                <a16:creationId xmlns:a16="http://schemas.microsoft.com/office/drawing/2014/main" id="{D3867156-4768-4740-9269-33F1E1F1E348}"/>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Modules are curation units for navigation; they are not validated disease-causality scores.</a:t>
            </a:r>
          </a:p>
        </p:txBody>
      </p:sp>
      <p:sp>
        <p:nvSpPr>
          <p:cNvPr id="6" name="">
            <a:extLst xmlns:a="http://schemas.openxmlformats.org/drawingml/2006/main">
              <a:ext uri="{FF2B5EF4-FFF2-40B4-BE49-F238E27FC236}">
                <a16:creationId xmlns:a16="http://schemas.microsoft.com/office/drawing/2014/main" id="{CF359C30-95C2-48E5-81BD-F9F2A190C4A1}"/>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BFDC5C2-DA9A-4E3C-8AE8-BCA916D9A450}"/>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AE68C26-F77F-4F60-BA85-30B2742DAC3F}"/>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4AEE859E-622F-41B4-8653-90D4B3D995BB}"/>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07</a:t>
            </a:r>
          </a:p>
        </p:txBody>
      </p:sp>
      <p:sp>
        <p:nvSpPr>
          <p:cNvPr id="10" name="">
            <a:extLst xmlns:a="http://schemas.openxmlformats.org/drawingml/2006/main">
              <a:ext uri="{FF2B5EF4-FFF2-40B4-BE49-F238E27FC236}">
                <a16:creationId xmlns:a16="http://schemas.microsoft.com/office/drawing/2014/main" id="{4E0BFEC8-8076-4756-B29F-7187A7ABE047}"/>
              </a:ext>
            </a:extLst>
          </p:cNvPr>
          <p:cNvSpPr>
            <a:spLocks xmlns:a="http://schemas.openxmlformats.org/drawingml/2006/main" noGrp="1"/>
          </p:cNvSpPr>
          <p:nvPr/>
        </p:nvSpPr>
        <p:spPr>
          <a:xfrm xmlns:a="http://schemas.openxmlformats.org/drawingml/2006/main">
            <a:off x="514350" y="1428750"/>
            <a:ext cx="8439150" cy="47244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0c0723b992141c9"/>
          <a:stretch xmlns:a="http://schemas.openxmlformats.org/drawingml/2006/main"/>
        </p:blipFill>
        <p:spPr>
          <a:xfrm xmlns:a="http://schemas.openxmlformats.org/drawingml/2006/main">
            <a:off x="2352675" y="1504950"/>
            <a:ext cx="4762500" cy="4572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E374FD6-2AA3-4921-955F-33989398ED49}"/>
              </a:ext>
            </a:extLst>
          </p:cNvPr>
          <p:cNvSpPr>
            <a:spLocks xmlns:a="http://schemas.openxmlformats.org/drawingml/2006/main" noGrp="1"/>
          </p:cNvSpPr>
          <p:nvPr/>
        </p:nvSpPr>
        <p:spPr>
          <a:xfrm xmlns:a="http://schemas.openxmlformats.org/drawingml/2006/main">
            <a:off x="9429750" y="1790700"/>
            <a:ext cx="1952625" cy="1857375"/>
          </a:xfrm>
          <a:prstGeom xmlns:a="http://schemas.openxmlformats.org/drawingml/2006/main" prst="roundRect">
            <a:avLst>
              <a:gd name="adj" fmla="val 4103"/>
            </a:avLst>
          </a:prstGeom>
          <a:solidFill xmlns:a="http://schemas.openxmlformats.org/drawingml/2006/main">
            <a:srgbClr val="EAF7EF"/>
          </a:solidFill>
          <a:ln xmlns:a="http://schemas.openxmlformats.org/drawingml/2006/main" w="9525">
            <a:solidFill>
              <a:srgbClr val="BCE4C9"/>
            </a:solidFill>
            <a:prstDash val="solid"/>
          </a:ln>
        </p:spPr>
      </p:sp>
      <p:sp>
        <p:nvSpPr>
          <p:cNvPr id="13" name="">
            <a:extLst xmlns:a="http://schemas.openxmlformats.org/drawingml/2006/main">
              <a:ext uri="{FF2B5EF4-FFF2-40B4-BE49-F238E27FC236}">
                <a16:creationId xmlns:a16="http://schemas.microsoft.com/office/drawing/2014/main" id="{B1F27058-802E-4159-AC51-EEA219AB5BF7}"/>
              </a:ext>
            </a:extLst>
          </p:cNvPr>
          <p:cNvSpPr>
            <a:spLocks xmlns:a="http://schemas.openxmlformats.org/drawingml/2006/main" noGrp="1"/>
          </p:cNvSpPr>
          <p:nvPr/>
        </p:nvSpPr>
        <p:spPr>
          <a:xfrm xmlns:a="http://schemas.openxmlformats.org/drawingml/2006/main">
            <a:off x="9601200" y="1962150"/>
            <a:ext cx="16097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855A"/>
                </a:solidFill>
                <a:latin typeface="Aptos"/>
                <a:ea typeface="Aptos"/>
                <a:cs typeface="Aptos"/>
              </a:defRPr>
            </a:pPr>
            <a:r>
              <a:rPr sz="1350" b="1">
                <a:solidFill>
                  <a:srgbClr val="2F855A"/>
                </a:solidFill>
                <a:latin typeface="Aptos"/>
                <a:ea typeface="Aptos"/>
                <a:cs typeface="Aptos"/>
              </a:rPr>
              <a:t>Why it matters</a:t>
            </a:r>
          </a:p>
        </p:txBody>
      </p:sp>
      <p:sp>
        <p:nvSpPr>
          <p:cNvPr id="14" name="">
            <a:extLst xmlns:a="http://schemas.openxmlformats.org/drawingml/2006/main">
              <a:ext uri="{FF2B5EF4-FFF2-40B4-BE49-F238E27FC236}">
                <a16:creationId xmlns:a16="http://schemas.microsoft.com/office/drawing/2014/main" id="{9B9EC1E5-CDC2-4C15-B8E7-E015B083F23D}"/>
              </a:ext>
            </a:extLst>
          </p:cNvPr>
          <p:cNvSpPr>
            <a:spLocks xmlns:a="http://schemas.openxmlformats.org/drawingml/2006/main" noGrp="1"/>
          </p:cNvSpPr>
          <p:nvPr/>
        </p:nvSpPr>
        <p:spPr>
          <a:xfrm xmlns:a="http://schemas.openxmlformats.org/drawingml/2006/main">
            <a:off x="9601200" y="2247900"/>
            <a:ext cx="1609725" cy="1266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The framework separates adhesion, iron acquisition, secretion, capsule/surface, toxin and unassigned material before longitudinal or clinical overlays.</a:t>
            </a:r>
          </a:p>
        </p:txBody>
      </p:sp>
      <p:sp>
        <p:nvSpPr>
          <p:cNvPr id="15" name="">
            <a:extLst xmlns:a="http://schemas.openxmlformats.org/drawingml/2006/main">
              <a:ext uri="{FF2B5EF4-FFF2-40B4-BE49-F238E27FC236}">
                <a16:creationId xmlns:a16="http://schemas.microsoft.com/office/drawing/2014/main" id="{8030AC30-1DDC-45BB-9A26-108B6092FDBB}"/>
              </a:ext>
            </a:extLst>
          </p:cNvPr>
          <p:cNvSpPr>
            <a:spLocks xmlns:a="http://schemas.openxmlformats.org/drawingml/2006/main" noGrp="1"/>
          </p:cNvSpPr>
          <p:nvPr/>
        </p:nvSpPr>
        <p:spPr>
          <a:xfrm xmlns:a="http://schemas.openxmlformats.org/drawingml/2006/main">
            <a:off x="9620250" y="1524000"/>
            <a:ext cx="1924050" cy="247650"/>
          </a:xfrm>
          <a:prstGeom xmlns:a="http://schemas.openxmlformats.org/drawingml/2006/main" prst="rect">
            <a:avLst/>
          </a:prstGeom>
          <a:solidFill xmlns:a="http://schemas.openxmlformats.org/drawingml/2006/main">
            <a:srgbClr val="EAF7EF"/>
          </a:solidFill>
          <a:ln xmlns:a="http://schemas.openxmlformats.org/drawingml/2006/main" w="0">
            <a:solidFill>
              <a:srgbClr val="EAF7EF"/>
            </a:solidFill>
            <a:prstDash val="solid"/>
          </a:ln>
        </p:spPr>
      </p:sp>
      <p:sp>
        <p:nvSpPr>
          <p:cNvPr id="16" name="">
            <a:extLst xmlns:a="http://schemas.openxmlformats.org/drawingml/2006/main">
              <a:ext uri="{FF2B5EF4-FFF2-40B4-BE49-F238E27FC236}">
                <a16:creationId xmlns:a16="http://schemas.microsoft.com/office/drawing/2014/main" id="{65145154-4F1E-4A5D-9CE7-CA96871227FE}"/>
              </a:ext>
            </a:extLst>
          </p:cNvPr>
          <p:cNvSpPr>
            <a:spLocks xmlns:a="http://schemas.openxmlformats.org/drawingml/2006/main" noGrp="1"/>
          </p:cNvSpPr>
          <p:nvPr/>
        </p:nvSpPr>
        <p:spPr>
          <a:xfrm xmlns:a="http://schemas.openxmlformats.org/drawingml/2006/main">
            <a:off x="9715500" y="1571625"/>
            <a:ext cx="1733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Descriptive framework</a:t>
            </a:r>
          </a:p>
        </p:txBody>
      </p:sp>
    </p:spTree>
    <p:extLst>
      <p:ext uri="{BB962C8B-B14F-4D97-AF65-F5344CB8AC3E}">
        <p14:creationId xmlns:p14="http://schemas.microsoft.com/office/powerpoint/2010/main" val="48062184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2D5D57B-ADAF-471C-9A27-830F23116DA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632502C-D056-48E8-9F19-71DB1001090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84EB4B1-CA27-4413-9A48-D3ACC8BA5C90}"/>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LONGITUDINAL STABILITY</a:t>
            </a:r>
          </a:p>
        </p:txBody>
      </p:sp>
      <p:sp>
        <p:nvSpPr>
          <p:cNvPr id="4" name="">
            <a:extLst xmlns:a="http://schemas.openxmlformats.org/drawingml/2006/main">
              <a:ext uri="{FF2B5EF4-FFF2-40B4-BE49-F238E27FC236}">
                <a16:creationId xmlns:a16="http://schemas.microsoft.com/office/drawing/2014/main" id="{6F18F740-4952-4E42-8576-2D8C760C893A}"/>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Most repeated within-resident VF profiles are highly stable</a:t>
            </a:r>
          </a:p>
        </p:txBody>
      </p:sp>
      <p:sp>
        <p:nvSpPr>
          <p:cNvPr id="5" name="">
            <a:extLst xmlns:a="http://schemas.openxmlformats.org/drawingml/2006/main">
              <a:ext uri="{FF2B5EF4-FFF2-40B4-BE49-F238E27FC236}">
                <a16:creationId xmlns:a16="http://schemas.microsoft.com/office/drawing/2014/main" id="{FE4079AF-0F06-4C93-B9BD-2D1DB41B0F02}"/>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394 consecutive comparisons from 144 participants; median Jaccard similarity 1.000; 62.4% no VF change.</a:t>
            </a:r>
          </a:p>
        </p:txBody>
      </p:sp>
      <p:sp>
        <p:nvSpPr>
          <p:cNvPr id="6" name="">
            <a:extLst xmlns:a="http://schemas.openxmlformats.org/drawingml/2006/main">
              <a:ext uri="{FF2B5EF4-FFF2-40B4-BE49-F238E27FC236}">
                <a16:creationId xmlns:a16="http://schemas.microsoft.com/office/drawing/2014/main" id="{0BAECEDC-49BF-4228-A375-002083BFAD2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71ECBC9-B9DD-498B-9C9E-1EE384505B1F}"/>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09935E4-5462-47A8-9750-05BF8A9B7E90}"/>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EF6DC037-3181-48BC-80F2-AF8DE5B0A95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08</a:t>
            </a:r>
          </a:p>
        </p:txBody>
      </p:sp>
      <p:sp>
        <p:nvSpPr>
          <p:cNvPr id="10" name="">
            <a:extLst xmlns:a="http://schemas.openxmlformats.org/drawingml/2006/main">
              <a:ext uri="{FF2B5EF4-FFF2-40B4-BE49-F238E27FC236}">
                <a16:creationId xmlns:a16="http://schemas.microsoft.com/office/drawing/2014/main" id="{0377B7AF-E3D1-405D-B056-0AD6BE48CB52}"/>
              </a:ext>
            </a:extLst>
          </p:cNvPr>
          <p:cNvSpPr>
            <a:spLocks xmlns:a="http://schemas.openxmlformats.org/drawingml/2006/main" noGrp="1"/>
          </p:cNvSpPr>
          <p:nvPr/>
        </p:nvSpPr>
        <p:spPr>
          <a:xfrm xmlns:a="http://schemas.openxmlformats.org/drawingml/2006/main">
            <a:off x="514350" y="1428750"/>
            <a:ext cx="8772525"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5d0c46e8d0d457c"/>
          <a:stretch xmlns:a="http://schemas.openxmlformats.org/drawingml/2006/main"/>
        </p:blipFill>
        <p:spPr>
          <a:xfrm xmlns:a="http://schemas.openxmlformats.org/drawingml/2006/main">
            <a:off x="1791758" y="1504950"/>
            <a:ext cx="621770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D9509D2-475E-4B3C-A9FE-9D61F7D4A9F7}"/>
              </a:ext>
            </a:extLst>
          </p:cNvPr>
          <p:cNvSpPr>
            <a:spLocks xmlns:a="http://schemas.openxmlformats.org/drawingml/2006/main" noGrp="1"/>
          </p:cNvSpPr>
          <p:nvPr/>
        </p:nvSpPr>
        <p:spPr>
          <a:xfrm xmlns:a="http://schemas.openxmlformats.org/drawingml/2006/main">
            <a:off x="9572625" y="1790700"/>
            <a:ext cx="1809750" cy="1809750"/>
          </a:xfrm>
          <a:prstGeom xmlns:a="http://schemas.openxmlformats.org/drawingml/2006/main" prst="roundRect">
            <a:avLst>
              <a:gd name="adj" fmla="val 4211"/>
            </a:avLst>
          </a:prstGeom>
          <a:solidFill xmlns:a="http://schemas.openxmlformats.org/drawingml/2006/main">
            <a:srgbClr val="EAF7EF"/>
          </a:solidFill>
          <a:ln xmlns:a="http://schemas.openxmlformats.org/drawingml/2006/main" w="9525">
            <a:solidFill>
              <a:srgbClr val="BCE4C9"/>
            </a:solidFill>
            <a:prstDash val="solid"/>
          </a:ln>
        </p:spPr>
      </p:sp>
      <p:sp>
        <p:nvSpPr>
          <p:cNvPr id="13" name="">
            <a:extLst xmlns:a="http://schemas.openxmlformats.org/drawingml/2006/main">
              <a:ext uri="{FF2B5EF4-FFF2-40B4-BE49-F238E27FC236}">
                <a16:creationId xmlns:a16="http://schemas.microsoft.com/office/drawing/2014/main" id="{E5C4638A-5EC1-460C-B291-2E21C3870261}"/>
              </a:ext>
            </a:extLst>
          </p:cNvPr>
          <p:cNvSpPr>
            <a:spLocks xmlns:a="http://schemas.openxmlformats.org/drawingml/2006/main" noGrp="1"/>
          </p:cNvSpPr>
          <p:nvPr/>
        </p:nvSpPr>
        <p:spPr>
          <a:xfrm xmlns:a="http://schemas.openxmlformats.org/drawingml/2006/main">
            <a:off x="9744075" y="196215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855A"/>
                </a:solidFill>
                <a:latin typeface="Aptos"/>
                <a:ea typeface="Aptos"/>
                <a:cs typeface="Aptos"/>
              </a:defRPr>
            </a:pPr>
            <a:r>
              <a:rPr sz="1350" b="1">
                <a:solidFill>
                  <a:srgbClr val="2F855A"/>
                </a:solidFill>
                <a:latin typeface="Aptos"/>
                <a:ea typeface="Aptos"/>
                <a:cs typeface="Aptos"/>
              </a:rPr>
              <a:t>Central finding</a:t>
            </a:r>
          </a:p>
        </p:txBody>
      </p:sp>
      <p:sp>
        <p:nvSpPr>
          <p:cNvPr id="14" name="">
            <a:extLst xmlns:a="http://schemas.openxmlformats.org/drawingml/2006/main">
              <a:ext uri="{FF2B5EF4-FFF2-40B4-BE49-F238E27FC236}">
                <a16:creationId xmlns:a16="http://schemas.microsoft.com/office/drawing/2014/main" id="{53414387-4F75-4775-8C0D-A5D876E7FC65}"/>
              </a:ext>
            </a:extLst>
          </p:cNvPr>
          <p:cNvSpPr>
            <a:spLocks xmlns:a="http://schemas.openxmlformats.org/drawingml/2006/main" noGrp="1"/>
          </p:cNvSpPr>
          <p:nvPr/>
        </p:nvSpPr>
        <p:spPr>
          <a:xfrm xmlns:a="http://schemas.openxmlformats.org/drawingml/2006/main">
            <a:off x="9744075" y="2247900"/>
            <a:ext cx="146685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The dominant pattern is VF profile conservation across repeated urinary E. coli isolates from the same resident.</a:t>
            </a:r>
          </a:p>
        </p:txBody>
      </p:sp>
      <p:sp>
        <p:nvSpPr>
          <p:cNvPr id="15" name="">
            <a:extLst xmlns:a="http://schemas.openxmlformats.org/drawingml/2006/main">
              <a:ext uri="{FF2B5EF4-FFF2-40B4-BE49-F238E27FC236}">
                <a16:creationId xmlns:a16="http://schemas.microsoft.com/office/drawing/2014/main" id="{D14C538E-DEC5-4157-AEBA-1854263DCA23}"/>
              </a:ext>
            </a:extLst>
          </p:cNvPr>
          <p:cNvSpPr>
            <a:spLocks xmlns:a="http://schemas.openxmlformats.org/drawingml/2006/main" noGrp="1"/>
          </p:cNvSpPr>
          <p:nvPr/>
        </p:nvSpPr>
        <p:spPr>
          <a:xfrm xmlns:a="http://schemas.openxmlformats.org/drawingml/2006/main">
            <a:off x="9620250" y="1524000"/>
            <a:ext cx="2000250" cy="247650"/>
          </a:xfrm>
          <a:prstGeom xmlns:a="http://schemas.openxmlformats.org/drawingml/2006/main" prst="rect">
            <a:avLst/>
          </a:prstGeom>
          <a:solidFill xmlns:a="http://schemas.openxmlformats.org/drawingml/2006/main">
            <a:srgbClr val="EAF7EF"/>
          </a:solidFill>
          <a:ln xmlns:a="http://schemas.openxmlformats.org/drawingml/2006/main" w="0">
            <a:solidFill>
              <a:srgbClr val="EAF7EF"/>
            </a:solidFill>
            <a:prstDash val="solid"/>
          </a:ln>
        </p:spPr>
      </p:sp>
      <p:sp>
        <p:nvSpPr>
          <p:cNvPr id="16" name="">
            <a:extLst xmlns:a="http://schemas.openxmlformats.org/drawingml/2006/main">
              <a:ext uri="{FF2B5EF4-FFF2-40B4-BE49-F238E27FC236}">
                <a16:creationId xmlns:a16="http://schemas.microsoft.com/office/drawing/2014/main" id="{8273D8EA-43A1-4E1C-A21B-6CC99762C2EE}"/>
              </a:ext>
            </a:extLst>
          </p:cNvPr>
          <p:cNvSpPr>
            <a:spLocks xmlns:a="http://schemas.openxmlformats.org/drawingml/2006/main" noGrp="1"/>
          </p:cNvSpPr>
          <p:nvPr/>
        </p:nvSpPr>
        <p:spPr>
          <a:xfrm xmlns:a="http://schemas.openxmlformats.org/drawingml/2006/main">
            <a:off x="971550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Descriptive longitudinal</a:t>
            </a:r>
          </a:p>
        </p:txBody>
      </p:sp>
    </p:spTree>
    <p:extLst>
      <p:ext uri="{BB962C8B-B14F-4D97-AF65-F5344CB8AC3E}">
        <p14:creationId xmlns:p14="http://schemas.microsoft.com/office/powerpoint/2010/main" val="189794242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16CF42-32EA-4DD4-AD65-20F25BDD19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B2B8816-1D7A-4675-9048-B7955B2FF87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6634888-F191-4111-BA31-10ED15ED184C}"/>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LONGITUDINAL CHANGE</a:t>
            </a:r>
          </a:p>
        </p:txBody>
      </p:sp>
      <p:sp>
        <p:nvSpPr>
          <p:cNvPr id="4" name="">
            <a:extLst xmlns:a="http://schemas.openxmlformats.org/drawingml/2006/main">
              <a:ext uri="{FF2B5EF4-FFF2-40B4-BE49-F238E27FC236}">
                <a16:creationId xmlns:a16="http://schemas.microsoft.com/office/drawing/2014/main" id="{B2D9136F-92F1-439E-BEA8-A09F9D1FDD4C}"/>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When profiles change, gain/loss summaries flag candidates for follow-up</a:t>
            </a:r>
          </a:p>
        </p:txBody>
      </p:sp>
      <p:sp>
        <p:nvSpPr>
          <p:cNvPr id="5" name="">
            <a:extLst xmlns:a="http://schemas.openxmlformats.org/drawingml/2006/main">
              <a:ext uri="{FF2B5EF4-FFF2-40B4-BE49-F238E27FC236}">
                <a16:creationId xmlns:a16="http://schemas.microsoft.com/office/drawing/2014/main" id="{F6CB869A-2562-4B5B-B5EC-628F73B08695}"/>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Observed gain/loss may reflect replacement, assembly/calling differences, or true gene-content change.</a:t>
            </a:r>
          </a:p>
        </p:txBody>
      </p:sp>
      <p:sp>
        <p:nvSpPr>
          <p:cNvPr id="6" name="">
            <a:extLst xmlns:a="http://schemas.openxmlformats.org/drawingml/2006/main">
              <a:ext uri="{FF2B5EF4-FFF2-40B4-BE49-F238E27FC236}">
                <a16:creationId xmlns:a16="http://schemas.microsoft.com/office/drawing/2014/main" id="{0240E4FB-35C5-4014-A0A5-8416321D214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99EA61E-67FF-46AA-97B7-714133BAE5C9}"/>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4EA24E1-D27C-4613-AA5E-83DA47F1271F}"/>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5AB3F2CB-79A8-4FA3-A47F-6B9BC7A5680D}"/>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09</a:t>
            </a:r>
          </a:p>
        </p:txBody>
      </p:sp>
      <p:sp>
        <p:nvSpPr>
          <p:cNvPr id="10" name="">
            <a:extLst xmlns:a="http://schemas.openxmlformats.org/drawingml/2006/main">
              <a:ext uri="{FF2B5EF4-FFF2-40B4-BE49-F238E27FC236}">
                <a16:creationId xmlns:a16="http://schemas.microsoft.com/office/drawing/2014/main" id="{271A9EC9-744E-44EF-B47A-546A5792FF16}"/>
              </a:ext>
            </a:extLst>
          </p:cNvPr>
          <p:cNvSpPr>
            <a:spLocks xmlns:a="http://schemas.openxmlformats.org/drawingml/2006/main" noGrp="1"/>
          </p:cNvSpPr>
          <p:nvPr/>
        </p:nvSpPr>
        <p:spPr>
          <a:xfrm xmlns:a="http://schemas.openxmlformats.org/drawingml/2006/main">
            <a:off x="476250" y="1409700"/>
            <a:ext cx="9963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5f9fde02cf24754"/>
          <a:stretch xmlns:a="http://schemas.openxmlformats.org/drawingml/2006/main"/>
        </p:blipFill>
        <p:spPr>
          <a:xfrm xmlns:a="http://schemas.openxmlformats.org/drawingml/2006/main">
            <a:off x="2178504" y="1485900"/>
            <a:ext cx="6558643"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AA370CE-4763-44A1-BF81-CFCA73DF0F28}"/>
              </a:ext>
            </a:extLst>
          </p:cNvPr>
          <p:cNvSpPr>
            <a:spLocks xmlns:a="http://schemas.openxmlformats.org/drawingml/2006/main" noGrp="1"/>
          </p:cNvSpPr>
          <p:nvPr/>
        </p:nvSpPr>
        <p:spPr>
          <a:xfrm xmlns:a="http://schemas.openxmlformats.org/drawingml/2006/main">
            <a:off x="10496550" y="1771650"/>
            <a:ext cx="1123950" cy="2076450"/>
          </a:xfrm>
          <a:prstGeom xmlns:a="http://schemas.openxmlformats.org/drawingml/2006/main" prst="roundRect">
            <a:avLst>
              <a:gd name="adj" fmla="val 6780"/>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3C091702-0DC7-42E8-9694-92DA0034DF14}"/>
              </a:ext>
            </a:extLst>
          </p:cNvPr>
          <p:cNvSpPr>
            <a:spLocks xmlns:a="http://schemas.openxmlformats.org/drawingml/2006/main" noGrp="1"/>
          </p:cNvSpPr>
          <p:nvPr/>
        </p:nvSpPr>
        <p:spPr>
          <a:xfrm xmlns:a="http://schemas.openxmlformats.org/drawingml/2006/main">
            <a:off x="10668000" y="1943100"/>
            <a:ext cx="781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Caution</a:t>
            </a:r>
          </a:p>
        </p:txBody>
      </p:sp>
      <p:sp>
        <p:nvSpPr>
          <p:cNvPr id="14" name="">
            <a:extLst xmlns:a="http://schemas.openxmlformats.org/drawingml/2006/main">
              <a:ext uri="{FF2B5EF4-FFF2-40B4-BE49-F238E27FC236}">
                <a16:creationId xmlns:a16="http://schemas.microsoft.com/office/drawing/2014/main" id="{09CB4DE5-A842-415A-AD18-2E519CC8102C}"/>
              </a:ext>
            </a:extLst>
          </p:cNvPr>
          <p:cNvSpPr>
            <a:spLocks xmlns:a="http://schemas.openxmlformats.org/drawingml/2006/main" noGrp="1"/>
          </p:cNvSpPr>
          <p:nvPr/>
        </p:nvSpPr>
        <p:spPr>
          <a:xfrm xmlns:a="http://schemas.openxmlformats.org/drawingml/2006/main">
            <a:off x="10668000" y="2228850"/>
            <a:ext cx="781050" cy="1485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Do not overread gain/loss without lineage and genome-distance context.</a:t>
            </a:r>
          </a:p>
        </p:txBody>
      </p:sp>
      <p:sp>
        <p:nvSpPr>
          <p:cNvPr id="15" name="">
            <a:extLst xmlns:a="http://schemas.openxmlformats.org/drawingml/2006/main">
              <a:ext uri="{FF2B5EF4-FFF2-40B4-BE49-F238E27FC236}">
                <a16:creationId xmlns:a16="http://schemas.microsoft.com/office/drawing/2014/main" id="{A5F8F4DB-1EB2-4DA7-BCF8-AC298A21C817}"/>
              </a:ext>
            </a:extLst>
          </p:cNvPr>
          <p:cNvSpPr>
            <a:spLocks xmlns:a="http://schemas.openxmlformats.org/drawingml/2006/main" noGrp="1"/>
          </p:cNvSpPr>
          <p:nvPr/>
        </p:nvSpPr>
        <p:spPr>
          <a:xfrm xmlns:a="http://schemas.openxmlformats.org/drawingml/2006/main">
            <a:off x="10439400" y="4000500"/>
            <a:ext cx="11811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6" name="">
            <a:extLst xmlns:a="http://schemas.openxmlformats.org/drawingml/2006/main">
              <a:ext uri="{FF2B5EF4-FFF2-40B4-BE49-F238E27FC236}">
                <a16:creationId xmlns:a16="http://schemas.microsoft.com/office/drawing/2014/main" id="{24752744-D999-4EF0-931B-9241FF885624}"/>
              </a:ext>
            </a:extLst>
          </p:cNvPr>
          <p:cNvSpPr>
            <a:spLocks xmlns:a="http://schemas.openxmlformats.org/drawingml/2006/main" noGrp="1"/>
          </p:cNvSpPr>
          <p:nvPr/>
        </p:nvSpPr>
        <p:spPr>
          <a:xfrm xmlns:a="http://schemas.openxmlformats.org/drawingml/2006/main">
            <a:off x="10534650" y="4048125"/>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Descriptive</a:t>
            </a:r>
          </a:p>
        </p:txBody>
      </p:sp>
    </p:spTree>
    <p:extLst>
      <p:ext uri="{BB962C8B-B14F-4D97-AF65-F5344CB8AC3E}">
        <p14:creationId xmlns:p14="http://schemas.microsoft.com/office/powerpoint/2010/main" val="149051786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22DEF65-9B9A-434F-9F60-C320F863681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D1A48E7-9635-40AE-89AA-7CB131AA0F7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81FCECA-19A1-4141-A3DD-AD1EB281C3FF}"/>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LINEAGE CONTEXT</a:t>
            </a:r>
          </a:p>
        </p:txBody>
      </p:sp>
      <p:sp>
        <p:nvSpPr>
          <p:cNvPr id="4" name="">
            <a:extLst xmlns:a="http://schemas.openxmlformats.org/drawingml/2006/main">
              <a:ext uri="{FF2B5EF4-FFF2-40B4-BE49-F238E27FC236}">
                <a16:creationId xmlns:a16="http://schemas.microsoft.com/office/drawing/2014/main" id="{DF06CB4B-2973-47C9-93DB-0811A4485732}"/>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Sequence-type consistency helps interpret VF stability</a:t>
            </a:r>
          </a:p>
        </p:txBody>
      </p:sp>
      <p:sp>
        <p:nvSpPr>
          <p:cNvPr id="5" name="">
            <a:extLst xmlns:a="http://schemas.openxmlformats.org/drawingml/2006/main">
              <a:ext uri="{FF2B5EF4-FFF2-40B4-BE49-F238E27FC236}">
                <a16:creationId xmlns:a16="http://schemas.microsoft.com/office/drawing/2014/main" id="{D601266C-7CE3-4922-919B-C9EE31BE86F3}"/>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Same-ST comparisons support persistent-lineage context, but ST agreement alone does not prove same strain.</a:t>
            </a:r>
          </a:p>
        </p:txBody>
      </p:sp>
      <p:sp>
        <p:nvSpPr>
          <p:cNvPr id="6" name="">
            <a:extLst xmlns:a="http://schemas.openxmlformats.org/drawingml/2006/main">
              <a:ext uri="{FF2B5EF4-FFF2-40B4-BE49-F238E27FC236}">
                <a16:creationId xmlns:a16="http://schemas.microsoft.com/office/drawing/2014/main" id="{344229EF-619B-4282-939E-04F9BD50F11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A7E8020-4546-4243-B5C7-5ADB298D7304}"/>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EB87D3D4-30F9-480C-BBEB-10C601E04176}"/>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6F8391BF-97E7-42CE-AC0F-16AB60168784}"/>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10</a:t>
            </a:r>
          </a:p>
        </p:txBody>
      </p:sp>
      <p:sp>
        <p:nvSpPr>
          <p:cNvPr id="10" name="">
            <a:extLst xmlns:a="http://schemas.openxmlformats.org/drawingml/2006/main">
              <a:ext uri="{FF2B5EF4-FFF2-40B4-BE49-F238E27FC236}">
                <a16:creationId xmlns:a16="http://schemas.microsoft.com/office/drawing/2014/main" id="{7D0E2E04-DC6D-476C-83BA-8234F5F011C7}"/>
              </a:ext>
            </a:extLst>
          </p:cNvPr>
          <p:cNvSpPr>
            <a:spLocks xmlns:a="http://schemas.openxmlformats.org/drawingml/2006/main" noGrp="1"/>
          </p:cNvSpPr>
          <p:nvPr/>
        </p:nvSpPr>
        <p:spPr>
          <a:xfrm xmlns:a="http://schemas.openxmlformats.org/drawingml/2006/main">
            <a:off x="514350" y="1428750"/>
            <a:ext cx="8724900"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77093c720294f26"/>
          <a:stretch xmlns:a="http://schemas.openxmlformats.org/drawingml/2006/main"/>
        </p:blipFill>
        <p:spPr>
          <a:xfrm xmlns:a="http://schemas.openxmlformats.org/drawingml/2006/main">
            <a:off x="2078831" y="1504950"/>
            <a:ext cx="559593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D6B2FA7-CC33-4377-AECB-A98B82C7A557}"/>
              </a:ext>
            </a:extLst>
          </p:cNvPr>
          <p:cNvSpPr>
            <a:spLocks xmlns:a="http://schemas.openxmlformats.org/drawingml/2006/main" noGrp="1"/>
          </p:cNvSpPr>
          <p:nvPr/>
        </p:nvSpPr>
        <p:spPr>
          <a:xfrm xmlns:a="http://schemas.openxmlformats.org/drawingml/2006/main">
            <a:off x="9572625" y="1771650"/>
            <a:ext cx="1809750" cy="1962150"/>
          </a:xfrm>
          <a:prstGeom xmlns:a="http://schemas.openxmlformats.org/drawingml/2006/main" prst="roundRect">
            <a:avLst>
              <a:gd name="adj" fmla="val 4211"/>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AB303316-F01F-4D9F-B467-08E8968DCD71}"/>
              </a:ext>
            </a:extLst>
          </p:cNvPr>
          <p:cNvSpPr>
            <a:spLocks xmlns:a="http://schemas.openxmlformats.org/drawingml/2006/main" noGrp="1"/>
          </p:cNvSpPr>
          <p:nvPr/>
        </p:nvSpPr>
        <p:spPr>
          <a:xfrm xmlns:a="http://schemas.openxmlformats.org/drawingml/2006/main">
            <a:off x="9744075" y="194310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Use as diagnostic</a:t>
            </a:r>
          </a:p>
        </p:txBody>
      </p:sp>
      <p:sp>
        <p:nvSpPr>
          <p:cNvPr id="14" name="">
            <a:extLst xmlns:a="http://schemas.openxmlformats.org/drawingml/2006/main">
              <a:ext uri="{FF2B5EF4-FFF2-40B4-BE49-F238E27FC236}">
                <a16:creationId xmlns:a16="http://schemas.microsoft.com/office/drawing/2014/main" id="{AD867FAD-32AA-4837-9A9A-7222617CFEE7}"/>
              </a:ext>
            </a:extLst>
          </p:cNvPr>
          <p:cNvSpPr>
            <a:spLocks xmlns:a="http://schemas.openxmlformats.org/drawingml/2006/main" noGrp="1"/>
          </p:cNvSpPr>
          <p:nvPr/>
        </p:nvSpPr>
        <p:spPr>
          <a:xfrm xmlns:a="http://schemas.openxmlformats.org/drawingml/2006/main">
            <a:off x="9744075" y="2228850"/>
            <a:ext cx="1466850" cy="1371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Lineage context is essential before interpreting profile changes or clinical-status contrasts.</a:t>
            </a:r>
          </a:p>
        </p:txBody>
      </p:sp>
      <p:sp>
        <p:nvSpPr>
          <p:cNvPr id="15" name="">
            <a:extLst xmlns:a="http://schemas.openxmlformats.org/drawingml/2006/main">
              <a:ext uri="{FF2B5EF4-FFF2-40B4-BE49-F238E27FC236}">
                <a16:creationId xmlns:a16="http://schemas.microsoft.com/office/drawing/2014/main" id="{856E32D7-600B-44D7-A3D3-8772EE7C226E}"/>
              </a:ext>
            </a:extLst>
          </p:cNvPr>
          <p:cNvSpPr>
            <a:spLocks xmlns:a="http://schemas.openxmlformats.org/drawingml/2006/main" noGrp="1"/>
          </p:cNvSpPr>
          <p:nvPr/>
        </p:nvSpPr>
        <p:spPr>
          <a:xfrm xmlns:a="http://schemas.openxmlformats.org/drawingml/2006/main">
            <a:off x="9620250" y="1524000"/>
            <a:ext cx="20955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6" name="">
            <a:extLst xmlns:a="http://schemas.openxmlformats.org/drawingml/2006/main">
              <a:ext uri="{FF2B5EF4-FFF2-40B4-BE49-F238E27FC236}">
                <a16:creationId xmlns:a16="http://schemas.microsoft.com/office/drawing/2014/main" id="{87818E76-D747-46B1-A68F-B74A38C48F57}"/>
              </a:ext>
            </a:extLst>
          </p:cNvPr>
          <p:cNvSpPr>
            <a:spLocks xmlns:a="http://schemas.openxmlformats.org/drawingml/2006/main" noGrp="1"/>
          </p:cNvSpPr>
          <p:nvPr/>
        </p:nvSpPr>
        <p:spPr>
          <a:xfrm xmlns:a="http://schemas.openxmlformats.org/drawingml/2006/main">
            <a:off x="9715500" y="1571625"/>
            <a:ext cx="1905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Diagnostic / descriptive</a:t>
            </a:r>
          </a:p>
        </p:txBody>
      </p:sp>
    </p:spTree>
    <p:extLst>
      <p:ext uri="{BB962C8B-B14F-4D97-AF65-F5344CB8AC3E}">
        <p14:creationId xmlns:p14="http://schemas.microsoft.com/office/powerpoint/2010/main" val="15155368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74F28A-C1CD-4756-AE7E-66B262F251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24FCA6F-E529-40B1-BD0A-2732283BDEC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3E215AA-3833-48CA-BAA0-4A8CFEFC5FD9}"/>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CLINICAL ANNOTATION APPLICATION 1</a:t>
            </a:r>
          </a:p>
        </p:txBody>
      </p:sp>
      <p:sp>
        <p:nvSpPr>
          <p:cNvPr id="4" name="">
            <a:extLst xmlns:a="http://schemas.openxmlformats.org/drawingml/2006/main">
              <a:ext uri="{FF2B5EF4-FFF2-40B4-BE49-F238E27FC236}">
                <a16:creationId xmlns:a16="http://schemas.microsoft.com/office/drawing/2014/main" id="{B4F49904-4677-43F4-B2CA-DDA57D3B48DB}"/>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UTI status overlay remains exploratory under the sparse denominator</a:t>
            </a:r>
          </a:p>
        </p:txBody>
      </p:sp>
      <p:sp>
        <p:nvSpPr>
          <p:cNvPr id="5" name="">
            <a:extLst xmlns:a="http://schemas.openxmlformats.org/drawingml/2006/main">
              <a:ext uri="{FF2B5EF4-FFF2-40B4-BE49-F238E27FC236}">
                <a16:creationId xmlns:a16="http://schemas.microsoft.com/office/drawing/2014/main" id="{E834B0EB-5E51-4E44-B042-234D3C8049AE}"/>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556 model-ready episodes: 17 UTI and 539 Not_UTI; no global VF association remains significant after FDR correction.</a:t>
            </a:r>
          </a:p>
        </p:txBody>
      </p:sp>
      <p:sp>
        <p:nvSpPr>
          <p:cNvPr id="6" name="">
            <a:extLst xmlns:a="http://schemas.openxmlformats.org/drawingml/2006/main">
              <a:ext uri="{FF2B5EF4-FFF2-40B4-BE49-F238E27FC236}">
                <a16:creationId xmlns:a16="http://schemas.microsoft.com/office/drawing/2014/main" id="{1C71C95D-359B-4EEB-AA62-AC2FCE598130}"/>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2DEF093-88AD-4733-BF67-36832DFD71BA}"/>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A214F81-BC8E-406C-B49E-20EC7900339F}"/>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0E6DC2B0-DC3A-4792-9808-800299A8309D}"/>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11</a:t>
            </a:r>
          </a:p>
        </p:txBody>
      </p:sp>
      <p:sp>
        <p:nvSpPr>
          <p:cNvPr id="10" name="">
            <a:extLst xmlns:a="http://schemas.openxmlformats.org/drawingml/2006/main">
              <a:ext uri="{FF2B5EF4-FFF2-40B4-BE49-F238E27FC236}">
                <a16:creationId xmlns:a16="http://schemas.microsoft.com/office/drawing/2014/main" id="{306EF4F5-763B-4CD8-A88D-7319210E0258}"/>
              </a:ext>
            </a:extLst>
          </p:cNvPr>
          <p:cNvSpPr>
            <a:spLocks xmlns:a="http://schemas.openxmlformats.org/drawingml/2006/main" noGrp="1"/>
          </p:cNvSpPr>
          <p:nvPr/>
        </p:nvSpPr>
        <p:spPr>
          <a:xfrm xmlns:a="http://schemas.openxmlformats.org/drawingml/2006/main">
            <a:off x="514350" y="1428750"/>
            <a:ext cx="8629650"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e6191209f644e83"/>
          <a:stretch xmlns:a="http://schemas.openxmlformats.org/drawingml/2006/main"/>
        </p:blipFill>
        <p:spPr>
          <a:xfrm xmlns:a="http://schemas.openxmlformats.org/drawingml/2006/main">
            <a:off x="1041156" y="1504950"/>
            <a:ext cx="757603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882F273-C16A-4D9A-A8D4-A4773ABC30D6}"/>
              </a:ext>
            </a:extLst>
          </p:cNvPr>
          <p:cNvSpPr>
            <a:spLocks xmlns:a="http://schemas.openxmlformats.org/drawingml/2006/main" noGrp="1"/>
          </p:cNvSpPr>
          <p:nvPr/>
        </p:nvSpPr>
        <p:spPr>
          <a:xfrm xmlns:a="http://schemas.openxmlformats.org/drawingml/2006/main">
            <a:off x="9572625" y="1771650"/>
            <a:ext cx="1847850" cy="2000250"/>
          </a:xfrm>
          <a:prstGeom xmlns:a="http://schemas.openxmlformats.org/drawingml/2006/main" prst="roundRect">
            <a:avLst>
              <a:gd name="adj" fmla="val 4124"/>
            </a:avLst>
          </a:prstGeom>
          <a:solidFill xmlns:a="http://schemas.openxmlformats.org/drawingml/2006/main">
            <a:srgbClr val="FFF4E6"/>
          </a:solidFill>
          <a:ln xmlns:a="http://schemas.openxmlformats.org/drawingml/2006/main" w="9525">
            <a:solidFill>
              <a:srgbClr val="F4C98A"/>
            </a:solidFill>
            <a:prstDash val="solid"/>
          </a:ln>
        </p:spPr>
      </p:sp>
      <p:sp>
        <p:nvSpPr>
          <p:cNvPr id="13" name="">
            <a:extLst xmlns:a="http://schemas.openxmlformats.org/drawingml/2006/main">
              <a:ext uri="{FF2B5EF4-FFF2-40B4-BE49-F238E27FC236}">
                <a16:creationId xmlns:a16="http://schemas.microsoft.com/office/drawing/2014/main" id="{2DE22107-37CE-46A7-BFCD-55B9454AEB7D}"/>
              </a:ext>
            </a:extLst>
          </p:cNvPr>
          <p:cNvSpPr>
            <a:spLocks xmlns:a="http://schemas.openxmlformats.org/drawingml/2006/main" noGrp="1"/>
          </p:cNvSpPr>
          <p:nvPr/>
        </p:nvSpPr>
        <p:spPr>
          <a:xfrm xmlns:a="http://schemas.openxmlformats.org/drawingml/2006/main">
            <a:off x="9744075" y="1943100"/>
            <a:ext cx="1504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Safe claim</a:t>
            </a:r>
          </a:p>
        </p:txBody>
      </p:sp>
      <p:sp>
        <p:nvSpPr>
          <p:cNvPr id="14" name="">
            <a:extLst xmlns:a="http://schemas.openxmlformats.org/drawingml/2006/main">
              <a:ext uri="{FF2B5EF4-FFF2-40B4-BE49-F238E27FC236}">
                <a16:creationId xmlns:a16="http://schemas.microsoft.com/office/drawing/2014/main" id="{A614DDF7-826F-45D8-8099-B779D6ECFE7D}"/>
              </a:ext>
            </a:extLst>
          </p:cNvPr>
          <p:cNvSpPr>
            <a:spLocks xmlns:a="http://schemas.openxmlformats.org/drawingml/2006/main" noGrp="1"/>
          </p:cNvSpPr>
          <p:nvPr/>
        </p:nvSpPr>
        <p:spPr>
          <a:xfrm xmlns:a="http://schemas.openxmlformats.org/drawingml/2006/main">
            <a:off x="9744075" y="2228850"/>
            <a:ext cx="15049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Nominal screens and model diagnostics are hypothesis-generating. They do not establish a robust VF status association.</a:t>
            </a:r>
          </a:p>
        </p:txBody>
      </p:sp>
      <p:sp>
        <p:nvSpPr>
          <p:cNvPr id="15" name="">
            <a:extLst xmlns:a="http://schemas.openxmlformats.org/drawingml/2006/main">
              <a:ext uri="{FF2B5EF4-FFF2-40B4-BE49-F238E27FC236}">
                <a16:creationId xmlns:a16="http://schemas.microsoft.com/office/drawing/2014/main" id="{FF1B5C4C-45B5-4012-A42A-76209304D440}"/>
              </a:ext>
            </a:extLst>
          </p:cNvPr>
          <p:cNvSpPr>
            <a:spLocks xmlns:a="http://schemas.openxmlformats.org/drawingml/2006/main" noGrp="1"/>
          </p:cNvSpPr>
          <p:nvPr/>
        </p:nvSpPr>
        <p:spPr>
          <a:xfrm xmlns:a="http://schemas.openxmlformats.org/drawingml/2006/main">
            <a:off x="9620250" y="1524000"/>
            <a:ext cx="219075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16" name="">
            <a:extLst xmlns:a="http://schemas.openxmlformats.org/drawingml/2006/main">
              <a:ext uri="{FF2B5EF4-FFF2-40B4-BE49-F238E27FC236}">
                <a16:creationId xmlns:a16="http://schemas.microsoft.com/office/drawing/2014/main" id="{0AC43FD2-0FD0-434C-B57B-7373DC172B80}"/>
              </a:ext>
            </a:extLst>
          </p:cNvPr>
          <p:cNvSpPr>
            <a:spLocks xmlns:a="http://schemas.openxmlformats.org/drawingml/2006/main" noGrp="1"/>
          </p:cNvSpPr>
          <p:nvPr/>
        </p:nvSpPr>
        <p:spPr>
          <a:xfrm xmlns:a="http://schemas.openxmlformats.org/drawingml/2006/main">
            <a:off x="9715500" y="1571625"/>
            <a:ext cx="2000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D97706"/>
                </a:solidFill>
                <a:latin typeface="Aptos"/>
                <a:ea typeface="Aptos"/>
                <a:cs typeface="Aptos"/>
              </a:defRPr>
            </a:pPr>
            <a:r>
              <a:rPr sz="788" b="1">
                <a:solidFill>
                  <a:srgbClr val="D97706"/>
                </a:solidFill>
                <a:latin typeface="Aptos"/>
                <a:ea typeface="Aptos"/>
                <a:cs typeface="Aptos"/>
              </a:rPr>
              <a:t>Exploratory phenotype overlay</a:t>
            </a:r>
          </a:p>
        </p:txBody>
      </p:sp>
    </p:spTree>
    <p:extLst>
      <p:ext uri="{BB962C8B-B14F-4D97-AF65-F5344CB8AC3E}">
        <p14:creationId xmlns:p14="http://schemas.microsoft.com/office/powerpoint/2010/main" val="157254239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EBE229-9824-47B9-BEA4-0048574899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99AA32A-4F34-4CFD-8126-B1C363A9830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ADEE70F-8253-4467-973B-324A116500D5}"/>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CLINICAL ANNOTATION APPLICATION 2</a:t>
            </a:r>
          </a:p>
        </p:txBody>
      </p:sp>
      <p:sp>
        <p:nvSpPr>
          <p:cNvPr id="4" name="">
            <a:extLst xmlns:a="http://schemas.openxmlformats.org/drawingml/2006/main">
              <a:ext uri="{FF2B5EF4-FFF2-40B4-BE49-F238E27FC236}">
                <a16:creationId xmlns:a16="http://schemas.microsoft.com/office/drawing/2014/main" id="{78CE57CB-803E-4BF8-A9B8-FF467D04148F}"/>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Participant 20026 illustrates stable VF profile despite symptom emergence</a:t>
            </a:r>
          </a:p>
        </p:txBody>
      </p:sp>
      <p:sp>
        <p:nvSpPr>
          <p:cNvPr id="5" name="">
            <a:extLst xmlns:a="http://schemas.openxmlformats.org/drawingml/2006/main">
              <a:ext uri="{FF2B5EF4-FFF2-40B4-BE49-F238E27FC236}">
                <a16:creationId xmlns:a16="http://schemas.microsoft.com/office/drawing/2014/main" id="{8D22DCF5-F7CA-47E0-B37F-96D1961E09BD}"/>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This is an applied phenotype example, not proof of host-state mechanism.</a:t>
            </a:r>
          </a:p>
        </p:txBody>
      </p:sp>
      <p:sp>
        <p:nvSpPr>
          <p:cNvPr id="6" name="">
            <a:extLst xmlns:a="http://schemas.openxmlformats.org/drawingml/2006/main">
              <a:ext uri="{FF2B5EF4-FFF2-40B4-BE49-F238E27FC236}">
                <a16:creationId xmlns:a16="http://schemas.microsoft.com/office/drawing/2014/main" id="{4FCC579A-36F7-4934-9CEF-6050D86AAAB8}"/>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3FF99CD-B5E7-47B2-A564-E044E6AA5279}"/>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451AFAC-33B5-45DE-BFFC-DE20A7B38BB8}"/>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24856E12-7020-4907-9699-68AA1FAE47F9}"/>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12</a:t>
            </a:r>
          </a:p>
        </p:txBody>
      </p:sp>
      <p:sp>
        <p:nvSpPr>
          <p:cNvPr id="10" name="">
            <a:extLst xmlns:a="http://schemas.openxmlformats.org/drawingml/2006/main">
              <a:ext uri="{FF2B5EF4-FFF2-40B4-BE49-F238E27FC236}">
                <a16:creationId xmlns:a16="http://schemas.microsoft.com/office/drawing/2014/main" id="{2A425EB9-759F-49EF-A6D8-85E44C757919}"/>
              </a:ext>
            </a:extLst>
          </p:cNvPr>
          <p:cNvSpPr>
            <a:spLocks xmlns:a="http://schemas.openxmlformats.org/drawingml/2006/main" noGrp="1"/>
          </p:cNvSpPr>
          <p:nvPr/>
        </p:nvSpPr>
        <p:spPr>
          <a:xfrm xmlns:a="http://schemas.openxmlformats.org/drawingml/2006/main">
            <a:off x="1143000" y="2971800"/>
            <a:ext cx="9144000" cy="3810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A580D17-BFA8-44FF-A5EF-7148B58131C8}"/>
              </a:ext>
            </a:extLst>
          </p:cNvPr>
          <p:cNvSpPr>
            <a:spLocks xmlns:a="http://schemas.openxmlformats.org/drawingml/2006/main" noGrp="1"/>
          </p:cNvSpPr>
          <p:nvPr/>
        </p:nvSpPr>
        <p:spPr>
          <a:xfrm xmlns:a="http://schemas.openxmlformats.org/drawingml/2006/main">
            <a:off x="1866900" y="2552700"/>
            <a:ext cx="1466850" cy="914400"/>
          </a:xfrm>
          <a:prstGeom xmlns:a="http://schemas.openxmlformats.org/drawingml/2006/main" prst="roundRect">
            <a:avLst>
              <a:gd name="adj" fmla="val 8333"/>
            </a:avLst>
          </a:prstGeom>
          <a:solidFill xmlns:a="http://schemas.openxmlformats.org/drawingml/2006/main">
            <a:srgbClr val="E8F1FA"/>
          </a:solidFill>
          <a:ln xmlns:a="http://schemas.openxmlformats.org/drawingml/2006/main" w="19050">
            <a:solidFill>
              <a:srgbClr val="9AC1E6"/>
            </a:solidFill>
            <a:prstDash val="solid"/>
          </a:ln>
        </p:spPr>
      </p:sp>
      <p:sp>
        <p:nvSpPr>
          <p:cNvPr id="12" name="">
            <a:extLst xmlns:a="http://schemas.openxmlformats.org/drawingml/2006/main">
              <a:ext uri="{FF2B5EF4-FFF2-40B4-BE49-F238E27FC236}">
                <a16:creationId xmlns:a16="http://schemas.microsoft.com/office/drawing/2014/main" id="{824BE42F-3BE3-44A0-BA02-211C64F838E6}"/>
              </a:ext>
            </a:extLst>
          </p:cNvPr>
          <p:cNvSpPr>
            <a:spLocks xmlns:a="http://schemas.openxmlformats.org/drawingml/2006/main" noGrp="1"/>
          </p:cNvSpPr>
          <p:nvPr/>
        </p:nvSpPr>
        <p:spPr>
          <a:xfrm xmlns:a="http://schemas.openxmlformats.org/drawingml/2006/main">
            <a:off x="2038350" y="272415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2B6CB0"/>
                </a:solidFill>
                <a:latin typeface="Aptos"/>
                <a:ea typeface="Aptos"/>
                <a:cs typeface="Aptos"/>
              </a:defRPr>
            </a:pPr>
            <a:r>
              <a:rPr sz="1275" b="1">
                <a:solidFill>
                  <a:srgbClr val="2B6CB0"/>
                </a:solidFill>
                <a:latin typeface="Aptos"/>
                <a:ea typeface="Aptos"/>
                <a:cs typeface="Aptos"/>
              </a:rPr>
              <a:t>T3</a:t>
            </a:r>
          </a:p>
        </p:txBody>
      </p:sp>
      <p:sp>
        <p:nvSpPr>
          <p:cNvPr id="13" name="">
            <a:extLst xmlns:a="http://schemas.openxmlformats.org/drawingml/2006/main">
              <a:ext uri="{FF2B5EF4-FFF2-40B4-BE49-F238E27FC236}">
                <a16:creationId xmlns:a16="http://schemas.microsoft.com/office/drawing/2014/main" id="{2271ECEB-3F4A-4B1F-ACDF-AC28D7F92EE1}"/>
              </a:ext>
            </a:extLst>
          </p:cNvPr>
          <p:cNvSpPr>
            <a:spLocks xmlns:a="http://schemas.openxmlformats.org/drawingml/2006/main" noGrp="1"/>
          </p:cNvSpPr>
          <p:nvPr/>
        </p:nvSpPr>
        <p:spPr>
          <a:xfrm xmlns:a="http://schemas.openxmlformats.org/drawingml/2006/main">
            <a:off x="2038350" y="297180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B6CB0"/>
                </a:solidFill>
                <a:latin typeface="Aptos"/>
                <a:ea typeface="Aptos"/>
                <a:cs typeface="Aptos"/>
              </a:defRPr>
            </a:pPr>
            <a:r>
              <a:rPr sz="1050" b="1">
                <a:solidFill>
                  <a:srgbClr val="2B6CB0"/>
                </a:solidFill>
                <a:latin typeface="Aptos"/>
                <a:ea typeface="Aptos"/>
                <a:cs typeface="Aptos"/>
              </a:rPr>
              <a:t>Not_UTI</a:t>
            </a:r>
          </a:p>
        </p:txBody>
      </p:sp>
      <p:sp>
        <p:nvSpPr>
          <p:cNvPr id="14" name="">
            <a:extLst xmlns:a="http://schemas.openxmlformats.org/drawingml/2006/main">
              <a:ext uri="{FF2B5EF4-FFF2-40B4-BE49-F238E27FC236}">
                <a16:creationId xmlns:a16="http://schemas.microsoft.com/office/drawing/2014/main" id="{E4458D6C-1008-4111-B519-D8D4907E6BF1}"/>
              </a:ext>
            </a:extLst>
          </p:cNvPr>
          <p:cNvSpPr>
            <a:spLocks xmlns:a="http://schemas.openxmlformats.org/drawingml/2006/main" noGrp="1"/>
          </p:cNvSpPr>
          <p:nvPr/>
        </p:nvSpPr>
        <p:spPr>
          <a:xfrm xmlns:a="http://schemas.openxmlformats.org/drawingml/2006/main">
            <a:off x="1962150" y="3219450"/>
            <a:ext cx="1257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4748B"/>
                </a:solidFill>
                <a:latin typeface="Aptos"/>
                <a:ea typeface="Aptos"/>
                <a:cs typeface="Aptos"/>
              </a:defRPr>
            </a:pPr>
            <a:r>
              <a:rPr sz="713" b="0">
                <a:solidFill>
                  <a:srgbClr val="64748B"/>
                </a:solidFill>
                <a:latin typeface="Aptos"/>
                <a:ea typeface="Aptos"/>
                <a:cs typeface="Aptos"/>
              </a:rPr>
              <a:t>culture-supported bacteriuria</a:t>
            </a:r>
          </a:p>
        </p:txBody>
      </p:sp>
      <p:sp>
        <p:nvSpPr>
          <p:cNvPr id="15" name="">
            <a:extLst xmlns:a="http://schemas.openxmlformats.org/drawingml/2006/main">
              <a:ext uri="{FF2B5EF4-FFF2-40B4-BE49-F238E27FC236}">
                <a16:creationId xmlns:a16="http://schemas.microsoft.com/office/drawing/2014/main" id="{0CBE2684-A816-423C-ADD5-1DCCF3A27CDE}"/>
              </a:ext>
            </a:extLst>
          </p:cNvPr>
          <p:cNvSpPr>
            <a:spLocks xmlns:a="http://schemas.openxmlformats.org/drawingml/2006/main" noGrp="1"/>
          </p:cNvSpPr>
          <p:nvPr/>
        </p:nvSpPr>
        <p:spPr>
          <a:xfrm xmlns:a="http://schemas.openxmlformats.org/drawingml/2006/main">
            <a:off x="8172450" y="2552700"/>
            <a:ext cx="1466850" cy="914400"/>
          </a:xfrm>
          <a:prstGeom xmlns:a="http://schemas.openxmlformats.org/drawingml/2006/main" prst="roundRect">
            <a:avLst>
              <a:gd name="adj" fmla="val 8333"/>
            </a:avLst>
          </a:prstGeom>
          <a:solidFill xmlns:a="http://schemas.openxmlformats.org/drawingml/2006/main">
            <a:srgbClr val="FFF4E6"/>
          </a:solidFill>
          <a:ln xmlns:a="http://schemas.openxmlformats.org/drawingml/2006/main" w="19050">
            <a:solidFill>
              <a:srgbClr val="F4B15F"/>
            </a:solidFill>
            <a:prstDash val="solid"/>
          </a:ln>
        </p:spPr>
      </p:sp>
      <p:sp>
        <p:nvSpPr>
          <p:cNvPr id="16" name="">
            <a:extLst xmlns:a="http://schemas.openxmlformats.org/drawingml/2006/main">
              <a:ext uri="{FF2B5EF4-FFF2-40B4-BE49-F238E27FC236}">
                <a16:creationId xmlns:a16="http://schemas.microsoft.com/office/drawing/2014/main" id="{93C65342-18A6-4327-9557-8FABE3531B83}"/>
              </a:ext>
            </a:extLst>
          </p:cNvPr>
          <p:cNvSpPr>
            <a:spLocks xmlns:a="http://schemas.openxmlformats.org/drawingml/2006/main" noGrp="1"/>
          </p:cNvSpPr>
          <p:nvPr/>
        </p:nvSpPr>
        <p:spPr>
          <a:xfrm xmlns:a="http://schemas.openxmlformats.org/drawingml/2006/main">
            <a:off x="8343900" y="272415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D97706"/>
                </a:solidFill>
                <a:latin typeface="Aptos"/>
                <a:ea typeface="Aptos"/>
                <a:cs typeface="Aptos"/>
              </a:defRPr>
            </a:pPr>
            <a:r>
              <a:rPr sz="1275" b="1">
                <a:solidFill>
                  <a:srgbClr val="D97706"/>
                </a:solidFill>
                <a:latin typeface="Aptos"/>
                <a:ea typeface="Aptos"/>
                <a:cs typeface="Aptos"/>
              </a:rPr>
              <a:t>UTI-1</a:t>
            </a:r>
          </a:p>
        </p:txBody>
      </p:sp>
      <p:sp>
        <p:nvSpPr>
          <p:cNvPr id="17" name="">
            <a:extLst xmlns:a="http://schemas.openxmlformats.org/drawingml/2006/main">
              <a:ext uri="{FF2B5EF4-FFF2-40B4-BE49-F238E27FC236}">
                <a16:creationId xmlns:a16="http://schemas.microsoft.com/office/drawing/2014/main" id="{FBB740A9-A44B-4B5F-9100-A53930B82D14}"/>
              </a:ext>
            </a:extLst>
          </p:cNvPr>
          <p:cNvSpPr>
            <a:spLocks xmlns:a="http://schemas.openxmlformats.org/drawingml/2006/main" noGrp="1"/>
          </p:cNvSpPr>
          <p:nvPr/>
        </p:nvSpPr>
        <p:spPr>
          <a:xfrm xmlns:a="http://schemas.openxmlformats.org/drawingml/2006/main">
            <a:off x="8343900" y="297180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D97706"/>
                </a:solidFill>
                <a:latin typeface="Aptos"/>
                <a:ea typeface="Aptos"/>
                <a:cs typeface="Aptos"/>
              </a:defRPr>
            </a:pPr>
            <a:r>
              <a:rPr sz="1050" b="1">
                <a:solidFill>
                  <a:srgbClr val="D97706"/>
                </a:solidFill>
                <a:latin typeface="Aptos"/>
                <a:ea typeface="Aptos"/>
                <a:cs typeface="Aptos"/>
              </a:rPr>
              <a:t>UTI</a:t>
            </a:r>
          </a:p>
        </p:txBody>
      </p:sp>
      <p:sp>
        <p:nvSpPr>
          <p:cNvPr id="18" name="">
            <a:extLst xmlns:a="http://schemas.openxmlformats.org/drawingml/2006/main">
              <a:ext uri="{FF2B5EF4-FFF2-40B4-BE49-F238E27FC236}">
                <a16:creationId xmlns:a16="http://schemas.microsoft.com/office/drawing/2014/main" id="{A2B31D2D-F1F7-48F8-BF8E-4E443727EB36}"/>
              </a:ext>
            </a:extLst>
          </p:cNvPr>
          <p:cNvSpPr>
            <a:spLocks xmlns:a="http://schemas.openxmlformats.org/drawingml/2006/main" noGrp="1"/>
          </p:cNvSpPr>
          <p:nvPr/>
        </p:nvSpPr>
        <p:spPr>
          <a:xfrm xmlns:a="http://schemas.openxmlformats.org/drawingml/2006/main">
            <a:off x="8267700" y="3219450"/>
            <a:ext cx="1257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4748B"/>
                </a:solidFill>
                <a:latin typeface="Aptos"/>
                <a:ea typeface="Aptos"/>
                <a:cs typeface="Aptos"/>
              </a:defRPr>
            </a:pPr>
            <a:r>
              <a:rPr sz="713" b="0">
                <a:solidFill>
                  <a:srgbClr val="64748B"/>
                </a:solidFill>
                <a:latin typeface="Aptos"/>
                <a:ea typeface="Aptos"/>
                <a:cs typeface="Aptos"/>
              </a:rPr>
              <a:t>symptom emergence</a:t>
            </a:r>
          </a:p>
        </p:txBody>
      </p:sp>
      <p:sp>
        <p:nvSpPr>
          <p:cNvPr id="19" name="">
            <a:extLst xmlns:a="http://schemas.openxmlformats.org/drawingml/2006/main">
              <a:ext uri="{FF2B5EF4-FFF2-40B4-BE49-F238E27FC236}">
                <a16:creationId xmlns:a16="http://schemas.microsoft.com/office/drawing/2014/main" id="{7D96A620-2AEA-4138-9860-3B8DE74B1A1F}"/>
              </a:ext>
            </a:extLst>
          </p:cNvPr>
          <p:cNvSpPr>
            <a:spLocks xmlns:a="http://schemas.openxmlformats.org/drawingml/2006/main" noGrp="1"/>
          </p:cNvSpPr>
          <p:nvPr/>
        </p:nvSpPr>
        <p:spPr>
          <a:xfrm xmlns:a="http://schemas.openxmlformats.org/drawingml/2006/main" rot="0">
            <a:off x="3429000" y="2981325"/>
            <a:ext cx="464820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84CAB49-2543-48F0-AD9B-A02A1CA4698C}"/>
              </a:ext>
            </a:extLst>
          </p:cNvPr>
          <p:cNvSpPr>
            <a:spLocks xmlns:a="http://schemas.openxmlformats.org/drawingml/2006/main" noGrp="1"/>
          </p:cNvSpPr>
          <p:nvPr/>
        </p:nvSpPr>
        <p:spPr>
          <a:xfrm xmlns:a="http://schemas.openxmlformats.org/drawingml/2006/main" rot="5400000">
            <a:off x="8010525" y="29432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97B92FC6-89A4-4C8C-B8FC-61956FDC182B}"/>
              </a:ext>
            </a:extLst>
          </p:cNvPr>
          <p:cNvSpPr>
            <a:spLocks xmlns:a="http://schemas.openxmlformats.org/drawingml/2006/main" noGrp="1"/>
          </p:cNvSpPr>
          <p:nvPr/>
        </p:nvSpPr>
        <p:spPr>
          <a:xfrm xmlns:a="http://schemas.openxmlformats.org/drawingml/2006/main">
            <a:off x="4810125" y="2647950"/>
            <a:ext cx="1143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22" name="">
            <a:extLst xmlns:a="http://schemas.openxmlformats.org/drawingml/2006/main">
              <a:ext uri="{FF2B5EF4-FFF2-40B4-BE49-F238E27FC236}">
                <a16:creationId xmlns:a16="http://schemas.microsoft.com/office/drawing/2014/main" id="{32B85C3F-7267-4CC1-8246-FDF75B988FDE}"/>
              </a:ext>
            </a:extLst>
          </p:cNvPr>
          <p:cNvSpPr>
            <a:spLocks xmlns:a="http://schemas.openxmlformats.org/drawingml/2006/main" noGrp="1"/>
          </p:cNvSpPr>
          <p:nvPr/>
        </p:nvSpPr>
        <p:spPr>
          <a:xfrm xmlns:a="http://schemas.openxmlformats.org/drawingml/2006/main">
            <a:off x="4905375" y="2695575"/>
            <a:ext cx="95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111827"/>
                </a:solidFill>
                <a:latin typeface="Aptos"/>
                <a:ea typeface="Aptos"/>
                <a:cs typeface="Aptos"/>
              </a:defRPr>
            </a:pPr>
            <a:r>
              <a:rPr sz="788" b="1">
                <a:solidFill>
                  <a:srgbClr val="111827"/>
                </a:solidFill>
                <a:latin typeface="Aptos"/>
                <a:ea typeface="Aptos"/>
                <a:cs typeface="Aptos"/>
              </a:rPr>
              <a:t>42 days</a:t>
            </a:r>
          </a:p>
        </p:txBody>
      </p:sp>
      <p:sp>
        <p:nvSpPr>
          <p:cNvPr id="23" name="">
            <a:extLst xmlns:a="http://schemas.openxmlformats.org/drawingml/2006/main">
              <a:ext uri="{FF2B5EF4-FFF2-40B4-BE49-F238E27FC236}">
                <a16:creationId xmlns:a16="http://schemas.microsoft.com/office/drawing/2014/main" id="{186465C3-E774-40A0-AEFD-A4AC90BF54CE}"/>
              </a:ext>
            </a:extLst>
          </p:cNvPr>
          <p:cNvSpPr>
            <a:spLocks xmlns:a="http://schemas.openxmlformats.org/drawingml/2006/main" noGrp="1"/>
          </p:cNvSpPr>
          <p:nvPr/>
        </p:nvSpPr>
        <p:spPr>
          <a:xfrm xmlns:a="http://schemas.openxmlformats.org/drawingml/2006/main">
            <a:off x="2000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4" name="">
            <a:extLst xmlns:a="http://schemas.openxmlformats.org/drawingml/2006/main">
              <a:ext uri="{FF2B5EF4-FFF2-40B4-BE49-F238E27FC236}">
                <a16:creationId xmlns:a16="http://schemas.microsoft.com/office/drawing/2014/main" id="{4456496C-DE04-48C7-AF9F-B685D018C622}"/>
              </a:ext>
            </a:extLst>
          </p:cNvPr>
          <p:cNvSpPr>
            <a:spLocks xmlns:a="http://schemas.openxmlformats.org/drawingml/2006/main" noGrp="1"/>
          </p:cNvSpPr>
          <p:nvPr/>
        </p:nvSpPr>
        <p:spPr>
          <a:xfrm xmlns:a="http://schemas.openxmlformats.org/drawingml/2006/main">
            <a:off x="2152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B602F927-949A-4FBC-B8F7-51DC39DAB3C3}"/>
              </a:ext>
            </a:extLst>
          </p:cNvPr>
          <p:cNvSpPr>
            <a:spLocks xmlns:a="http://schemas.openxmlformats.org/drawingml/2006/main" noGrp="1"/>
          </p:cNvSpPr>
          <p:nvPr/>
        </p:nvSpPr>
        <p:spPr>
          <a:xfrm xmlns:a="http://schemas.openxmlformats.org/drawingml/2006/main">
            <a:off x="2152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SNPs</a:t>
            </a:r>
          </a:p>
        </p:txBody>
      </p:sp>
      <p:sp>
        <p:nvSpPr>
          <p:cNvPr id="26" name="">
            <a:extLst xmlns:a="http://schemas.openxmlformats.org/drawingml/2006/main">
              <a:ext uri="{FF2B5EF4-FFF2-40B4-BE49-F238E27FC236}">
                <a16:creationId xmlns:a16="http://schemas.microsoft.com/office/drawing/2014/main" id="{B1CDD467-4361-4670-B61D-BBF4D110C044}"/>
              </a:ext>
            </a:extLst>
          </p:cNvPr>
          <p:cNvSpPr>
            <a:spLocks xmlns:a="http://schemas.openxmlformats.org/drawingml/2006/main" noGrp="1"/>
          </p:cNvSpPr>
          <p:nvPr/>
        </p:nvSpPr>
        <p:spPr>
          <a:xfrm xmlns:a="http://schemas.openxmlformats.org/drawingml/2006/main">
            <a:off x="3905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7" name="">
            <a:extLst xmlns:a="http://schemas.openxmlformats.org/drawingml/2006/main">
              <a:ext uri="{FF2B5EF4-FFF2-40B4-BE49-F238E27FC236}">
                <a16:creationId xmlns:a16="http://schemas.microsoft.com/office/drawing/2014/main" id="{A0176838-D3D2-499C-B36B-251F94486D87}"/>
              </a:ext>
            </a:extLst>
          </p:cNvPr>
          <p:cNvSpPr>
            <a:spLocks xmlns:a="http://schemas.openxmlformats.org/drawingml/2006/main" noGrp="1"/>
          </p:cNvSpPr>
          <p:nvPr/>
        </p:nvSpPr>
        <p:spPr>
          <a:xfrm xmlns:a="http://schemas.openxmlformats.org/drawingml/2006/main">
            <a:off x="4057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+0/-0</a:t>
            </a:r>
          </a:p>
        </p:txBody>
      </p:sp>
      <p:sp>
        <p:nvSpPr>
          <p:cNvPr id="28" name="">
            <a:extLst xmlns:a="http://schemas.openxmlformats.org/drawingml/2006/main">
              <a:ext uri="{FF2B5EF4-FFF2-40B4-BE49-F238E27FC236}">
                <a16:creationId xmlns:a16="http://schemas.microsoft.com/office/drawing/2014/main" id="{8339A8A9-1073-4A89-B10B-D82ACFB8AD65}"/>
              </a:ext>
            </a:extLst>
          </p:cNvPr>
          <p:cNvSpPr>
            <a:spLocks xmlns:a="http://schemas.openxmlformats.org/drawingml/2006/main" noGrp="1"/>
          </p:cNvSpPr>
          <p:nvPr/>
        </p:nvSpPr>
        <p:spPr>
          <a:xfrm xmlns:a="http://schemas.openxmlformats.org/drawingml/2006/main">
            <a:off x="4057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VF genes</a:t>
            </a:r>
          </a:p>
        </p:txBody>
      </p:sp>
      <p:sp>
        <p:nvSpPr>
          <p:cNvPr id="29" name="">
            <a:extLst xmlns:a="http://schemas.openxmlformats.org/drawingml/2006/main">
              <a:ext uri="{FF2B5EF4-FFF2-40B4-BE49-F238E27FC236}">
                <a16:creationId xmlns:a16="http://schemas.microsoft.com/office/drawing/2014/main" id="{D9971627-B36A-4E1A-8B55-24DDE8107814}"/>
              </a:ext>
            </a:extLst>
          </p:cNvPr>
          <p:cNvSpPr>
            <a:spLocks xmlns:a="http://schemas.openxmlformats.org/drawingml/2006/main" noGrp="1"/>
          </p:cNvSpPr>
          <p:nvPr/>
        </p:nvSpPr>
        <p:spPr>
          <a:xfrm xmlns:a="http://schemas.openxmlformats.org/drawingml/2006/main">
            <a:off x="5810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30" name="">
            <a:extLst xmlns:a="http://schemas.openxmlformats.org/drawingml/2006/main">
              <a:ext uri="{FF2B5EF4-FFF2-40B4-BE49-F238E27FC236}">
                <a16:creationId xmlns:a16="http://schemas.microsoft.com/office/drawing/2014/main" id="{70F68408-08B2-41A4-87B1-449F956181C3}"/>
              </a:ext>
            </a:extLst>
          </p:cNvPr>
          <p:cNvSpPr>
            <a:spLocks xmlns:a="http://schemas.openxmlformats.org/drawingml/2006/main" noGrp="1"/>
          </p:cNvSpPr>
          <p:nvPr/>
        </p:nvSpPr>
        <p:spPr>
          <a:xfrm xmlns:a="http://schemas.openxmlformats.org/drawingml/2006/main">
            <a:off x="5962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stable</a:t>
            </a:r>
          </a:p>
        </p:txBody>
      </p:sp>
      <p:sp>
        <p:nvSpPr>
          <p:cNvPr id="31" name="">
            <a:extLst xmlns:a="http://schemas.openxmlformats.org/drawingml/2006/main">
              <a:ext uri="{FF2B5EF4-FFF2-40B4-BE49-F238E27FC236}">
                <a16:creationId xmlns:a16="http://schemas.microsoft.com/office/drawing/2014/main" id="{D8B1774F-1A14-4A35-BFD4-AF3E49FE32E7}"/>
              </a:ext>
            </a:extLst>
          </p:cNvPr>
          <p:cNvSpPr>
            <a:spLocks xmlns:a="http://schemas.openxmlformats.org/drawingml/2006/main" noGrp="1"/>
          </p:cNvSpPr>
          <p:nvPr/>
        </p:nvSpPr>
        <p:spPr>
          <a:xfrm xmlns:a="http://schemas.openxmlformats.org/drawingml/2006/main">
            <a:off x="5962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VF modules</a:t>
            </a:r>
          </a:p>
        </p:txBody>
      </p:sp>
      <p:sp>
        <p:nvSpPr>
          <p:cNvPr id="32" name="">
            <a:extLst xmlns:a="http://schemas.openxmlformats.org/drawingml/2006/main">
              <a:ext uri="{FF2B5EF4-FFF2-40B4-BE49-F238E27FC236}">
                <a16:creationId xmlns:a16="http://schemas.microsoft.com/office/drawing/2014/main" id="{823A90DD-0D9A-4AC0-8658-93930114C263}"/>
              </a:ext>
            </a:extLst>
          </p:cNvPr>
          <p:cNvSpPr>
            <a:spLocks xmlns:a="http://schemas.openxmlformats.org/drawingml/2006/main" noGrp="1"/>
          </p:cNvSpPr>
          <p:nvPr/>
        </p:nvSpPr>
        <p:spPr>
          <a:xfrm xmlns:a="http://schemas.openxmlformats.org/drawingml/2006/main">
            <a:off x="7715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33" name="">
            <a:extLst xmlns:a="http://schemas.openxmlformats.org/drawingml/2006/main">
              <a:ext uri="{FF2B5EF4-FFF2-40B4-BE49-F238E27FC236}">
                <a16:creationId xmlns:a16="http://schemas.microsoft.com/office/drawing/2014/main" id="{52ADC4F3-9828-42CB-961E-47C9B105C192}"/>
              </a:ext>
            </a:extLst>
          </p:cNvPr>
          <p:cNvSpPr>
            <a:spLocks xmlns:a="http://schemas.openxmlformats.org/drawingml/2006/main" noGrp="1"/>
          </p:cNvSpPr>
          <p:nvPr/>
        </p:nvSpPr>
        <p:spPr>
          <a:xfrm xmlns:a="http://schemas.openxmlformats.org/drawingml/2006/main">
            <a:off x="7867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strong</a:t>
            </a:r>
          </a:p>
        </p:txBody>
      </p:sp>
      <p:sp>
        <p:nvSpPr>
          <p:cNvPr id="34" name="">
            <a:extLst xmlns:a="http://schemas.openxmlformats.org/drawingml/2006/main">
              <a:ext uri="{FF2B5EF4-FFF2-40B4-BE49-F238E27FC236}">
                <a16:creationId xmlns:a16="http://schemas.microsoft.com/office/drawing/2014/main" id="{BC48B5C3-0E52-4C57-A5F2-1D1A973A1278}"/>
              </a:ext>
            </a:extLst>
          </p:cNvPr>
          <p:cNvSpPr>
            <a:spLocks xmlns:a="http://schemas.openxmlformats.org/drawingml/2006/main" noGrp="1"/>
          </p:cNvSpPr>
          <p:nvPr/>
        </p:nvSpPr>
        <p:spPr>
          <a:xfrm xmlns:a="http://schemas.openxmlformats.org/drawingml/2006/main">
            <a:off x="7867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same-strain evidence</a:t>
            </a:r>
          </a:p>
        </p:txBody>
      </p:sp>
      <p:sp>
        <p:nvSpPr>
          <p:cNvPr id="35" name="">
            <a:extLst xmlns:a="http://schemas.openxmlformats.org/drawingml/2006/main">
              <a:ext uri="{FF2B5EF4-FFF2-40B4-BE49-F238E27FC236}">
                <a16:creationId xmlns:a16="http://schemas.microsoft.com/office/drawing/2014/main" id="{0EC70303-AEE4-44BC-B072-7554F6F8CEF6}"/>
              </a:ext>
            </a:extLst>
          </p:cNvPr>
          <p:cNvSpPr>
            <a:spLocks xmlns:a="http://schemas.openxmlformats.org/drawingml/2006/main" noGrp="1"/>
          </p:cNvSpPr>
          <p:nvPr/>
        </p:nvSpPr>
        <p:spPr>
          <a:xfrm xmlns:a="http://schemas.openxmlformats.org/drawingml/2006/main">
            <a:off x="762000" y="5257800"/>
            <a:ext cx="4953000" cy="742950"/>
          </a:xfrm>
          <a:prstGeom xmlns:a="http://schemas.openxmlformats.org/drawingml/2006/main" prst="roundRect">
            <a:avLst>
              <a:gd name="adj" fmla="val 10256"/>
            </a:avLst>
          </a:prstGeom>
          <a:solidFill xmlns:a="http://schemas.openxmlformats.org/drawingml/2006/main">
            <a:srgbClr val="F8FAFC"/>
          </a:solidFill>
          <a:ln xmlns:a="http://schemas.openxmlformats.org/drawingml/2006/main" w="9525">
            <a:solidFill>
              <a:srgbClr val="CBD5E1"/>
            </a:solidFill>
            <a:prstDash val="solid"/>
          </a:ln>
        </p:spPr>
      </p:sp>
      <p:sp>
        <p:nvSpPr>
          <p:cNvPr id="36" name="">
            <a:extLst xmlns:a="http://schemas.openxmlformats.org/drawingml/2006/main">
              <a:ext uri="{FF2B5EF4-FFF2-40B4-BE49-F238E27FC236}">
                <a16:creationId xmlns:a16="http://schemas.microsoft.com/office/drawing/2014/main" id="{741D6A71-4C8F-4CB7-88E7-CC6CF21B7067}"/>
              </a:ext>
            </a:extLst>
          </p:cNvPr>
          <p:cNvSpPr>
            <a:spLocks xmlns:a="http://schemas.openxmlformats.org/drawingml/2006/main" noGrp="1"/>
          </p:cNvSpPr>
          <p:nvPr/>
        </p:nvSpPr>
        <p:spPr>
          <a:xfrm xmlns:a="http://schemas.openxmlformats.org/drawingml/2006/main">
            <a:off x="933450" y="542925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827"/>
                </a:solidFill>
                <a:latin typeface="Aptos"/>
                <a:ea typeface="Aptos"/>
                <a:cs typeface="Aptos"/>
              </a:defRPr>
            </a:pPr>
            <a:r>
              <a:rPr sz="1050" b="1">
                <a:solidFill>
                  <a:srgbClr val="111827"/>
                </a:solidFill>
                <a:latin typeface="Aptos"/>
                <a:ea typeface="Aptos"/>
                <a:cs typeface="Aptos"/>
              </a:rPr>
              <a:t>Transition casebook context</a:t>
            </a:r>
          </a:p>
        </p:txBody>
      </p:sp>
      <p:sp>
        <p:nvSpPr>
          <p:cNvPr id="37" name="">
            <a:extLst xmlns:a="http://schemas.openxmlformats.org/drawingml/2006/main">
              <a:ext uri="{FF2B5EF4-FFF2-40B4-BE49-F238E27FC236}">
                <a16:creationId xmlns:a16="http://schemas.microsoft.com/office/drawing/2014/main" id="{3628E1C5-3CC5-4BDE-A5A2-1D1AF7B68231}"/>
              </a:ext>
            </a:extLst>
          </p:cNvPr>
          <p:cNvSpPr>
            <a:spLocks xmlns:a="http://schemas.openxmlformats.org/drawingml/2006/main" noGrp="1"/>
          </p:cNvSpPr>
          <p:nvPr/>
        </p:nvSpPr>
        <p:spPr>
          <a:xfrm xmlns:a="http://schemas.openxmlformats.org/drawingml/2006/main">
            <a:off x="933450" y="5715000"/>
            <a:ext cx="4610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11 clinical Not_UTI -&gt; UTI transitions; 10 WGS/VF-linked; 1 missing endpoint.</a:t>
            </a:r>
          </a:p>
        </p:txBody>
      </p:sp>
      <p:sp>
        <p:nvSpPr>
          <p:cNvPr id="38" name="">
            <a:extLst xmlns:a="http://schemas.openxmlformats.org/drawingml/2006/main">
              <a:ext uri="{FF2B5EF4-FFF2-40B4-BE49-F238E27FC236}">
                <a16:creationId xmlns:a16="http://schemas.microsoft.com/office/drawing/2014/main" id="{08BEA645-B446-4B2F-8BF6-D80A65A162CA}"/>
              </a:ext>
            </a:extLst>
          </p:cNvPr>
          <p:cNvSpPr>
            <a:spLocks xmlns:a="http://schemas.openxmlformats.org/drawingml/2006/main" noGrp="1"/>
          </p:cNvSpPr>
          <p:nvPr/>
        </p:nvSpPr>
        <p:spPr>
          <a:xfrm xmlns:a="http://schemas.openxmlformats.org/drawingml/2006/main">
            <a:off x="6191250" y="5257800"/>
            <a:ext cx="4953000" cy="742950"/>
          </a:xfrm>
          <a:prstGeom xmlns:a="http://schemas.openxmlformats.org/drawingml/2006/main" prst="roundRect">
            <a:avLst>
              <a:gd name="adj" fmla="val 10256"/>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2975A734-B326-4CBD-A40C-B78395BBDFED}"/>
              </a:ext>
            </a:extLst>
          </p:cNvPr>
          <p:cNvSpPr>
            <a:spLocks xmlns:a="http://schemas.openxmlformats.org/drawingml/2006/main" noGrp="1"/>
          </p:cNvSpPr>
          <p:nvPr/>
        </p:nvSpPr>
        <p:spPr>
          <a:xfrm xmlns:a="http://schemas.openxmlformats.org/drawingml/2006/main">
            <a:off x="6362700" y="542925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827"/>
                </a:solidFill>
                <a:latin typeface="Aptos"/>
                <a:ea typeface="Aptos"/>
                <a:cs typeface="Aptos"/>
              </a:defRPr>
            </a:pPr>
            <a:r>
              <a:rPr sz="1050" b="1">
                <a:solidFill>
                  <a:srgbClr val="111827"/>
                </a:solidFill>
                <a:latin typeface="Aptos"/>
                <a:ea typeface="Aptos"/>
                <a:cs typeface="Aptos"/>
              </a:rPr>
              <a:t>Mechanism summary</a:t>
            </a:r>
          </a:p>
        </p:txBody>
      </p:sp>
      <p:sp>
        <p:nvSpPr>
          <p:cNvPr id="40" name="">
            <a:extLst xmlns:a="http://schemas.openxmlformats.org/drawingml/2006/main">
              <a:ext uri="{FF2B5EF4-FFF2-40B4-BE49-F238E27FC236}">
                <a16:creationId xmlns:a16="http://schemas.microsoft.com/office/drawing/2014/main" id="{E28BE378-C454-409B-9C8F-BE50AA8B96D9}"/>
              </a:ext>
            </a:extLst>
          </p:cNvPr>
          <p:cNvSpPr>
            <a:spLocks xmlns:a="http://schemas.openxmlformats.org/drawingml/2006/main" noGrp="1"/>
          </p:cNvSpPr>
          <p:nvPr/>
        </p:nvSpPr>
        <p:spPr>
          <a:xfrm xmlns:a="http://schemas.openxmlformats.org/drawingml/2006/main">
            <a:off x="6362700" y="5715000"/>
            <a:ext cx="4610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4 stable-profile transitions and 3 replacement-consistent transitions; buckets organise evidence, not mechanism proof.</a:t>
            </a:r>
          </a:p>
        </p:txBody>
      </p:sp>
    </p:spTree>
    <p:extLst>
      <p:ext uri="{BB962C8B-B14F-4D97-AF65-F5344CB8AC3E}">
        <p14:creationId xmlns:p14="http://schemas.microsoft.com/office/powerpoint/2010/main" val="117840038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AB6DE65-2A75-4DD0-8EF8-DA6F5FDEBB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EC9C5E8-D2BE-4FF8-85D3-856881C5C08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27281F6-6DF2-4E6D-B15E-0E5A1C195E24}"/>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CLOSE</a:t>
            </a:r>
          </a:p>
        </p:txBody>
      </p:sp>
      <p:sp>
        <p:nvSpPr>
          <p:cNvPr id="4" name="">
            <a:extLst xmlns:a="http://schemas.openxmlformats.org/drawingml/2006/main">
              <a:ext uri="{FF2B5EF4-FFF2-40B4-BE49-F238E27FC236}">
                <a16:creationId xmlns:a16="http://schemas.microsoft.com/office/drawing/2014/main" id="{F5BC7BD4-B234-4200-9B7A-F0468F8B5E2D}"/>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What this VF-first review establishes and what remains uncertain</a:t>
            </a:r>
          </a:p>
        </p:txBody>
      </p:sp>
      <p:sp>
        <p:nvSpPr>
          <p:cNvPr id="5" name="">
            <a:extLst xmlns:a="http://schemas.openxmlformats.org/drawingml/2006/main">
              <a:ext uri="{FF2B5EF4-FFF2-40B4-BE49-F238E27FC236}">
                <a16:creationId xmlns:a16="http://schemas.microsoft.com/office/drawing/2014/main" id="{B26D8AF3-6B54-437E-9329-714DEB77B587}"/>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Use these as discussion prompts and handover priorities.</a:t>
            </a:r>
          </a:p>
        </p:txBody>
      </p:sp>
      <p:sp>
        <p:nvSpPr>
          <p:cNvPr id="6" name="">
            <a:extLst xmlns:a="http://schemas.openxmlformats.org/drawingml/2006/main">
              <a:ext uri="{FF2B5EF4-FFF2-40B4-BE49-F238E27FC236}">
                <a16:creationId xmlns:a16="http://schemas.microsoft.com/office/drawing/2014/main" id="{380E68EB-1886-46CD-8BC3-3C9900A4FFBE}"/>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6674D909-00DE-4C37-BC21-0B214058A840}"/>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864B295-A12F-435D-B744-7CC229D8A4DC}"/>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E69B1FA4-9D97-446B-9A7F-61CD25DF017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13</a:t>
            </a:r>
          </a:p>
        </p:txBody>
      </p:sp>
      <p:sp>
        <p:nvSpPr>
          <p:cNvPr id="10" name="">
            <a:extLst xmlns:a="http://schemas.openxmlformats.org/drawingml/2006/main">
              <a:ext uri="{FF2B5EF4-FFF2-40B4-BE49-F238E27FC236}">
                <a16:creationId xmlns:a16="http://schemas.microsoft.com/office/drawing/2014/main" id="{779929CB-49EB-4EBC-8B12-36C597BF8317}"/>
              </a:ext>
            </a:extLst>
          </p:cNvPr>
          <p:cNvSpPr>
            <a:spLocks xmlns:a="http://schemas.openxmlformats.org/drawingml/2006/main" noGrp="1"/>
          </p:cNvSpPr>
          <p:nvPr/>
        </p:nvSpPr>
        <p:spPr>
          <a:xfrm xmlns:a="http://schemas.openxmlformats.org/drawingml/2006/main">
            <a:off x="781050" y="1752600"/>
            <a:ext cx="3143250" cy="2819400"/>
          </a:xfrm>
          <a:prstGeom xmlns:a="http://schemas.openxmlformats.org/drawingml/2006/main" prst="roundRect">
            <a:avLst>
              <a:gd name="adj" fmla="val 2703"/>
            </a:avLst>
          </a:prstGeom>
          <a:solidFill xmlns:a="http://schemas.openxmlformats.org/drawingml/2006/main">
            <a:srgbClr val="E8F1FA"/>
          </a:solidFill>
          <a:ln xmlns:a="http://schemas.openxmlformats.org/drawingml/2006/main" w="9525">
            <a:solidFill>
              <a:srgbClr val="B9D5F0"/>
            </a:solidFill>
            <a:prstDash val="solid"/>
          </a:ln>
        </p:spPr>
      </p:sp>
      <p:sp>
        <p:nvSpPr>
          <p:cNvPr id="11" name="">
            <a:extLst xmlns:a="http://schemas.openxmlformats.org/drawingml/2006/main">
              <a:ext uri="{FF2B5EF4-FFF2-40B4-BE49-F238E27FC236}">
                <a16:creationId xmlns:a16="http://schemas.microsoft.com/office/drawing/2014/main" id="{FD5B222A-8293-4967-A2CD-181335DD5DA2}"/>
              </a:ext>
            </a:extLst>
          </p:cNvPr>
          <p:cNvSpPr>
            <a:spLocks xmlns:a="http://schemas.openxmlformats.org/drawingml/2006/main" noGrp="1"/>
          </p:cNvSpPr>
          <p:nvPr/>
        </p:nvSpPr>
        <p:spPr>
          <a:xfrm xmlns:a="http://schemas.openxmlformats.org/drawingml/2006/main">
            <a:off x="9525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B6CB0"/>
                </a:solidFill>
                <a:latin typeface="Aptos"/>
                <a:ea typeface="Aptos"/>
                <a:cs typeface="Aptos"/>
              </a:defRPr>
            </a:pPr>
            <a:r>
              <a:rPr sz="1350" b="1">
                <a:solidFill>
                  <a:srgbClr val="2B6CB0"/>
                </a:solidFill>
                <a:latin typeface="Aptos"/>
                <a:ea typeface="Aptos"/>
                <a:cs typeface="Aptos"/>
              </a:rPr>
              <a:t>Evidence</a:t>
            </a:r>
          </a:p>
        </p:txBody>
      </p:sp>
      <p:sp>
        <p:nvSpPr>
          <p:cNvPr id="12" name="">
            <a:extLst xmlns:a="http://schemas.openxmlformats.org/drawingml/2006/main">
              <a:ext uri="{FF2B5EF4-FFF2-40B4-BE49-F238E27FC236}">
                <a16:creationId xmlns:a16="http://schemas.microsoft.com/office/drawing/2014/main" id="{CEA3E7F5-582E-4367-8361-A2EC5BB216F8}"/>
              </a:ext>
            </a:extLst>
          </p:cNvPr>
          <p:cNvSpPr>
            <a:spLocks xmlns:a="http://schemas.openxmlformats.org/drawingml/2006/main" noGrp="1"/>
          </p:cNvSpPr>
          <p:nvPr/>
        </p:nvSpPr>
        <p:spPr>
          <a:xfrm xmlns:a="http://schemas.openxmlformats.org/drawingml/2006/main">
            <a:off x="9525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The current pipeline produces a coherent VF-ready longitudinal dataset: 556 isolate profiles, 227 VF gene columns, 32 modules, and 394 consecutive within-resident comparisons.</a:t>
            </a:r>
          </a:p>
        </p:txBody>
      </p:sp>
      <p:sp>
        <p:nvSpPr>
          <p:cNvPr id="13" name="">
            <a:extLst xmlns:a="http://schemas.openxmlformats.org/drawingml/2006/main">
              <a:ext uri="{FF2B5EF4-FFF2-40B4-BE49-F238E27FC236}">
                <a16:creationId xmlns:a16="http://schemas.microsoft.com/office/drawing/2014/main" id="{55C9A0FD-0724-4F2D-A2A0-4F7C4ACBEFFF}"/>
              </a:ext>
            </a:extLst>
          </p:cNvPr>
          <p:cNvSpPr>
            <a:spLocks xmlns:a="http://schemas.openxmlformats.org/drawingml/2006/main" noGrp="1"/>
          </p:cNvSpPr>
          <p:nvPr/>
        </p:nvSpPr>
        <p:spPr>
          <a:xfrm xmlns:a="http://schemas.openxmlformats.org/drawingml/2006/main">
            <a:off x="4514850" y="1752600"/>
            <a:ext cx="3143250" cy="2819400"/>
          </a:xfrm>
          <a:prstGeom xmlns:a="http://schemas.openxmlformats.org/drawingml/2006/main" prst="roundRect">
            <a:avLst>
              <a:gd name="adj" fmla="val 2703"/>
            </a:avLst>
          </a:prstGeom>
          <a:solidFill xmlns:a="http://schemas.openxmlformats.org/drawingml/2006/main">
            <a:srgbClr val="FFF4E6"/>
          </a:solidFill>
          <a:ln xmlns:a="http://schemas.openxmlformats.org/drawingml/2006/main" w="9525">
            <a:solidFill>
              <a:srgbClr val="F4C98A"/>
            </a:solidFill>
            <a:prstDash val="solid"/>
          </a:ln>
        </p:spPr>
      </p:sp>
      <p:sp>
        <p:nvSpPr>
          <p:cNvPr id="14" name="">
            <a:extLst xmlns:a="http://schemas.openxmlformats.org/drawingml/2006/main">
              <a:ext uri="{FF2B5EF4-FFF2-40B4-BE49-F238E27FC236}">
                <a16:creationId xmlns:a16="http://schemas.microsoft.com/office/drawing/2014/main" id="{00C771FF-59EB-4017-B747-815E78F1CD5B}"/>
              </a:ext>
            </a:extLst>
          </p:cNvPr>
          <p:cNvSpPr>
            <a:spLocks xmlns:a="http://schemas.openxmlformats.org/drawingml/2006/main" noGrp="1"/>
          </p:cNvSpPr>
          <p:nvPr/>
        </p:nvSpPr>
        <p:spPr>
          <a:xfrm xmlns:a="http://schemas.openxmlformats.org/drawingml/2006/main">
            <a:off x="46863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Boundary</a:t>
            </a:r>
          </a:p>
        </p:txBody>
      </p:sp>
      <p:sp>
        <p:nvSpPr>
          <p:cNvPr id="15" name="">
            <a:extLst xmlns:a="http://schemas.openxmlformats.org/drawingml/2006/main">
              <a:ext uri="{FF2B5EF4-FFF2-40B4-BE49-F238E27FC236}">
                <a16:creationId xmlns:a16="http://schemas.microsoft.com/office/drawing/2014/main" id="{8F2A2C42-176D-4C09-81D5-9C92CADD5187}"/>
              </a:ext>
            </a:extLst>
          </p:cNvPr>
          <p:cNvSpPr>
            <a:spLocks xmlns:a="http://schemas.openxmlformats.org/drawingml/2006/main" noGrp="1"/>
          </p:cNvSpPr>
          <p:nvPr/>
        </p:nvSpPr>
        <p:spPr>
          <a:xfrm xmlns:a="http://schemas.openxmlformats.org/drawingml/2006/main">
            <a:off x="46863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VF profiles are often stable, but presence/absence does not measure expression or activity. Clinical status associations are exploratory because UTI counts are sparse.</a:t>
            </a:r>
          </a:p>
        </p:txBody>
      </p:sp>
      <p:sp>
        <p:nvSpPr>
          <p:cNvPr id="16" name="">
            <a:extLst xmlns:a="http://schemas.openxmlformats.org/drawingml/2006/main">
              <a:ext uri="{FF2B5EF4-FFF2-40B4-BE49-F238E27FC236}">
                <a16:creationId xmlns:a16="http://schemas.microsoft.com/office/drawing/2014/main" id="{71B9C77F-A34A-4EC9-A052-29590F4426CC}"/>
              </a:ext>
            </a:extLst>
          </p:cNvPr>
          <p:cNvSpPr>
            <a:spLocks xmlns:a="http://schemas.openxmlformats.org/drawingml/2006/main" noGrp="1"/>
          </p:cNvSpPr>
          <p:nvPr/>
        </p:nvSpPr>
        <p:spPr>
          <a:xfrm xmlns:a="http://schemas.openxmlformats.org/drawingml/2006/main">
            <a:off x="8248650" y="1752600"/>
            <a:ext cx="3143250" cy="2819400"/>
          </a:xfrm>
          <a:prstGeom xmlns:a="http://schemas.openxmlformats.org/drawingml/2006/main" prst="roundRect">
            <a:avLst>
              <a:gd name="adj" fmla="val 2703"/>
            </a:avLst>
          </a:prstGeom>
          <a:solidFill xmlns:a="http://schemas.openxmlformats.org/drawingml/2006/main">
            <a:srgbClr val="EAF7EF"/>
          </a:solidFill>
          <a:ln xmlns:a="http://schemas.openxmlformats.org/drawingml/2006/main" w="9525">
            <a:solidFill>
              <a:srgbClr val="BCE4C9"/>
            </a:solidFill>
            <a:prstDash val="solid"/>
          </a:ln>
        </p:spPr>
      </p:sp>
      <p:sp>
        <p:nvSpPr>
          <p:cNvPr id="17" name="">
            <a:extLst xmlns:a="http://schemas.openxmlformats.org/drawingml/2006/main">
              <a:ext uri="{FF2B5EF4-FFF2-40B4-BE49-F238E27FC236}">
                <a16:creationId xmlns:a16="http://schemas.microsoft.com/office/drawing/2014/main" id="{51C60774-FD1B-4C04-BB29-1D5720846A80}"/>
              </a:ext>
            </a:extLst>
          </p:cNvPr>
          <p:cNvSpPr>
            <a:spLocks xmlns:a="http://schemas.openxmlformats.org/drawingml/2006/main" noGrp="1"/>
          </p:cNvSpPr>
          <p:nvPr/>
        </p:nvSpPr>
        <p:spPr>
          <a:xfrm xmlns:a="http://schemas.openxmlformats.org/drawingml/2006/main">
            <a:off x="84201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855A"/>
                </a:solidFill>
                <a:latin typeface="Aptos"/>
                <a:ea typeface="Aptos"/>
                <a:cs typeface="Aptos"/>
              </a:defRPr>
            </a:pPr>
            <a:r>
              <a:rPr sz="1350" b="1">
                <a:solidFill>
                  <a:srgbClr val="2F855A"/>
                </a:solidFill>
                <a:latin typeface="Aptos"/>
                <a:ea typeface="Aptos"/>
                <a:cs typeface="Aptos"/>
              </a:rPr>
              <a:t>Next steps</a:t>
            </a:r>
          </a:p>
        </p:txBody>
      </p:sp>
      <p:sp>
        <p:nvSpPr>
          <p:cNvPr id="18" name="">
            <a:extLst xmlns:a="http://schemas.openxmlformats.org/drawingml/2006/main">
              <a:ext uri="{FF2B5EF4-FFF2-40B4-BE49-F238E27FC236}">
                <a16:creationId xmlns:a16="http://schemas.microsoft.com/office/drawing/2014/main" id="{B9BC4995-7120-411B-B146-A1A7C9C43829}"/>
              </a:ext>
            </a:extLst>
          </p:cNvPr>
          <p:cNvSpPr>
            <a:spLocks xmlns:a="http://schemas.openxmlformats.org/drawingml/2006/main" noGrp="1"/>
          </p:cNvSpPr>
          <p:nvPr/>
        </p:nvSpPr>
        <p:spPr>
          <a:xfrm xmlns:a="http://schemas.openxmlformats.org/drawingml/2006/main">
            <a:off x="84201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Use the pipeline outputs to prioritise lineage-aware longitudinal follow-up, expression/regulation hypotheses, and targeted review of transition case studies.</a:t>
            </a:r>
          </a:p>
        </p:txBody>
      </p:sp>
      <p:sp>
        <p:nvSpPr>
          <p:cNvPr id="19" name="">
            <a:extLst xmlns:a="http://schemas.openxmlformats.org/drawingml/2006/main">
              <a:ext uri="{FF2B5EF4-FFF2-40B4-BE49-F238E27FC236}">
                <a16:creationId xmlns:a16="http://schemas.microsoft.com/office/drawing/2014/main" id="{5A53A5AA-64E6-4B68-ADEC-FFEC421B2781}"/>
              </a:ext>
            </a:extLst>
          </p:cNvPr>
          <p:cNvSpPr>
            <a:spLocks xmlns:a="http://schemas.openxmlformats.org/drawingml/2006/main" noGrp="1"/>
          </p:cNvSpPr>
          <p:nvPr/>
        </p:nvSpPr>
        <p:spPr>
          <a:xfrm xmlns:a="http://schemas.openxmlformats.org/drawingml/2006/main">
            <a:off x="952500" y="5143500"/>
            <a:ext cx="10287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11827"/>
                </a:solidFill>
                <a:latin typeface="Aptos"/>
                <a:ea typeface="Aptos"/>
                <a:cs typeface="Aptos"/>
              </a:defRPr>
            </a:pPr>
            <a:r>
              <a:rPr sz="1350" b="1">
                <a:solidFill>
                  <a:srgbClr val="111827"/>
                </a:solidFill>
                <a:latin typeface="Aptos"/>
                <a:ea typeface="Aptos"/>
                <a:cs typeface="Aptos"/>
              </a:rPr>
              <a:t>Main discussion question: what additional evidence would distinguish stable carriage plus host-state change from unmeasured bacterial regulation?</a:t>
            </a:r>
          </a:p>
        </p:txBody>
      </p:sp>
    </p:spTree>
    <p:extLst>
      <p:ext uri="{BB962C8B-B14F-4D97-AF65-F5344CB8AC3E}">
        <p14:creationId xmlns:p14="http://schemas.microsoft.com/office/powerpoint/2010/main" val="159005146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34478A1-EF90-441C-8A74-E1117DCA61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B9568B3-7B97-41FD-A7DF-B3966495771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4CE4FAC-6B19-4E7A-A256-1FC1E7BCD03E}"/>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 / HANDOVER</a:t>
            </a:r>
          </a:p>
        </p:txBody>
      </p:sp>
      <p:sp>
        <p:nvSpPr>
          <p:cNvPr id="4" name="">
            <a:extLst xmlns:a="http://schemas.openxmlformats.org/drawingml/2006/main">
              <a:ext uri="{FF2B5EF4-FFF2-40B4-BE49-F238E27FC236}">
                <a16:creationId xmlns:a16="http://schemas.microsoft.com/office/drawing/2014/main" id="{E4316342-8147-417E-9EB3-803AA94B80B8}"/>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Practical map: where to enter and rerun the VF pipeline</a:t>
            </a:r>
          </a:p>
        </p:txBody>
      </p:sp>
      <p:sp>
        <p:nvSpPr>
          <p:cNvPr id="5" name="">
            <a:extLst xmlns:a="http://schemas.openxmlformats.org/drawingml/2006/main">
              <a:ext uri="{FF2B5EF4-FFF2-40B4-BE49-F238E27FC236}">
                <a16:creationId xmlns:a16="http://schemas.microsoft.com/office/drawing/2014/main" id="{6F792F76-862A-4847-A0A4-E08BDECAEC1A}"/>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Keep this as the operational handover slide for the colleague.</a:t>
            </a:r>
          </a:p>
        </p:txBody>
      </p:sp>
      <p:sp>
        <p:nvSpPr>
          <p:cNvPr id="6" name="">
            <a:extLst xmlns:a="http://schemas.openxmlformats.org/drawingml/2006/main">
              <a:ext uri="{FF2B5EF4-FFF2-40B4-BE49-F238E27FC236}">
                <a16:creationId xmlns:a16="http://schemas.microsoft.com/office/drawing/2014/main" id="{88881D82-9320-4721-A79E-5B1E98E40B30}"/>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6E256033-3169-4415-A124-3B3A85E0522A}"/>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4472198-7DAC-420A-B2DE-BC876031D374}"/>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6E8FE961-5A56-4496-9A08-C488B2B28815}"/>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14</a:t>
            </a:r>
          </a:p>
        </p:txBody>
      </p:sp>
      <p:sp>
        <p:nvSpPr>
          <p:cNvPr id="10" name="">
            <a:extLst xmlns:a="http://schemas.openxmlformats.org/drawingml/2006/main">
              <a:ext uri="{FF2B5EF4-FFF2-40B4-BE49-F238E27FC236}">
                <a16:creationId xmlns:a16="http://schemas.microsoft.com/office/drawing/2014/main" id="{6FFD5A20-5A20-4256-A015-E1C9A7640132}"/>
              </a:ext>
            </a:extLst>
          </p:cNvPr>
          <p:cNvSpPr>
            <a:spLocks xmlns:a="http://schemas.openxmlformats.org/drawingml/2006/main" noGrp="1"/>
          </p:cNvSpPr>
          <p:nvPr/>
        </p:nvSpPr>
        <p:spPr>
          <a:xfrm xmlns:a="http://schemas.openxmlformats.org/drawingml/2006/main">
            <a:off x="723900" y="15621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11" name="">
            <a:extLst xmlns:a="http://schemas.openxmlformats.org/drawingml/2006/main">
              <a:ext uri="{FF2B5EF4-FFF2-40B4-BE49-F238E27FC236}">
                <a16:creationId xmlns:a16="http://schemas.microsoft.com/office/drawing/2014/main" id="{8D1B0082-CAE1-4F4D-AA8B-345C43CF35D0}"/>
              </a:ext>
            </a:extLst>
          </p:cNvPr>
          <p:cNvSpPr>
            <a:spLocks xmlns:a="http://schemas.openxmlformats.org/drawingml/2006/main" noGrp="1"/>
          </p:cNvSpPr>
          <p:nvPr/>
        </p:nvSpPr>
        <p:spPr>
          <a:xfrm xmlns:a="http://schemas.openxmlformats.org/drawingml/2006/main">
            <a:off x="914400" y="16478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Clinical key</a:t>
            </a:r>
          </a:p>
        </p:txBody>
      </p:sp>
      <p:sp>
        <p:nvSpPr>
          <p:cNvPr id="12" name="">
            <a:extLst xmlns:a="http://schemas.openxmlformats.org/drawingml/2006/main">
              <a:ext uri="{FF2B5EF4-FFF2-40B4-BE49-F238E27FC236}">
                <a16:creationId xmlns:a16="http://schemas.microsoft.com/office/drawing/2014/main" id="{D0F21A38-771B-4D1B-88EF-3A6730358D60}"/>
              </a:ext>
            </a:extLst>
          </p:cNvPr>
          <p:cNvSpPr>
            <a:spLocks xmlns:a="http://schemas.openxmlformats.org/drawingml/2006/main" noGrp="1"/>
          </p:cNvSpPr>
          <p:nvPr/>
        </p:nvSpPr>
        <p:spPr>
          <a:xfrm xmlns:a="http://schemas.openxmlformats.org/drawingml/2006/main">
            <a:off x="2571750" y="16478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results/clinical/status_map.csv</a:t>
            </a:r>
          </a:p>
        </p:txBody>
      </p:sp>
      <p:sp>
        <p:nvSpPr>
          <p:cNvPr id="13" name="">
            <a:extLst xmlns:a="http://schemas.openxmlformats.org/drawingml/2006/main">
              <a:ext uri="{FF2B5EF4-FFF2-40B4-BE49-F238E27FC236}">
                <a16:creationId xmlns:a16="http://schemas.microsoft.com/office/drawing/2014/main" id="{7BF80989-6499-497D-8CA2-7A953D53349F}"/>
              </a:ext>
            </a:extLst>
          </p:cNvPr>
          <p:cNvSpPr>
            <a:spLocks xmlns:a="http://schemas.openxmlformats.org/drawingml/2006/main" noGrp="1"/>
          </p:cNvSpPr>
          <p:nvPr/>
        </p:nvSpPr>
        <p:spPr>
          <a:xfrm xmlns:a="http://schemas.openxmlformats.org/drawingml/2006/main">
            <a:off x="6191250" y="16478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Primary UTI_Status annotation and audit fields</a:t>
            </a:r>
          </a:p>
        </p:txBody>
      </p:sp>
      <p:sp>
        <p:nvSpPr>
          <p:cNvPr id="14" name="">
            <a:extLst xmlns:a="http://schemas.openxmlformats.org/drawingml/2006/main">
              <a:ext uri="{FF2B5EF4-FFF2-40B4-BE49-F238E27FC236}">
                <a16:creationId xmlns:a16="http://schemas.microsoft.com/office/drawing/2014/main" id="{A4825B56-8BAB-45AA-B6E1-310B36EF224C}"/>
              </a:ext>
            </a:extLst>
          </p:cNvPr>
          <p:cNvSpPr>
            <a:spLocks xmlns:a="http://schemas.openxmlformats.org/drawingml/2006/main" noGrp="1"/>
          </p:cNvSpPr>
          <p:nvPr/>
        </p:nvSpPr>
        <p:spPr>
          <a:xfrm xmlns:a="http://schemas.openxmlformats.org/drawingml/2006/main">
            <a:off x="723900" y="21717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15" name="">
            <a:extLst xmlns:a="http://schemas.openxmlformats.org/drawingml/2006/main">
              <a:ext uri="{FF2B5EF4-FFF2-40B4-BE49-F238E27FC236}">
                <a16:creationId xmlns:a16="http://schemas.microsoft.com/office/drawing/2014/main" id="{F556F882-1577-48C1-B1AC-104190180CD3}"/>
              </a:ext>
            </a:extLst>
          </p:cNvPr>
          <p:cNvSpPr>
            <a:spLocks xmlns:a="http://schemas.openxmlformats.org/drawingml/2006/main" noGrp="1"/>
          </p:cNvSpPr>
          <p:nvPr/>
        </p:nvSpPr>
        <p:spPr>
          <a:xfrm xmlns:a="http://schemas.openxmlformats.org/drawingml/2006/main">
            <a:off x="914400" y="22574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VF matrix</a:t>
            </a:r>
          </a:p>
        </p:txBody>
      </p:sp>
      <p:sp>
        <p:nvSpPr>
          <p:cNvPr id="16" name="">
            <a:extLst xmlns:a="http://schemas.openxmlformats.org/drawingml/2006/main">
              <a:ext uri="{FF2B5EF4-FFF2-40B4-BE49-F238E27FC236}">
                <a16:creationId xmlns:a16="http://schemas.microsoft.com/office/drawing/2014/main" id="{5963A711-5460-475A-9080-E2455A341B36}"/>
              </a:ext>
            </a:extLst>
          </p:cNvPr>
          <p:cNvSpPr>
            <a:spLocks xmlns:a="http://schemas.openxmlformats.org/drawingml/2006/main" noGrp="1"/>
          </p:cNvSpPr>
          <p:nvPr/>
        </p:nvSpPr>
        <p:spPr>
          <a:xfrm xmlns:a="http://schemas.openxmlformats.org/drawingml/2006/main">
            <a:off x="2571750" y="22574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results/vf/vf_pa_all.csv</a:t>
            </a:r>
          </a:p>
        </p:txBody>
      </p:sp>
      <p:sp>
        <p:nvSpPr>
          <p:cNvPr id="17" name="">
            <a:extLst xmlns:a="http://schemas.openxmlformats.org/drawingml/2006/main">
              <a:ext uri="{FF2B5EF4-FFF2-40B4-BE49-F238E27FC236}">
                <a16:creationId xmlns:a16="http://schemas.microsoft.com/office/drawing/2014/main" id="{A86196A8-EE0A-48EE-A736-373B89A25664}"/>
              </a:ext>
            </a:extLst>
          </p:cNvPr>
          <p:cNvSpPr>
            <a:spLocks xmlns:a="http://schemas.openxmlformats.org/drawingml/2006/main" noGrp="1"/>
          </p:cNvSpPr>
          <p:nvPr/>
        </p:nvSpPr>
        <p:spPr>
          <a:xfrm xmlns:a="http://schemas.openxmlformats.org/drawingml/2006/main">
            <a:off x="6191250" y="22574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Episode-level gene presence/absence rows</a:t>
            </a:r>
          </a:p>
        </p:txBody>
      </p:sp>
      <p:sp>
        <p:nvSpPr>
          <p:cNvPr id="18" name="">
            <a:extLst xmlns:a="http://schemas.openxmlformats.org/drawingml/2006/main">
              <a:ext uri="{FF2B5EF4-FFF2-40B4-BE49-F238E27FC236}">
                <a16:creationId xmlns:a16="http://schemas.microsoft.com/office/drawing/2014/main" id="{354DAE15-F6BE-4431-AC3B-F17754B322B2}"/>
              </a:ext>
            </a:extLst>
          </p:cNvPr>
          <p:cNvSpPr>
            <a:spLocks xmlns:a="http://schemas.openxmlformats.org/drawingml/2006/main" noGrp="1"/>
          </p:cNvSpPr>
          <p:nvPr/>
        </p:nvSpPr>
        <p:spPr>
          <a:xfrm xmlns:a="http://schemas.openxmlformats.org/drawingml/2006/main">
            <a:off x="723900" y="27813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19" name="">
            <a:extLst xmlns:a="http://schemas.openxmlformats.org/drawingml/2006/main">
              <a:ext uri="{FF2B5EF4-FFF2-40B4-BE49-F238E27FC236}">
                <a16:creationId xmlns:a16="http://schemas.microsoft.com/office/drawing/2014/main" id="{43D0F373-E664-4E76-9BDF-A738B1FBA5A3}"/>
              </a:ext>
            </a:extLst>
          </p:cNvPr>
          <p:cNvSpPr>
            <a:spLocks xmlns:a="http://schemas.openxmlformats.org/drawingml/2006/main" noGrp="1"/>
          </p:cNvSpPr>
          <p:nvPr/>
        </p:nvSpPr>
        <p:spPr>
          <a:xfrm xmlns:a="http://schemas.openxmlformats.org/drawingml/2006/main">
            <a:off x="914400" y="28670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Analysis dataset</a:t>
            </a:r>
          </a:p>
        </p:txBody>
      </p:sp>
      <p:sp>
        <p:nvSpPr>
          <p:cNvPr id="20" name="">
            <a:extLst xmlns:a="http://schemas.openxmlformats.org/drawingml/2006/main">
              <a:ext uri="{FF2B5EF4-FFF2-40B4-BE49-F238E27FC236}">
                <a16:creationId xmlns:a16="http://schemas.microsoft.com/office/drawing/2014/main" id="{93E0AB9C-30C4-4CDA-83C1-018FC14518BB}"/>
              </a:ext>
            </a:extLst>
          </p:cNvPr>
          <p:cNvSpPr>
            <a:spLocks xmlns:a="http://schemas.openxmlformats.org/drawingml/2006/main" noGrp="1"/>
          </p:cNvSpPr>
          <p:nvPr/>
        </p:nvSpPr>
        <p:spPr>
          <a:xfrm xmlns:a="http://schemas.openxmlformats.org/drawingml/2006/main">
            <a:off x="2571750" y="28670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results/vf/vf_analysis_ready.csv</a:t>
            </a:r>
          </a:p>
        </p:txBody>
      </p:sp>
      <p:sp>
        <p:nvSpPr>
          <p:cNvPr id="21" name="">
            <a:extLst xmlns:a="http://schemas.openxmlformats.org/drawingml/2006/main">
              <a:ext uri="{FF2B5EF4-FFF2-40B4-BE49-F238E27FC236}">
                <a16:creationId xmlns:a16="http://schemas.microsoft.com/office/drawing/2014/main" id="{C08FAF28-396D-4F28-8871-D540BB6CA152}"/>
              </a:ext>
            </a:extLst>
          </p:cNvPr>
          <p:cNvSpPr>
            <a:spLocks xmlns:a="http://schemas.openxmlformats.org/drawingml/2006/main" noGrp="1"/>
          </p:cNvSpPr>
          <p:nvPr/>
        </p:nvSpPr>
        <p:spPr>
          <a:xfrm xmlns:a="http://schemas.openxmlformats.org/drawingml/2006/main">
            <a:off x="6191250" y="28670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Canonical 556-row VF/model-ready table</a:t>
            </a:r>
          </a:p>
        </p:txBody>
      </p:sp>
      <p:sp>
        <p:nvSpPr>
          <p:cNvPr id="22" name="">
            <a:extLst xmlns:a="http://schemas.openxmlformats.org/drawingml/2006/main">
              <a:ext uri="{FF2B5EF4-FFF2-40B4-BE49-F238E27FC236}">
                <a16:creationId xmlns:a16="http://schemas.microsoft.com/office/drawing/2014/main" id="{5E11164B-F09C-4315-A66F-66A183CB2557}"/>
              </a:ext>
            </a:extLst>
          </p:cNvPr>
          <p:cNvSpPr>
            <a:spLocks xmlns:a="http://schemas.openxmlformats.org/drawingml/2006/main" noGrp="1"/>
          </p:cNvSpPr>
          <p:nvPr/>
        </p:nvSpPr>
        <p:spPr>
          <a:xfrm xmlns:a="http://schemas.openxmlformats.org/drawingml/2006/main">
            <a:off x="723900" y="33909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23" name="">
            <a:extLst xmlns:a="http://schemas.openxmlformats.org/drawingml/2006/main">
              <a:ext uri="{FF2B5EF4-FFF2-40B4-BE49-F238E27FC236}">
                <a16:creationId xmlns:a16="http://schemas.microsoft.com/office/drawing/2014/main" id="{6A3A1B87-4B29-4F1A-8FA2-0F3132F40821}"/>
              </a:ext>
            </a:extLst>
          </p:cNvPr>
          <p:cNvSpPr>
            <a:spLocks xmlns:a="http://schemas.openxmlformats.org/drawingml/2006/main" noGrp="1"/>
          </p:cNvSpPr>
          <p:nvPr/>
        </p:nvSpPr>
        <p:spPr>
          <a:xfrm xmlns:a="http://schemas.openxmlformats.org/drawingml/2006/main">
            <a:off x="914400" y="34766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Modules</a:t>
            </a:r>
          </a:p>
        </p:txBody>
      </p:sp>
      <p:sp>
        <p:nvSpPr>
          <p:cNvPr id="24" name="">
            <a:extLst xmlns:a="http://schemas.openxmlformats.org/drawingml/2006/main">
              <a:ext uri="{FF2B5EF4-FFF2-40B4-BE49-F238E27FC236}">
                <a16:creationId xmlns:a16="http://schemas.microsoft.com/office/drawing/2014/main" id="{4FCF1769-0E0E-417C-A31F-681B232BB41F}"/>
              </a:ext>
            </a:extLst>
          </p:cNvPr>
          <p:cNvSpPr>
            <a:spLocks xmlns:a="http://schemas.openxmlformats.org/drawingml/2006/main" noGrp="1"/>
          </p:cNvSpPr>
          <p:nvPr/>
        </p:nvSpPr>
        <p:spPr>
          <a:xfrm xmlns:a="http://schemas.openxmlformats.org/drawingml/2006/main">
            <a:off x="2571750" y="34766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results/vf/gene_module_map.csv</a:t>
            </a:r>
          </a:p>
        </p:txBody>
      </p:sp>
      <p:sp>
        <p:nvSpPr>
          <p:cNvPr id="25" name="">
            <a:extLst xmlns:a="http://schemas.openxmlformats.org/drawingml/2006/main">
              <a:ext uri="{FF2B5EF4-FFF2-40B4-BE49-F238E27FC236}">
                <a16:creationId xmlns:a16="http://schemas.microsoft.com/office/drawing/2014/main" id="{D58E7602-FA42-493D-AE53-712A8AE9C17E}"/>
              </a:ext>
            </a:extLst>
          </p:cNvPr>
          <p:cNvSpPr>
            <a:spLocks xmlns:a="http://schemas.openxmlformats.org/drawingml/2006/main" noGrp="1"/>
          </p:cNvSpPr>
          <p:nvPr/>
        </p:nvSpPr>
        <p:spPr>
          <a:xfrm xmlns:a="http://schemas.openxmlformats.org/drawingml/2006/main">
            <a:off x="6191250" y="34766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Gene-to-module curation and unassigned review</a:t>
            </a:r>
          </a:p>
        </p:txBody>
      </p:sp>
      <p:sp>
        <p:nvSpPr>
          <p:cNvPr id="26" name="">
            <a:extLst xmlns:a="http://schemas.openxmlformats.org/drawingml/2006/main">
              <a:ext uri="{FF2B5EF4-FFF2-40B4-BE49-F238E27FC236}">
                <a16:creationId xmlns:a16="http://schemas.microsoft.com/office/drawing/2014/main" id="{3CFBFC0D-637E-4608-9A8F-0C1AC977F3B1}"/>
              </a:ext>
            </a:extLst>
          </p:cNvPr>
          <p:cNvSpPr>
            <a:spLocks xmlns:a="http://schemas.openxmlformats.org/drawingml/2006/main" noGrp="1"/>
          </p:cNvSpPr>
          <p:nvPr/>
        </p:nvSpPr>
        <p:spPr>
          <a:xfrm xmlns:a="http://schemas.openxmlformats.org/drawingml/2006/main">
            <a:off x="723900" y="40005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27" name="">
            <a:extLst xmlns:a="http://schemas.openxmlformats.org/drawingml/2006/main">
              <a:ext uri="{FF2B5EF4-FFF2-40B4-BE49-F238E27FC236}">
                <a16:creationId xmlns:a16="http://schemas.microsoft.com/office/drawing/2014/main" id="{74E3D52A-9E44-4064-81D1-3D20CBDF8FE3}"/>
              </a:ext>
            </a:extLst>
          </p:cNvPr>
          <p:cNvSpPr>
            <a:spLocks xmlns:a="http://schemas.openxmlformats.org/drawingml/2006/main" noGrp="1"/>
          </p:cNvSpPr>
          <p:nvPr/>
        </p:nvSpPr>
        <p:spPr>
          <a:xfrm xmlns:a="http://schemas.openxmlformats.org/drawingml/2006/main">
            <a:off x="914400" y="40862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Longitudinal</a:t>
            </a:r>
          </a:p>
        </p:txBody>
      </p:sp>
      <p:sp>
        <p:nvSpPr>
          <p:cNvPr id="28" name="">
            <a:extLst xmlns:a="http://schemas.openxmlformats.org/drawingml/2006/main">
              <a:ext uri="{FF2B5EF4-FFF2-40B4-BE49-F238E27FC236}">
                <a16:creationId xmlns:a16="http://schemas.microsoft.com/office/drawing/2014/main" id="{AD35E701-41EA-4751-AF66-953601C8E49F}"/>
              </a:ext>
            </a:extLst>
          </p:cNvPr>
          <p:cNvSpPr>
            <a:spLocks xmlns:a="http://schemas.openxmlformats.org/drawingml/2006/main" noGrp="1"/>
          </p:cNvSpPr>
          <p:nvPr/>
        </p:nvSpPr>
        <p:spPr>
          <a:xfrm xmlns:a="http://schemas.openxmlformats.org/drawingml/2006/main">
            <a:off x="2571750" y="40862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results/vf/vf_longitudinal_transitions.csv</a:t>
            </a:r>
          </a:p>
        </p:txBody>
      </p:sp>
      <p:sp>
        <p:nvSpPr>
          <p:cNvPr id="29" name="">
            <a:extLst xmlns:a="http://schemas.openxmlformats.org/drawingml/2006/main">
              <a:ext uri="{FF2B5EF4-FFF2-40B4-BE49-F238E27FC236}">
                <a16:creationId xmlns:a16="http://schemas.microsoft.com/office/drawing/2014/main" id="{92CE1FCE-5F66-41F3-B28D-66CDB82FFC60}"/>
              </a:ext>
            </a:extLst>
          </p:cNvPr>
          <p:cNvSpPr>
            <a:spLocks xmlns:a="http://schemas.openxmlformats.org/drawingml/2006/main" noGrp="1"/>
          </p:cNvSpPr>
          <p:nvPr/>
        </p:nvSpPr>
        <p:spPr>
          <a:xfrm xmlns:a="http://schemas.openxmlformats.org/drawingml/2006/main">
            <a:off x="6191250" y="40862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Consecutive within-resident VF comparisons</a:t>
            </a:r>
          </a:p>
        </p:txBody>
      </p:sp>
      <p:sp>
        <p:nvSpPr>
          <p:cNvPr id="30" name="">
            <a:extLst xmlns:a="http://schemas.openxmlformats.org/drawingml/2006/main">
              <a:ext uri="{FF2B5EF4-FFF2-40B4-BE49-F238E27FC236}">
                <a16:creationId xmlns:a16="http://schemas.microsoft.com/office/drawing/2014/main" id="{729C288B-5EEE-4390-A916-0986808BDD11}"/>
              </a:ext>
            </a:extLst>
          </p:cNvPr>
          <p:cNvSpPr>
            <a:spLocks xmlns:a="http://schemas.openxmlformats.org/drawingml/2006/main" noGrp="1"/>
          </p:cNvSpPr>
          <p:nvPr/>
        </p:nvSpPr>
        <p:spPr>
          <a:xfrm xmlns:a="http://schemas.openxmlformats.org/drawingml/2006/main">
            <a:off x="723900" y="46101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31" name="">
            <a:extLst xmlns:a="http://schemas.openxmlformats.org/drawingml/2006/main">
              <a:ext uri="{FF2B5EF4-FFF2-40B4-BE49-F238E27FC236}">
                <a16:creationId xmlns:a16="http://schemas.microsoft.com/office/drawing/2014/main" id="{A724C948-5CE0-4F2A-8212-7EBB787855A8}"/>
              </a:ext>
            </a:extLst>
          </p:cNvPr>
          <p:cNvSpPr>
            <a:spLocks xmlns:a="http://schemas.openxmlformats.org/drawingml/2006/main" noGrp="1"/>
          </p:cNvSpPr>
          <p:nvPr/>
        </p:nvSpPr>
        <p:spPr>
          <a:xfrm xmlns:a="http://schemas.openxmlformats.org/drawingml/2006/main">
            <a:off x="914400" y="46958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Interpretation</a:t>
            </a:r>
          </a:p>
        </p:txBody>
      </p:sp>
      <p:sp>
        <p:nvSpPr>
          <p:cNvPr id="32" name="">
            <a:extLst xmlns:a="http://schemas.openxmlformats.org/drawingml/2006/main">
              <a:ext uri="{FF2B5EF4-FFF2-40B4-BE49-F238E27FC236}">
                <a16:creationId xmlns:a16="http://schemas.microsoft.com/office/drawing/2014/main" id="{82C5F5B3-3C5D-475C-8F2C-8F2E563AB52C}"/>
              </a:ext>
            </a:extLst>
          </p:cNvPr>
          <p:cNvSpPr>
            <a:spLocks xmlns:a="http://schemas.openxmlformats.org/drawingml/2006/main" noGrp="1"/>
          </p:cNvSpPr>
          <p:nvPr/>
        </p:nvSpPr>
        <p:spPr>
          <a:xfrm xmlns:a="http://schemas.openxmlformats.org/drawingml/2006/main">
            <a:off x="2571750" y="46958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results/vf/vf_longitudinal_summary.txt</a:t>
            </a:r>
          </a:p>
        </p:txBody>
      </p:sp>
      <p:sp>
        <p:nvSpPr>
          <p:cNvPr id="33" name="">
            <a:extLst xmlns:a="http://schemas.openxmlformats.org/drawingml/2006/main">
              <a:ext uri="{FF2B5EF4-FFF2-40B4-BE49-F238E27FC236}">
                <a16:creationId xmlns:a16="http://schemas.microsoft.com/office/drawing/2014/main" id="{A2253650-FD2E-4611-B4EB-EA85874FAE4E}"/>
              </a:ext>
            </a:extLst>
          </p:cNvPr>
          <p:cNvSpPr>
            <a:spLocks xmlns:a="http://schemas.openxmlformats.org/drawingml/2006/main" noGrp="1"/>
          </p:cNvSpPr>
          <p:nvPr/>
        </p:nvSpPr>
        <p:spPr>
          <a:xfrm xmlns:a="http://schemas.openxmlformats.org/drawingml/2006/main">
            <a:off x="6191250" y="46958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Stable-profile and gain/loss summaries</a:t>
            </a:r>
          </a:p>
        </p:txBody>
      </p:sp>
      <p:sp>
        <p:nvSpPr>
          <p:cNvPr id="34" name="">
            <a:extLst xmlns:a="http://schemas.openxmlformats.org/drawingml/2006/main">
              <a:ext uri="{FF2B5EF4-FFF2-40B4-BE49-F238E27FC236}">
                <a16:creationId xmlns:a16="http://schemas.microsoft.com/office/drawing/2014/main" id="{E6BF77B2-1177-4FD2-A620-9CBC0F112F7B}"/>
              </a:ext>
            </a:extLst>
          </p:cNvPr>
          <p:cNvSpPr>
            <a:spLocks xmlns:a="http://schemas.openxmlformats.org/drawingml/2006/main" noGrp="1"/>
          </p:cNvSpPr>
          <p:nvPr/>
        </p:nvSpPr>
        <p:spPr>
          <a:xfrm xmlns:a="http://schemas.openxmlformats.org/drawingml/2006/main">
            <a:off x="723900" y="52197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35" name="">
            <a:extLst xmlns:a="http://schemas.openxmlformats.org/drawingml/2006/main">
              <a:ext uri="{FF2B5EF4-FFF2-40B4-BE49-F238E27FC236}">
                <a16:creationId xmlns:a16="http://schemas.microsoft.com/office/drawing/2014/main" id="{FFE58040-E45E-489E-BF1C-E46E1B68DF46}"/>
              </a:ext>
            </a:extLst>
          </p:cNvPr>
          <p:cNvSpPr>
            <a:spLocks xmlns:a="http://schemas.openxmlformats.org/drawingml/2006/main" noGrp="1"/>
          </p:cNvSpPr>
          <p:nvPr/>
        </p:nvSpPr>
        <p:spPr>
          <a:xfrm xmlns:a="http://schemas.openxmlformats.org/drawingml/2006/main">
            <a:off x="914400" y="53054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Final figures</a:t>
            </a:r>
          </a:p>
        </p:txBody>
      </p:sp>
      <p:sp>
        <p:nvSpPr>
          <p:cNvPr id="36" name="">
            <a:extLst xmlns:a="http://schemas.openxmlformats.org/drawingml/2006/main">
              <a:ext uri="{FF2B5EF4-FFF2-40B4-BE49-F238E27FC236}">
                <a16:creationId xmlns:a16="http://schemas.microsoft.com/office/drawing/2014/main" id="{2EAC0494-EC9C-4B8B-A1D0-D790CA840C9A}"/>
              </a:ext>
            </a:extLst>
          </p:cNvPr>
          <p:cNvSpPr>
            <a:spLocks xmlns:a="http://schemas.openxmlformats.org/drawingml/2006/main" noGrp="1"/>
          </p:cNvSpPr>
          <p:nvPr/>
        </p:nvSpPr>
        <p:spPr>
          <a:xfrm xmlns:a="http://schemas.openxmlformats.org/drawingml/2006/main">
            <a:off x="2571750" y="53054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35_final_figure_pack.R</a:t>
            </a:r>
          </a:p>
        </p:txBody>
      </p:sp>
      <p:sp>
        <p:nvSpPr>
          <p:cNvPr id="37" name="">
            <a:extLst xmlns:a="http://schemas.openxmlformats.org/drawingml/2006/main">
              <a:ext uri="{FF2B5EF4-FFF2-40B4-BE49-F238E27FC236}">
                <a16:creationId xmlns:a16="http://schemas.microsoft.com/office/drawing/2014/main" id="{324D25CC-1D10-4DD6-8017-C77D9D67C93B}"/>
              </a:ext>
            </a:extLst>
          </p:cNvPr>
          <p:cNvSpPr>
            <a:spLocks xmlns:a="http://schemas.openxmlformats.org/drawingml/2006/main" noGrp="1"/>
          </p:cNvSpPr>
          <p:nvPr/>
        </p:nvSpPr>
        <p:spPr>
          <a:xfrm xmlns:a="http://schemas.openxmlformats.org/drawingml/2006/main">
            <a:off x="6191250" y="53054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Entry point for current final figure pack</a:t>
            </a:r>
          </a:p>
        </p:txBody>
      </p:sp>
    </p:spTree>
    <p:extLst>
      <p:ext uri="{BB962C8B-B14F-4D97-AF65-F5344CB8AC3E}">
        <p14:creationId xmlns:p14="http://schemas.microsoft.com/office/powerpoint/2010/main" val="146363331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B58C05-07AC-407B-8100-3188AE5AFD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ED550FB-2A82-4FD8-9A67-E6C70E2A58E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390C73E-01C1-47CD-A756-4485FF169DD0}"/>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8C5F3ECA-C132-4E04-B5DA-9845785A3660}"/>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Clinical phenotype denominator and definition</a:t>
            </a:r>
          </a:p>
        </p:txBody>
      </p:sp>
      <p:sp>
        <p:nvSpPr>
          <p:cNvPr id="5" name="">
            <a:extLst xmlns:a="http://schemas.openxmlformats.org/drawingml/2006/main">
              <a:ext uri="{FF2B5EF4-FFF2-40B4-BE49-F238E27FC236}">
                <a16:creationId xmlns:a16="http://schemas.microsoft.com/office/drawing/2014/main" id="{847261B4-F68F-437B-A884-0B3361AEFDC2}"/>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Clinical status is the annotation layer used for later exploratory overlays.</a:t>
            </a:r>
          </a:p>
        </p:txBody>
      </p:sp>
      <p:sp>
        <p:nvSpPr>
          <p:cNvPr id="6" name="">
            <a:extLst xmlns:a="http://schemas.openxmlformats.org/drawingml/2006/main">
              <a:ext uri="{FF2B5EF4-FFF2-40B4-BE49-F238E27FC236}">
                <a16:creationId xmlns:a16="http://schemas.microsoft.com/office/drawing/2014/main" id="{64D02C54-97A7-49F0-BC7A-9B4A9024A7CD}"/>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6006C97-28B3-4140-BB77-9972942682FD}"/>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21A5CB4-4032-46AF-8B3A-1BF6C22EA556}"/>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16B83BF3-6996-4B21-AFE8-CD4565C9BA5D}"/>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15</a:t>
            </a:r>
          </a:p>
        </p:txBody>
      </p:sp>
      <p:sp>
        <p:nvSpPr>
          <p:cNvPr id="10" name="">
            <a:extLst xmlns:a="http://schemas.openxmlformats.org/drawingml/2006/main">
              <a:ext uri="{FF2B5EF4-FFF2-40B4-BE49-F238E27FC236}">
                <a16:creationId xmlns:a16="http://schemas.microsoft.com/office/drawing/2014/main" id="{6339EF84-F59E-4859-88E4-56D3591E0E2B}"/>
              </a:ext>
            </a:extLst>
          </p:cNvPr>
          <p:cNvSpPr>
            <a:spLocks xmlns:a="http://schemas.openxmlformats.org/drawingml/2006/main" noGrp="1"/>
          </p:cNvSpPr>
          <p:nvPr/>
        </p:nvSpPr>
        <p:spPr>
          <a:xfrm xmlns:a="http://schemas.openxmlformats.org/drawingml/2006/main">
            <a:off x="571500" y="1428750"/>
            <a:ext cx="1043940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2b252378e864fb1"/>
          <a:stretch xmlns:a="http://schemas.openxmlformats.org/drawingml/2006/main"/>
        </p:blipFill>
        <p:spPr>
          <a:xfrm xmlns:a="http://schemas.openxmlformats.org/drawingml/2006/main">
            <a:off x="647700" y="1811655"/>
            <a:ext cx="10287000" cy="397764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F3E4EE4-500A-415F-9A78-3DAA4475CA89}"/>
              </a:ext>
            </a:extLst>
          </p:cNvPr>
          <p:cNvSpPr>
            <a:spLocks xmlns:a="http://schemas.openxmlformats.org/drawingml/2006/main" noGrp="1"/>
          </p:cNvSpPr>
          <p:nvPr/>
        </p:nvSpPr>
        <p:spPr>
          <a:xfrm xmlns:a="http://schemas.openxmlformats.org/drawingml/2006/main">
            <a:off x="9258300" y="1524000"/>
            <a:ext cx="1905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06119A77-FF00-4CEE-ABEE-5AD888DC12B7}"/>
              </a:ext>
            </a:extLst>
          </p:cNvPr>
          <p:cNvSpPr>
            <a:spLocks xmlns:a="http://schemas.openxmlformats.org/drawingml/2006/main" noGrp="1"/>
          </p:cNvSpPr>
          <p:nvPr/>
        </p:nvSpPr>
        <p:spPr>
          <a:xfrm xmlns:a="http://schemas.openxmlformats.org/drawingml/2006/main">
            <a:off x="9353550" y="157162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Denominator audit</a:t>
            </a:r>
          </a:p>
        </p:txBody>
      </p:sp>
    </p:spTree>
    <p:extLst>
      <p:ext uri="{BB962C8B-B14F-4D97-AF65-F5344CB8AC3E}">
        <p14:creationId xmlns:p14="http://schemas.microsoft.com/office/powerpoint/2010/main" val="124723392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A2AE95-EBA9-486A-A978-0248F8D473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E328C17-AB53-45E7-8E5F-BD928D5C606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C915E8C-DFDC-484E-8D86-FB75B00E9E5D}"/>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72A519FF-6A6E-4B0B-A444-FD5A2D9EFCA8}"/>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Module prevalence by status is an exploratory annotation view</a:t>
            </a:r>
          </a:p>
        </p:txBody>
      </p:sp>
      <p:sp>
        <p:nvSpPr>
          <p:cNvPr id="5" name="">
            <a:extLst xmlns:a="http://schemas.openxmlformats.org/drawingml/2006/main">
              <a:ext uri="{FF2B5EF4-FFF2-40B4-BE49-F238E27FC236}">
                <a16:creationId xmlns:a16="http://schemas.microsoft.com/office/drawing/2014/main" id="{4D2DC766-6BEA-49C8-819E-3CC196C19237}"/>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Read as descriptive status context; repeated measures and lineage are not fully resolved here.</a:t>
            </a:r>
          </a:p>
        </p:txBody>
      </p:sp>
      <p:sp>
        <p:nvSpPr>
          <p:cNvPr id="6" name="">
            <a:extLst xmlns:a="http://schemas.openxmlformats.org/drawingml/2006/main">
              <a:ext uri="{FF2B5EF4-FFF2-40B4-BE49-F238E27FC236}">
                <a16:creationId xmlns:a16="http://schemas.microsoft.com/office/drawing/2014/main" id="{093964B1-C43E-446E-A12E-BF9B111CFCCF}"/>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601409D3-C729-4915-8FED-7D01049AC104}"/>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B3AD5F2-D887-4A25-B159-EDDE73DF85C5}"/>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CC0C8E3D-C53D-414B-80FF-D9DA7860FA38}"/>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16</a:t>
            </a:r>
          </a:p>
        </p:txBody>
      </p:sp>
      <p:sp>
        <p:nvSpPr>
          <p:cNvPr id="10" name="">
            <a:extLst xmlns:a="http://schemas.openxmlformats.org/drawingml/2006/main">
              <a:ext uri="{FF2B5EF4-FFF2-40B4-BE49-F238E27FC236}">
                <a16:creationId xmlns:a16="http://schemas.microsoft.com/office/drawing/2014/main" id="{C824021B-A5F9-4B49-9D3D-67E654D011B0}"/>
              </a:ext>
            </a:extLst>
          </p:cNvPr>
          <p:cNvSpPr>
            <a:spLocks xmlns:a="http://schemas.openxmlformats.org/drawingml/2006/main" noGrp="1"/>
          </p:cNvSpPr>
          <p:nvPr/>
        </p:nvSpPr>
        <p:spPr>
          <a:xfrm xmlns:a="http://schemas.openxmlformats.org/drawingml/2006/main">
            <a:off x="552450" y="1428750"/>
            <a:ext cx="10058400" cy="47244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a1e41f1a3234704"/>
          <a:stretch xmlns:a="http://schemas.openxmlformats.org/drawingml/2006/main"/>
        </p:blipFill>
        <p:spPr>
          <a:xfrm xmlns:a="http://schemas.openxmlformats.org/drawingml/2006/main">
            <a:off x="2724150" y="1504950"/>
            <a:ext cx="5715000" cy="4572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686827A-B11B-491F-ABFF-19ED757572C2}"/>
              </a:ext>
            </a:extLst>
          </p:cNvPr>
          <p:cNvSpPr>
            <a:spLocks xmlns:a="http://schemas.openxmlformats.org/drawingml/2006/main" noGrp="1"/>
          </p:cNvSpPr>
          <p:nvPr/>
        </p:nvSpPr>
        <p:spPr>
          <a:xfrm xmlns:a="http://schemas.openxmlformats.org/drawingml/2006/main">
            <a:off x="10668000" y="1809750"/>
            <a:ext cx="952500" cy="1571625"/>
          </a:xfrm>
          <a:prstGeom xmlns:a="http://schemas.openxmlformats.org/drawingml/2006/main" prst="roundRect">
            <a:avLst>
              <a:gd name="adj" fmla="val 8000"/>
            </a:avLst>
          </a:prstGeom>
          <a:solidFill xmlns:a="http://schemas.openxmlformats.org/drawingml/2006/main">
            <a:srgbClr val="FFF4E6"/>
          </a:solidFill>
          <a:ln xmlns:a="http://schemas.openxmlformats.org/drawingml/2006/main" w="9525">
            <a:solidFill>
              <a:srgbClr val="F4C98A"/>
            </a:solidFill>
            <a:prstDash val="solid"/>
          </a:ln>
        </p:spPr>
      </p:sp>
      <p:sp>
        <p:nvSpPr>
          <p:cNvPr id="13" name="">
            <a:extLst xmlns:a="http://schemas.openxmlformats.org/drawingml/2006/main">
              <a:ext uri="{FF2B5EF4-FFF2-40B4-BE49-F238E27FC236}">
                <a16:creationId xmlns:a16="http://schemas.microsoft.com/office/drawing/2014/main" id="{078491E7-847B-4F6F-8A00-A3439ED76243}"/>
              </a:ext>
            </a:extLst>
          </p:cNvPr>
          <p:cNvSpPr>
            <a:spLocks xmlns:a="http://schemas.openxmlformats.org/drawingml/2006/main" noGrp="1"/>
          </p:cNvSpPr>
          <p:nvPr/>
        </p:nvSpPr>
        <p:spPr>
          <a:xfrm xmlns:a="http://schemas.openxmlformats.org/drawingml/2006/main">
            <a:off x="10839450" y="1981200"/>
            <a:ext cx="609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Label</a:t>
            </a:r>
          </a:p>
        </p:txBody>
      </p:sp>
      <p:sp>
        <p:nvSpPr>
          <p:cNvPr id="14" name="">
            <a:extLst xmlns:a="http://schemas.openxmlformats.org/drawingml/2006/main">
              <a:ext uri="{FF2B5EF4-FFF2-40B4-BE49-F238E27FC236}">
                <a16:creationId xmlns:a16="http://schemas.microsoft.com/office/drawing/2014/main" id="{8E3658C4-E874-43F1-9CED-C15C3B7EC51B}"/>
              </a:ext>
            </a:extLst>
          </p:cNvPr>
          <p:cNvSpPr>
            <a:spLocks xmlns:a="http://schemas.openxmlformats.org/drawingml/2006/main" noGrp="1"/>
          </p:cNvSpPr>
          <p:nvPr/>
        </p:nvSpPr>
        <p:spPr>
          <a:xfrm xmlns:a="http://schemas.openxmlformats.org/drawingml/2006/main">
            <a:off x="10839450" y="2266950"/>
            <a:ext cx="609600" cy="981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Exploratory clinical annotation.</a:t>
            </a:r>
          </a:p>
        </p:txBody>
      </p:sp>
    </p:spTree>
    <p:extLst>
      <p:ext uri="{BB962C8B-B14F-4D97-AF65-F5344CB8AC3E}">
        <p14:creationId xmlns:p14="http://schemas.microsoft.com/office/powerpoint/2010/main" val="8626748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7DE9897-5A31-4CD0-9EE9-3CD6362C21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983A8B0-B1AD-4CEF-89AE-3132EC224C4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C9A8149-1295-460F-BE35-03C95897F58B}"/>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F65FC439-7EDC-402E-A78E-99FECC141B5A}"/>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Full transition mechanism casebook</a:t>
            </a:r>
          </a:p>
        </p:txBody>
      </p:sp>
      <p:sp>
        <p:nvSpPr>
          <p:cNvPr id="5" name="">
            <a:extLst xmlns:a="http://schemas.openxmlformats.org/drawingml/2006/main">
              <a:ext uri="{FF2B5EF4-FFF2-40B4-BE49-F238E27FC236}">
                <a16:creationId xmlns:a16="http://schemas.microsoft.com/office/drawing/2014/main" id="{938B151D-A4CC-4CA1-BF02-BE411E029539}"/>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Available for questions about Not_UTI -&gt; UTI transitions; buckets organise evidence, not proof.</a:t>
            </a:r>
          </a:p>
        </p:txBody>
      </p:sp>
      <p:sp>
        <p:nvSpPr>
          <p:cNvPr id="6" name="">
            <a:extLst xmlns:a="http://schemas.openxmlformats.org/drawingml/2006/main">
              <a:ext uri="{FF2B5EF4-FFF2-40B4-BE49-F238E27FC236}">
                <a16:creationId xmlns:a16="http://schemas.microsoft.com/office/drawing/2014/main" id="{D66B7394-CD50-48E6-A007-55914E000DE4}"/>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AD0B885-E2FD-4186-8097-E021F42011D8}"/>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65F388D-389C-4396-9352-2109269EF5BD}"/>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A6A67EBF-FF75-4AFD-AD9B-C87C88DC2508}"/>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17</a:t>
            </a:r>
          </a:p>
        </p:txBody>
      </p:sp>
      <p:sp>
        <p:nvSpPr>
          <p:cNvPr id="10" name="">
            <a:extLst xmlns:a="http://schemas.openxmlformats.org/drawingml/2006/main">
              <a:ext uri="{FF2B5EF4-FFF2-40B4-BE49-F238E27FC236}">
                <a16:creationId xmlns:a16="http://schemas.microsoft.com/office/drawing/2014/main" id="{6AF86C0F-3DCD-48D1-91E1-6B52C9D6F39E}"/>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a3ff8ed9ce8424c"/>
          <a:stretch xmlns:a="http://schemas.openxmlformats.org/drawingml/2006/main"/>
        </p:blipFill>
        <p:spPr>
          <a:xfrm xmlns:a="http://schemas.openxmlformats.org/drawingml/2006/main">
            <a:off x="1397852" y="1504950"/>
            <a:ext cx="8958146"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12C8385-6A7B-447D-A71D-52015D07056E}"/>
              </a:ext>
            </a:extLst>
          </p:cNvPr>
          <p:cNvSpPr>
            <a:spLocks xmlns:a="http://schemas.openxmlformats.org/drawingml/2006/main" noGrp="1"/>
          </p:cNvSpPr>
          <p:nvPr/>
        </p:nvSpPr>
        <p:spPr>
          <a:xfrm xmlns:a="http://schemas.openxmlformats.org/drawingml/2006/main">
            <a:off x="9334500" y="1524000"/>
            <a:ext cx="200025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E66E443D-1F61-44D1-B102-E8E683CCD0B6}"/>
              </a:ext>
            </a:extLst>
          </p:cNvPr>
          <p:cNvSpPr>
            <a:spLocks xmlns:a="http://schemas.openxmlformats.org/drawingml/2006/main" noGrp="1"/>
          </p:cNvSpPr>
          <p:nvPr/>
        </p:nvSpPr>
        <p:spPr>
          <a:xfrm xmlns:a="http://schemas.openxmlformats.org/drawingml/2006/main">
            <a:off x="942975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Descriptive casebook</a:t>
            </a:r>
          </a:p>
        </p:txBody>
      </p:sp>
    </p:spTree>
    <p:extLst>
      <p:ext uri="{BB962C8B-B14F-4D97-AF65-F5344CB8AC3E}">
        <p14:creationId xmlns:p14="http://schemas.microsoft.com/office/powerpoint/2010/main" val="16546069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EFAA51-B50C-4B48-AA1A-8FA2324D44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81AC7F7-C5FD-4742-9170-79D8FEA5DEE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30DE362-5B9E-49A6-9E00-50E762B5F683}"/>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C16020D9-D4EB-4519-AE66-5646C54CA3B9}"/>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Stable strain and changing clinical state</a:t>
            </a:r>
          </a:p>
        </p:txBody>
      </p:sp>
      <p:sp>
        <p:nvSpPr>
          <p:cNvPr id="5" name="">
            <a:extLst xmlns:a="http://schemas.openxmlformats.org/drawingml/2006/main">
              <a:ext uri="{FF2B5EF4-FFF2-40B4-BE49-F238E27FC236}">
                <a16:creationId xmlns:a16="http://schemas.microsoft.com/office/drawing/2014/main" id="{F0D76E74-265D-4905-8F7F-754CF00962A2}"/>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Low SNP distance and stable VF profiles support, but do not prove, host-state or regulation hypotheses.</a:t>
            </a:r>
          </a:p>
        </p:txBody>
      </p:sp>
      <p:sp>
        <p:nvSpPr>
          <p:cNvPr id="6" name="">
            <a:extLst xmlns:a="http://schemas.openxmlformats.org/drawingml/2006/main">
              <a:ext uri="{FF2B5EF4-FFF2-40B4-BE49-F238E27FC236}">
                <a16:creationId xmlns:a16="http://schemas.microsoft.com/office/drawing/2014/main" id="{F5D17D8D-C3ED-42D5-843E-B8A2A99831FB}"/>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B778A1E-F09E-47A4-9EF1-8E8597978ED8}"/>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75B6A737-F706-474F-A16F-684EF7F736B8}"/>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A29D11DC-A087-44B0-BAF2-B40F544F3E3D}"/>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18</a:t>
            </a:r>
          </a:p>
        </p:txBody>
      </p:sp>
      <p:sp>
        <p:nvSpPr>
          <p:cNvPr id="10" name="">
            <a:extLst xmlns:a="http://schemas.openxmlformats.org/drawingml/2006/main">
              <a:ext uri="{FF2B5EF4-FFF2-40B4-BE49-F238E27FC236}">
                <a16:creationId xmlns:a16="http://schemas.microsoft.com/office/drawing/2014/main" id="{A0222B07-92BC-4C03-B117-FF033130A16C}"/>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efa44f25b924d5d"/>
          <a:stretch xmlns:a="http://schemas.openxmlformats.org/drawingml/2006/main"/>
        </p:blipFill>
        <p:spPr>
          <a:xfrm xmlns:a="http://schemas.openxmlformats.org/drawingml/2006/main">
            <a:off x="1285875" y="1504950"/>
            <a:ext cx="9182100"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55F184A-8F8B-4C09-BC3D-314F696121AC}"/>
              </a:ext>
            </a:extLst>
          </p:cNvPr>
          <p:cNvSpPr>
            <a:spLocks xmlns:a="http://schemas.openxmlformats.org/drawingml/2006/main" noGrp="1"/>
          </p:cNvSpPr>
          <p:nvPr/>
        </p:nvSpPr>
        <p:spPr>
          <a:xfrm xmlns:a="http://schemas.openxmlformats.org/drawingml/2006/main">
            <a:off x="9105900" y="1524000"/>
            <a:ext cx="200025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4F71AAE8-F61D-47C8-B073-745C5C220E96}"/>
              </a:ext>
            </a:extLst>
          </p:cNvPr>
          <p:cNvSpPr>
            <a:spLocks xmlns:a="http://schemas.openxmlformats.org/drawingml/2006/main" noGrp="1"/>
          </p:cNvSpPr>
          <p:nvPr/>
        </p:nvSpPr>
        <p:spPr>
          <a:xfrm xmlns:a="http://schemas.openxmlformats.org/drawingml/2006/main">
            <a:off x="920115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Transition context</a:t>
            </a:r>
          </a:p>
        </p:txBody>
      </p:sp>
    </p:spTree>
    <p:extLst>
      <p:ext uri="{BB962C8B-B14F-4D97-AF65-F5344CB8AC3E}">
        <p14:creationId xmlns:p14="http://schemas.microsoft.com/office/powerpoint/2010/main" val="254407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FE345F-8E30-4241-8713-8E5417649E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4E1FB71-AF93-4112-8283-C97B0DD1705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825615D-56B0-49AE-839B-3702F06C167F}"/>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1409649F-A6BD-4C16-94F3-F0BB08C9A514}"/>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Population-level robustness boundary</a:t>
            </a:r>
          </a:p>
        </p:txBody>
      </p:sp>
      <p:sp>
        <p:nvSpPr>
          <p:cNvPr id="5" name="">
            <a:extLst xmlns:a="http://schemas.openxmlformats.org/drawingml/2006/main">
              <a:ext uri="{FF2B5EF4-FFF2-40B4-BE49-F238E27FC236}">
                <a16:creationId xmlns:a16="http://schemas.microsoft.com/office/drawing/2014/main" id="{7C03DD68-2825-4F4D-BDC3-D1684C396BE7}"/>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No adjusted VF association is confirmatory with only 17 VF-ready UTI episodes.</a:t>
            </a:r>
          </a:p>
        </p:txBody>
      </p:sp>
      <p:sp>
        <p:nvSpPr>
          <p:cNvPr id="6" name="">
            <a:extLst xmlns:a="http://schemas.openxmlformats.org/drawingml/2006/main">
              <a:ext uri="{FF2B5EF4-FFF2-40B4-BE49-F238E27FC236}">
                <a16:creationId xmlns:a16="http://schemas.microsoft.com/office/drawing/2014/main" id="{66596651-673F-4ED3-AFE5-459A4060C3AA}"/>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77681A6-C308-4CDA-9103-14FE5F5A6EEE}"/>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24CF008C-D2B4-409E-8612-28DF94A883A5}"/>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540A7F5A-F4A6-4AD1-BEEB-C731B9447B1E}"/>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19</a:t>
            </a:r>
          </a:p>
        </p:txBody>
      </p:sp>
      <p:sp>
        <p:nvSpPr>
          <p:cNvPr id="10" name="">
            <a:extLst xmlns:a="http://schemas.openxmlformats.org/drawingml/2006/main">
              <a:ext uri="{FF2B5EF4-FFF2-40B4-BE49-F238E27FC236}">
                <a16:creationId xmlns:a16="http://schemas.microsoft.com/office/drawing/2014/main" id="{1388CF7D-EADB-4767-A3DF-429C9DDF71B1}"/>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6b1a1984e9543c6"/>
          <a:stretch xmlns:a="http://schemas.openxmlformats.org/drawingml/2006/main"/>
        </p:blipFill>
        <p:spPr>
          <a:xfrm xmlns:a="http://schemas.openxmlformats.org/drawingml/2006/main">
            <a:off x="2051050" y="1504950"/>
            <a:ext cx="7651750"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551FA13-CD7E-410C-8087-1AE730602353}"/>
              </a:ext>
            </a:extLst>
          </p:cNvPr>
          <p:cNvSpPr>
            <a:spLocks xmlns:a="http://schemas.openxmlformats.org/drawingml/2006/main" noGrp="1"/>
          </p:cNvSpPr>
          <p:nvPr/>
        </p:nvSpPr>
        <p:spPr>
          <a:xfrm xmlns:a="http://schemas.openxmlformats.org/drawingml/2006/main">
            <a:off x="9048750" y="1524000"/>
            <a:ext cx="219075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13" name="">
            <a:extLst xmlns:a="http://schemas.openxmlformats.org/drawingml/2006/main">
              <a:ext uri="{FF2B5EF4-FFF2-40B4-BE49-F238E27FC236}">
                <a16:creationId xmlns:a16="http://schemas.microsoft.com/office/drawing/2014/main" id="{704B80BB-D749-4963-84DF-69955BC02400}"/>
              </a:ext>
            </a:extLst>
          </p:cNvPr>
          <p:cNvSpPr>
            <a:spLocks xmlns:a="http://schemas.openxmlformats.org/drawingml/2006/main" noGrp="1"/>
          </p:cNvSpPr>
          <p:nvPr/>
        </p:nvSpPr>
        <p:spPr>
          <a:xfrm xmlns:a="http://schemas.openxmlformats.org/drawingml/2006/main">
            <a:off x="9144000" y="1571625"/>
            <a:ext cx="2000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D97706"/>
                </a:solidFill>
                <a:latin typeface="Aptos"/>
                <a:ea typeface="Aptos"/>
                <a:cs typeface="Aptos"/>
              </a:defRPr>
            </a:pPr>
            <a:r>
              <a:rPr sz="788" b="1">
                <a:solidFill>
                  <a:srgbClr val="D97706"/>
                </a:solidFill>
                <a:latin typeface="Aptos"/>
                <a:ea typeface="Aptos"/>
                <a:cs typeface="Aptos"/>
              </a:rPr>
              <a:t>Exploratory diagnostics</a:t>
            </a:r>
          </a:p>
        </p:txBody>
      </p:sp>
    </p:spTree>
    <p:extLst>
      <p:ext uri="{BB962C8B-B14F-4D97-AF65-F5344CB8AC3E}">
        <p14:creationId xmlns:p14="http://schemas.microsoft.com/office/powerpoint/2010/main" val="161876224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E2376F3-4FC0-4BF2-9DB1-0453B49062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D4F5AC2-2BDE-419F-8FBC-5EA5701F8C8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AA1FDC5-D325-4A12-91F3-F4146E779659}"/>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B32B48DB-A907-4223-907B-23DBF878DD8E}"/>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Lineage structure is an interpretation check</a:t>
            </a:r>
          </a:p>
        </p:txBody>
      </p:sp>
      <p:sp>
        <p:nvSpPr>
          <p:cNvPr id="5" name="">
            <a:extLst xmlns:a="http://schemas.openxmlformats.org/drawingml/2006/main">
              <a:ext uri="{FF2B5EF4-FFF2-40B4-BE49-F238E27FC236}">
                <a16:creationId xmlns:a16="http://schemas.microsoft.com/office/drawing/2014/main" id="{582AAC4C-2362-4DD8-BA19-084A71718DF5}"/>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Jaccard PCoA of module profiles by sequence type flags lineage structure before status claims.</a:t>
            </a:r>
          </a:p>
        </p:txBody>
      </p:sp>
      <p:sp>
        <p:nvSpPr>
          <p:cNvPr id="6" name="">
            <a:extLst xmlns:a="http://schemas.openxmlformats.org/drawingml/2006/main">
              <a:ext uri="{FF2B5EF4-FFF2-40B4-BE49-F238E27FC236}">
                <a16:creationId xmlns:a16="http://schemas.microsoft.com/office/drawing/2014/main" id="{4E7AF3C3-6ED5-4ECC-828C-5408F36CFF97}"/>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A322F0E-C81C-4F38-BBB3-55F3C155F242}"/>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945DE00-8ABE-4267-A92E-332C8EFD6DF0}"/>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D988D4EF-E429-4F24-ABCC-46A2B8D48F86}"/>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20</a:t>
            </a:r>
          </a:p>
        </p:txBody>
      </p:sp>
      <p:sp>
        <p:nvSpPr>
          <p:cNvPr id="10" name="">
            <a:extLst xmlns:a="http://schemas.openxmlformats.org/drawingml/2006/main">
              <a:ext uri="{FF2B5EF4-FFF2-40B4-BE49-F238E27FC236}">
                <a16:creationId xmlns:a16="http://schemas.microsoft.com/office/drawing/2014/main" id="{54405E6B-0C9E-4D6D-B26D-76CC8C826366}"/>
              </a:ext>
            </a:extLst>
          </p:cNvPr>
          <p:cNvSpPr>
            <a:spLocks xmlns:a="http://schemas.openxmlformats.org/drawingml/2006/main" noGrp="1"/>
          </p:cNvSpPr>
          <p:nvPr/>
        </p:nvSpPr>
        <p:spPr>
          <a:xfrm xmlns:a="http://schemas.openxmlformats.org/drawingml/2006/main">
            <a:off x="571500" y="1428750"/>
            <a:ext cx="986790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121bed5b1ba42ef"/>
          <a:stretch xmlns:a="http://schemas.openxmlformats.org/drawingml/2006/main"/>
        </p:blipFill>
        <p:spPr>
          <a:xfrm xmlns:a="http://schemas.openxmlformats.org/drawingml/2006/main">
            <a:off x="1973873" y="1504950"/>
            <a:ext cx="7063154"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B6EB1C5-FE0D-4266-A70D-B58B8DAA5227}"/>
              </a:ext>
            </a:extLst>
          </p:cNvPr>
          <p:cNvSpPr>
            <a:spLocks xmlns:a="http://schemas.openxmlformats.org/drawingml/2006/main" noGrp="1"/>
          </p:cNvSpPr>
          <p:nvPr/>
        </p:nvSpPr>
        <p:spPr>
          <a:xfrm xmlns:a="http://schemas.openxmlformats.org/drawingml/2006/main">
            <a:off x="10496550" y="1809750"/>
            <a:ext cx="1123950" cy="1809750"/>
          </a:xfrm>
          <a:prstGeom xmlns:a="http://schemas.openxmlformats.org/drawingml/2006/main" prst="roundRect">
            <a:avLst>
              <a:gd name="adj" fmla="val 6780"/>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A3B6981B-9494-40EB-A8EE-80D55F3C4FC9}"/>
              </a:ext>
            </a:extLst>
          </p:cNvPr>
          <p:cNvSpPr>
            <a:spLocks xmlns:a="http://schemas.openxmlformats.org/drawingml/2006/main" noGrp="1"/>
          </p:cNvSpPr>
          <p:nvPr/>
        </p:nvSpPr>
        <p:spPr>
          <a:xfrm xmlns:a="http://schemas.openxmlformats.org/drawingml/2006/main">
            <a:off x="10668000" y="1981200"/>
            <a:ext cx="781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Use for</a:t>
            </a:r>
          </a:p>
        </p:txBody>
      </p:sp>
      <p:sp>
        <p:nvSpPr>
          <p:cNvPr id="14" name="">
            <a:extLst xmlns:a="http://schemas.openxmlformats.org/drawingml/2006/main">
              <a:ext uri="{FF2B5EF4-FFF2-40B4-BE49-F238E27FC236}">
                <a16:creationId xmlns:a16="http://schemas.microsoft.com/office/drawing/2014/main" id="{0379815B-97F1-4223-9B30-B0499FB8A80E}"/>
              </a:ext>
            </a:extLst>
          </p:cNvPr>
          <p:cNvSpPr>
            <a:spLocks xmlns:a="http://schemas.openxmlformats.org/drawingml/2006/main" noGrp="1"/>
          </p:cNvSpPr>
          <p:nvPr/>
        </p:nvSpPr>
        <p:spPr>
          <a:xfrm xmlns:a="http://schemas.openxmlformats.org/drawingml/2006/main">
            <a:off x="10668000" y="2266950"/>
            <a:ext cx="78105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Questions about ST and VF profile clustering.</a:t>
            </a:r>
          </a:p>
        </p:txBody>
      </p:sp>
    </p:spTree>
    <p:extLst>
      <p:ext uri="{BB962C8B-B14F-4D97-AF65-F5344CB8AC3E}">
        <p14:creationId xmlns:p14="http://schemas.microsoft.com/office/powerpoint/2010/main" val="55654029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ED1A30-C46F-4B22-8E00-3F78001527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A82B9C4-F0A0-4C91-AEA7-B0459AACAF2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7F01266-44CF-4467-B213-D22A9C98E016}"/>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E3F032B7-AF87-4634-90A7-57E95DE316C2}"/>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AMR backup only: exploratory transition-level ResFinder context</a:t>
            </a:r>
          </a:p>
        </p:txBody>
      </p:sp>
      <p:sp>
        <p:nvSpPr>
          <p:cNvPr id="5" name="">
            <a:extLst xmlns:a="http://schemas.openxmlformats.org/drawingml/2006/main">
              <a:ext uri="{FF2B5EF4-FFF2-40B4-BE49-F238E27FC236}">
                <a16:creationId xmlns:a16="http://schemas.microsoft.com/office/drawing/2014/main" id="{9ACDF7EC-C12F-4439-9872-66D105D520C6}"/>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This is not a global VF-plus-AMR association analysis and should stay in Q&amp;A backup.</a:t>
            </a:r>
          </a:p>
        </p:txBody>
      </p:sp>
      <p:sp>
        <p:nvSpPr>
          <p:cNvPr id="6" name="">
            <a:extLst xmlns:a="http://schemas.openxmlformats.org/drawingml/2006/main">
              <a:ext uri="{FF2B5EF4-FFF2-40B4-BE49-F238E27FC236}">
                <a16:creationId xmlns:a16="http://schemas.microsoft.com/office/drawing/2014/main" id="{5C18FF6B-83D2-47B6-B908-1C70312BAAFF}"/>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02C8445-07AA-4C4A-A7DC-36F83B86690D}"/>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3E57B6E-298F-4F45-BA75-AC1202F6BCA3}"/>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A967F7B8-793F-420C-9D01-8BFCDC7769EA}"/>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21</a:t>
            </a:r>
          </a:p>
        </p:txBody>
      </p:sp>
      <p:sp>
        <p:nvSpPr>
          <p:cNvPr id="10" name="">
            <a:extLst xmlns:a="http://schemas.openxmlformats.org/drawingml/2006/main">
              <a:ext uri="{FF2B5EF4-FFF2-40B4-BE49-F238E27FC236}">
                <a16:creationId xmlns:a16="http://schemas.microsoft.com/office/drawing/2014/main" id="{B234C531-1769-47BB-A684-2B5B12569F99}"/>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7b3c6e24f634f4a"/>
          <a:stretch xmlns:a="http://schemas.openxmlformats.org/drawingml/2006/main"/>
        </p:blipFill>
        <p:spPr>
          <a:xfrm xmlns:a="http://schemas.openxmlformats.org/drawingml/2006/main">
            <a:off x="1777773" y="1504950"/>
            <a:ext cx="8198304"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343C3AD-5723-4F18-85CB-FD91C78F39DF}"/>
              </a:ext>
            </a:extLst>
          </p:cNvPr>
          <p:cNvSpPr>
            <a:spLocks xmlns:a="http://schemas.openxmlformats.org/drawingml/2006/main" noGrp="1"/>
          </p:cNvSpPr>
          <p:nvPr/>
        </p:nvSpPr>
        <p:spPr>
          <a:xfrm xmlns:a="http://schemas.openxmlformats.org/drawingml/2006/main">
            <a:off x="8477250" y="1524000"/>
            <a:ext cx="1809750" cy="247650"/>
          </a:xfrm>
          <a:prstGeom xmlns:a="http://schemas.openxmlformats.org/drawingml/2006/main" prst="rect">
            <a:avLst/>
          </a:prstGeom>
          <a:solidFill xmlns:a="http://schemas.openxmlformats.org/drawingml/2006/main">
            <a:srgbClr val="FBEDE8"/>
          </a:solidFill>
          <a:ln xmlns:a="http://schemas.openxmlformats.org/drawingml/2006/main" w="0">
            <a:solidFill>
              <a:srgbClr val="FBEDE8"/>
            </a:solidFill>
            <a:prstDash val="solid"/>
          </a:ln>
        </p:spPr>
      </p:sp>
      <p:sp>
        <p:nvSpPr>
          <p:cNvPr id="13" name="">
            <a:extLst xmlns:a="http://schemas.openxmlformats.org/drawingml/2006/main">
              <a:ext uri="{FF2B5EF4-FFF2-40B4-BE49-F238E27FC236}">
                <a16:creationId xmlns:a16="http://schemas.microsoft.com/office/drawing/2014/main" id="{837B824A-7818-4229-8F88-EB6123B283E6}"/>
              </a:ext>
            </a:extLst>
          </p:cNvPr>
          <p:cNvSpPr>
            <a:spLocks xmlns:a="http://schemas.openxmlformats.org/drawingml/2006/main" noGrp="1"/>
          </p:cNvSpPr>
          <p:nvPr/>
        </p:nvSpPr>
        <p:spPr>
          <a:xfrm xmlns:a="http://schemas.openxmlformats.org/drawingml/2006/main">
            <a:off x="8572500" y="1571625"/>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B65A3C"/>
                </a:solidFill>
                <a:latin typeface="Aptos"/>
                <a:ea typeface="Aptos"/>
                <a:cs typeface="Aptos"/>
              </a:defRPr>
            </a:pPr>
            <a:r>
              <a:rPr sz="788" b="1">
                <a:solidFill>
                  <a:srgbClr val="B65A3C"/>
                </a:solidFill>
                <a:latin typeface="Aptos"/>
                <a:ea typeface="Aptos"/>
                <a:cs typeface="Aptos"/>
              </a:rPr>
              <a:t>AMR backup only</a:t>
            </a:r>
          </a:p>
        </p:txBody>
      </p:sp>
    </p:spTree>
    <p:extLst>
      <p:ext uri="{BB962C8B-B14F-4D97-AF65-F5344CB8AC3E}">
        <p14:creationId xmlns:p14="http://schemas.microsoft.com/office/powerpoint/2010/main" val="194355056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CA0AE1-A248-4DD7-A652-7C73961821E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CB0E678-D3AD-47C9-A061-FF561FB961E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D55033D-1ACF-4695-ABF7-7BCCF4C6B7F5}"/>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 / EVIDENCE REGISTRY</a:t>
            </a:r>
          </a:p>
        </p:txBody>
      </p:sp>
      <p:sp>
        <p:nvSpPr>
          <p:cNvPr id="4" name="">
            <a:extLst xmlns:a="http://schemas.openxmlformats.org/drawingml/2006/main">
              <a:ext uri="{FF2B5EF4-FFF2-40B4-BE49-F238E27FC236}">
                <a16:creationId xmlns:a16="http://schemas.microsoft.com/office/drawing/2014/main" id="{C9F61F3A-9587-4602-A63D-768485B1D3F2}"/>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Sources of truth and lookup resources for questions</a:t>
            </a:r>
          </a:p>
        </p:txBody>
      </p:sp>
      <p:sp>
        <p:nvSpPr>
          <p:cNvPr id="5" name="">
            <a:extLst xmlns:a="http://schemas.openxmlformats.org/drawingml/2006/main">
              <a:ext uri="{FF2B5EF4-FFF2-40B4-BE49-F238E27FC236}">
                <a16:creationId xmlns:a16="http://schemas.microsoft.com/office/drawing/2014/main" id="{D0077F16-B8C2-4316-BF63-B6E0FABAEC94}"/>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Open these files when the discussion needs provenance rather than a new analysis.</a:t>
            </a:r>
          </a:p>
        </p:txBody>
      </p:sp>
      <p:sp>
        <p:nvSpPr>
          <p:cNvPr id="6" name="">
            <a:extLst xmlns:a="http://schemas.openxmlformats.org/drawingml/2006/main">
              <a:ext uri="{FF2B5EF4-FFF2-40B4-BE49-F238E27FC236}">
                <a16:creationId xmlns:a16="http://schemas.microsoft.com/office/drawing/2014/main" id="{7ABAC2C6-BC2D-4475-8236-5DBCB6E00C81}"/>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E4E1FBA-9D3C-4F5A-9415-E2C4EAED1A11}"/>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0589D6F-A6E7-4AFF-81D7-9BA76BC640D6}"/>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BF30BB48-4D7A-41BF-886B-9223DE1C94B2}"/>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22</a:t>
            </a:r>
          </a:p>
        </p:txBody>
      </p:sp>
      <p:sp>
        <p:nvSpPr>
          <p:cNvPr id="10" name="">
            <a:extLst xmlns:a="http://schemas.openxmlformats.org/drawingml/2006/main">
              <a:ext uri="{FF2B5EF4-FFF2-40B4-BE49-F238E27FC236}">
                <a16:creationId xmlns:a16="http://schemas.microsoft.com/office/drawing/2014/main" id="{9078FC07-80AC-4DBA-973A-3DA7D5642A96}"/>
              </a:ext>
            </a:extLst>
          </p:cNvPr>
          <p:cNvSpPr>
            <a:spLocks xmlns:a="http://schemas.openxmlformats.org/drawingml/2006/main" noGrp="1"/>
          </p:cNvSpPr>
          <p:nvPr/>
        </p:nvSpPr>
        <p:spPr>
          <a:xfrm xmlns:a="http://schemas.openxmlformats.org/drawingml/2006/main">
            <a:off x="781050" y="16573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1" name="">
            <a:extLst xmlns:a="http://schemas.openxmlformats.org/drawingml/2006/main">
              <a:ext uri="{FF2B5EF4-FFF2-40B4-BE49-F238E27FC236}">
                <a16:creationId xmlns:a16="http://schemas.microsoft.com/office/drawing/2014/main" id="{DEA08626-2919-4C36-BD6B-71541BD5B660}"/>
              </a:ext>
            </a:extLst>
          </p:cNvPr>
          <p:cNvSpPr>
            <a:spLocks xmlns:a="http://schemas.openxmlformats.org/drawingml/2006/main" noGrp="1"/>
          </p:cNvSpPr>
          <p:nvPr/>
        </p:nvSpPr>
        <p:spPr>
          <a:xfrm xmlns:a="http://schemas.openxmlformats.org/drawingml/2006/main">
            <a:off x="952500" y="17526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Counts and validation</a:t>
            </a:r>
          </a:p>
        </p:txBody>
      </p:sp>
      <p:sp>
        <p:nvSpPr>
          <p:cNvPr id="12" name="">
            <a:extLst xmlns:a="http://schemas.openxmlformats.org/drawingml/2006/main">
              <a:ext uri="{FF2B5EF4-FFF2-40B4-BE49-F238E27FC236}">
                <a16:creationId xmlns:a16="http://schemas.microsoft.com/office/drawing/2014/main" id="{339F840C-103E-46BB-913B-EFC3223F4166}"/>
              </a:ext>
            </a:extLst>
          </p:cNvPr>
          <p:cNvSpPr>
            <a:spLocks xmlns:a="http://schemas.openxmlformats.org/drawingml/2006/main" noGrp="1"/>
          </p:cNvSpPr>
          <p:nvPr/>
        </p:nvSpPr>
        <p:spPr>
          <a:xfrm xmlns:a="http://schemas.openxmlformats.org/drawingml/2006/main">
            <a:off x="952500" y="19431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results/final_figures/final_figure_validation_checks.csv</a:t>
            </a:r>
          </a:p>
        </p:txBody>
      </p:sp>
      <p:sp>
        <p:nvSpPr>
          <p:cNvPr id="13" name="">
            <a:extLst xmlns:a="http://schemas.openxmlformats.org/drawingml/2006/main">
              <a:ext uri="{FF2B5EF4-FFF2-40B4-BE49-F238E27FC236}">
                <a16:creationId xmlns:a16="http://schemas.microsoft.com/office/drawing/2014/main" id="{EE38A5BD-3658-48F2-ABB8-D0D20961033D}"/>
              </a:ext>
            </a:extLst>
          </p:cNvPr>
          <p:cNvSpPr>
            <a:spLocks xmlns:a="http://schemas.openxmlformats.org/drawingml/2006/main" noGrp="1"/>
          </p:cNvSpPr>
          <p:nvPr/>
        </p:nvSpPr>
        <p:spPr>
          <a:xfrm xmlns:a="http://schemas.openxmlformats.org/drawingml/2006/main">
            <a:off x="781050" y="23431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4" name="">
            <a:extLst xmlns:a="http://schemas.openxmlformats.org/drawingml/2006/main">
              <a:ext uri="{FF2B5EF4-FFF2-40B4-BE49-F238E27FC236}">
                <a16:creationId xmlns:a16="http://schemas.microsoft.com/office/drawing/2014/main" id="{9AE382F4-6644-4EF6-BEED-F3B30FAE08AD}"/>
              </a:ext>
            </a:extLst>
          </p:cNvPr>
          <p:cNvSpPr>
            <a:spLocks xmlns:a="http://schemas.openxmlformats.org/drawingml/2006/main" noGrp="1"/>
          </p:cNvSpPr>
          <p:nvPr/>
        </p:nvSpPr>
        <p:spPr>
          <a:xfrm xmlns:a="http://schemas.openxmlformats.org/drawingml/2006/main">
            <a:off x="952500" y="24384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Denominator flow</a:t>
            </a:r>
          </a:p>
        </p:txBody>
      </p:sp>
      <p:sp>
        <p:nvSpPr>
          <p:cNvPr id="15" name="">
            <a:extLst xmlns:a="http://schemas.openxmlformats.org/drawingml/2006/main">
              <a:ext uri="{FF2B5EF4-FFF2-40B4-BE49-F238E27FC236}">
                <a16:creationId xmlns:a16="http://schemas.microsoft.com/office/drawing/2014/main" id="{FE0A6E2E-B6A4-4AE2-81FC-A0132E0DA332}"/>
              </a:ext>
            </a:extLst>
          </p:cNvPr>
          <p:cNvSpPr>
            <a:spLocks xmlns:a="http://schemas.openxmlformats.org/drawingml/2006/main" noGrp="1"/>
          </p:cNvSpPr>
          <p:nvPr/>
        </p:nvSpPr>
        <p:spPr>
          <a:xfrm xmlns:a="http://schemas.openxmlformats.org/drawingml/2006/main">
            <a:off x="952500" y="26289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results/qc/pipeline_denominator_summary.csv</a:t>
            </a:r>
          </a:p>
        </p:txBody>
      </p:sp>
      <p:sp>
        <p:nvSpPr>
          <p:cNvPr id="16" name="">
            <a:extLst xmlns:a="http://schemas.openxmlformats.org/drawingml/2006/main">
              <a:ext uri="{FF2B5EF4-FFF2-40B4-BE49-F238E27FC236}">
                <a16:creationId xmlns:a16="http://schemas.microsoft.com/office/drawing/2014/main" id="{BCAF2E64-DFBF-4C13-8DB2-4296AE48F47A}"/>
              </a:ext>
            </a:extLst>
          </p:cNvPr>
          <p:cNvSpPr>
            <a:spLocks xmlns:a="http://schemas.openxmlformats.org/drawingml/2006/main" noGrp="1"/>
          </p:cNvSpPr>
          <p:nvPr/>
        </p:nvSpPr>
        <p:spPr>
          <a:xfrm xmlns:a="http://schemas.openxmlformats.org/drawingml/2006/main">
            <a:off x="781050" y="30289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7" name="">
            <a:extLst xmlns:a="http://schemas.openxmlformats.org/drawingml/2006/main">
              <a:ext uri="{FF2B5EF4-FFF2-40B4-BE49-F238E27FC236}">
                <a16:creationId xmlns:a16="http://schemas.microsoft.com/office/drawing/2014/main" id="{22294DAF-DC27-421F-83EE-E745948B7B07}"/>
              </a:ext>
            </a:extLst>
          </p:cNvPr>
          <p:cNvSpPr>
            <a:spLocks xmlns:a="http://schemas.openxmlformats.org/drawingml/2006/main" noGrp="1"/>
          </p:cNvSpPr>
          <p:nvPr/>
        </p:nvSpPr>
        <p:spPr>
          <a:xfrm xmlns:a="http://schemas.openxmlformats.org/drawingml/2006/main">
            <a:off x="952500" y="31242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VF diagnostics</a:t>
            </a:r>
          </a:p>
        </p:txBody>
      </p:sp>
      <p:sp>
        <p:nvSpPr>
          <p:cNvPr id="18" name="">
            <a:extLst xmlns:a="http://schemas.openxmlformats.org/drawingml/2006/main">
              <a:ext uri="{FF2B5EF4-FFF2-40B4-BE49-F238E27FC236}">
                <a16:creationId xmlns:a16="http://schemas.microsoft.com/office/drawing/2014/main" id="{D5D8BE8C-413E-4861-9CF2-2926F74AE547}"/>
              </a:ext>
            </a:extLst>
          </p:cNvPr>
          <p:cNvSpPr>
            <a:spLocks xmlns:a="http://schemas.openxmlformats.org/drawingml/2006/main" noGrp="1"/>
          </p:cNvSpPr>
          <p:nvPr/>
        </p:nvSpPr>
        <p:spPr>
          <a:xfrm xmlns:a="http://schemas.openxmlformats.org/drawingml/2006/main">
            <a:off x="952500" y="33147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results/vf/vf_dataset_diagnostics.txt</a:t>
            </a:r>
          </a:p>
        </p:txBody>
      </p:sp>
      <p:sp>
        <p:nvSpPr>
          <p:cNvPr id="19" name="">
            <a:extLst xmlns:a="http://schemas.openxmlformats.org/drawingml/2006/main">
              <a:ext uri="{FF2B5EF4-FFF2-40B4-BE49-F238E27FC236}">
                <a16:creationId xmlns:a16="http://schemas.microsoft.com/office/drawing/2014/main" id="{CA4279B7-CCCA-4427-97C9-902D5F51BFA9}"/>
              </a:ext>
            </a:extLst>
          </p:cNvPr>
          <p:cNvSpPr>
            <a:spLocks xmlns:a="http://schemas.openxmlformats.org/drawingml/2006/main" noGrp="1"/>
          </p:cNvSpPr>
          <p:nvPr/>
        </p:nvSpPr>
        <p:spPr>
          <a:xfrm xmlns:a="http://schemas.openxmlformats.org/drawingml/2006/main">
            <a:off x="781050" y="37147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0" name="">
            <a:extLst xmlns:a="http://schemas.openxmlformats.org/drawingml/2006/main">
              <a:ext uri="{FF2B5EF4-FFF2-40B4-BE49-F238E27FC236}">
                <a16:creationId xmlns:a16="http://schemas.microsoft.com/office/drawing/2014/main" id="{52B2E9C9-9EC4-45E2-8B82-2FE3BBFEC750}"/>
              </a:ext>
            </a:extLst>
          </p:cNvPr>
          <p:cNvSpPr>
            <a:spLocks xmlns:a="http://schemas.openxmlformats.org/drawingml/2006/main" noGrp="1"/>
          </p:cNvSpPr>
          <p:nvPr/>
        </p:nvSpPr>
        <p:spPr>
          <a:xfrm xmlns:a="http://schemas.openxmlformats.org/drawingml/2006/main">
            <a:off x="952500" y="38100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VF figure registry</a:t>
            </a:r>
          </a:p>
        </p:txBody>
      </p:sp>
      <p:sp>
        <p:nvSpPr>
          <p:cNvPr id="21" name="">
            <a:extLst xmlns:a="http://schemas.openxmlformats.org/drawingml/2006/main">
              <a:ext uri="{FF2B5EF4-FFF2-40B4-BE49-F238E27FC236}">
                <a16:creationId xmlns:a16="http://schemas.microsoft.com/office/drawing/2014/main" id="{71378BA3-9D9D-4DC9-8DC2-B223155D74A5}"/>
              </a:ext>
            </a:extLst>
          </p:cNvPr>
          <p:cNvSpPr>
            <a:spLocks xmlns:a="http://schemas.openxmlformats.org/drawingml/2006/main" noGrp="1"/>
          </p:cNvSpPr>
          <p:nvPr/>
        </p:nvSpPr>
        <p:spPr>
          <a:xfrm xmlns:a="http://schemas.openxmlformats.org/drawingml/2006/main">
            <a:off x="952500" y="40005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results/vf/vf_figure_index.csv</a:t>
            </a:r>
          </a:p>
        </p:txBody>
      </p:sp>
      <p:sp>
        <p:nvSpPr>
          <p:cNvPr id="22" name="">
            <a:extLst xmlns:a="http://schemas.openxmlformats.org/drawingml/2006/main">
              <a:ext uri="{FF2B5EF4-FFF2-40B4-BE49-F238E27FC236}">
                <a16:creationId xmlns:a16="http://schemas.microsoft.com/office/drawing/2014/main" id="{ACD1F8DE-1C03-4160-A4ED-6A79AA12F47C}"/>
              </a:ext>
            </a:extLst>
          </p:cNvPr>
          <p:cNvSpPr>
            <a:spLocks xmlns:a="http://schemas.openxmlformats.org/drawingml/2006/main" noGrp="1"/>
          </p:cNvSpPr>
          <p:nvPr/>
        </p:nvSpPr>
        <p:spPr>
          <a:xfrm xmlns:a="http://schemas.openxmlformats.org/drawingml/2006/main">
            <a:off x="781050" y="44005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3" name="">
            <a:extLst xmlns:a="http://schemas.openxmlformats.org/drawingml/2006/main">
              <a:ext uri="{FF2B5EF4-FFF2-40B4-BE49-F238E27FC236}">
                <a16:creationId xmlns:a16="http://schemas.microsoft.com/office/drawing/2014/main" id="{A575AB12-EF6A-4FA1-9E72-D3EBBD1D09DA}"/>
              </a:ext>
            </a:extLst>
          </p:cNvPr>
          <p:cNvSpPr>
            <a:spLocks xmlns:a="http://schemas.openxmlformats.org/drawingml/2006/main" noGrp="1"/>
          </p:cNvSpPr>
          <p:nvPr/>
        </p:nvSpPr>
        <p:spPr>
          <a:xfrm xmlns:a="http://schemas.openxmlformats.org/drawingml/2006/main">
            <a:off x="952500" y="44958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VF visual audit</a:t>
            </a:r>
          </a:p>
        </p:txBody>
      </p:sp>
      <p:sp>
        <p:nvSpPr>
          <p:cNvPr id="24" name="">
            <a:extLst xmlns:a="http://schemas.openxmlformats.org/drawingml/2006/main">
              <a:ext uri="{FF2B5EF4-FFF2-40B4-BE49-F238E27FC236}">
                <a16:creationId xmlns:a16="http://schemas.microsoft.com/office/drawing/2014/main" id="{7457DDD8-0D9A-4E57-A481-E13EB5E84231}"/>
              </a:ext>
            </a:extLst>
          </p:cNvPr>
          <p:cNvSpPr>
            <a:spLocks xmlns:a="http://schemas.openxmlformats.org/drawingml/2006/main" noGrp="1"/>
          </p:cNvSpPr>
          <p:nvPr/>
        </p:nvSpPr>
        <p:spPr>
          <a:xfrm xmlns:a="http://schemas.openxmlformats.org/drawingml/2006/main">
            <a:off x="952500" y="46863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results/vf/vf_visualisation_audit.csv</a:t>
            </a:r>
          </a:p>
        </p:txBody>
      </p:sp>
      <p:sp>
        <p:nvSpPr>
          <p:cNvPr id="25" name="">
            <a:extLst xmlns:a="http://schemas.openxmlformats.org/drawingml/2006/main">
              <a:ext uri="{FF2B5EF4-FFF2-40B4-BE49-F238E27FC236}">
                <a16:creationId xmlns:a16="http://schemas.microsoft.com/office/drawing/2014/main" id="{B95E0E20-E5A5-4B8A-A171-5F0FBC839C41}"/>
              </a:ext>
            </a:extLst>
          </p:cNvPr>
          <p:cNvSpPr>
            <a:spLocks xmlns:a="http://schemas.openxmlformats.org/drawingml/2006/main" noGrp="1"/>
          </p:cNvSpPr>
          <p:nvPr/>
        </p:nvSpPr>
        <p:spPr>
          <a:xfrm xmlns:a="http://schemas.openxmlformats.org/drawingml/2006/main">
            <a:off x="6477000" y="16573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6" name="">
            <a:extLst xmlns:a="http://schemas.openxmlformats.org/drawingml/2006/main">
              <a:ext uri="{FF2B5EF4-FFF2-40B4-BE49-F238E27FC236}">
                <a16:creationId xmlns:a16="http://schemas.microsoft.com/office/drawing/2014/main" id="{EEC9E424-C1A0-4019-86BF-068FD9290192}"/>
              </a:ext>
            </a:extLst>
          </p:cNvPr>
          <p:cNvSpPr>
            <a:spLocks xmlns:a="http://schemas.openxmlformats.org/drawingml/2006/main" noGrp="1"/>
          </p:cNvSpPr>
          <p:nvPr/>
        </p:nvSpPr>
        <p:spPr>
          <a:xfrm xmlns:a="http://schemas.openxmlformats.org/drawingml/2006/main">
            <a:off x="6648450" y="17526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Longitudinal summary</a:t>
            </a:r>
          </a:p>
        </p:txBody>
      </p:sp>
      <p:sp>
        <p:nvSpPr>
          <p:cNvPr id="27" name="">
            <a:extLst xmlns:a="http://schemas.openxmlformats.org/drawingml/2006/main">
              <a:ext uri="{FF2B5EF4-FFF2-40B4-BE49-F238E27FC236}">
                <a16:creationId xmlns:a16="http://schemas.microsoft.com/office/drawing/2014/main" id="{A0282099-0374-4E1A-AFEA-D0674D981422}"/>
              </a:ext>
            </a:extLst>
          </p:cNvPr>
          <p:cNvSpPr>
            <a:spLocks xmlns:a="http://schemas.openxmlformats.org/drawingml/2006/main" noGrp="1"/>
          </p:cNvSpPr>
          <p:nvPr/>
        </p:nvSpPr>
        <p:spPr>
          <a:xfrm xmlns:a="http://schemas.openxmlformats.org/drawingml/2006/main">
            <a:off x="6648450" y="19431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results/vf/vf_longitudinal_summary.txt</a:t>
            </a:r>
          </a:p>
        </p:txBody>
      </p:sp>
      <p:sp>
        <p:nvSpPr>
          <p:cNvPr id="28" name="">
            <a:extLst xmlns:a="http://schemas.openxmlformats.org/drawingml/2006/main">
              <a:ext uri="{FF2B5EF4-FFF2-40B4-BE49-F238E27FC236}">
                <a16:creationId xmlns:a16="http://schemas.microsoft.com/office/drawing/2014/main" id="{80F6181D-D610-44CA-80A5-52FB39485910}"/>
              </a:ext>
            </a:extLst>
          </p:cNvPr>
          <p:cNvSpPr>
            <a:spLocks xmlns:a="http://schemas.openxmlformats.org/drawingml/2006/main" noGrp="1"/>
          </p:cNvSpPr>
          <p:nvPr/>
        </p:nvSpPr>
        <p:spPr>
          <a:xfrm xmlns:a="http://schemas.openxmlformats.org/drawingml/2006/main">
            <a:off x="6477000" y="23431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9" name="">
            <a:extLst xmlns:a="http://schemas.openxmlformats.org/drawingml/2006/main">
              <a:ext uri="{FF2B5EF4-FFF2-40B4-BE49-F238E27FC236}">
                <a16:creationId xmlns:a16="http://schemas.microsoft.com/office/drawing/2014/main" id="{B7207556-D304-4804-9CAB-10589090315C}"/>
              </a:ext>
            </a:extLst>
          </p:cNvPr>
          <p:cNvSpPr>
            <a:spLocks xmlns:a="http://schemas.openxmlformats.org/drawingml/2006/main" noGrp="1"/>
          </p:cNvSpPr>
          <p:nvPr/>
        </p:nvSpPr>
        <p:spPr>
          <a:xfrm xmlns:a="http://schemas.openxmlformats.org/drawingml/2006/main">
            <a:off x="6648450" y="24384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Module notes</a:t>
            </a:r>
          </a:p>
        </p:txBody>
      </p:sp>
      <p:sp>
        <p:nvSpPr>
          <p:cNvPr id="30" name="">
            <a:extLst xmlns:a="http://schemas.openxmlformats.org/drawingml/2006/main">
              <a:ext uri="{FF2B5EF4-FFF2-40B4-BE49-F238E27FC236}">
                <a16:creationId xmlns:a16="http://schemas.microsoft.com/office/drawing/2014/main" id="{655414D4-B393-4103-8B50-D04B953FEC51}"/>
              </a:ext>
            </a:extLst>
          </p:cNvPr>
          <p:cNvSpPr>
            <a:spLocks xmlns:a="http://schemas.openxmlformats.org/drawingml/2006/main" noGrp="1"/>
          </p:cNvSpPr>
          <p:nvPr/>
        </p:nvSpPr>
        <p:spPr>
          <a:xfrm xmlns:a="http://schemas.openxmlformats.org/drawingml/2006/main">
            <a:off x="6648450" y="26289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results/vf/vf_module_definition_notes.md</a:t>
            </a:r>
          </a:p>
        </p:txBody>
      </p:sp>
      <p:sp>
        <p:nvSpPr>
          <p:cNvPr id="31" name="">
            <a:extLst xmlns:a="http://schemas.openxmlformats.org/drawingml/2006/main">
              <a:ext uri="{FF2B5EF4-FFF2-40B4-BE49-F238E27FC236}">
                <a16:creationId xmlns:a16="http://schemas.microsoft.com/office/drawing/2014/main" id="{B1F7E49A-8A91-4A35-B7EA-06585B957535}"/>
              </a:ext>
            </a:extLst>
          </p:cNvPr>
          <p:cNvSpPr>
            <a:spLocks xmlns:a="http://schemas.openxmlformats.org/drawingml/2006/main" noGrp="1"/>
          </p:cNvSpPr>
          <p:nvPr/>
        </p:nvSpPr>
        <p:spPr>
          <a:xfrm xmlns:a="http://schemas.openxmlformats.org/drawingml/2006/main">
            <a:off x="6477000" y="30289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2" name="">
            <a:extLst xmlns:a="http://schemas.openxmlformats.org/drawingml/2006/main">
              <a:ext uri="{FF2B5EF4-FFF2-40B4-BE49-F238E27FC236}">
                <a16:creationId xmlns:a16="http://schemas.microsoft.com/office/drawing/2014/main" id="{E49D8DD2-191F-4004-BCE8-CEEBEBE1DCFB}"/>
              </a:ext>
            </a:extLst>
          </p:cNvPr>
          <p:cNvSpPr>
            <a:spLocks xmlns:a="http://schemas.openxmlformats.org/drawingml/2006/main" noGrp="1"/>
          </p:cNvSpPr>
          <p:nvPr/>
        </p:nvSpPr>
        <p:spPr>
          <a:xfrm xmlns:a="http://schemas.openxmlformats.org/drawingml/2006/main">
            <a:off x="6648450" y="31242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Casebook</a:t>
            </a:r>
          </a:p>
        </p:txBody>
      </p:sp>
      <p:sp>
        <p:nvSpPr>
          <p:cNvPr id="33" name="">
            <a:extLst xmlns:a="http://schemas.openxmlformats.org/drawingml/2006/main">
              <a:ext uri="{FF2B5EF4-FFF2-40B4-BE49-F238E27FC236}">
                <a16:creationId xmlns:a16="http://schemas.microsoft.com/office/drawing/2014/main" id="{163D5946-BF23-4902-8D98-19AA84D8FC66}"/>
              </a:ext>
            </a:extLst>
          </p:cNvPr>
          <p:cNvSpPr>
            <a:spLocks xmlns:a="http://schemas.openxmlformats.org/drawingml/2006/main" noGrp="1"/>
          </p:cNvSpPr>
          <p:nvPr/>
        </p:nvSpPr>
        <p:spPr>
          <a:xfrm xmlns:a="http://schemas.openxmlformats.org/drawingml/2006/main">
            <a:off x="6648450" y="33147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results/mechanism/not_uti_to_uti_casebook.md</a:t>
            </a:r>
          </a:p>
        </p:txBody>
      </p:sp>
      <p:sp>
        <p:nvSpPr>
          <p:cNvPr id="34" name="">
            <a:extLst xmlns:a="http://schemas.openxmlformats.org/drawingml/2006/main">
              <a:ext uri="{FF2B5EF4-FFF2-40B4-BE49-F238E27FC236}">
                <a16:creationId xmlns:a16="http://schemas.microsoft.com/office/drawing/2014/main" id="{70687FFE-8001-4219-902E-3456E6C0D68C}"/>
              </a:ext>
            </a:extLst>
          </p:cNvPr>
          <p:cNvSpPr>
            <a:spLocks xmlns:a="http://schemas.openxmlformats.org/drawingml/2006/main" noGrp="1"/>
          </p:cNvSpPr>
          <p:nvPr/>
        </p:nvSpPr>
        <p:spPr>
          <a:xfrm xmlns:a="http://schemas.openxmlformats.org/drawingml/2006/main">
            <a:off x="6477000" y="37147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5" name="">
            <a:extLst xmlns:a="http://schemas.openxmlformats.org/drawingml/2006/main">
              <a:ext uri="{FF2B5EF4-FFF2-40B4-BE49-F238E27FC236}">
                <a16:creationId xmlns:a16="http://schemas.microsoft.com/office/drawing/2014/main" id="{CA7B438F-6770-49B9-B5AF-99A3B1B015EE}"/>
              </a:ext>
            </a:extLst>
          </p:cNvPr>
          <p:cNvSpPr>
            <a:spLocks xmlns:a="http://schemas.openxmlformats.org/drawingml/2006/main" noGrp="1"/>
          </p:cNvSpPr>
          <p:nvPr/>
        </p:nvSpPr>
        <p:spPr>
          <a:xfrm xmlns:a="http://schemas.openxmlformats.org/drawingml/2006/main">
            <a:off x="6648450" y="38100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Pipeline explanation</a:t>
            </a:r>
          </a:p>
        </p:txBody>
      </p:sp>
      <p:sp>
        <p:nvSpPr>
          <p:cNvPr id="36" name="">
            <a:extLst xmlns:a="http://schemas.openxmlformats.org/drawingml/2006/main">
              <a:ext uri="{FF2B5EF4-FFF2-40B4-BE49-F238E27FC236}">
                <a16:creationId xmlns:a16="http://schemas.microsoft.com/office/drawing/2014/main" id="{E81FF67D-FAE1-46E4-BA47-1DE84C707746}"/>
              </a:ext>
            </a:extLst>
          </p:cNvPr>
          <p:cNvSpPr>
            <a:spLocks xmlns:a="http://schemas.openxmlformats.org/drawingml/2006/main" noGrp="1"/>
          </p:cNvSpPr>
          <p:nvPr/>
        </p:nvSpPr>
        <p:spPr>
          <a:xfrm xmlns:a="http://schemas.openxmlformats.org/drawingml/2006/main">
            <a:off x="6648450" y="40005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docs/pipeline_architecture.md</a:t>
            </a:r>
          </a:p>
        </p:txBody>
      </p:sp>
      <p:sp>
        <p:nvSpPr>
          <p:cNvPr id="37" name="">
            <a:extLst xmlns:a="http://schemas.openxmlformats.org/drawingml/2006/main">
              <a:ext uri="{FF2B5EF4-FFF2-40B4-BE49-F238E27FC236}">
                <a16:creationId xmlns:a16="http://schemas.microsoft.com/office/drawing/2014/main" id="{50DDAFDA-9FF7-4F7A-A7F9-5A984213C278}"/>
              </a:ext>
            </a:extLst>
          </p:cNvPr>
          <p:cNvSpPr>
            <a:spLocks xmlns:a="http://schemas.openxmlformats.org/drawingml/2006/main" noGrp="1"/>
          </p:cNvSpPr>
          <p:nvPr/>
        </p:nvSpPr>
        <p:spPr>
          <a:xfrm xmlns:a="http://schemas.openxmlformats.org/drawingml/2006/main">
            <a:off x="6477000" y="44005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8" name="">
            <a:extLst xmlns:a="http://schemas.openxmlformats.org/drawingml/2006/main">
              <a:ext uri="{FF2B5EF4-FFF2-40B4-BE49-F238E27FC236}">
                <a16:creationId xmlns:a16="http://schemas.microsoft.com/office/drawing/2014/main" id="{89137A25-4C2A-4D25-ADA4-8134E131A86E}"/>
              </a:ext>
            </a:extLst>
          </p:cNvPr>
          <p:cNvSpPr>
            <a:spLocks xmlns:a="http://schemas.openxmlformats.org/drawingml/2006/main" noGrp="1"/>
          </p:cNvSpPr>
          <p:nvPr/>
        </p:nvSpPr>
        <p:spPr>
          <a:xfrm xmlns:a="http://schemas.openxmlformats.org/drawingml/2006/main">
            <a:off x="6648450" y="44958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Dense backup lookup</a:t>
            </a:r>
          </a:p>
        </p:txBody>
      </p:sp>
      <p:sp>
        <p:nvSpPr>
          <p:cNvPr id="39" name="">
            <a:extLst xmlns:a="http://schemas.openxmlformats.org/drawingml/2006/main">
              <a:ext uri="{FF2B5EF4-FFF2-40B4-BE49-F238E27FC236}">
                <a16:creationId xmlns:a16="http://schemas.microsoft.com/office/drawing/2014/main" id="{65CA23D2-7FB0-4E2D-A93F-FFDB5F09E89D}"/>
              </a:ext>
            </a:extLst>
          </p:cNvPr>
          <p:cNvSpPr>
            <a:spLocks xmlns:a="http://schemas.openxmlformats.org/drawingml/2006/main" noGrp="1"/>
          </p:cNvSpPr>
          <p:nvPr/>
        </p:nvSpPr>
        <p:spPr>
          <a:xfrm xmlns:a="http://schemas.openxmlformats.org/drawingml/2006/main">
            <a:off x="6648450" y="46863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results/longitudinal/swimmer_plot.png</a:t>
            </a:r>
          </a:p>
        </p:txBody>
      </p:sp>
      <p:sp>
        <p:nvSpPr>
          <p:cNvPr id="40" name="">
            <a:extLst xmlns:a="http://schemas.openxmlformats.org/drawingml/2006/main">
              <a:ext uri="{FF2B5EF4-FFF2-40B4-BE49-F238E27FC236}">
                <a16:creationId xmlns:a16="http://schemas.microsoft.com/office/drawing/2014/main" id="{93E49FA9-B80F-4174-9562-7ECB46D38A0B}"/>
              </a:ext>
            </a:extLst>
          </p:cNvPr>
          <p:cNvSpPr>
            <a:spLocks xmlns:a="http://schemas.openxmlformats.org/drawingml/2006/main" noGrp="1"/>
          </p:cNvSpPr>
          <p:nvPr/>
        </p:nvSpPr>
        <p:spPr>
          <a:xfrm xmlns:a="http://schemas.openxmlformats.org/drawingml/2006/main">
            <a:off x="1809750" y="5429250"/>
            <a:ext cx="8572500" cy="533400"/>
          </a:xfrm>
          <a:prstGeom xmlns:a="http://schemas.openxmlformats.org/drawingml/2006/main" prst="roundRect">
            <a:avLst>
              <a:gd name="adj" fmla="val 14286"/>
            </a:avLst>
          </a:prstGeom>
          <a:solidFill xmlns:a="http://schemas.openxmlformats.org/drawingml/2006/main">
            <a:srgbClr val="FFF4E6"/>
          </a:solidFill>
          <a:ln xmlns:a="http://schemas.openxmlformats.org/drawingml/2006/main" w="9525">
            <a:solidFill>
              <a:srgbClr val="FED7AA"/>
            </a:solidFill>
            <a:prstDash val="solid"/>
          </a:ln>
        </p:spPr>
      </p:sp>
      <p:sp>
        <p:nvSpPr>
          <p:cNvPr id="41" name="">
            <a:extLst xmlns:a="http://schemas.openxmlformats.org/drawingml/2006/main">
              <a:ext uri="{FF2B5EF4-FFF2-40B4-BE49-F238E27FC236}">
                <a16:creationId xmlns:a16="http://schemas.microsoft.com/office/drawing/2014/main" id="{8BB76E0B-A5F7-45BD-B07F-E5D033CD1AE0}"/>
              </a:ext>
            </a:extLst>
          </p:cNvPr>
          <p:cNvSpPr>
            <a:spLocks xmlns:a="http://schemas.openxmlformats.org/drawingml/2006/main" noGrp="1"/>
          </p:cNvSpPr>
          <p:nvPr/>
        </p:nvSpPr>
        <p:spPr>
          <a:xfrm xmlns:a="http://schemas.openxmlformats.org/drawingml/2006/main">
            <a:off x="1981200" y="5600700"/>
            <a:ext cx="8229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827"/>
                </a:solidFill>
                <a:latin typeface="Aptos"/>
                <a:ea typeface="Aptos"/>
                <a:cs typeface="Aptos"/>
              </a:defRPr>
            </a:pPr>
            <a:r>
              <a:rPr sz="1050" b="1">
                <a:solidFill>
                  <a:srgbClr val="111827"/>
                </a:solidFill>
                <a:latin typeface="Aptos"/>
                <a:ea typeface="Aptos"/>
                <a:cs typeface="Aptos"/>
              </a:rPr>
              <a:t>Guardrail for Q&amp;A</a:t>
            </a:r>
          </a:p>
        </p:txBody>
      </p:sp>
      <p:sp>
        <p:nvSpPr>
          <p:cNvPr id="42" name="">
            <a:extLst xmlns:a="http://schemas.openxmlformats.org/drawingml/2006/main">
              <a:ext uri="{FF2B5EF4-FFF2-40B4-BE49-F238E27FC236}">
                <a16:creationId xmlns:a16="http://schemas.microsoft.com/office/drawing/2014/main" id="{4D16D72C-C950-4EA6-8E8B-DFEDE388875E}"/>
              </a:ext>
            </a:extLst>
          </p:cNvPr>
          <p:cNvSpPr>
            <a:spLocks xmlns:a="http://schemas.openxmlformats.org/drawingml/2006/main" noGrp="1"/>
          </p:cNvSpPr>
          <p:nvPr/>
        </p:nvSpPr>
        <p:spPr>
          <a:xfrm xmlns:a="http://schemas.openxmlformats.org/drawingml/2006/main">
            <a:off x="1981200" y="5886450"/>
            <a:ext cx="82296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Use Supplementary Figures S1 and S3-S5 for transition/sensitivity questions; do not convert backup diagnostics into confirmatory VF, AMR, or mechanism claims.</a:t>
            </a:r>
          </a:p>
        </p:txBody>
      </p:sp>
    </p:spTree>
    <p:extLst>
      <p:ext uri="{BB962C8B-B14F-4D97-AF65-F5344CB8AC3E}">
        <p14:creationId xmlns:p14="http://schemas.microsoft.com/office/powerpoint/2010/main" val="1675629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2026-05-27T21:06:17.4520000Z</dcterms:created>
  <dcterms:modified xsi:type="dcterms:W3CDTF">2026-05-27T21:06:17.4520000Z</dcterms:modified>
</coreProperties>
</file>