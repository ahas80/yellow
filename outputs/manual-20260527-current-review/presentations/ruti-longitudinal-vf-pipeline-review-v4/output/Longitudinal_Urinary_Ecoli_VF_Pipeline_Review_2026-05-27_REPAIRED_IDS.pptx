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notesMasters/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Layouts/slideLayout2.xml" ContentType="application/vnd.openxmlformats-officedocument.presentationml.slideLayout+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5e3efc481bfe47cf" /><Relationship Type="http://schemas.openxmlformats.org/officeDocument/2006/relationships/extended-properties" Target="/docProps/app.xml" Id="R3954efb1f4c64618" /><Relationship Type="http://schemas.openxmlformats.org/officeDocument/2006/relationships/officeDocument" Target="/ppt/presentation.xml" Id="R6b9450bbbdc142d2" /></Relationships>
</file>

<file path=ppt/presentation.xml><?xml version="1.0" encoding="utf-8"?>
<p:presentation xmlns:p="http://schemas.openxmlformats.org/presentationml/2006/main">
  <p:sldMasterIdLst>
    <p:sldMasterId xmlns:r="http://schemas.openxmlformats.org/officeDocument/2006/relationships" id="2147483648" r:id="Rd4d461d7a83e4ed8"/>
  </p:sldMasterIdLst>
  <p:notesMasterIdLst>
    <p:notesMasterId xmlns:r="http://schemas.openxmlformats.org/officeDocument/2006/relationships" r:id="R91fea0ce7ed74caf"/>
  </p:notesMasterIdLst>
  <p:sldIdLst>
    <p:sldId xmlns:r="http://schemas.openxmlformats.org/officeDocument/2006/relationships" id="256" r:id="R8a8193ab343d4a30"/>
    <p:sldId xmlns:r="http://schemas.openxmlformats.org/officeDocument/2006/relationships" id="257" r:id="R1656417372214f24"/>
    <p:sldId xmlns:r="http://schemas.openxmlformats.org/officeDocument/2006/relationships" id="258" r:id="R01ef6ae5742f4fbd"/>
    <p:sldId xmlns:r="http://schemas.openxmlformats.org/officeDocument/2006/relationships" id="259" r:id="R0a4dde26ffe2402e"/>
    <p:sldId xmlns:r="http://schemas.openxmlformats.org/officeDocument/2006/relationships" id="260" r:id="R4f137657bded492c"/>
    <p:sldId xmlns:r="http://schemas.openxmlformats.org/officeDocument/2006/relationships" id="261" r:id="R9e30785441cc4865"/>
    <p:sldId xmlns:r="http://schemas.openxmlformats.org/officeDocument/2006/relationships" id="262" r:id="Rc3c51023e0774534"/>
    <p:sldId xmlns:r="http://schemas.openxmlformats.org/officeDocument/2006/relationships" id="263" r:id="Rf1262cbce1f54713"/>
    <p:sldId xmlns:r="http://schemas.openxmlformats.org/officeDocument/2006/relationships" id="264" r:id="R85f61a220f3f4371"/>
    <p:sldId xmlns:r="http://schemas.openxmlformats.org/officeDocument/2006/relationships" id="265" r:id="Rb6ab7452a9b44add"/>
    <p:sldId xmlns:r="http://schemas.openxmlformats.org/officeDocument/2006/relationships" id="266" r:id="R92b92c8644df4502"/>
    <p:sldId xmlns:r="http://schemas.openxmlformats.org/officeDocument/2006/relationships" id="267" r:id="R8e62b554d8964762"/>
    <p:sldId xmlns:r="http://schemas.openxmlformats.org/officeDocument/2006/relationships" id="268" r:id="Rd373a98c025343fc"/>
    <p:sldId xmlns:r="http://schemas.openxmlformats.org/officeDocument/2006/relationships" id="269" r:id="Rd024e3173a064026"/>
    <p:sldId xmlns:r="http://schemas.openxmlformats.org/officeDocument/2006/relationships" id="270" r:id="Rb3c15d4228f34000"/>
    <p:sldId xmlns:r="http://schemas.openxmlformats.org/officeDocument/2006/relationships" id="271" r:id="R21aaeb66e55747c5"/>
    <p:sldId xmlns:r="http://schemas.openxmlformats.org/officeDocument/2006/relationships" id="272" r:id="Rd2abd4bf2ac14b09"/>
    <p:sldId xmlns:r="http://schemas.openxmlformats.org/officeDocument/2006/relationships" id="273" r:id="R715bb8d1eb2147ea"/>
    <p:sldId xmlns:r="http://schemas.openxmlformats.org/officeDocument/2006/relationships" id="274" r:id="R828e978cf0d0414d"/>
    <p:sldId xmlns:r="http://schemas.openxmlformats.org/officeDocument/2006/relationships" id="275" r:id="R6a975a0083fb43d8"/>
    <p:sldId xmlns:r="http://schemas.openxmlformats.org/officeDocument/2006/relationships" id="276" r:id="Rfd46cd63387d4a51"/>
    <p:sldId xmlns:r="http://schemas.openxmlformats.org/officeDocument/2006/relationships" id="277" r:id="Rafa4223bdc9b4a3e"/>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normalViewPr>
    <p:restoredLeft sz="15611"/>
    <p:restoredTop sz="94658"/>
  </p:normalViewPr>
  <p:slideViewPr>
    <p:cSldViewPr snapToGrid="0">
      <p:cViewPr varScale="1">
        <p:scale>
          <a:sx xmlns:a="http://schemas.openxmlformats.org/drawingml/2006/main" n="120" d="100"/>
          <a:sy xmlns:a="http://schemas.openxmlformats.org/drawingml/2006/main" n="120" d="100"/>
        </p:scale>
        <p:origin x="800" y="184"/>
      </p:cViewPr>
      <p:guideLst/>
    </p:cSldViewPr>
  </p:slideViewPr>
  <p:notesTextViewPr>
    <p:cViewPr>
      <p:scale>
        <a:sx xmlns:a="http://schemas.openxmlformats.org/drawingml/2006/main" n="1" d="1"/>
        <a:sy xmlns:a="http://schemas.openxmlformats.org/drawingml/2006/main"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Master" Target="/ppt/slideMasters/slideMaster1.xml" Id="Rd4d461d7a83e4ed8" /><Relationship Type="http://schemas.openxmlformats.org/officeDocument/2006/relationships/theme" Target="/ppt/theme/theme1.xml" Id="Rf1a78e890d364af4" /><Relationship Type="http://schemas.openxmlformats.org/officeDocument/2006/relationships/notesMaster" Target="/ppt/notesMasters/notesMaster1.xml" Id="R91fea0ce7ed74caf" /><Relationship Type="http://schemas.openxmlformats.org/officeDocument/2006/relationships/presProps" Target="/ppt/presProps.xml" Id="R0f7d260dcb404e8e" /><Relationship Type="http://schemas.openxmlformats.org/officeDocument/2006/relationships/viewProps" Target="/ppt/viewProps.xml" Id="R87dd122ea77f45f9" /><Relationship Type="http://schemas.openxmlformats.org/officeDocument/2006/relationships/tableStyles" Target="/ppt/tableStyles.xml" Id="R0a6b64923278433a" /><Relationship Type="http://schemas.openxmlformats.org/officeDocument/2006/relationships/slide" Target="/ppt/slides/slide1.xml" Id="R8a8193ab343d4a30" /><Relationship Type="http://schemas.openxmlformats.org/officeDocument/2006/relationships/slide" Target="/ppt/slides/slide2.xml" Id="R1656417372214f24" /><Relationship Type="http://schemas.openxmlformats.org/officeDocument/2006/relationships/slide" Target="/ppt/slides/slide3.xml" Id="R01ef6ae5742f4fbd" /><Relationship Type="http://schemas.openxmlformats.org/officeDocument/2006/relationships/slide" Target="/ppt/slides/slide4.xml" Id="R0a4dde26ffe2402e" /><Relationship Type="http://schemas.openxmlformats.org/officeDocument/2006/relationships/slide" Target="/ppt/slides/slide5.xml" Id="R4f137657bded492c" /><Relationship Type="http://schemas.openxmlformats.org/officeDocument/2006/relationships/slide" Target="/ppt/slides/slide6.xml" Id="R9e30785441cc4865" /><Relationship Type="http://schemas.openxmlformats.org/officeDocument/2006/relationships/slide" Target="/ppt/slides/slide7.xml" Id="Rc3c51023e0774534" /><Relationship Type="http://schemas.openxmlformats.org/officeDocument/2006/relationships/slide" Target="/ppt/slides/slide8.xml" Id="Rf1262cbce1f54713" /><Relationship Type="http://schemas.openxmlformats.org/officeDocument/2006/relationships/slide" Target="/ppt/slides/slide9.xml" Id="R85f61a220f3f4371" /><Relationship Type="http://schemas.openxmlformats.org/officeDocument/2006/relationships/slide" Target="/ppt/slides/slide10.xml" Id="Rb6ab7452a9b44add" /><Relationship Type="http://schemas.openxmlformats.org/officeDocument/2006/relationships/slide" Target="/ppt/slides/slide11.xml" Id="R92b92c8644df4502" /><Relationship Type="http://schemas.openxmlformats.org/officeDocument/2006/relationships/slide" Target="/ppt/slides/slide12.xml" Id="R8e62b554d8964762" /><Relationship Type="http://schemas.openxmlformats.org/officeDocument/2006/relationships/slide" Target="/ppt/slides/slide13.xml" Id="Rd373a98c025343fc" /><Relationship Type="http://schemas.openxmlformats.org/officeDocument/2006/relationships/slide" Target="/ppt/slides/slide14.xml" Id="Rd024e3173a064026" /><Relationship Type="http://schemas.openxmlformats.org/officeDocument/2006/relationships/slide" Target="/ppt/slides/slide15.xml" Id="Rb3c15d4228f34000" /><Relationship Type="http://schemas.openxmlformats.org/officeDocument/2006/relationships/slide" Target="/ppt/slides/slide16.xml" Id="R21aaeb66e55747c5" /><Relationship Type="http://schemas.openxmlformats.org/officeDocument/2006/relationships/slide" Target="/ppt/slides/slide17.xml" Id="Rd2abd4bf2ac14b09" /><Relationship Type="http://schemas.openxmlformats.org/officeDocument/2006/relationships/slide" Target="/ppt/slides/slide18.xml" Id="R715bb8d1eb2147ea" /><Relationship Type="http://schemas.openxmlformats.org/officeDocument/2006/relationships/slide" Target="/ppt/slides/slide19.xml" Id="R828e978cf0d0414d" /><Relationship Type="http://schemas.openxmlformats.org/officeDocument/2006/relationships/slide" Target="/ppt/slides/slide20.xml" Id="R6a975a0083fb43d8" /><Relationship Type="http://schemas.openxmlformats.org/officeDocument/2006/relationships/slide" Target="/ppt/slides/slide21.xml" Id="Rfd46cd63387d4a51" /><Relationship Type="http://schemas.openxmlformats.org/officeDocument/2006/relationships/slide" Target="/ppt/slides/slide22.xml" Id="Rafa4223bdc9b4a3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2.xml" Id="R8eb6ca65e9744c4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fc18e51831b425c" /><Relationship Type="http://schemas.openxmlformats.org/officeDocument/2006/relationships/notesMaster" Target="/ppt/notesMasters/notesMaster1.xml" Id="R2ff7e01ba5ef466f" /></Relationships>
</file>

<file path=ppt/notesSlides/_rels/notesSlide2.xml.rels>&#65279;<?xml version="1.0" encoding="utf-8"?><Relationships xmlns="http://schemas.openxmlformats.org/package/2006/relationships"><Relationship Type="http://schemas.openxmlformats.org/officeDocument/2006/relationships/slide" Target="/ppt/slides/slide2.xml" Id="R1f31870dd9bc4297" /><Relationship Type="http://schemas.openxmlformats.org/officeDocument/2006/relationships/notesMaster" Target="/ppt/notesMasters/notesMaster1.xml" Id="R80fd888c965f4fa0" /></Relationships>
</file>

<file path=ppt/notesSlides/_rels/notesSlide3.xml.rels>&#65279;<?xml version="1.0" encoding="utf-8"?><Relationships xmlns="http://schemas.openxmlformats.org/package/2006/relationships"><Relationship Type="http://schemas.openxmlformats.org/officeDocument/2006/relationships/slide" Target="/ppt/slides/slide3.xml" Id="R0b23e9f1b07942a1" /><Relationship Type="http://schemas.openxmlformats.org/officeDocument/2006/relationships/notesMaster" Target="/ppt/notesMasters/notesMaster1.xml" Id="R4de10b2f3dba4e85" /></Relationships>
</file>

<file path=ppt/notesSlides/_rels/notesSlide4.xml.rels>&#65279;<?xml version="1.0" encoding="utf-8"?><Relationships xmlns="http://schemas.openxmlformats.org/package/2006/relationships"><Relationship Type="http://schemas.openxmlformats.org/officeDocument/2006/relationships/slide" Target="/ppt/slides/slide4.xml" Id="R25e6a04bb42e4769" /><Relationship Type="http://schemas.openxmlformats.org/officeDocument/2006/relationships/notesMaster" Target="/ppt/notesMasters/notesMaster1.xml" Id="R4751edce79674050" /></Relationships>
</file>

<file path=ppt/notesSlides/_rels/notesSlide5.xml.rels>&#65279;<?xml version="1.0" encoding="utf-8"?><Relationships xmlns="http://schemas.openxmlformats.org/package/2006/relationships"><Relationship Type="http://schemas.openxmlformats.org/officeDocument/2006/relationships/slide" Target="/ppt/slides/slide5.xml" Id="R9a888833857047ab" /><Relationship Type="http://schemas.openxmlformats.org/officeDocument/2006/relationships/notesMaster" Target="/ppt/notesMasters/notesMaster1.xml" Id="R2c35942efb204f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e9ffe29835a400e" /><Relationship Type="http://schemas.openxmlformats.org/officeDocument/2006/relationships/notesMaster" Target="/ppt/notesMasters/notesMaster1.xml" Id="Rd780a2d2eebf49b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6f76c9167c244c7" /><Relationship Type="http://schemas.openxmlformats.org/officeDocument/2006/relationships/notesMaster" Target="/ppt/notesMasters/notesMaster1.xml" Id="R991c7de2e2da4b4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b94079b07244d68" /><Relationship Type="http://schemas.openxmlformats.org/officeDocument/2006/relationships/notesMaster" Target="/ppt/notesMasters/notesMaster1.xml" Id="R40cc0e99e2c5480d" /></Relationships>
</file>

<file path=ppt/notesSlides/_rels/notesSlide9.xml.rels>&#65279;<?xml version="1.0" encoding="utf-8"?><Relationships xmlns="http://schemas.openxmlformats.org/package/2006/relationships"><Relationship Type="http://schemas.openxmlformats.org/officeDocument/2006/relationships/slide" Target="/ppt/slides/slide9.xml" Id="Rbd32a6bb71554e2b" /><Relationship Type="http://schemas.openxmlformats.org/officeDocument/2006/relationships/notesMaster" Target="/ppt/notesMasters/notesMaster1.xml" Id="R17ffbf15d0d1437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d526ca1642b4dce" /><Relationship Type="http://schemas.openxmlformats.org/officeDocument/2006/relationships/notesMaster" Target="/ppt/notesMasters/notesMaster1.xml" Id="R7a207aa988de43f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994a3c8cacd44c9" /><Relationship Type="http://schemas.openxmlformats.org/officeDocument/2006/relationships/notesMaster" Target="/ppt/notesMasters/notesMaster1.xml" Id="Rb0b5458e63a6412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d637c844d8a4b65" /><Relationship Type="http://schemas.openxmlformats.org/officeDocument/2006/relationships/notesMaster" Target="/ppt/notesMasters/notesMaster1.xml" Id="Raca45935276646b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e5f083b242b445b" /><Relationship Type="http://schemas.openxmlformats.org/officeDocument/2006/relationships/notesMaster" Target="/ppt/notesMasters/notesMaster1.xml" Id="R34aedbae7dce442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1eb57eea02d4737" /><Relationship Type="http://schemas.openxmlformats.org/officeDocument/2006/relationships/notesMaster" Target="/ppt/notesMasters/notesMaster1.xml" Id="Rb037eb4551464040"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7d3b94f987f4934" /><Relationship Type="http://schemas.openxmlformats.org/officeDocument/2006/relationships/notesMaster" Target="/ppt/notesMasters/notesMaster1.xml" Id="R596c482368bf447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9542149e41044713" /><Relationship Type="http://schemas.openxmlformats.org/officeDocument/2006/relationships/notesMaster" Target="/ppt/notesMasters/notesMaster1.xml" Id="R095dd1f2b7dc414b"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fc4f4a64ae14946" /><Relationship Type="http://schemas.openxmlformats.org/officeDocument/2006/relationships/notesMaster" Target="/ppt/notesMasters/notesMaster1.xml" Id="Rc2df2a6fcd0f4a9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512ad4a3cd194b7d" /><Relationship Type="http://schemas.openxmlformats.org/officeDocument/2006/relationships/notesMaster" Target="/ppt/notesMasters/notesMaster1.xml" Id="R7db4ae2a51c3472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1fc8607177746cb" /><Relationship Type="http://schemas.openxmlformats.org/officeDocument/2006/relationships/notesMaster" Target="/ppt/notesMasters/notesMaster1.xml" Id="R1fc9bec85f634562"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852553c7baa4fbd" /><Relationship Type="http://schemas.openxmlformats.org/officeDocument/2006/relationships/notesMaster" Target="/ppt/notesMasters/notesMaster1.xml" Id="R77fae406ed8344fd"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e07e6fb71b02469a" /><Relationship Type="http://schemas.openxmlformats.org/officeDocument/2006/relationships/notesMaster" Target="/ppt/notesMasters/notesMaster1.xml" Id="R976e912ab97c418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53177bfd5e5b4e9c" /><Relationship Type="http://schemas.openxmlformats.org/officeDocument/2006/relationships/notesMaster" Target="/ppt/notesMasters/notesMaster1.xml" Id="R08e612b459b94ef4"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646ff41b68db41f0" /></Relationships>
</file>

<file path=ppt/slideLayouts/slideLayout2.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theme/theme1.xml" Id="R519e660f2f1c4908" /><Relationship Type="http://schemas.openxmlformats.org/officeDocument/2006/relationships/slideLayout" Target="/ppt/slideLayouts/slideLayout2.xml" Id="R13d433937e6948b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13d433937e6948b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s/_rels/slide1.xml.rels>&#65279;<?xml version="1.0" encoding="utf-8"?><Relationships xmlns="http://schemas.openxmlformats.org/package/2006/relationships"><Relationship Type="http://schemas.openxmlformats.org/officeDocument/2006/relationships/slideLayout" Target="/ppt/slideLayouts/slideLayout2.xml" Id="Re0288bbf4cc4439a" /><Relationship Type="http://schemas.openxmlformats.org/officeDocument/2006/relationships/notesSlide" Target="/ppt/notesSlides/notesSlide1.xml" Id="R1e25adc2d64a45c9"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5343fff48cfc4f51" /><Relationship Type="http://schemas.openxmlformats.org/officeDocument/2006/relationships/notesSlide" Target="/ppt/notesSlides/notesSlide2.xml" Id="R2cdfda5920a24e85"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5fa988a26d894c96" /><Relationship Type="http://schemas.openxmlformats.org/officeDocument/2006/relationships/notesSlide" Target="/ppt/notesSlides/notesSlide3.xml" Id="R0355c51bd0c041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6fe8a09848214fea" /><Relationship Type="http://schemas.openxmlformats.org/officeDocument/2006/relationships/notesSlide" Target="/ppt/notesSlides/notesSlide4.xml" Id="Re89742cc1e9d4f48"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3405cdfd8489417b" /><Relationship Type="http://schemas.openxmlformats.org/officeDocument/2006/relationships/notesSlide" Target="/ppt/notesSlides/notesSlide5.xml" Id="R4a20fb1a83764837"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0509a5e714a34f1b" /><Relationship Type="http://schemas.openxmlformats.org/officeDocument/2006/relationships/image" Target="/ppt/media/image.png" Id="Rd279362720fc4317" /><Relationship Type="http://schemas.openxmlformats.org/officeDocument/2006/relationships/notesSlide" Target="/ppt/notesSlides/notesSlide6.xml" Id="Rf96ed4ef4c1943d7"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490e73a06db746eb" /><Relationship Type="http://schemas.openxmlformats.org/officeDocument/2006/relationships/image" Target="/ppt/media/image2.png" Id="Rf1f13ed1d2694a25" /><Relationship Type="http://schemas.openxmlformats.org/officeDocument/2006/relationships/notesSlide" Target="/ppt/notesSlides/notesSlide7.xml" Id="Rcebc7582beb94c36"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207cdc201f749d5" /><Relationship Type="http://schemas.openxmlformats.org/officeDocument/2006/relationships/image" Target="/ppt/media/image3.png" Id="Rcc3b52eb40eb42fc" /><Relationship Type="http://schemas.openxmlformats.org/officeDocument/2006/relationships/notesSlide" Target="/ppt/notesSlides/notesSlide8.xml" Id="Rc0cd0ad607684903"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afde1304a954434d" /><Relationship Type="http://schemas.openxmlformats.org/officeDocument/2006/relationships/image" Target="/ppt/media/image4.png" Id="Re0bc24fbf5ee4c41" /><Relationship Type="http://schemas.openxmlformats.org/officeDocument/2006/relationships/notesSlide" Target="/ppt/notesSlides/notesSlide9.xml" Id="Rf9ffe07d8b964d4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f844113e70124331" /><Relationship Type="http://schemas.openxmlformats.org/officeDocument/2006/relationships/image" Target="/ppt/media/image5.png" Id="Rf3393908a140467f" /><Relationship Type="http://schemas.openxmlformats.org/officeDocument/2006/relationships/notesSlide" Target="/ppt/notesSlides/notesSlide10.xml" Id="R18c49477db5d40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9e7c61fe454348c9" /><Relationship Type="http://schemas.openxmlformats.org/officeDocument/2006/relationships/image" Target="/ppt/media/image6.png" Id="Rc0e806cc6d2640f3" /><Relationship Type="http://schemas.openxmlformats.org/officeDocument/2006/relationships/notesSlide" Target="/ppt/notesSlides/notesSlide11.xml" Id="Rdd88db6dc6114ce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1cc341f1b4614d03" /><Relationship Type="http://schemas.openxmlformats.org/officeDocument/2006/relationships/notesSlide" Target="/ppt/notesSlides/notesSlide12.xml" Id="Rfba6ff033e3242c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427825f699f54b21" /><Relationship Type="http://schemas.openxmlformats.org/officeDocument/2006/relationships/notesSlide" Target="/ppt/notesSlides/notesSlide13.xml" Id="Rf5f48d53014f47d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6820bc0e0ce34c1f" /><Relationship Type="http://schemas.openxmlformats.org/officeDocument/2006/relationships/notesSlide" Target="/ppt/notesSlides/notesSlide14.xml" Id="R9a2791b881af4849"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186ba8c55dd8494e" /><Relationship Type="http://schemas.openxmlformats.org/officeDocument/2006/relationships/image" Target="/ppt/media/image7.png" Id="R40dba91d60f44995" /><Relationship Type="http://schemas.openxmlformats.org/officeDocument/2006/relationships/notesSlide" Target="/ppt/notesSlides/notesSlide15.xml" Id="Rb3f5487b86aa4ef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97d56913469c4ad0" /><Relationship Type="http://schemas.openxmlformats.org/officeDocument/2006/relationships/image" Target="/ppt/media/image8.png" Id="R63c18b15eac9401c" /><Relationship Type="http://schemas.openxmlformats.org/officeDocument/2006/relationships/notesSlide" Target="/ppt/notesSlides/notesSlide16.xml" Id="R89a24c65c661442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93824dbce5904d4e" /><Relationship Type="http://schemas.openxmlformats.org/officeDocument/2006/relationships/image" Target="/ppt/media/image9.png" Id="Ra453d312013d48cf" /><Relationship Type="http://schemas.openxmlformats.org/officeDocument/2006/relationships/notesSlide" Target="/ppt/notesSlides/notesSlide17.xml" Id="R0563ec053960419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3901a37b46274d53" /><Relationship Type="http://schemas.openxmlformats.org/officeDocument/2006/relationships/image" Target="/ppt/media/image10.png" Id="R6148633044414aea" /><Relationship Type="http://schemas.openxmlformats.org/officeDocument/2006/relationships/notesSlide" Target="/ppt/notesSlides/notesSlide18.xml" Id="R7c5f57339421400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b50ad204491d4ea9" /><Relationship Type="http://schemas.openxmlformats.org/officeDocument/2006/relationships/image" Target="/ppt/media/image11.png" Id="R1fd6bc3eaaf24f94" /><Relationship Type="http://schemas.openxmlformats.org/officeDocument/2006/relationships/notesSlide" Target="/ppt/notesSlides/notesSlide19.xml" Id="Rc12e57798683461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2e01f82a84d84e0f" /><Relationship Type="http://schemas.openxmlformats.org/officeDocument/2006/relationships/image" Target="/ppt/media/image12.png" Id="Rf33bfcf282ae456f" /><Relationship Type="http://schemas.openxmlformats.org/officeDocument/2006/relationships/notesSlide" Target="/ppt/notesSlides/notesSlide20.xml" Id="Rae57ce7ce6f1434c"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c5dce74a50b24cdc" /><Relationship Type="http://schemas.openxmlformats.org/officeDocument/2006/relationships/image" Target="/ppt/media/image13.png" Id="Rd99eab6cc8e34158" /><Relationship Type="http://schemas.openxmlformats.org/officeDocument/2006/relationships/notesSlide" Target="/ppt/notesSlides/notesSlide21.xml" Id="R0eb92085b2cf4ba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5a463572bcd1490f" /><Relationship Type="http://schemas.openxmlformats.org/officeDocument/2006/relationships/notesSlide" Target="/ppt/notesSlides/notesSlide22.xml" Id="Ra669d5ab77b04f2f" /></Relationships>
</file>

<file path=ppt/slides/slide1.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p:cNvGrpSpPr/>
        <p:nvPr/>
      </p:nvGrpSpPr>
      <p:grpSpPr>
        <a:xfrm/>
      </p:grpSpPr>
      <p:sp>
        <p:nvSpPr>
          <p:cNvPr id="2" name="">
            <a:extLst>
              <a:ext uri="{FF2B5EF4-FFF2-40B4-BE49-F238E27FC236}">
                <a16:creationId id="{680B74ED-887B-4522-BC11-9ACA3A8E45B9}"/>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1602988D-DE29-4EC6-9781-D8D9B391807E}"/>
              </a:ext>
            </a:extLst>
          </p:cNvPr>
          <p:cNvSpPr>
            <a:spLocks noGrp="1"/>
          </p:cNvSpPr>
          <p:nvPr/>
        </p:nvSpPr>
        <p:spPr>
          <a:xfrm>
            <a:off x="0" y="0"/>
            <a:ext cx="1524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F8E8AC34-DF97-43F2-AEBD-1EA88E3CF6D0}"/>
              </a:ext>
            </a:extLst>
          </p:cNvPr>
          <p:cNvSpPr>
            <a:spLocks noGrp="1"/>
          </p:cNvSpPr>
          <p:nvPr/>
        </p:nvSpPr>
        <p:spPr>
          <a:xfrm>
            <a:off x="590550" y="552450"/>
            <a:ext cx="100012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1">
                <a:solidFill>
                  <a:srgbClr val="64748B"/>
                </a:solidFill>
                <a:latin typeface="Aptos"/>
                <a:ea typeface="Aptos"/>
                <a:cs typeface="Aptos"/>
              </a:defRPr>
            </a:pPr>
            <a:r>
              <a:rPr sz="938" b="1">
                <a:solidFill>
                  <a:srgbClr val="64748B"/>
                </a:solidFill>
                <a:latin typeface="Aptos"/>
                <a:ea typeface="Aptos"/>
                <a:cs typeface="Aptos"/>
              </a:rPr>
              <a:t>CURRENT PIPELINE REVIEW  /  LONGITUDINAL VF ANALYSIS</a:t>
            </a:r>
          </a:p>
        </p:txBody>
      </p:sp>
      <p:sp>
        <p:nvSpPr>
          <p:cNvPr id="5" name="">
            <a:extLst>
              <a:ext uri="{FF2B5EF4-FFF2-40B4-BE49-F238E27FC236}">
                <a16:creationId id="{A58FAA97-8B07-4E71-88D7-0BAD74BC5443}"/>
              </a:ext>
            </a:extLst>
          </p:cNvPr>
          <p:cNvSpPr>
            <a:spLocks noGrp="1"/>
          </p:cNvSpPr>
          <p:nvPr/>
        </p:nvSpPr>
        <p:spPr>
          <a:xfrm>
            <a:off x="590550" y="914400"/>
            <a:ext cx="10001250" cy="8763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925" b="1">
                <a:solidFill>
                  <a:srgbClr val="111827"/>
                </a:solidFill>
                <a:latin typeface="Aptos Display"/>
                <a:ea typeface="Aptos Display"/>
                <a:cs typeface="Aptos Display"/>
              </a:defRPr>
            </a:pPr>
            <a:r>
              <a:rPr sz="2925" b="1">
                <a:solidFill>
                  <a:srgbClr val="111827"/>
                </a:solidFill>
                <a:latin typeface="Aptos Display"/>
                <a:ea typeface="Aptos Display"/>
                <a:cs typeface="Aptos Display"/>
              </a:rPr>
              <a:t>Virulence-factor profiling of longitudinal urinary E. coli isolates</a:t>
            </a:r>
          </a:p>
        </p:txBody>
      </p:sp>
      <p:sp>
        <p:nvSpPr>
          <p:cNvPr id="6" name="">
            <a:extLst>
              <a:ext uri="{FF2B5EF4-FFF2-40B4-BE49-F238E27FC236}">
                <a16:creationId id="{95B9F088-B50A-4C58-A442-E06F3E6EE70F}"/>
              </a:ext>
            </a:extLst>
          </p:cNvPr>
          <p:cNvSpPr>
            <a:spLocks noGrp="1"/>
          </p:cNvSpPr>
          <p:nvPr/>
        </p:nvSpPr>
        <p:spPr>
          <a:xfrm>
            <a:off x="609600" y="1809750"/>
            <a:ext cx="8572500" cy="2857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0">
                <a:solidFill>
                  <a:srgbClr val="64748B"/>
                </a:solidFill>
                <a:latin typeface="Aptos"/>
                <a:ea typeface="Aptos"/>
                <a:cs typeface="Aptos"/>
              </a:defRPr>
            </a:pPr>
            <a:r>
              <a:rPr sz="1350" b="0">
                <a:solidFill>
                  <a:srgbClr val="64748B"/>
                </a:solidFill>
                <a:latin typeface="Aptos"/>
                <a:ea typeface="Aptos"/>
                <a:cs typeface="Aptos"/>
              </a:rPr>
              <a:t>Current pipeline, descriptive longitudinal findings, and cautious clinical-status overlay</a:t>
            </a:r>
          </a:p>
        </p:txBody>
      </p:sp>
      <p:sp>
        <p:nvSpPr>
          <p:cNvPr id="7" name="">
            <a:extLst>
              <a:ext uri="{FF2B5EF4-FFF2-40B4-BE49-F238E27FC236}">
                <a16:creationId id="{4F824763-0E18-43BF-B91A-0D702579D023}"/>
              </a:ext>
            </a:extLst>
          </p:cNvPr>
          <p:cNvSpPr>
            <a:spLocks noGrp="1"/>
          </p:cNvSpPr>
          <p:nvPr/>
        </p:nvSpPr>
        <p:spPr>
          <a:xfrm>
            <a:off x="609600" y="2724150"/>
            <a:ext cx="3238500" cy="1352550"/>
          </a:xfrm>
          <a:prstGeom prst="roundRect">
            <a:avLst>
              <a:gd name="adj" fmla="val 5634"/>
            </a:avLst>
          </a:prstGeom>
          <a:solidFill>
            <a:srgbClr val="E8F1FA"/>
          </a:solidFill>
          <a:ln w="9525">
            <a:solidFill>
              <a:srgbClr val="B9D5F0"/>
            </a:solidFill>
            <a:prstDash val="solid"/>
          </a:ln>
        </p:spPr>
      </p:sp>
      <p:sp>
        <p:nvSpPr>
          <p:cNvPr id="8" name="">
            <a:extLst>
              <a:ext uri="{FF2B5EF4-FFF2-40B4-BE49-F238E27FC236}">
                <a16:creationId id="{9A9580F1-F3FF-418B-8FF0-34666EED9DEB}"/>
              </a:ext>
            </a:extLst>
          </p:cNvPr>
          <p:cNvSpPr>
            <a:spLocks noGrp="1"/>
          </p:cNvSpPr>
          <p:nvPr/>
        </p:nvSpPr>
        <p:spPr>
          <a:xfrm>
            <a:off x="781050" y="2857500"/>
            <a:ext cx="28956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1">
                <a:solidFill>
                  <a:srgbClr val="2B6CB0"/>
                </a:solidFill>
                <a:latin typeface="Aptos"/>
                <a:ea typeface="Aptos"/>
                <a:cs typeface="Aptos"/>
              </a:defRPr>
            </a:pPr>
            <a:r>
              <a:rPr sz="788" b="1">
                <a:solidFill>
                  <a:srgbClr val="2B6CB0"/>
                </a:solidFill>
                <a:latin typeface="Aptos"/>
                <a:ea typeface="Aptos"/>
                <a:cs typeface="Aptos"/>
              </a:rPr>
              <a:t>Question 1</a:t>
            </a:r>
          </a:p>
        </p:txBody>
      </p:sp>
      <p:sp>
        <p:nvSpPr>
          <p:cNvPr id="9" name="">
            <a:extLst>
              <a:ext uri="{FF2B5EF4-FFF2-40B4-BE49-F238E27FC236}">
                <a16:creationId id="{9DCB5AA9-BA80-4F57-9DEB-1A3C107864B8}"/>
              </a:ext>
            </a:extLst>
          </p:cNvPr>
          <p:cNvSpPr>
            <a:spLocks noGrp="1"/>
          </p:cNvSpPr>
          <p:nvPr/>
        </p:nvSpPr>
        <p:spPr>
          <a:xfrm>
            <a:off x="781050" y="3048000"/>
            <a:ext cx="2895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111827"/>
                </a:solidFill>
                <a:latin typeface="Aptos"/>
                <a:ea typeface="Aptos"/>
                <a:cs typeface="Aptos"/>
              </a:defRPr>
            </a:pPr>
            <a:r>
              <a:rPr sz="1350" b="1">
                <a:solidFill>
                  <a:srgbClr val="111827"/>
                </a:solidFill>
                <a:latin typeface="Aptos"/>
                <a:ea typeface="Aptos"/>
                <a:cs typeface="Aptos"/>
              </a:rPr>
              <a:t>What VF repertoire is present?</a:t>
            </a:r>
          </a:p>
        </p:txBody>
      </p:sp>
      <p:sp>
        <p:nvSpPr>
          <p:cNvPr id="10" name="">
            <a:extLst>
              <a:ext uri="{FF2B5EF4-FFF2-40B4-BE49-F238E27FC236}">
                <a16:creationId id="{FEC8CA9B-071C-46A3-B5F5-58401A8649E3}"/>
              </a:ext>
            </a:extLst>
          </p:cNvPr>
          <p:cNvSpPr>
            <a:spLocks noGrp="1"/>
          </p:cNvSpPr>
          <p:nvPr/>
        </p:nvSpPr>
        <p:spPr>
          <a:xfrm>
            <a:off x="781050" y="3314700"/>
            <a:ext cx="28956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13" b="0">
                <a:solidFill>
                  <a:srgbClr val="64748B"/>
                </a:solidFill>
                <a:latin typeface="Aptos"/>
                <a:ea typeface="Aptos"/>
                <a:cs typeface="Aptos"/>
              </a:defRPr>
            </a:pPr>
            <a:r>
              <a:rPr sz="1013" b="0">
                <a:solidFill>
                  <a:srgbClr val="64748B"/>
                </a:solidFill>
                <a:latin typeface="Aptos"/>
                <a:ea typeface="Aptos"/>
                <a:cs typeface="Aptos"/>
              </a:rPr>
              <a:t>Describe the observed virulence-factor gene space and curated modules in 556 VF/WGS-ready urinary E. coli isolates.</a:t>
            </a:r>
          </a:p>
        </p:txBody>
      </p:sp>
      <p:sp>
        <p:nvSpPr>
          <p:cNvPr id="11" name="">
            <a:extLst>
              <a:ext uri="{FF2B5EF4-FFF2-40B4-BE49-F238E27FC236}">
                <a16:creationId id="{AB51C8E3-05DA-4F8C-B7F3-2EB5FD571D9C}"/>
              </a:ext>
            </a:extLst>
          </p:cNvPr>
          <p:cNvSpPr>
            <a:spLocks noGrp="1"/>
          </p:cNvSpPr>
          <p:nvPr/>
        </p:nvSpPr>
        <p:spPr>
          <a:xfrm>
            <a:off x="4400550" y="2724150"/>
            <a:ext cx="3238500" cy="1352550"/>
          </a:xfrm>
          <a:prstGeom prst="roundRect">
            <a:avLst>
              <a:gd name="adj" fmla="val 5634"/>
            </a:avLst>
          </a:prstGeom>
          <a:solidFill>
            <a:srgbClr val="EAF7EF"/>
          </a:solidFill>
          <a:ln w="9525">
            <a:solidFill>
              <a:srgbClr val="BCE4C9"/>
            </a:solidFill>
            <a:prstDash val="solid"/>
          </a:ln>
        </p:spPr>
      </p:sp>
      <p:sp>
        <p:nvSpPr>
          <p:cNvPr id="12" name="">
            <a:extLst>
              <a:ext uri="{FF2B5EF4-FFF2-40B4-BE49-F238E27FC236}">
                <a16:creationId id="{76C50046-0DB6-49C9-9589-85FA565C944E}"/>
              </a:ext>
            </a:extLst>
          </p:cNvPr>
          <p:cNvSpPr>
            <a:spLocks noGrp="1"/>
          </p:cNvSpPr>
          <p:nvPr/>
        </p:nvSpPr>
        <p:spPr>
          <a:xfrm>
            <a:off x="4572000" y="2857500"/>
            <a:ext cx="28956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1">
                <a:solidFill>
                  <a:srgbClr val="2F855A"/>
                </a:solidFill>
                <a:latin typeface="Aptos"/>
                <a:ea typeface="Aptos"/>
                <a:cs typeface="Aptos"/>
              </a:defRPr>
            </a:pPr>
            <a:r>
              <a:rPr sz="788" b="1">
                <a:solidFill>
                  <a:srgbClr val="2F855A"/>
                </a:solidFill>
                <a:latin typeface="Aptos"/>
                <a:ea typeface="Aptos"/>
                <a:cs typeface="Aptos"/>
              </a:rPr>
              <a:t>Question 2</a:t>
            </a:r>
          </a:p>
        </p:txBody>
      </p:sp>
      <p:sp>
        <p:nvSpPr>
          <p:cNvPr id="13" name="">
            <a:extLst>
              <a:ext uri="{FF2B5EF4-FFF2-40B4-BE49-F238E27FC236}">
                <a16:creationId id="{D92190DC-3087-4A9F-9311-DD902481881F}"/>
              </a:ext>
            </a:extLst>
          </p:cNvPr>
          <p:cNvSpPr>
            <a:spLocks noGrp="1"/>
          </p:cNvSpPr>
          <p:nvPr/>
        </p:nvSpPr>
        <p:spPr>
          <a:xfrm>
            <a:off x="4572000" y="3048000"/>
            <a:ext cx="2895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111827"/>
                </a:solidFill>
                <a:latin typeface="Aptos"/>
                <a:ea typeface="Aptos"/>
                <a:cs typeface="Aptos"/>
              </a:defRPr>
            </a:pPr>
            <a:r>
              <a:rPr sz="1350" b="1">
                <a:solidFill>
                  <a:srgbClr val="111827"/>
                </a:solidFill>
                <a:latin typeface="Aptos"/>
                <a:ea typeface="Aptos"/>
                <a:cs typeface="Aptos"/>
              </a:rPr>
              <a:t>How stable are profiles over time?</a:t>
            </a:r>
          </a:p>
        </p:txBody>
      </p:sp>
      <p:sp>
        <p:nvSpPr>
          <p:cNvPr id="14" name="">
            <a:extLst>
              <a:ext uri="{FF2B5EF4-FFF2-40B4-BE49-F238E27FC236}">
                <a16:creationId id="{154D4424-75E0-4B0D-9E53-B791E4090BF6}"/>
              </a:ext>
            </a:extLst>
          </p:cNvPr>
          <p:cNvSpPr>
            <a:spLocks noGrp="1"/>
          </p:cNvSpPr>
          <p:nvPr/>
        </p:nvSpPr>
        <p:spPr>
          <a:xfrm>
            <a:off x="4572000" y="3314700"/>
            <a:ext cx="28956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13" b="0">
                <a:solidFill>
                  <a:srgbClr val="64748B"/>
                </a:solidFill>
                <a:latin typeface="Aptos"/>
                <a:ea typeface="Aptos"/>
                <a:cs typeface="Aptos"/>
              </a:defRPr>
            </a:pPr>
            <a:r>
              <a:rPr sz="1013" b="0">
                <a:solidFill>
                  <a:srgbClr val="64748B"/>
                </a:solidFill>
                <a:latin typeface="Aptos"/>
                <a:ea typeface="Aptos"/>
                <a:cs typeface="Aptos"/>
              </a:rPr>
              <a:t>Use consecutive within-resident isolate-pair comparisons to quantify VF similarity and gene gain/loss.</a:t>
            </a:r>
          </a:p>
        </p:txBody>
      </p:sp>
      <p:sp>
        <p:nvSpPr>
          <p:cNvPr id="15" name="">
            <a:extLst>
              <a:ext uri="{FF2B5EF4-FFF2-40B4-BE49-F238E27FC236}">
                <a16:creationId id="{B936C2D4-D810-4658-B45F-E4F56615DD61}"/>
              </a:ext>
            </a:extLst>
          </p:cNvPr>
          <p:cNvSpPr>
            <a:spLocks noGrp="1"/>
          </p:cNvSpPr>
          <p:nvPr/>
        </p:nvSpPr>
        <p:spPr>
          <a:xfrm>
            <a:off x="8191500" y="2724150"/>
            <a:ext cx="3238500" cy="1352550"/>
          </a:xfrm>
          <a:prstGeom prst="roundRect">
            <a:avLst>
              <a:gd name="adj" fmla="val 5634"/>
            </a:avLst>
          </a:prstGeom>
          <a:solidFill>
            <a:srgbClr val="FFF4E6"/>
          </a:solidFill>
          <a:ln w="9525">
            <a:solidFill>
              <a:srgbClr val="F4C98A"/>
            </a:solidFill>
            <a:prstDash val="solid"/>
          </a:ln>
        </p:spPr>
      </p:sp>
      <p:sp>
        <p:nvSpPr>
          <p:cNvPr id="16" name="">
            <a:extLst>
              <a:ext uri="{FF2B5EF4-FFF2-40B4-BE49-F238E27FC236}">
                <a16:creationId id="{1666BE95-E5EB-458F-80F6-FF650E20D45C}"/>
              </a:ext>
            </a:extLst>
          </p:cNvPr>
          <p:cNvSpPr>
            <a:spLocks noGrp="1"/>
          </p:cNvSpPr>
          <p:nvPr/>
        </p:nvSpPr>
        <p:spPr>
          <a:xfrm>
            <a:off x="8362950" y="2857500"/>
            <a:ext cx="28956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1">
                <a:solidFill>
                  <a:srgbClr val="D97706"/>
                </a:solidFill>
                <a:latin typeface="Aptos"/>
                <a:ea typeface="Aptos"/>
                <a:cs typeface="Aptos"/>
              </a:defRPr>
            </a:pPr>
            <a:r>
              <a:rPr sz="788" b="1">
                <a:solidFill>
                  <a:srgbClr val="D97706"/>
                </a:solidFill>
                <a:latin typeface="Aptos"/>
                <a:ea typeface="Aptos"/>
                <a:cs typeface="Aptos"/>
              </a:rPr>
              <a:t>Question 3</a:t>
            </a:r>
          </a:p>
        </p:txBody>
      </p:sp>
      <p:sp>
        <p:nvSpPr>
          <p:cNvPr id="17" name="">
            <a:extLst>
              <a:ext uri="{FF2B5EF4-FFF2-40B4-BE49-F238E27FC236}">
                <a16:creationId id="{D84B2721-292C-4209-BDC2-A193FF270548}"/>
              </a:ext>
            </a:extLst>
          </p:cNvPr>
          <p:cNvSpPr>
            <a:spLocks noGrp="1"/>
          </p:cNvSpPr>
          <p:nvPr/>
        </p:nvSpPr>
        <p:spPr>
          <a:xfrm>
            <a:off x="8362950" y="3048000"/>
            <a:ext cx="2895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111827"/>
                </a:solidFill>
                <a:latin typeface="Aptos"/>
                <a:ea typeface="Aptos"/>
                <a:cs typeface="Aptos"/>
              </a:defRPr>
            </a:pPr>
            <a:r>
              <a:rPr sz="1350" b="1">
                <a:solidFill>
                  <a:srgbClr val="111827"/>
                </a:solidFill>
                <a:latin typeface="Aptos"/>
                <a:ea typeface="Aptos"/>
                <a:cs typeface="Aptos"/>
              </a:rPr>
              <a:t>How should clinical status be overlaid?</a:t>
            </a:r>
          </a:p>
        </p:txBody>
      </p:sp>
      <p:sp>
        <p:nvSpPr>
          <p:cNvPr id="18" name="">
            <a:extLst>
              <a:ext uri="{FF2B5EF4-FFF2-40B4-BE49-F238E27FC236}">
                <a16:creationId id="{FBFEA1BF-77A4-485A-B426-A53B83B6126A}"/>
              </a:ext>
            </a:extLst>
          </p:cNvPr>
          <p:cNvSpPr>
            <a:spLocks noGrp="1"/>
          </p:cNvSpPr>
          <p:nvPr/>
        </p:nvSpPr>
        <p:spPr>
          <a:xfrm>
            <a:off x="8362950" y="3314700"/>
            <a:ext cx="2895600" cy="6286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13" b="0">
                <a:solidFill>
                  <a:srgbClr val="64748B"/>
                </a:solidFill>
                <a:latin typeface="Aptos"/>
                <a:ea typeface="Aptos"/>
                <a:cs typeface="Aptos"/>
              </a:defRPr>
            </a:pPr>
            <a:r>
              <a:rPr sz="1013" b="0">
                <a:solidFill>
                  <a:srgbClr val="64748B"/>
                </a:solidFill>
                <a:latin typeface="Aptos"/>
                <a:ea typeface="Aptos"/>
                <a:cs typeface="Aptos"/>
              </a:rPr>
              <a:t>Treat UTI versus Not_UTI as a sparse, exploratory phenotype annotation rather than the whole study frame.</a:t>
            </a:r>
          </a:p>
        </p:txBody>
      </p:sp>
      <p:sp>
        <p:nvSpPr>
          <p:cNvPr id="19" name="">
            <a:extLst>
              <a:ext uri="{FF2B5EF4-FFF2-40B4-BE49-F238E27FC236}">
                <a16:creationId id="{3AB34006-5862-4AD7-BF0B-9D73DA435D3D}"/>
              </a:ext>
            </a:extLst>
          </p:cNvPr>
          <p:cNvSpPr>
            <a:spLocks noGrp="1"/>
          </p:cNvSpPr>
          <p:nvPr/>
        </p:nvSpPr>
        <p:spPr>
          <a:xfrm>
            <a:off x="1809750" y="4762500"/>
            <a:ext cx="1762125" cy="819150"/>
          </a:xfrm>
          <a:prstGeom prst="roundRect">
            <a:avLst>
              <a:gd name="adj" fmla="val 9302"/>
            </a:avLst>
          </a:prstGeom>
          <a:solidFill>
            <a:srgbClr val="E8F1FA"/>
          </a:solidFill>
          <a:ln w="0">
            <a:solidFill>
              <a:srgbClr val="E8F1FA"/>
            </a:solidFill>
            <a:prstDash val="solid"/>
          </a:ln>
        </p:spPr>
      </p:sp>
      <p:sp>
        <p:nvSpPr>
          <p:cNvPr id="20" name="">
            <a:extLst>
              <a:ext uri="{FF2B5EF4-FFF2-40B4-BE49-F238E27FC236}">
                <a16:creationId id="{F68DBCA3-713F-45DF-820B-2B1683D7649D}"/>
              </a:ext>
            </a:extLst>
          </p:cNvPr>
          <p:cNvSpPr>
            <a:spLocks noGrp="1"/>
          </p:cNvSpPr>
          <p:nvPr/>
        </p:nvSpPr>
        <p:spPr>
          <a:xfrm>
            <a:off x="1962150" y="4895850"/>
            <a:ext cx="1457325"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100" b="1">
                <a:solidFill>
                  <a:srgbClr val="2B6CB0"/>
                </a:solidFill>
                <a:latin typeface="Aptos"/>
                <a:ea typeface="Aptos"/>
                <a:cs typeface="Aptos"/>
              </a:defRPr>
            </a:pPr>
            <a:r>
              <a:rPr sz="2100" b="1">
                <a:solidFill>
                  <a:srgbClr val="2B6CB0"/>
                </a:solidFill>
                <a:latin typeface="Aptos"/>
                <a:ea typeface="Aptos"/>
                <a:cs typeface="Aptos"/>
              </a:rPr>
              <a:t>556</a:t>
            </a:r>
          </a:p>
        </p:txBody>
      </p:sp>
      <p:sp>
        <p:nvSpPr>
          <p:cNvPr id="21" name="">
            <a:extLst>
              <a:ext uri="{FF2B5EF4-FFF2-40B4-BE49-F238E27FC236}">
                <a16:creationId id="{A0704968-D93F-4327-BC21-7EA2087A90AB}"/>
              </a:ext>
            </a:extLst>
          </p:cNvPr>
          <p:cNvSpPr>
            <a:spLocks noGrp="1"/>
          </p:cNvSpPr>
          <p:nvPr/>
        </p:nvSpPr>
        <p:spPr>
          <a:xfrm>
            <a:off x="1962150" y="5257800"/>
            <a:ext cx="145732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2B6CB0"/>
                </a:solidFill>
                <a:latin typeface="Aptos"/>
                <a:ea typeface="Aptos"/>
                <a:cs typeface="Aptos"/>
              </a:defRPr>
            </a:pPr>
            <a:r>
              <a:rPr sz="863" b="0">
                <a:solidFill>
                  <a:srgbClr val="2B6CB0"/>
                </a:solidFill>
                <a:latin typeface="Aptos"/>
                <a:ea typeface="Aptos"/>
                <a:cs typeface="Aptos"/>
              </a:rPr>
              <a:t>VF-ready episodes</a:t>
            </a:r>
          </a:p>
        </p:txBody>
      </p:sp>
      <p:sp>
        <p:nvSpPr>
          <p:cNvPr id="22" name="">
            <a:extLst>
              <a:ext uri="{FF2B5EF4-FFF2-40B4-BE49-F238E27FC236}">
                <a16:creationId id="{AB5D0124-5416-4626-BECF-8C9DD1094D33}"/>
              </a:ext>
            </a:extLst>
          </p:cNvPr>
          <p:cNvSpPr>
            <a:spLocks noGrp="1"/>
          </p:cNvSpPr>
          <p:nvPr/>
        </p:nvSpPr>
        <p:spPr>
          <a:xfrm>
            <a:off x="3952875" y="4762500"/>
            <a:ext cx="1762125" cy="819150"/>
          </a:xfrm>
          <a:prstGeom prst="roundRect">
            <a:avLst>
              <a:gd name="adj" fmla="val 9302"/>
            </a:avLst>
          </a:prstGeom>
          <a:solidFill>
            <a:srgbClr val="EEF3F8"/>
          </a:solidFill>
          <a:ln w="0">
            <a:solidFill>
              <a:srgbClr val="EEF3F8"/>
            </a:solidFill>
            <a:prstDash val="solid"/>
          </a:ln>
        </p:spPr>
      </p:sp>
      <p:sp>
        <p:nvSpPr>
          <p:cNvPr id="23" name="">
            <a:extLst>
              <a:ext uri="{FF2B5EF4-FFF2-40B4-BE49-F238E27FC236}">
                <a16:creationId id="{72E20BFA-39F6-4BBE-AFFC-0424DC692519}"/>
              </a:ext>
            </a:extLst>
          </p:cNvPr>
          <p:cNvSpPr>
            <a:spLocks noGrp="1"/>
          </p:cNvSpPr>
          <p:nvPr/>
        </p:nvSpPr>
        <p:spPr>
          <a:xfrm>
            <a:off x="4105275" y="4895850"/>
            <a:ext cx="1457325"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100" b="1">
                <a:solidFill>
                  <a:srgbClr val="111827"/>
                </a:solidFill>
                <a:latin typeface="Aptos"/>
                <a:ea typeface="Aptos"/>
                <a:cs typeface="Aptos"/>
              </a:defRPr>
            </a:pPr>
            <a:r>
              <a:rPr sz="2100" b="1">
                <a:solidFill>
                  <a:srgbClr val="111827"/>
                </a:solidFill>
                <a:latin typeface="Aptos"/>
                <a:ea typeface="Aptos"/>
                <a:cs typeface="Aptos"/>
              </a:rPr>
              <a:t>227</a:t>
            </a:r>
          </a:p>
        </p:txBody>
      </p:sp>
      <p:sp>
        <p:nvSpPr>
          <p:cNvPr id="24" name="">
            <a:extLst>
              <a:ext uri="{FF2B5EF4-FFF2-40B4-BE49-F238E27FC236}">
                <a16:creationId id="{6DD2F08A-7FC2-419C-885A-7AF6B6EB3472}"/>
              </a:ext>
            </a:extLst>
          </p:cNvPr>
          <p:cNvSpPr>
            <a:spLocks noGrp="1"/>
          </p:cNvSpPr>
          <p:nvPr/>
        </p:nvSpPr>
        <p:spPr>
          <a:xfrm>
            <a:off x="4105275" y="5257800"/>
            <a:ext cx="145732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111827"/>
                </a:solidFill>
                <a:latin typeface="Aptos"/>
                <a:ea typeface="Aptos"/>
                <a:cs typeface="Aptos"/>
              </a:defRPr>
            </a:pPr>
            <a:r>
              <a:rPr sz="863" b="0">
                <a:solidFill>
                  <a:srgbClr val="111827"/>
                </a:solidFill>
                <a:latin typeface="Aptos"/>
                <a:ea typeface="Aptos"/>
                <a:cs typeface="Aptos"/>
              </a:rPr>
              <a:t>VF gene columns</a:t>
            </a:r>
          </a:p>
        </p:txBody>
      </p:sp>
      <p:sp>
        <p:nvSpPr>
          <p:cNvPr id="25" name="">
            <a:extLst>
              <a:ext uri="{FF2B5EF4-FFF2-40B4-BE49-F238E27FC236}">
                <a16:creationId id="{A74A060D-2608-4E95-BF88-1550AE39A4D3}"/>
              </a:ext>
            </a:extLst>
          </p:cNvPr>
          <p:cNvSpPr>
            <a:spLocks noGrp="1"/>
          </p:cNvSpPr>
          <p:nvPr/>
        </p:nvSpPr>
        <p:spPr>
          <a:xfrm>
            <a:off x="6096000" y="4762500"/>
            <a:ext cx="1762125" cy="819150"/>
          </a:xfrm>
          <a:prstGeom prst="roundRect">
            <a:avLst>
              <a:gd name="adj" fmla="val 9302"/>
            </a:avLst>
          </a:prstGeom>
          <a:solidFill>
            <a:srgbClr val="EAF7EF"/>
          </a:solidFill>
          <a:ln w="0">
            <a:solidFill>
              <a:srgbClr val="EAF7EF"/>
            </a:solidFill>
            <a:prstDash val="solid"/>
          </a:ln>
        </p:spPr>
      </p:sp>
      <p:sp>
        <p:nvSpPr>
          <p:cNvPr id="26" name="">
            <a:extLst>
              <a:ext uri="{FF2B5EF4-FFF2-40B4-BE49-F238E27FC236}">
                <a16:creationId id="{0CC76CEA-0141-4BA2-B8F3-FB21DDB3E1CD}"/>
              </a:ext>
            </a:extLst>
          </p:cNvPr>
          <p:cNvSpPr>
            <a:spLocks noGrp="1"/>
          </p:cNvSpPr>
          <p:nvPr/>
        </p:nvSpPr>
        <p:spPr>
          <a:xfrm>
            <a:off x="6248400" y="4895850"/>
            <a:ext cx="1457325"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100" b="1">
                <a:solidFill>
                  <a:srgbClr val="2F855A"/>
                </a:solidFill>
                <a:latin typeface="Aptos"/>
                <a:ea typeface="Aptos"/>
                <a:cs typeface="Aptos"/>
              </a:defRPr>
            </a:pPr>
            <a:r>
              <a:rPr sz="2100" b="1">
                <a:solidFill>
                  <a:srgbClr val="2F855A"/>
                </a:solidFill>
                <a:latin typeface="Aptos"/>
                <a:ea typeface="Aptos"/>
                <a:cs typeface="Aptos"/>
              </a:rPr>
              <a:t>394</a:t>
            </a:r>
          </a:p>
        </p:txBody>
      </p:sp>
      <p:sp>
        <p:nvSpPr>
          <p:cNvPr id="27" name="">
            <a:extLst>
              <a:ext uri="{FF2B5EF4-FFF2-40B4-BE49-F238E27FC236}">
                <a16:creationId id="{00A6BE6C-DCAB-42CE-BEA1-ED639D96CA34}"/>
              </a:ext>
            </a:extLst>
          </p:cNvPr>
          <p:cNvSpPr>
            <a:spLocks noGrp="1"/>
          </p:cNvSpPr>
          <p:nvPr/>
        </p:nvSpPr>
        <p:spPr>
          <a:xfrm>
            <a:off x="6248400" y="5257800"/>
            <a:ext cx="145732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2F855A"/>
                </a:solidFill>
                <a:latin typeface="Aptos"/>
                <a:ea typeface="Aptos"/>
                <a:cs typeface="Aptos"/>
              </a:defRPr>
            </a:pPr>
            <a:r>
              <a:rPr sz="863" b="0">
                <a:solidFill>
                  <a:srgbClr val="2F855A"/>
                </a:solidFill>
                <a:latin typeface="Aptos"/>
                <a:ea typeface="Aptos"/>
                <a:cs typeface="Aptos"/>
              </a:rPr>
              <a:t>longitudinal pairs</a:t>
            </a:r>
          </a:p>
        </p:txBody>
      </p:sp>
      <p:sp>
        <p:nvSpPr>
          <p:cNvPr id="28" name="">
            <a:extLst>
              <a:ext uri="{FF2B5EF4-FFF2-40B4-BE49-F238E27FC236}">
                <a16:creationId id="{62BC027F-9948-4103-96FD-9ED57C91C287}"/>
              </a:ext>
            </a:extLst>
          </p:cNvPr>
          <p:cNvSpPr>
            <a:spLocks noGrp="1"/>
          </p:cNvSpPr>
          <p:nvPr/>
        </p:nvSpPr>
        <p:spPr>
          <a:xfrm>
            <a:off x="8239125" y="4762500"/>
            <a:ext cx="1762125" cy="819150"/>
          </a:xfrm>
          <a:prstGeom prst="roundRect">
            <a:avLst>
              <a:gd name="adj" fmla="val 9302"/>
            </a:avLst>
          </a:prstGeom>
          <a:solidFill>
            <a:srgbClr val="FFF4E6"/>
          </a:solidFill>
          <a:ln w="0">
            <a:solidFill>
              <a:srgbClr val="FFF4E6"/>
            </a:solidFill>
            <a:prstDash val="solid"/>
          </a:ln>
        </p:spPr>
      </p:sp>
      <p:sp>
        <p:nvSpPr>
          <p:cNvPr id="29" name="">
            <a:extLst>
              <a:ext uri="{FF2B5EF4-FFF2-40B4-BE49-F238E27FC236}">
                <a16:creationId id="{ACB26F33-999F-4F8D-8395-B85E246B5F7B}"/>
              </a:ext>
            </a:extLst>
          </p:cNvPr>
          <p:cNvSpPr>
            <a:spLocks noGrp="1"/>
          </p:cNvSpPr>
          <p:nvPr/>
        </p:nvSpPr>
        <p:spPr>
          <a:xfrm>
            <a:off x="8391525" y="4895850"/>
            <a:ext cx="1457325"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100" b="1">
                <a:solidFill>
                  <a:srgbClr val="D97706"/>
                </a:solidFill>
                <a:latin typeface="Aptos"/>
                <a:ea typeface="Aptos"/>
                <a:cs typeface="Aptos"/>
              </a:defRPr>
            </a:pPr>
            <a:r>
              <a:rPr sz="2100" b="1">
                <a:solidFill>
                  <a:srgbClr val="D97706"/>
                </a:solidFill>
                <a:latin typeface="Aptos"/>
                <a:ea typeface="Aptos"/>
                <a:cs typeface="Aptos"/>
              </a:rPr>
              <a:t>17</a:t>
            </a:r>
          </a:p>
        </p:txBody>
      </p:sp>
      <p:sp>
        <p:nvSpPr>
          <p:cNvPr id="30" name="">
            <a:extLst>
              <a:ext uri="{FF2B5EF4-FFF2-40B4-BE49-F238E27FC236}">
                <a16:creationId id="{A44345EE-58E4-4CAD-8B51-70E33462F2D9}"/>
              </a:ext>
            </a:extLst>
          </p:cNvPr>
          <p:cNvSpPr>
            <a:spLocks noGrp="1"/>
          </p:cNvSpPr>
          <p:nvPr/>
        </p:nvSpPr>
        <p:spPr>
          <a:xfrm>
            <a:off x="8391525" y="5257800"/>
            <a:ext cx="1457325"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D97706"/>
                </a:solidFill>
                <a:latin typeface="Aptos"/>
                <a:ea typeface="Aptos"/>
                <a:cs typeface="Aptos"/>
              </a:defRPr>
            </a:pPr>
            <a:r>
              <a:rPr sz="863" b="0">
                <a:solidFill>
                  <a:srgbClr val="D97706"/>
                </a:solidFill>
                <a:latin typeface="Aptos"/>
                <a:ea typeface="Aptos"/>
                <a:cs typeface="Aptos"/>
              </a:rPr>
              <a:t>UTI annotations</a:t>
            </a:r>
          </a:p>
        </p:txBody>
      </p:sp>
      <p:sp>
        <p:nvSpPr>
          <p:cNvPr id="31" name="">
            <a:extLst>
              <a:ext uri="{FF2B5EF4-FFF2-40B4-BE49-F238E27FC236}">
                <a16:creationId id="{B5330D38-47B0-4C3A-915D-062F8DC856D9}"/>
              </a:ext>
            </a:extLst>
          </p:cNvPr>
          <p:cNvSpPr>
            <a:spLocks noGrp="1"/>
          </p:cNvSpPr>
          <p:nvPr/>
        </p:nvSpPr>
        <p:spPr>
          <a:xfrm>
            <a:off x="590550" y="64960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0">
                <a:solidFill>
                  <a:srgbClr val="64748B"/>
                </a:solidFill>
                <a:latin typeface="Aptos"/>
                <a:ea typeface="Aptos"/>
                <a:cs typeface="Aptos"/>
              </a:defRPr>
            </a:pPr>
            <a:r>
              <a:rPr sz="825" b="0">
                <a:solidFill>
                  <a:srgbClr val="64748B"/>
                </a:solidFill>
                <a:latin typeface="Aptos"/>
                <a:ea typeface="Aptos"/>
                <a:cs typeface="Aptos"/>
              </a:rPr>
              <a:t>Designed for a 22 min scientific review plus discussion</a:t>
            </a:r>
          </a:p>
        </p:txBody>
      </p:sp>
    </p:spTree>
    <p:extLst>
      <p:ext uri="{BB962C8B-B14F-4D97-AF65-F5344CB8AC3E}">
        <p14:creationId val="1245257606"/>
      </p:ext>
    </p:extLst>
  </p:cSld>
</p:sld>
</file>

<file path=ppt/slides/slide2.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p:cNvGrpSpPr/>
        <p:nvPr/>
      </p:nvGrpSpPr>
      <p:grpSpPr>
        <a:xfrm/>
      </p:grpSpPr>
      <p:sp>
        <p:nvSpPr>
          <p:cNvPr id="2" name="">
            <a:extLst>
              <a:ext uri="{FF2B5EF4-FFF2-40B4-BE49-F238E27FC236}">
                <a16:creationId id="{DCE38F02-0A3D-4CE3-B387-C7B7C20D78FA}"/>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A19F211D-8E60-45D1-A331-4E7B0AD9BCBD}"/>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2FD16544-EFC8-4BE5-841B-369A37376397}"/>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WHY THIS FRAMING</a:t>
            </a:r>
          </a:p>
        </p:txBody>
      </p:sp>
      <p:sp>
        <p:nvSpPr>
          <p:cNvPr id="5" name="">
            <a:extLst>
              <a:ext uri="{FF2B5EF4-FFF2-40B4-BE49-F238E27FC236}">
                <a16:creationId id="{1594E3BD-C416-480D-8699-99331D5C6D99}"/>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Longitudinal urinary E. coli VF analysis asks about repertoire and stability</a:t>
            </a:r>
          </a:p>
        </p:txBody>
      </p:sp>
      <p:sp>
        <p:nvSpPr>
          <p:cNvPr id="6" name="">
            <a:extLst>
              <a:ext uri="{FF2B5EF4-FFF2-40B4-BE49-F238E27FC236}">
                <a16:creationId id="{91AD26B9-A26D-4280-A2B9-4EE46BBED8AB}"/>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Clinical status is an annotation layer; the core object is repeated isolate VF profiles.</a:t>
            </a:r>
          </a:p>
        </p:txBody>
      </p:sp>
      <p:sp>
        <p:nvSpPr>
          <p:cNvPr id="7" name="">
            <a:extLst>
              <a:ext uri="{FF2B5EF4-FFF2-40B4-BE49-F238E27FC236}">
                <a16:creationId id="{04EF23B4-F508-48CC-9301-3D44689B6014}"/>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8D17B830-0245-4C6A-AA5F-51B883BB6F9C}"/>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1CCD1A4A-EE67-48E7-9B27-286F372321B2}"/>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75884112-FA5C-423A-A357-281A16CA4B08}"/>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02</a:t>
            </a:r>
          </a:p>
        </p:txBody>
      </p:sp>
      <p:sp>
        <p:nvSpPr>
          <p:cNvPr id="11" name="">
            <a:extLst>
              <a:ext uri="{FF2B5EF4-FFF2-40B4-BE49-F238E27FC236}">
                <a16:creationId id="{522D3109-4057-4A36-BBC2-BF5C7E240FB5}"/>
              </a:ext>
            </a:extLst>
          </p:cNvPr>
          <p:cNvSpPr>
            <a:spLocks noGrp="1"/>
          </p:cNvSpPr>
          <p:nvPr/>
        </p:nvSpPr>
        <p:spPr>
          <a:xfrm>
            <a:off x="742950" y="1752600"/>
            <a:ext cx="2781300" cy="2952750"/>
          </a:xfrm>
          <a:prstGeom prst="roundRect">
            <a:avLst>
              <a:gd name="adj" fmla="val 2740"/>
            </a:avLst>
          </a:prstGeom>
          <a:solidFill>
            <a:srgbClr val="E8F1FA"/>
          </a:solidFill>
          <a:ln w="9525">
            <a:solidFill>
              <a:srgbClr val="BDD7EE"/>
            </a:solidFill>
            <a:prstDash val="solid"/>
          </a:ln>
        </p:spPr>
      </p:sp>
      <p:sp>
        <p:nvSpPr>
          <p:cNvPr id="12" name="">
            <a:extLst>
              <a:ext uri="{FF2B5EF4-FFF2-40B4-BE49-F238E27FC236}">
                <a16:creationId id="{60DC27C2-B4BB-4659-A483-7260ACBEA5F2}"/>
              </a:ext>
            </a:extLst>
          </p:cNvPr>
          <p:cNvSpPr>
            <a:spLocks noGrp="1"/>
          </p:cNvSpPr>
          <p:nvPr/>
        </p:nvSpPr>
        <p:spPr>
          <a:xfrm>
            <a:off x="914400" y="1924050"/>
            <a:ext cx="24384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111827"/>
                </a:solidFill>
                <a:latin typeface="Aptos"/>
                <a:ea typeface="Aptos"/>
                <a:cs typeface="Aptos"/>
              </a:defRPr>
            </a:pPr>
            <a:r>
              <a:rPr sz="1350" b="1">
                <a:solidFill>
                  <a:srgbClr val="111827"/>
                </a:solidFill>
                <a:latin typeface="Aptos"/>
                <a:ea typeface="Aptos"/>
                <a:cs typeface="Aptos"/>
              </a:rPr>
              <a:t>Same resident, repeated isolates</a:t>
            </a:r>
          </a:p>
        </p:txBody>
      </p:sp>
      <p:sp>
        <p:nvSpPr>
          <p:cNvPr id="13" name="">
            <a:extLst>
              <a:ext uri="{FF2B5EF4-FFF2-40B4-BE49-F238E27FC236}">
                <a16:creationId id="{DD971708-96B4-4115-80CF-D2346C7A45BC}"/>
              </a:ext>
            </a:extLst>
          </p:cNvPr>
          <p:cNvSpPr>
            <a:spLocks noGrp="1"/>
          </p:cNvSpPr>
          <p:nvPr/>
        </p:nvSpPr>
        <p:spPr>
          <a:xfrm>
            <a:off x="914400" y="2209800"/>
            <a:ext cx="2438400" cy="23622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64748B"/>
                </a:solidFill>
                <a:latin typeface="Aptos"/>
                <a:ea typeface="Aptos"/>
                <a:cs typeface="Aptos"/>
              </a:defRPr>
            </a:pPr>
            <a:r>
              <a:rPr sz="1125" b="0">
                <a:solidFill>
                  <a:srgbClr val="64748B"/>
                </a:solidFill>
                <a:latin typeface="Aptos"/>
                <a:ea typeface="Aptos"/>
                <a:cs typeface="Aptos"/>
              </a:rPr>
              <a:t>Urinary E. coli can recur or persist across serial sampling. A one-time status comparison cannot separate stable carriage, replacement, and longitudinal change.</a:t>
            </a:r>
          </a:p>
        </p:txBody>
      </p:sp>
      <p:sp>
        <p:nvSpPr>
          <p:cNvPr id="14" name="">
            <a:extLst>
              <a:ext uri="{FF2B5EF4-FFF2-40B4-BE49-F238E27FC236}">
                <a16:creationId id="{ABF92855-66D4-4FDF-9110-63835A7BFB37}"/>
              </a:ext>
            </a:extLst>
          </p:cNvPr>
          <p:cNvSpPr>
            <a:spLocks noGrp="1"/>
          </p:cNvSpPr>
          <p:nvPr/>
        </p:nvSpPr>
        <p:spPr>
          <a:xfrm>
            <a:off x="4095750" y="1771650"/>
            <a:ext cx="38100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425" b="1">
                <a:solidFill>
                  <a:srgbClr val="111827"/>
                </a:solidFill>
                <a:latin typeface="Aptos"/>
                <a:ea typeface="Aptos"/>
                <a:cs typeface="Aptos"/>
              </a:defRPr>
            </a:pPr>
            <a:r>
              <a:rPr sz="1425" b="1">
                <a:solidFill>
                  <a:srgbClr val="111827"/>
                </a:solidFill>
                <a:latin typeface="Aptos"/>
                <a:ea typeface="Aptos"/>
                <a:cs typeface="Aptos"/>
              </a:rPr>
              <a:t>Three observable longitudinal patterns</a:t>
            </a:r>
          </a:p>
        </p:txBody>
      </p:sp>
      <p:sp>
        <p:nvSpPr>
          <p:cNvPr id="15" name="">
            <a:extLst>
              <a:ext uri="{FF2B5EF4-FFF2-40B4-BE49-F238E27FC236}">
                <a16:creationId id="{FFE37223-31F3-4089-AD2C-41DD12D6CB5F}"/>
              </a:ext>
            </a:extLst>
          </p:cNvPr>
          <p:cNvSpPr>
            <a:spLocks noGrp="1"/>
          </p:cNvSpPr>
          <p:nvPr/>
        </p:nvSpPr>
        <p:spPr>
          <a:xfrm>
            <a:off x="4095750" y="2095500"/>
            <a:ext cx="2762250" cy="514350"/>
          </a:xfrm>
          <a:prstGeom prst="roundRect">
            <a:avLst>
              <a:gd name="adj" fmla="val 14815"/>
            </a:avLst>
          </a:prstGeom>
          <a:solidFill>
            <a:srgbClr val="EAF7EF"/>
          </a:solidFill>
          <a:ln w="0">
            <a:solidFill>
              <a:srgbClr val="EAF7EF"/>
            </a:solidFill>
            <a:prstDash val="solid"/>
          </a:ln>
        </p:spPr>
      </p:sp>
      <p:sp>
        <p:nvSpPr>
          <p:cNvPr id="16" name="">
            <a:extLst>
              <a:ext uri="{FF2B5EF4-FFF2-40B4-BE49-F238E27FC236}">
                <a16:creationId id="{A32147E3-89A2-4DB7-8FF0-87158435ABBB}"/>
              </a:ext>
            </a:extLst>
          </p:cNvPr>
          <p:cNvSpPr>
            <a:spLocks noGrp="1"/>
          </p:cNvSpPr>
          <p:nvPr/>
        </p:nvSpPr>
        <p:spPr>
          <a:xfrm>
            <a:off x="4267200" y="2190750"/>
            <a:ext cx="238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2F855A"/>
                </a:solidFill>
                <a:latin typeface="Aptos"/>
                <a:ea typeface="Aptos"/>
                <a:cs typeface="Aptos"/>
              </a:defRPr>
            </a:pPr>
            <a:r>
              <a:rPr sz="1125" b="1">
                <a:solidFill>
                  <a:srgbClr val="2F855A"/>
                </a:solidFill>
                <a:latin typeface="Aptos"/>
                <a:ea typeface="Aptos"/>
                <a:cs typeface="Aptos"/>
              </a:rPr>
              <a:t>Persistent lineage</a:t>
            </a:r>
          </a:p>
        </p:txBody>
      </p:sp>
      <p:sp>
        <p:nvSpPr>
          <p:cNvPr id="17" name="">
            <a:extLst>
              <a:ext uri="{FF2B5EF4-FFF2-40B4-BE49-F238E27FC236}">
                <a16:creationId id="{121D281E-9035-46A8-9464-9EE41202CA50}"/>
              </a:ext>
            </a:extLst>
          </p:cNvPr>
          <p:cNvSpPr>
            <a:spLocks noGrp="1"/>
          </p:cNvSpPr>
          <p:nvPr/>
        </p:nvSpPr>
        <p:spPr>
          <a:xfrm>
            <a:off x="4267200" y="2390775"/>
            <a:ext cx="2381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64748B"/>
                </a:solidFill>
                <a:latin typeface="Aptos"/>
                <a:ea typeface="Aptos"/>
                <a:cs typeface="Aptos"/>
              </a:defRPr>
            </a:pPr>
            <a:r>
              <a:rPr sz="863" b="0">
                <a:solidFill>
                  <a:srgbClr val="64748B"/>
                </a:solidFill>
                <a:latin typeface="Aptos"/>
                <a:ea typeface="Aptos"/>
                <a:cs typeface="Aptos"/>
              </a:rPr>
              <a:t>High VF similarity across repeated isolates</a:t>
            </a:r>
          </a:p>
        </p:txBody>
      </p:sp>
      <p:sp>
        <p:nvSpPr>
          <p:cNvPr id="18" name="">
            <a:extLst>
              <a:ext uri="{FF2B5EF4-FFF2-40B4-BE49-F238E27FC236}">
                <a16:creationId id="{B0E7468F-859E-4098-ADC7-2DD65D9BC982}"/>
              </a:ext>
            </a:extLst>
          </p:cNvPr>
          <p:cNvSpPr>
            <a:spLocks noGrp="1"/>
          </p:cNvSpPr>
          <p:nvPr/>
        </p:nvSpPr>
        <p:spPr>
          <a:xfrm>
            <a:off x="4095750" y="2914650"/>
            <a:ext cx="2762250" cy="514350"/>
          </a:xfrm>
          <a:prstGeom prst="roundRect">
            <a:avLst>
              <a:gd name="adj" fmla="val 14815"/>
            </a:avLst>
          </a:prstGeom>
          <a:solidFill>
            <a:srgbClr val="FBEDE8"/>
          </a:solidFill>
          <a:ln w="0">
            <a:solidFill>
              <a:srgbClr val="FBEDE8"/>
            </a:solidFill>
            <a:prstDash val="solid"/>
          </a:ln>
        </p:spPr>
      </p:sp>
      <p:sp>
        <p:nvSpPr>
          <p:cNvPr id="19" name="">
            <a:extLst>
              <a:ext uri="{FF2B5EF4-FFF2-40B4-BE49-F238E27FC236}">
                <a16:creationId id="{D98A5042-E7FF-480E-ADFC-6659D358A6B9}"/>
              </a:ext>
            </a:extLst>
          </p:cNvPr>
          <p:cNvSpPr>
            <a:spLocks noGrp="1"/>
          </p:cNvSpPr>
          <p:nvPr/>
        </p:nvSpPr>
        <p:spPr>
          <a:xfrm>
            <a:off x="4267200" y="3009900"/>
            <a:ext cx="238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B65A3C"/>
                </a:solidFill>
                <a:latin typeface="Aptos"/>
                <a:ea typeface="Aptos"/>
                <a:cs typeface="Aptos"/>
              </a:defRPr>
            </a:pPr>
            <a:r>
              <a:rPr sz="1125" b="1">
                <a:solidFill>
                  <a:srgbClr val="B65A3C"/>
                </a:solidFill>
                <a:latin typeface="Aptos"/>
                <a:ea typeface="Aptos"/>
                <a:cs typeface="Aptos"/>
              </a:rPr>
              <a:t>Replacement</a:t>
            </a:r>
          </a:p>
        </p:txBody>
      </p:sp>
      <p:sp>
        <p:nvSpPr>
          <p:cNvPr id="20" name="">
            <a:extLst>
              <a:ext uri="{FF2B5EF4-FFF2-40B4-BE49-F238E27FC236}">
                <a16:creationId id="{694E90FD-CA37-40A6-8B6F-822F02109051}"/>
              </a:ext>
            </a:extLst>
          </p:cNvPr>
          <p:cNvSpPr>
            <a:spLocks noGrp="1"/>
          </p:cNvSpPr>
          <p:nvPr/>
        </p:nvSpPr>
        <p:spPr>
          <a:xfrm>
            <a:off x="4267200" y="3209925"/>
            <a:ext cx="2381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64748B"/>
                </a:solidFill>
                <a:latin typeface="Aptos"/>
                <a:ea typeface="Aptos"/>
                <a:cs typeface="Aptos"/>
              </a:defRPr>
            </a:pPr>
            <a:r>
              <a:rPr sz="863" b="0">
                <a:solidFill>
                  <a:srgbClr val="64748B"/>
                </a:solidFill>
                <a:latin typeface="Aptos"/>
                <a:ea typeface="Aptos"/>
                <a:cs typeface="Aptos"/>
              </a:rPr>
              <a:t>Different lineage or large genomic distance</a:t>
            </a:r>
          </a:p>
        </p:txBody>
      </p:sp>
      <p:sp>
        <p:nvSpPr>
          <p:cNvPr id="21" name="">
            <a:extLst>
              <a:ext uri="{FF2B5EF4-FFF2-40B4-BE49-F238E27FC236}">
                <a16:creationId id="{B0618D59-8F2B-4501-AA23-05A22115CFAC}"/>
              </a:ext>
            </a:extLst>
          </p:cNvPr>
          <p:cNvSpPr>
            <a:spLocks noGrp="1"/>
          </p:cNvSpPr>
          <p:nvPr/>
        </p:nvSpPr>
        <p:spPr>
          <a:xfrm>
            <a:off x="4095750" y="3733800"/>
            <a:ext cx="2762250" cy="514350"/>
          </a:xfrm>
          <a:prstGeom prst="roundRect">
            <a:avLst>
              <a:gd name="adj" fmla="val 14815"/>
            </a:avLst>
          </a:prstGeom>
          <a:solidFill>
            <a:srgbClr val="EEF3F8"/>
          </a:solidFill>
          <a:ln w="0">
            <a:solidFill>
              <a:srgbClr val="EEF3F8"/>
            </a:solidFill>
            <a:prstDash val="solid"/>
          </a:ln>
        </p:spPr>
      </p:sp>
      <p:sp>
        <p:nvSpPr>
          <p:cNvPr id="22" name="">
            <a:extLst>
              <a:ext uri="{FF2B5EF4-FFF2-40B4-BE49-F238E27FC236}">
                <a16:creationId id="{9FD5957B-F512-409F-873E-46CB8AD9F213}"/>
              </a:ext>
            </a:extLst>
          </p:cNvPr>
          <p:cNvSpPr>
            <a:spLocks noGrp="1"/>
          </p:cNvSpPr>
          <p:nvPr/>
        </p:nvSpPr>
        <p:spPr>
          <a:xfrm>
            <a:off x="4267200" y="3829050"/>
            <a:ext cx="23812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11827"/>
                </a:solidFill>
                <a:latin typeface="Aptos"/>
                <a:ea typeface="Aptos"/>
                <a:cs typeface="Aptos"/>
              </a:defRPr>
            </a:pPr>
            <a:r>
              <a:rPr sz="1125" b="1">
                <a:solidFill>
                  <a:srgbClr val="111827"/>
                </a:solidFill>
                <a:latin typeface="Aptos"/>
                <a:ea typeface="Aptos"/>
                <a:cs typeface="Aptos"/>
              </a:rPr>
              <a:t>Gene-content change</a:t>
            </a:r>
          </a:p>
        </p:txBody>
      </p:sp>
      <p:sp>
        <p:nvSpPr>
          <p:cNvPr id="23" name="">
            <a:extLst>
              <a:ext uri="{FF2B5EF4-FFF2-40B4-BE49-F238E27FC236}">
                <a16:creationId id="{303DABA0-1E3D-4742-B031-E57FEBFF7093}"/>
              </a:ext>
            </a:extLst>
          </p:cNvPr>
          <p:cNvSpPr>
            <a:spLocks noGrp="1"/>
          </p:cNvSpPr>
          <p:nvPr/>
        </p:nvSpPr>
        <p:spPr>
          <a:xfrm>
            <a:off x="4267200" y="4029075"/>
            <a:ext cx="2381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64748B"/>
                </a:solidFill>
                <a:latin typeface="Aptos"/>
                <a:ea typeface="Aptos"/>
                <a:cs typeface="Aptos"/>
              </a:defRPr>
            </a:pPr>
            <a:r>
              <a:rPr sz="863" b="0">
                <a:solidFill>
                  <a:srgbClr val="64748B"/>
                </a:solidFill>
                <a:latin typeface="Aptos"/>
                <a:ea typeface="Aptos"/>
                <a:cs typeface="Aptos"/>
              </a:rPr>
              <a:t>Detected VF gains/losses between visits</a:t>
            </a:r>
          </a:p>
        </p:txBody>
      </p:sp>
      <p:sp>
        <p:nvSpPr>
          <p:cNvPr id="24" name="">
            <a:extLst>
              <a:ext uri="{FF2B5EF4-FFF2-40B4-BE49-F238E27FC236}">
                <a16:creationId id="{58018AAD-9F6E-4759-9D04-6CB9395F2E76}"/>
              </a:ext>
            </a:extLst>
          </p:cNvPr>
          <p:cNvSpPr>
            <a:spLocks noGrp="1"/>
          </p:cNvSpPr>
          <p:nvPr/>
        </p:nvSpPr>
        <p:spPr>
          <a:xfrm>
            <a:off x="7524750" y="1752600"/>
            <a:ext cx="3562350" cy="2952750"/>
          </a:xfrm>
          <a:prstGeom prst="roundRect">
            <a:avLst>
              <a:gd name="adj" fmla="val 2581"/>
            </a:avLst>
          </a:prstGeom>
          <a:solidFill>
            <a:srgbClr val="FFFFFF"/>
          </a:solidFill>
          <a:ln w="9525">
            <a:solidFill>
              <a:srgbClr val="CBD5E1"/>
            </a:solidFill>
            <a:prstDash val="solid"/>
          </a:ln>
        </p:spPr>
      </p:sp>
      <p:sp>
        <p:nvSpPr>
          <p:cNvPr id="25" name="">
            <a:extLst>
              <a:ext uri="{FF2B5EF4-FFF2-40B4-BE49-F238E27FC236}">
                <a16:creationId id="{B0A3DC86-D00A-4EF1-A223-8A79587C7ACC}"/>
              </a:ext>
            </a:extLst>
          </p:cNvPr>
          <p:cNvSpPr>
            <a:spLocks noGrp="1"/>
          </p:cNvSpPr>
          <p:nvPr/>
        </p:nvSpPr>
        <p:spPr>
          <a:xfrm>
            <a:off x="7696200" y="1924050"/>
            <a:ext cx="32194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D97706"/>
                </a:solidFill>
                <a:latin typeface="Aptos"/>
                <a:ea typeface="Aptos"/>
                <a:cs typeface="Aptos"/>
              </a:defRPr>
            </a:pPr>
            <a:r>
              <a:rPr sz="1350" b="1">
                <a:solidFill>
                  <a:srgbClr val="D97706"/>
                </a:solidFill>
                <a:latin typeface="Aptos"/>
                <a:ea typeface="Aptos"/>
                <a:cs typeface="Aptos"/>
              </a:rPr>
              <a:t>Clinical overlay comes later</a:t>
            </a:r>
          </a:p>
        </p:txBody>
      </p:sp>
      <p:sp>
        <p:nvSpPr>
          <p:cNvPr id="26" name="">
            <a:extLst>
              <a:ext uri="{FF2B5EF4-FFF2-40B4-BE49-F238E27FC236}">
                <a16:creationId id="{1BA73879-D50C-44D7-B49E-5639CE76381A}"/>
              </a:ext>
            </a:extLst>
          </p:cNvPr>
          <p:cNvSpPr>
            <a:spLocks noGrp="1"/>
          </p:cNvSpPr>
          <p:nvPr/>
        </p:nvSpPr>
        <p:spPr>
          <a:xfrm>
            <a:off x="7696200" y="2209800"/>
            <a:ext cx="3219450" cy="23622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64748B"/>
                </a:solidFill>
                <a:latin typeface="Aptos"/>
                <a:ea typeface="Aptos"/>
                <a:cs typeface="Aptos"/>
              </a:defRPr>
            </a:pPr>
            <a:r>
              <a:rPr sz="1125" b="0">
                <a:solidFill>
                  <a:srgbClr val="64748B"/>
                </a:solidFill>
                <a:latin typeface="Aptos"/>
                <a:ea typeface="Aptos"/>
                <a:cs typeface="Aptos"/>
              </a:rPr>
              <a:t>UTI_Status still matters, but the sparse UTI denominator means clinical contrasts should be labelled exploratory. The VF pipeline first establishes what was measured, how profiles are curated, and how stable those profiles are within residents.</a:t>
            </a:r>
          </a:p>
        </p:txBody>
      </p:sp>
      <p:sp>
        <p:nvSpPr>
          <p:cNvPr id="27" name="">
            <a:extLst>
              <a:ext uri="{FF2B5EF4-FFF2-40B4-BE49-F238E27FC236}">
                <a16:creationId id="{63C6307C-33CD-401A-B96F-4B8640B22700}"/>
              </a:ext>
            </a:extLst>
          </p:cNvPr>
          <p:cNvSpPr>
            <a:spLocks noGrp="1"/>
          </p:cNvSpPr>
          <p:nvPr/>
        </p:nvSpPr>
        <p:spPr>
          <a:xfrm>
            <a:off x="7524750" y="5010150"/>
            <a:ext cx="1409700" cy="247650"/>
          </a:xfrm>
          <a:prstGeom prst="rect">
            <a:avLst/>
          </a:prstGeom>
          <a:solidFill>
            <a:srgbClr val="E8F1FA"/>
          </a:solidFill>
          <a:ln w="0">
            <a:solidFill>
              <a:srgbClr val="E8F1FA"/>
            </a:solidFill>
            <a:prstDash val="solid"/>
          </a:ln>
        </p:spPr>
      </p:sp>
      <p:sp>
        <p:nvSpPr>
          <p:cNvPr id="28" name="">
            <a:extLst>
              <a:ext uri="{FF2B5EF4-FFF2-40B4-BE49-F238E27FC236}">
                <a16:creationId id="{97615EA7-B82C-43F8-BC03-4A85FC9B5521}"/>
              </a:ext>
            </a:extLst>
          </p:cNvPr>
          <p:cNvSpPr>
            <a:spLocks noGrp="1"/>
          </p:cNvSpPr>
          <p:nvPr/>
        </p:nvSpPr>
        <p:spPr>
          <a:xfrm>
            <a:off x="7620000" y="5057775"/>
            <a:ext cx="12192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2B6CB0"/>
                </a:solidFill>
                <a:latin typeface="Aptos"/>
                <a:ea typeface="Aptos"/>
                <a:cs typeface="Aptos"/>
              </a:defRPr>
            </a:pPr>
            <a:r>
              <a:rPr sz="788" b="1">
                <a:solidFill>
                  <a:srgbClr val="2B6CB0"/>
                </a:solidFill>
                <a:latin typeface="Aptos"/>
                <a:ea typeface="Aptos"/>
                <a:cs typeface="Aptos"/>
              </a:rPr>
              <a:t>Not_UTI</a:t>
            </a:r>
          </a:p>
        </p:txBody>
      </p:sp>
      <p:sp>
        <p:nvSpPr>
          <p:cNvPr id="29" name="">
            <a:extLst>
              <a:ext uri="{FF2B5EF4-FFF2-40B4-BE49-F238E27FC236}">
                <a16:creationId id="{4182FA82-6EF5-4AE0-A794-30CCE4AA199C}"/>
              </a:ext>
            </a:extLst>
          </p:cNvPr>
          <p:cNvSpPr>
            <a:spLocks noGrp="1"/>
          </p:cNvSpPr>
          <p:nvPr/>
        </p:nvSpPr>
        <p:spPr>
          <a:xfrm>
            <a:off x="9239250" y="5010150"/>
            <a:ext cx="1409700" cy="247650"/>
          </a:xfrm>
          <a:prstGeom prst="rect">
            <a:avLst/>
          </a:prstGeom>
          <a:solidFill>
            <a:srgbClr val="FFF4E6"/>
          </a:solidFill>
          <a:ln w="0">
            <a:solidFill>
              <a:srgbClr val="FFF4E6"/>
            </a:solidFill>
            <a:prstDash val="solid"/>
          </a:ln>
        </p:spPr>
      </p:sp>
      <p:sp>
        <p:nvSpPr>
          <p:cNvPr id="30" name="">
            <a:extLst>
              <a:ext uri="{FF2B5EF4-FFF2-40B4-BE49-F238E27FC236}">
                <a16:creationId id="{83CA4068-7E2E-4E54-9CEB-58E48F90929C}"/>
              </a:ext>
            </a:extLst>
          </p:cNvPr>
          <p:cNvSpPr>
            <a:spLocks noGrp="1"/>
          </p:cNvSpPr>
          <p:nvPr/>
        </p:nvSpPr>
        <p:spPr>
          <a:xfrm>
            <a:off x="9334500" y="5057775"/>
            <a:ext cx="12192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D97706"/>
                </a:solidFill>
                <a:latin typeface="Aptos"/>
                <a:ea typeface="Aptos"/>
                <a:cs typeface="Aptos"/>
              </a:defRPr>
            </a:pPr>
            <a:r>
              <a:rPr sz="788" b="1">
                <a:solidFill>
                  <a:srgbClr val="D97706"/>
                </a:solidFill>
                <a:latin typeface="Aptos"/>
                <a:ea typeface="Aptos"/>
                <a:cs typeface="Aptos"/>
              </a:rPr>
              <a:t>UTI</a:t>
            </a:r>
          </a:p>
        </p:txBody>
      </p:sp>
      <p:sp>
        <p:nvSpPr>
          <p:cNvPr id="31" name="">
            <a:extLst>
              <a:ext uri="{FF2B5EF4-FFF2-40B4-BE49-F238E27FC236}">
                <a16:creationId id="{13DD5E93-D441-4D20-83AB-6DD837CCB80B}"/>
              </a:ext>
            </a:extLst>
          </p:cNvPr>
          <p:cNvSpPr>
            <a:spLocks noGrp="1"/>
          </p:cNvSpPr>
          <p:nvPr/>
        </p:nvSpPr>
        <p:spPr>
          <a:xfrm rot="0">
            <a:off x="8915400" y="5124450"/>
            <a:ext cx="285750" cy="19050"/>
          </a:xfrm>
          <a:prstGeom prst="rect">
            <a:avLst/>
          </a:prstGeom>
          <a:solidFill>
            <a:srgbClr val="CBD5E1"/>
          </a:solidFill>
          <a:ln w="0">
            <a:solidFill>
              <a:srgbClr val="000000">
                <a:alpha val="0"/>
              </a:srgbClr>
            </a:solidFill>
            <a:prstDash val="solid"/>
          </a:ln>
        </p:spPr>
      </p:sp>
      <p:sp>
        <p:nvSpPr>
          <p:cNvPr id="32" name="">
            <a:extLst>
              <a:ext uri="{FF2B5EF4-FFF2-40B4-BE49-F238E27FC236}">
                <a16:creationId id="{B024DFF4-8002-41D8-B0DF-D430FD55D05A}"/>
              </a:ext>
            </a:extLst>
          </p:cNvPr>
          <p:cNvSpPr>
            <a:spLocks noGrp="1"/>
          </p:cNvSpPr>
          <p:nvPr/>
        </p:nvSpPr>
        <p:spPr>
          <a:xfrm rot="5400000">
            <a:off x="9134475" y="5086350"/>
            <a:ext cx="95250" cy="95250"/>
          </a:xfrm>
          <a:prstGeom prst="triangle">
            <a:avLst/>
          </a:prstGeom>
          <a:solidFill>
            <a:srgbClr val="CBD5E1"/>
          </a:solidFill>
          <a:ln w="0">
            <a:solidFill>
              <a:srgbClr val="000000">
                <a:alpha val="0"/>
              </a:srgbClr>
            </a:solidFill>
            <a:prstDash val="solid"/>
          </a:ln>
        </p:spPr>
      </p:sp>
    </p:spTree>
    <p:extLst>
      <p:ext uri="{BB962C8B-B14F-4D97-AF65-F5344CB8AC3E}">
        <p14:creationId val="1010612759"/>
      </p:ext>
    </p:extLst>
  </p:cSld>
</p:sld>
</file>

<file path=ppt/slides/slide3.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p:cNvGrpSpPr/>
        <p:nvPr/>
      </p:nvGrpSpPr>
      <p:grpSpPr>
        <a:xfrm/>
      </p:grpSpPr>
      <p:sp>
        <p:nvSpPr>
          <p:cNvPr id="2" name="">
            <a:extLst>
              <a:ext uri="{FF2B5EF4-FFF2-40B4-BE49-F238E27FC236}">
                <a16:creationId id="{1532688D-5D3C-46DD-BE82-EF266052A02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2E86E013-3D70-48DD-AF65-B32BD3ED364C}"/>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E92175B0-2BD1-4B62-9266-8AC0710FAC69}"/>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DATA ASSET</a:t>
            </a:r>
          </a:p>
        </p:txBody>
      </p:sp>
      <p:sp>
        <p:nvSpPr>
          <p:cNvPr id="5" name="">
            <a:extLst>
              <a:ext uri="{FF2B5EF4-FFF2-40B4-BE49-F238E27FC236}">
                <a16:creationId id="{A3750C00-3D6F-4AF9-BFAA-E607E95C60FB}"/>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A VF-ready longitudinal isolate dataset links repeated urinary E. coli genomes to clinical episodes</a:t>
            </a:r>
          </a:p>
        </p:txBody>
      </p:sp>
      <p:sp>
        <p:nvSpPr>
          <p:cNvPr id="6" name="">
            <a:extLst>
              <a:ext uri="{FF2B5EF4-FFF2-40B4-BE49-F238E27FC236}">
                <a16:creationId id="{367BC824-C713-40F2-A1EE-0806E45C327A}"/>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Dataset-level counts are VF-ready denominators; no disputed clinical participant total is displayed.</a:t>
            </a:r>
          </a:p>
        </p:txBody>
      </p:sp>
      <p:sp>
        <p:nvSpPr>
          <p:cNvPr id="7" name="">
            <a:extLst>
              <a:ext uri="{FF2B5EF4-FFF2-40B4-BE49-F238E27FC236}">
                <a16:creationId id="{44588E37-40D4-4B91-9F70-E0739A2767CF}"/>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FE0826FC-7770-49D1-932C-13C4D232AE8F}"/>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7B41441C-66C0-4EF3-8FB9-46660AC64DFC}"/>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7E4EF5F2-1C45-4FE8-AFA0-E70FFE82677E}"/>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03</a:t>
            </a:r>
          </a:p>
        </p:txBody>
      </p:sp>
      <p:sp>
        <p:nvSpPr>
          <p:cNvPr id="11" name="">
            <a:extLst>
              <a:ext uri="{FF2B5EF4-FFF2-40B4-BE49-F238E27FC236}">
                <a16:creationId id="{24D9C7D7-25B1-4B47-8A59-E312D54CCCCA}"/>
              </a:ext>
            </a:extLst>
          </p:cNvPr>
          <p:cNvSpPr>
            <a:spLocks noGrp="1"/>
          </p:cNvSpPr>
          <p:nvPr/>
        </p:nvSpPr>
        <p:spPr>
          <a:xfrm>
            <a:off x="762000" y="1714500"/>
            <a:ext cx="1809750" cy="819150"/>
          </a:xfrm>
          <a:prstGeom prst="roundRect">
            <a:avLst>
              <a:gd name="adj" fmla="val 9302"/>
            </a:avLst>
          </a:prstGeom>
          <a:solidFill>
            <a:srgbClr val="E8F1FA"/>
          </a:solidFill>
          <a:ln w="0">
            <a:solidFill>
              <a:srgbClr val="E8F1FA"/>
            </a:solidFill>
            <a:prstDash val="solid"/>
          </a:ln>
        </p:spPr>
      </p:sp>
      <p:sp>
        <p:nvSpPr>
          <p:cNvPr id="12" name="">
            <a:extLst>
              <a:ext uri="{FF2B5EF4-FFF2-40B4-BE49-F238E27FC236}">
                <a16:creationId id="{5F476365-6985-4A91-A8A9-CEDFDE8DA9A7}"/>
              </a:ext>
            </a:extLst>
          </p:cNvPr>
          <p:cNvSpPr>
            <a:spLocks noGrp="1"/>
          </p:cNvSpPr>
          <p:nvPr/>
        </p:nvSpPr>
        <p:spPr>
          <a:xfrm>
            <a:off x="914400" y="1847850"/>
            <a:ext cx="15049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100" b="1">
                <a:solidFill>
                  <a:srgbClr val="2B6CB0"/>
                </a:solidFill>
                <a:latin typeface="Aptos"/>
                <a:ea typeface="Aptos"/>
                <a:cs typeface="Aptos"/>
              </a:defRPr>
            </a:pPr>
            <a:r>
              <a:rPr sz="2100" b="1">
                <a:solidFill>
                  <a:srgbClr val="2B6CB0"/>
                </a:solidFill>
                <a:latin typeface="Aptos"/>
                <a:ea typeface="Aptos"/>
                <a:cs typeface="Aptos"/>
              </a:rPr>
              <a:t>556</a:t>
            </a:r>
          </a:p>
        </p:txBody>
      </p:sp>
      <p:sp>
        <p:nvSpPr>
          <p:cNvPr id="13" name="">
            <a:extLst>
              <a:ext uri="{FF2B5EF4-FFF2-40B4-BE49-F238E27FC236}">
                <a16:creationId id="{32E970B0-5CBB-48F7-9589-179D02F480C8}"/>
              </a:ext>
            </a:extLst>
          </p:cNvPr>
          <p:cNvSpPr>
            <a:spLocks noGrp="1"/>
          </p:cNvSpPr>
          <p:nvPr/>
        </p:nvSpPr>
        <p:spPr>
          <a:xfrm>
            <a:off x="914400" y="2209800"/>
            <a:ext cx="1504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2B6CB0"/>
                </a:solidFill>
                <a:latin typeface="Aptos"/>
                <a:ea typeface="Aptos"/>
                <a:cs typeface="Aptos"/>
              </a:defRPr>
            </a:pPr>
            <a:r>
              <a:rPr sz="863" b="0">
                <a:solidFill>
                  <a:srgbClr val="2B6CB0"/>
                </a:solidFill>
                <a:latin typeface="Aptos"/>
                <a:ea typeface="Aptos"/>
                <a:cs typeface="Aptos"/>
              </a:rPr>
              <a:t>episode-level selected assemblies</a:t>
            </a:r>
          </a:p>
        </p:txBody>
      </p:sp>
      <p:sp>
        <p:nvSpPr>
          <p:cNvPr id="14" name="">
            <a:extLst>
              <a:ext uri="{FF2B5EF4-FFF2-40B4-BE49-F238E27FC236}">
                <a16:creationId id="{A689F468-4907-48C9-A532-2C41FD698EE4}"/>
              </a:ext>
            </a:extLst>
          </p:cNvPr>
          <p:cNvSpPr>
            <a:spLocks noGrp="1"/>
          </p:cNvSpPr>
          <p:nvPr/>
        </p:nvSpPr>
        <p:spPr>
          <a:xfrm>
            <a:off x="2857500" y="1714500"/>
            <a:ext cx="1809750" cy="819150"/>
          </a:xfrm>
          <a:prstGeom prst="roundRect">
            <a:avLst>
              <a:gd name="adj" fmla="val 9302"/>
            </a:avLst>
          </a:prstGeom>
          <a:solidFill>
            <a:srgbClr val="EEF3F8"/>
          </a:solidFill>
          <a:ln w="0">
            <a:solidFill>
              <a:srgbClr val="EEF3F8"/>
            </a:solidFill>
            <a:prstDash val="solid"/>
          </a:ln>
        </p:spPr>
      </p:sp>
      <p:sp>
        <p:nvSpPr>
          <p:cNvPr id="15" name="">
            <a:extLst>
              <a:ext uri="{FF2B5EF4-FFF2-40B4-BE49-F238E27FC236}">
                <a16:creationId id="{C64DB208-304D-4EB8-8FF9-B878529D9218}"/>
              </a:ext>
            </a:extLst>
          </p:cNvPr>
          <p:cNvSpPr>
            <a:spLocks noGrp="1"/>
          </p:cNvSpPr>
          <p:nvPr/>
        </p:nvSpPr>
        <p:spPr>
          <a:xfrm>
            <a:off x="3009900" y="1847850"/>
            <a:ext cx="15049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100" b="1">
                <a:solidFill>
                  <a:srgbClr val="111827"/>
                </a:solidFill>
                <a:latin typeface="Aptos"/>
                <a:ea typeface="Aptos"/>
                <a:cs typeface="Aptos"/>
              </a:defRPr>
            </a:pPr>
            <a:r>
              <a:rPr sz="2100" b="1">
                <a:solidFill>
                  <a:srgbClr val="111827"/>
                </a:solidFill>
                <a:latin typeface="Aptos"/>
                <a:ea typeface="Aptos"/>
                <a:cs typeface="Aptos"/>
              </a:rPr>
              <a:t>162</a:t>
            </a:r>
          </a:p>
        </p:txBody>
      </p:sp>
      <p:sp>
        <p:nvSpPr>
          <p:cNvPr id="16" name="">
            <a:extLst>
              <a:ext uri="{FF2B5EF4-FFF2-40B4-BE49-F238E27FC236}">
                <a16:creationId id="{020AAAF7-64F8-4AC9-87DC-239E3E35B101}"/>
              </a:ext>
            </a:extLst>
          </p:cNvPr>
          <p:cNvSpPr>
            <a:spLocks noGrp="1"/>
          </p:cNvSpPr>
          <p:nvPr/>
        </p:nvSpPr>
        <p:spPr>
          <a:xfrm>
            <a:off x="3009900" y="2209800"/>
            <a:ext cx="1504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111827"/>
                </a:solidFill>
                <a:latin typeface="Aptos"/>
                <a:ea typeface="Aptos"/>
                <a:cs typeface="Aptos"/>
              </a:defRPr>
            </a:pPr>
            <a:r>
              <a:rPr sz="863" b="0">
                <a:solidFill>
                  <a:srgbClr val="111827"/>
                </a:solidFill>
                <a:latin typeface="Aptos"/>
                <a:ea typeface="Aptos"/>
                <a:cs typeface="Aptos"/>
              </a:rPr>
              <a:t>participants in VF-ready dataset</a:t>
            </a:r>
          </a:p>
        </p:txBody>
      </p:sp>
      <p:sp>
        <p:nvSpPr>
          <p:cNvPr id="17" name="">
            <a:extLst>
              <a:ext uri="{FF2B5EF4-FFF2-40B4-BE49-F238E27FC236}">
                <a16:creationId id="{1ED1F36A-375E-4CA6-AA99-45710373EF44}"/>
              </a:ext>
            </a:extLst>
          </p:cNvPr>
          <p:cNvSpPr>
            <a:spLocks noGrp="1"/>
          </p:cNvSpPr>
          <p:nvPr/>
        </p:nvSpPr>
        <p:spPr>
          <a:xfrm>
            <a:off x="4953000" y="1714500"/>
            <a:ext cx="1809750" cy="819150"/>
          </a:xfrm>
          <a:prstGeom prst="roundRect">
            <a:avLst>
              <a:gd name="adj" fmla="val 9302"/>
            </a:avLst>
          </a:prstGeom>
          <a:solidFill>
            <a:srgbClr val="EAF7EF"/>
          </a:solidFill>
          <a:ln w="0">
            <a:solidFill>
              <a:srgbClr val="EAF7EF"/>
            </a:solidFill>
            <a:prstDash val="solid"/>
          </a:ln>
        </p:spPr>
      </p:sp>
      <p:sp>
        <p:nvSpPr>
          <p:cNvPr id="18" name="">
            <a:extLst>
              <a:ext uri="{FF2B5EF4-FFF2-40B4-BE49-F238E27FC236}">
                <a16:creationId id="{D7E69B73-2F48-41F4-A938-555E4F007157}"/>
              </a:ext>
            </a:extLst>
          </p:cNvPr>
          <p:cNvSpPr>
            <a:spLocks noGrp="1"/>
          </p:cNvSpPr>
          <p:nvPr/>
        </p:nvSpPr>
        <p:spPr>
          <a:xfrm>
            <a:off x="5105400" y="1847850"/>
            <a:ext cx="15049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100" b="1">
                <a:solidFill>
                  <a:srgbClr val="2F855A"/>
                </a:solidFill>
                <a:latin typeface="Aptos"/>
                <a:ea typeface="Aptos"/>
                <a:cs typeface="Aptos"/>
              </a:defRPr>
            </a:pPr>
            <a:r>
              <a:rPr sz="2100" b="1">
                <a:solidFill>
                  <a:srgbClr val="2F855A"/>
                </a:solidFill>
                <a:latin typeface="Aptos"/>
                <a:ea typeface="Aptos"/>
                <a:cs typeface="Aptos"/>
              </a:rPr>
              <a:t>227</a:t>
            </a:r>
          </a:p>
        </p:txBody>
      </p:sp>
      <p:sp>
        <p:nvSpPr>
          <p:cNvPr id="19" name="">
            <a:extLst>
              <a:ext uri="{FF2B5EF4-FFF2-40B4-BE49-F238E27FC236}">
                <a16:creationId id="{5D2C0383-E554-495C-981F-9E46FE2C709E}"/>
              </a:ext>
            </a:extLst>
          </p:cNvPr>
          <p:cNvSpPr>
            <a:spLocks noGrp="1"/>
          </p:cNvSpPr>
          <p:nvPr/>
        </p:nvSpPr>
        <p:spPr>
          <a:xfrm>
            <a:off x="5105400" y="2209800"/>
            <a:ext cx="1504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2F855A"/>
                </a:solidFill>
                <a:latin typeface="Aptos"/>
                <a:ea typeface="Aptos"/>
                <a:cs typeface="Aptos"/>
              </a:defRPr>
            </a:pPr>
            <a:r>
              <a:rPr sz="863" b="0">
                <a:solidFill>
                  <a:srgbClr val="2F855A"/>
                </a:solidFill>
                <a:latin typeface="Aptos"/>
                <a:ea typeface="Aptos"/>
                <a:cs typeface="Aptos"/>
              </a:rPr>
              <a:t>binary VF gene columns</a:t>
            </a:r>
          </a:p>
        </p:txBody>
      </p:sp>
      <p:sp>
        <p:nvSpPr>
          <p:cNvPr id="20" name="">
            <a:extLst>
              <a:ext uri="{FF2B5EF4-FFF2-40B4-BE49-F238E27FC236}">
                <a16:creationId id="{B700A81F-AB13-48A3-9B50-B16C405360AE}"/>
              </a:ext>
            </a:extLst>
          </p:cNvPr>
          <p:cNvSpPr>
            <a:spLocks noGrp="1"/>
          </p:cNvSpPr>
          <p:nvPr/>
        </p:nvSpPr>
        <p:spPr>
          <a:xfrm>
            <a:off x="7048500" y="1714500"/>
            <a:ext cx="1809750" cy="819150"/>
          </a:xfrm>
          <a:prstGeom prst="roundRect">
            <a:avLst>
              <a:gd name="adj" fmla="val 9302"/>
            </a:avLst>
          </a:prstGeom>
          <a:solidFill>
            <a:srgbClr val="FFF4E6"/>
          </a:solidFill>
          <a:ln w="0">
            <a:solidFill>
              <a:srgbClr val="FFF4E6"/>
            </a:solidFill>
            <a:prstDash val="solid"/>
          </a:ln>
        </p:spPr>
      </p:sp>
      <p:sp>
        <p:nvSpPr>
          <p:cNvPr id="21" name="">
            <a:extLst>
              <a:ext uri="{FF2B5EF4-FFF2-40B4-BE49-F238E27FC236}">
                <a16:creationId id="{BFBCA89A-D184-4589-ABCA-E8D25CF0D0BA}"/>
              </a:ext>
            </a:extLst>
          </p:cNvPr>
          <p:cNvSpPr>
            <a:spLocks noGrp="1"/>
          </p:cNvSpPr>
          <p:nvPr/>
        </p:nvSpPr>
        <p:spPr>
          <a:xfrm>
            <a:off x="7200900" y="1847850"/>
            <a:ext cx="15049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100" b="1">
                <a:solidFill>
                  <a:srgbClr val="D97706"/>
                </a:solidFill>
                <a:latin typeface="Aptos"/>
                <a:ea typeface="Aptos"/>
                <a:cs typeface="Aptos"/>
              </a:defRPr>
            </a:pPr>
            <a:r>
              <a:rPr sz="2100" b="1">
                <a:solidFill>
                  <a:srgbClr val="D97706"/>
                </a:solidFill>
                <a:latin typeface="Aptos"/>
                <a:ea typeface="Aptos"/>
                <a:cs typeface="Aptos"/>
              </a:rPr>
              <a:t>32</a:t>
            </a:r>
          </a:p>
        </p:txBody>
      </p:sp>
      <p:sp>
        <p:nvSpPr>
          <p:cNvPr id="22" name="">
            <a:extLst>
              <a:ext uri="{FF2B5EF4-FFF2-40B4-BE49-F238E27FC236}">
                <a16:creationId id="{72A6DBA1-209B-4FEA-9F29-91ACC0BDF167}"/>
              </a:ext>
            </a:extLst>
          </p:cNvPr>
          <p:cNvSpPr>
            <a:spLocks noGrp="1"/>
          </p:cNvSpPr>
          <p:nvPr/>
        </p:nvSpPr>
        <p:spPr>
          <a:xfrm>
            <a:off x="7200900" y="2209800"/>
            <a:ext cx="1504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D97706"/>
                </a:solidFill>
                <a:latin typeface="Aptos"/>
                <a:ea typeface="Aptos"/>
                <a:cs typeface="Aptos"/>
              </a:defRPr>
            </a:pPr>
            <a:r>
              <a:rPr sz="863" b="0">
                <a:solidFill>
                  <a:srgbClr val="D97706"/>
                </a:solidFill>
                <a:latin typeface="Aptos"/>
                <a:ea typeface="Aptos"/>
                <a:cs typeface="Aptos"/>
              </a:rPr>
              <a:t>curated modules</a:t>
            </a:r>
          </a:p>
        </p:txBody>
      </p:sp>
      <p:sp>
        <p:nvSpPr>
          <p:cNvPr id="23" name="">
            <a:extLst>
              <a:ext uri="{FF2B5EF4-FFF2-40B4-BE49-F238E27FC236}">
                <a16:creationId id="{67BFCD72-F824-4AA0-BBF6-FA649A3B944F}"/>
              </a:ext>
            </a:extLst>
          </p:cNvPr>
          <p:cNvSpPr>
            <a:spLocks noGrp="1"/>
          </p:cNvSpPr>
          <p:nvPr/>
        </p:nvSpPr>
        <p:spPr>
          <a:xfrm>
            <a:off x="9144000" y="1714500"/>
            <a:ext cx="1809750" cy="819150"/>
          </a:xfrm>
          <a:prstGeom prst="roundRect">
            <a:avLst>
              <a:gd name="adj" fmla="val 9302"/>
            </a:avLst>
          </a:prstGeom>
          <a:solidFill>
            <a:srgbClr val="FBEDE8"/>
          </a:solidFill>
          <a:ln w="0">
            <a:solidFill>
              <a:srgbClr val="FBEDE8"/>
            </a:solidFill>
            <a:prstDash val="solid"/>
          </a:ln>
        </p:spPr>
      </p:sp>
      <p:sp>
        <p:nvSpPr>
          <p:cNvPr id="24" name="">
            <a:extLst>
              <a:ext uri="{FF2B5EF4-FFF2-40B4-BE49-F238E27FC236}">
                <a16:creationId id="{3E25420A-5DDA-4623-A13C-DF7C90E00319}"/>
              </a:ext>
            </a:extLst>
          </p:cNvPr>
          <p:cNvSpPr>
            <a:spLocks noGrp="1"/>
          </p:cNvSpPr>
          <p:nvPr/>
        </p:nvSpPr>
        <p:spPr>
          <a:xfrm>
            <a:off x="9296400" y="1847850"/>
            <a:ext cx="150495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100" b="1">
                <a:solidFill>
                  <a:srgbClr val="B65A3C"/>
                </a:solidFill>
                <a:latin typeface="Aptos"/>
                <a:ea typeface="Aptos"/>
                <a:cs typeface="Aptos"/>
              </a:defRPr>
            </a:pPr>
            <a:r>
              <a:rPr sz="2100" b="1">
                <a:solidFill>
                  <a:srgbClr val="B65A3C"/>
                </a:solidFill>
                <a:latin typeface="Aptos"/>
                <a:ea typeface="Aptos"/>
                <a:cs typeface="Aptos"/>
              </a:rPr>
              <a:t>18</a:t>
            </a:r>
          </a:p>
        </p:txBody>
      </p:sp>
      <p:sp>
        <p:nvSpPr>
          <p:cNvPr id="25" name="">
            <a:extLst>
              <a:ext uri="{FF2B5EF4-FFF2-40B4-BE49-F238E27FC236}">
                <a16:creationId id="{6A808308-5A7D-464D-95A7-638CCBABE92A}"/>
              </a:ext>
            </a:extLst>
          </p:cNvPr>
          <p:cNvSpPr>
            <a:spLocks noGrp="1"/>
          </p:cNvSpPr>
          <p:nvPr/>
        </p:nvSpPr>
        <p:spPr>
          <a:xfrm>
            <a:off x="9296400" y="2209800"/>
            <a:ext cx="1504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B65A3C"/>
                </a:solidFill>
                <a:latin typeface="Aptos"/>
                <a:ea typeface="Aptos"/>
                <a:cs typeface="Aptos"/>
              </a:defRPr>
            </a:pPr>
            <a:r>
              <a:rPr sz="863" b="0">
                <a:solidFill>
                  <a:srgbClr val="B65A3C"/>
                </a:solidFill>
                <a:latin typeface="Aptos"/>
                <a:ea typeface="Aptos"/>
                <a:cs typeface="Aptos"/>
              </a:rPr>
              <a:t>UPEC-candidate modules</a:t>
            </a:r>
          </a:p>
        </p:txBody>
      </p:sp>
      <p:sp>
        <p:nvSpPr>
          <p:cNvPr id="26" name="">
            <a:extLst>
              <a:ext uri="{FF2B5EF4-FFF2-40B4-BE49-F238E27FC236}">
                <a16:creationId id="{273713E3-23A8-42B6-964B-5238CC1030DC}"/>
              </a:ext>
            </a:extLst>
          </p:cNvPr>
          <p:cNvSpPr>
            <a:spLocks noGrp="1"/>
          </p:cNvSpPr>
          <p:nvPr/>
        </p:nvSpPr>
        <p:spPr>
          <a:xfrm>
            <a:off x="933450" y="3238500"/>
            <a:ext cx="2857500" cy="2095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500" b="1">
                <a:solidFill>
                  <a:srgbClr val="111827"/>
                </a:solidFill>
                <a:latin typeface="Aptos"/>
                <a:ea typeface="Aptos"/>
                <a:cs typeface="Aptos"/>
              </a:defRPr>
            </a:pPr>
            <a:r>
              <a:rPr sz="1500" b="1">
                <a:solidFill>
                  <a:srgbClr val="111827"/>
                </a:solidFill>
                <a:latin typeface="Aptos"/>
                <a:ea typeface="Aptos"/>
                <a:cs typeface="Aptos"/>
              </a:rPr>
              <a:t>Repeated isolate design</a:t>
            </a:r>
          </a:p>
        </p:txBody>
      </p:sp>
      <p:sp>
        <p:nvSpPr>
          <p:cNvPr id="27" name="">
            <a:extLst>
              <a:ext uri="{FF2B5EF4-FFF2-40B4-BE49-F238E27FC236}">
                <a16:creationId id="{922C9D20-B979-4546-8730-F777AB86E04E}"/>
              </a:ext>
            </a:extLst>
          </p:cNvPr>
          <p:cNvSpPr>
            <a:spLocks noGrp="1"/>
          </p:cNvSpPr>
          <p:nvPr/>
        </p:nvSpPr>
        <p:spPr>
          <a:xfrm>
            <a:off x="1428750" y="4191000"/>
            <a:ext cx="666750" cy="666750"/>
          </a:xfrm>
          <a:prstGeom prst="ellipse">
            <a:avLst/>
          </a:prstGeom>
          <a:solidFill>
            <a:srgbClr val="E8F1FA"/>
          </a:solidFill>
          <a:ln w="19050">
            <a:solidFill>
              <a:srgbClr val="9AC1E6"/>
            </a:solidFill>
            <a:prstDash val="solid"/>
          </a:ln>
        </p:spPr>
      </p:sp>
      <p:sp>
        <p:nvSpPr>
          <p:cNvPr id="28" name="">
            <a:extLst>
              <a:ext uri="{FF2B5EF4-FFF2-40B4-BE49-F238E27FC236}">
                <a16:creationId id="{D13F1958-693F-409D-8FFA-2E65A0C039F2}"/>
              </a:ext>
            </a:extLst>
          </p:cNvPr>
          <p:cNvSpPr>
            <a:spLocks noGrp="1"/>
          </p:cNvSpPr>
          <p:nvPr/>
        </p:nvSpPr>
        <p:spPr>
          <a:xfrm>
            <a:off x="1352550" y="4457700"/>
            <a:ext cx="8191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29" name="">
            <a:extLst>
              <a:ext uri="{FF2B5EF4-FFF2-40B4-BE49-F238E27FC236}">
                <a16:creationId id="{B2A7274C-FD7D-43E8-9AB6-B684355BFA48}"/>
              </a:ext>
            </a:extLst>
          </p:cNvPr>
          <p:cNvSpPr>
            <a:spLocks noGrp="1"/>
          </p:cNvSpPr>
          <p:nvPr/>
        </p:nvSpPr>
        <p:spPr>
          <a:xfrm rot="0">
            <a:off x="2190750" y="4514850"/>
            <a:ext cx="1238250" cy="19050"/>
          </a:xfrm>
          <a:prstGeom prst="rect">
            <a:avLst/>
          </a:prstGeom>
          <a:solidFill>
            <a:srgbClr val="94A3B8"/>
          </a:solidFill>
          <a:ln w="0">
            <a:solidFill>
              <a:srgbClr val="000000">
                <a:alpha val="0"/>
              </a:srgbClr>
            </a:solidFill>
            <a:prstDash val="solid"/>
          </a:ln>
        </p:spPr>
      </p:sp>
      <p:sp>
        <p:nvSpPr>
          <p:cNvPr id="30" name="">
            <a:extLst>
              <a:ext uri="{FF2B5EF4-FFF2-40B4-BE49-F238E27FC236}">
                <a16:creationId id="{419369B7-5494-4AF3-AFF3-703AC1D4E96B}"/>
              </a:ext>
            </a:extLst>
          </p:cNvPr>
          <p:cNvSpPr>
            <a:spLocks noGrp="1"/>
          </p:cNvSpPr>
          <p:nvPr/>
        </p:nvSpPr>
        <p:spPr>
          <a:xfrm rot="5400000">
            <a:off x="3362325" y="4476750"/>
            <a:ext cx="95250" cy="95250"/>
          </a:xfrm>
          <a:prstGeom prst="triangle">
            <a:avLst/>
          </a:prstGeom>
          <a:solidFill>
            <a:srgbClr val="94A3B8"/>
          </a:solidFill>
          <a:ln w="0">
            <a:solidFill>
              <a:srgbClr val="000000">
                <a:alpha val="0"/>
              </a:srgbClr>
            </a:solidFill>
            <a:prstDash val="solid"/>
          </a:ln>
        </p:spPr>
      </p:sp>
      <p:sp>
        <p:nvSpPr>
          <p:cNvPr id="31" name="">
            <a:extLst>
              <a:ext uri="{FF2B5EF4-FFF2-40B4-BE49-F238E27FC236}">
                <a16:creationId id="{6F30AEEE-0AA5-44F7-BE12-E6E4EEA991E5}"/>
              </a:ext>
            </a:extLst>
          </p:cNvPr>
          <p:cNvSpPr>
            <a:spLocks noGrp="1"/>
          </p:cNvSpPr>
          <p:nvPr/>
        </p:nvSpPr>
        <p:spPr>
          <a:xfrm>
            <a:off x="1276350" y="5000625"/>
            <a:ext cx="971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64748B"/>
                </a:solidFill>
                <a:latin typeface="Aptos"/>
                <a:ea typeface="Aptos"/>
                <a:cs typeface="Aptos"/>
              </a:defRPr>
            </a:pPr>
            <a:r>
              <a:rPr sz="863" b="0">
                <a:solidFill>
                  <a:srgbClr val="64748B"/>
                </a:solidFill>
                <a:latin typeface="Aptos"/>
                <a:ea typeface="Aptos"/>
                <a:cs typeface="Aptos"/>
              </a:rPr>
              <a:t>Episode 1</a:t>
            </a:r>
          </a:p>
        </p:txBody>
      </p:sp>
      <p:sp>
        <p:nvSpPr>
          <p:cNvPr id="32" name="">
            <a:extLst>
              <a:ext uri="{FF2B5EF4-FFF2-40B4-BE49-F238E27FC236}">
                <a16:creationId id="{EE4ED7E7-0BB9-4CD3-9DFE-A4C62116E84E}"/>
              </a:ext>
            </a:extLst>
          </p:cNvPr>
          <p:cNvSpPr>
            <a:spLocks noGrp="1"/>
          </p:cNvSpPr>
          <p:nvPr/>
        </p:nvSpPr>
        <p:spPr>
          <a:xfrm>
            <a:off x="3524250" y="4191000"/>
            <a:ext cx="666750" cy="666750"/>
          </a:xfrm>
          <a:prstGeom prst="ellipse">
            <a:avLst/>
          </a:prstGeom>
          <a:solidFill>
            <a:srgbClr val="E8F1FA"/>
          </a:solidFill>
          <a:ln w="19050">
            <a:solidFill>
              <a:srgbClr val="9AC1E6"/>
            </a:solidFill>
            <a:prstDash val="solid"/>
          </a:ln>
        </p:spPr>
      </p:sp>
      <p:sp>
        <p:nvSpPr>
          <p:cNvPr id="33" name="">
            <a:extLst>
              <a:ext uri="{FF2B5EF4-FFF2-40B4-BE49-F238E27FC236}">
                <a16:creationId id="{C5C34702-2D03-451D-BC98-95D03A376AF3}"/>
              </a:ext>
            </a:extLst>
          </p:cNvPr>
          <p:cNvSpPr>
            <a:spLocks noGrp="1"/>
          </p:cNvSpPr>
          <p:nvPr/>
        </p:nvSpPr>
        <p:spPr>
          <a:xfrm>
            <a:off x="3448050" y="4457700"/>
            <a:ext cx="8191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34" name="">
            <a:extLst>
              <a:ext uri="{FF2B5EF4-FFF2-40B4-BE49-F238E27FC236}">
                <a16:creationId id="{1151618E-F467-4C81-ACBC-B0578CE76E51}"/>
              </a:ext>
            </a:extLst>
          </p:cNvPr>
          <p:cNvSpPr>
            <a:spLocks noGrp="1"/>
          </p:cNvSpPr>
          <p:nvPr/>
        </p:nvSpPr>
        <p:spPr>
          <a:xfrm rot="0">
            <a:off x="4286250" y="4514850"/>
            <a:ext cx="1238250" cy="19050"/>
          </a:xfrm>
          <a:prstGeom prst="rect">
            <a:avLst/>
          </a:prstGeom>
          <a:solidFill>
            <a:srgbClr val="94A3B8"/>
          </a:solidFill>
          <a:ln w="0">
            <a:solidFill>
              <a:srgbClr val="000000">
                <a:alpha val="0"/>
              </a:srgbClr>
            </a:solidFill>
            <a:prstDash val="solid"/>
          </a:ln>
        </p:spPr>
      </p:sp>
      <p:sp>
        <p:nvSpPr>
          <p:cNvPr id="35" name="">
            <a:extLst>
              <a:ext uri="{FF2B5EF4-FFF2-40B4-BE49-F238E27FC236}">
                <a16:creationId id="{5FD5BE3D-727D-4E30-9101-61F59088DF21}"/>
              </a:ext>
            </a:extLst>
          </p:cNvPr>
          <p:cNvSpPr>
            <a:spLocks noGrp="1"/>
          </p:cNvSpPr>
          <p:nvPr/>
        </p:nvSpPr>
        <p:spPr>
          <a:xfrm rot="5400000">
            <a:off x="5457825" y="4476750"/>
            <a:ext cx="95250" cy="95250"/>
          </a:xfrm>
          <a:prstGeom prst="triangle">
            <a:avLst/>
          </a:prstGeom>
          <a:solidFill>
            <a:srgbClr val="94A3B8"/>
          </a:solidFill>
          <a:ln w="0">
            <a:solidFill>
              <a:srgbClr val="000000">
                <a:alpha val="0"/>
              </a:srgbClr>
            </a:solidFill>
            <a:prstDash val="solid"/>
          </a:ln>
        </p:spPr>
      </p:sp>
      <p:sp>
        <p:nvSpPr>
          <p:cNvPr id="36" name="">
            <a:extLst>
              <a:ext uri="{FF2B5EF4-FFF2-40B4-BE49-F238E27FC236}">
                <a16:creationId id="{261F62BC-504D-49B2-A733-A5AC9A9BE691}"/>
              </a:ext>
            </a:extLst>
          </p:cNvPr>
          <p:cNvSpPr>
            <a:spLocks noGrp="1"/>
          </p:cNvSpPr>
          <p:nvPr/>
        </p:nvSpPr>
        <p:spPr>
          <a:xfrm>
            <a:off x="3371850" y="5000625"/>
            <a:ext cx="971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64748B"/>
                </a:solidFill>
                <a:latin typeface="Aptos"/>
                <a:ea typeface="Aptos"/>
                <a:cs typeface="Aptos"/>
              </a:defRPr>
            </a:pPr>
            <a:r>
              <a:rPr sz="863" b="0">
                <a:solidFill>
                  <a:srgbClr val="64748B"/>
                </a:solidFill>
                <a:latin typeface="Aptos"/>
                <a:ea typeface="Aptos"/>
                <a:cs typeface="Aptos"/>
              </a:rPr>
              <a:t>Episode 2</a:t>
            </a:r>
          </a:p>
        </p:txBody>
      </p:sp>
      <p:sp>
        <p:nvSpPr>
          <p:cNvPr id="37" name="">
            <a:extLst>
              <a:ext uri="{FF2B5EF4-FFF2-40B4-BE49-F238E27FC236}">
                <a16:creationId id="{315D6846-FAC3-48F8-A63F-D6EAF10E62EC}"/>
              </a:ext>
            </a:extLst>
          </p:cNvPr>
          <p:cNvSpPr>
            <a:spLocks noGrp="1"/>
          </p:cNvSpPr>
          <p:nvPr/>
        </p:nvSpPr>
        <p:spPr>
          <a:xfrm>
            <a:off x="5619750" y="4191000"/>
            <a:ext cx="666750" cy="666750"/>
          </a:xfrm>
          <a:prstGeom prst="ellipse">
            <a:avLst/>
          </a:prstGeom>
          <a:solidFill>
            <a:srgbClr val="E8F1FA"/>
          </a:solidFill>
          <a:ln w="19050">
            <a:solidFill>
              <a:srgbClr val="9AC1E6"/>
            </a:solidFill>
            <a:prstDash val="solid"/>
          </a:ln>
        </p:spPr>
      </p:sp>
      <p:sp>
        <p:nvSpPr>
          <p:cNvPr id="38" name="">
            <a:extLst>
              <a:ext uri="{FF2B5EF4-FFF2-40B4-BE49-F238E27FC236}">
                <a16:creationId id="{33E7572C-2F97-47F9-BBD6-4EA54DB0596F}"/>
              </a:ext>
            </a:extLst>
          </p:cNvPr>
          <p:cNvSpPr>
            <a:spLocks noGrp="1"/>
          </p:cNvSpPr>
          <p:nvPr/>
        </p:nvSpPr>
        <p:spPr>
          <a:xfrm>
            <a:off x="5543550" y="4457700"/>
            <a:ext cx="8191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39" name="">
            <a:extLst>
              <a:ext uri="{FF2B5EF4-FFF2-40B4-BE49-F238E27FC236}">
                <a16:creationId id="{F9E873D3-D2FA-443A-B290-34FC23B4B177}"/>
              </a:ext>
            </a:extLst>
          </p:cNvPr>
          <p:cNvSpPr>
            <a:spLocks noGrp="1"/>
          </p:cNvSpPr>
          <p:nvPr/>
        </p:nvSpPr>
        <p:spPr>
          <a:xfrm rot="0">
            <a:off x="6381750" y="4514850"/>
            <a:ext cx="1238250" cy="19050"/>
          </a:xfrm>
          <a:prstGeom prst="rect">
            <a:avLst/>
          </a:prstGeom>
          <a:solidFill>
            <a:srgbClr val="94A3B8"/>
          </a:solidFill>
          <a:ln w="0">
            <a:solidFill>
              <a:srgbClr val="000000">
                <a:alpha val="0"/>
              </a:srgbClr>
            </a:solidFill>
            <a:prstDash val="solid"/>
          </a:ln>
        </p:spPr>
      </p:sp>
      <p:sp>
        <p:nvSpPr>
          <p:cNvPr id="40" name="">
            <a:extLst>
              <a:ext uri="{FF2B5EF4-FFF2-40B4-BE49-F238E27FC236}">
                <a16:creationId id="{57FB7854-E2D6-42A5-8086-8AC979E3DB8E}"/>
              </a:ext>
            </a:extLst>
          </p:cNvPr>
          <p:cNvSpPr>
            <a:spLocks noGrp="1"/>
          </p:cNvSpPr>
          <p:nvPr/>
        </p:nvSpPr>
        <p:spPr>
          <a:xfrm rot="5400000">
            <a:off x="7553325" y="4476750"/>
            <a:ext cx="95250" cy="95250"/>
          </a:xfrm>
          <a:prstGeom prst="triangle">
            <a:avLst/>
          </a:prstGeom>
          <a:solidFill>
            <a:srgbClr val="94A3B8"/>
          </a:solidFill>
          <a:ln w="0">
            <a:solidFill>
              <a:srgbClr val="000000">
                <a:alpha val="0"/>
              </a:srgbClr>
            </a:solidFill>
            <a:prstDash val="solid"/>
          </a:ln>
        </p:spPr>
      </p:sp>
      <p:sp>
        <p:nvSpPr>
          <p:cNvPr id="41" name="">
            <a:extLst>
              <a:ext uri="{FF2B5EF4-FFF2-40B4-BE49-F238E27FC236}">
                <a16:creationId id="{E1DFDFDC-C497-4241-AAF2-557C266F0BF2}"/>
              </a:ext>
            </a:extLst>
          </p:cNvPr>
          <p:cNvSpPr>
            <a:spLocks noGrp="1"/>
          </p:cNvSpPr>
          <p:nvPr/>
        </p:nvSpPr>
        <p:spPr>
          <a:xfrm>
            <a:off x="5467350" y="5000625"/>
            <a:ext cx="971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64748B"/>
                </a:solidFill>
                <a:latin typeface="Aptos"/>
                <a:ea typeface="Aptos"/>
                <a:cs typeface="Aptos"/>
              </a:defRPr>
            </a:pPr>
            <a:r>
              <a:rPr sz="863" b="0">
                <a:solidFill>
                  <a:srgbClr val="64748B"/>
                </a:solidFill>
                <a:latin typeface="Aptos"/>
                <a:ea typeface="Aptos"/>
                <a:cs typeface="Aptos"/>
              </a:rPr>
              <a:t>Episode 3</a:t>
            </a:r>
          </a:p>
        </p:txBody>
      </p:sp>
      <p:sp>
        <p:nvSpPr>
          <p:cNvPr id="42" name="">
            <a:extLst>
              <a:ext uri="{FF2B5EF4-FFF2-40B4-BE49-F238E27FC236}">
                <a16:creationId id="{C8E57FE3-473F-4AA5-BF4E-BA8592891A3A}"/>
              </a:ext>
            </a:extLst>
          </p:cNvPr>
          <p:cNvSpPr>
            <a:spLocks noGrp="1"/>
          </p:cNvSpPr>
          <p:nvPr/>
        </p:nvSpPr>
        <p:spPr>
          <a:xfrm>
            <a:off x="7715250" y="4191000"/>
            <a:ext cx="666750" cy="666750"/>
          </a:xfrm>
          <a:prstGeom prst="ellipse">
            <a:avLst/>
          </a:prstGeom>
          <a:solidFill>
            <a:srgbClr val="FFF4E6"/>
          </a:solidFill>
          <a:ln w="19050">
            <a:solidFill>
              <a:srgbClr val="F4B15F"/>
            </a:solidFill>
            <a:prstDash val="solid"/>
          </a:ln>
        </p:spPr>
      </p:sp>
      <p:sp>
        <p:nvSpPr>
          <p:cNvPr id="43" name="">
            <a:extLst>
              <a:ext uri="{FF2B5EF4-FFF2-40B4-BE49-F238E27FC236}">
                <a16:creationId id="{5FE608C1-AF3C-4E08-B82A-30C55596124E}"/>
              </a:ext>
            </a:extLst>
          </p:cNvPr>
          <p:cNvSpPr>
            <a:spLocks noGrp="1"/>
          </p:cNvSpPr>
          <p:nvPr/>
        </p:nvSpPr>
        <p:spPr>
          <a:xfrm>
            <a:off x="7639050" y="4457700"/>
            <a:ext cx="8191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D97706"/>
                </a:solidFill>
                <a:latin typeface="Aptos"/>
                <a:ea typeface="Aptos"/>
                <a:cs typeface="Aptos"/>
              </a:defRPr>
            </a:pPr>
            <a:r>
              <a:rPr sz="825" b="1">
                <a:solidFill>
                  <a:srgbClr val="D97706"/>
                </a:solidFill>
                <a:latin typeface="Aptos"/>
                <a:ea typeface="Aptos"/>
                <a:cs typeface="Aptos"/>
              </a:rPr>
              <a:t>UTI</a:t>
            </a:r>
          </a:p>
        </p:txBody>
      </p:sp>
      <p:sp>
        <p:nvSpPr>
          <p:cNvPr id="44" name="">
            <a:extLst>
              <a:ext uri="{FF2B5EF4-FFF2-40B4-BE49-F238E27FC236}">
                <a16:creationId id="{79193A78-CF6C-40AF-A4C2-EDFB6E6F0803}"/>
              </a:ext>
            </a:extLst>
          </p:cNvPr>
          <p:cNvSpPr>
            <a:spLocks noGrp="1"/>
          </p:cNvSpPr>
          <p:nvPr/>
        </p:nvSpPr>
        <p:spPr>
          <a:xfrm rot="0">
            <a:off x="8477250" y="4514850"/>
            <a:ext cx="1238250" cy="19050"/>
          </a:xfrm>
          <a:prstGeom prst="rect">
            <a:avLst/>
          </a:prstGeom>
          <a:solidFill>
            <a:srgbClr val="94A3B8"/>
          </a:solidFill>
          <a:ln w="0">
            <a:solidFill>
              <a:srgbClr val="000000">
                <a:alpha val="0"/>
              </a:srgbClr>
            </a:solidFill>
            <a:prstDash val="solid"/>
          </a:ln>
        </p:spPr>
      </p:sp>
      <p:sp>
        <p:nvSpPr>
          <p:cNvPr id="45" name="">
            <a:extLst>
              <a:ext uri="{FF2B5EF4-FFF2-40B4-BE49-F238E27FC236}">
                <a16:creationId id="{A171E035-D362-488C-90CD-BAA7F0DFCDDC}"/>
              </a:ext>
            </a:extLst>
          </p:cNvPr>
          <p:cNvSpPr>
            <a:spLocks noGrp="1"/>
          </p:cNvSpPr>
          <p:nvPr/>
        </p:nvSpPr>
        <p:spPr>
          <a:xfrm rot="5400000">
            <a:off x="9648825" y="4476750"/>
            <a:ext cx="95250" cy="95250"/>
          </a:xfrm>
          <a:prstGeom prst="triangle">
            <a:avLst/>
          </a:prstGeom>
          <a:solidFill>
            <a:srgbClr val="94A3B8"/>
          </a:solidFill>
          <a:ln w="0">
            <a:solidFill>
              <a:srgbClr val="000000">
                <a:alpha val="0"/>
              </a:srgbClr>
            </a:solidFill>
            <a:prstDash val="solid"/>
          </a:ln>
        </p:spPr>
      </p:sp>
      <p:sp>
        <p:nvSpPr>
          <p:cNvPr id="46" name="">
            <a:extLst>
              <a:ext uri="{FF2B5EF4-FFF2-40B4-BE49-F238E27FC236}">
                <a16:creationId id="{E482EB97-0770-45F6-BBD2-591F74B1A0D5}"/>
              </a:ext>
            </a:extLst>
          </p:cNvPr>
          <p:cNvSpPr>
            <a:spLocks noGrp="1"/>
          </p:cNvSpPr>
          <p:nvPr/>
        </p:nvSpPr>
        <p:spPr>
          <a:xfrm>
            <a:off x="7562850" y="5000625"/>
            <a:ext cx="971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64748B"/>
                </a:solidFill>
                <a:latin typeface="Aptos"/>
                <a:ea typeface="Aptos"/>
                <a:cs typeface="Aptos"/>
              </a:defRPr>
            </a:pPr>
            <a:r>
              <a:rPr sz="863" b="0">
                <a:solidFill>
                  <a:srgbClr val="64748B"/>
                </a:solidFill>
                <a:latin typeface="Aptos"/>
                <a:ea typeface="Aptos"/>
                <a:cs typeface="Aptos"/>
              </a:rPr>
              <a:t>Episode 4</a:t>
            </a:r>
          </a:p>
        </p:txBody>
      </p:sp>
      <p:sp>
        <p:nvSpPr>
          <p:cNvPr id="47" name="">
            <a:extLst>
              <a:ext uri="{FF2B5EF4-FFF2-40B4-BE49-F238E27FC236}">
                <a16:creationId id="{6FC2E70E-96B9-4B90-AA4C-A3D582B66415}"/>
              </a:ext>
            </a:extLst>
          </p:cNvPr>
          <p:cNvSpPr>
            <a:spLocks noGrp="1"/>
          </p:cNvSpPr>
          <p:nvPr/>
        </p:nvSpPr>
        <p:spPr>
          <a:xfrm>
            <a:off x="9810750" y="4191000"/>
            <a:ext cx="666750" cy="666750"/>
          </a:xfrm>
          <a:prstGeom prst="ellipse">
            <a:avLst/>
          </a:prstGeom>
          <a:solidFill>
            <a:srgbClr val="E8F1FA"/>
          </a:solidFill>
          <a:ln w="19050">
            <a:solidFill>
              <a:srgbClr val="9AC1E6"/>
            </a:solidFill>
            <a:prstDash val="solid"/>
          </a:ln>
        </p:spPr>
      </p:sp>
      <p:sp>
        <p:nvSpPr>
          <p:cNvPr id="48" name="">
            <a:extLst>
              <a:ext uri="{FF2B5EF4-FFF2-40B4-BE49-F238E27FC236}">
                <a16:creationId id="{A2F2D3D9-A53D-4009-AF03-91CA4E6F5769}"/>
              </a:ext>
            </a:extLst>
          </p:cNvPr>
          <p:cNvSpPr>
            <a:spLocks noGrp="1"/>
          </p:cNvSpPr>
          <p:nvPr/>
        </p:nvSpPr>
        <p:spPr>
          <a:xfrm>
            <a:off x="9734550" y="4457700"/>
            <a:ext cx="8191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25" b="1">
                <a:solidFill>
                  <a:srgbClr val="2B6CB0"/>
                </a:solidFill>
                <a:latin typeface="Aptos"/>
                <a:ea typeface="Aptos"/>
                <a:cs typeface="Aptos"/>
              </a:defRPr>
            </a:pPr>
            <a:r>
              <a:rPr sz="825" b="1">
                <a:solidFill>
                  <a:srgbClr val="2B6CB0"/>
                </a:solidFill>
                <a:latin typeface="Aptos"/>
                <a:ea typeface="Aptos"/>
                <a:cs typeface="Aptos"/>
              </a:rPr>
              <a:t>Not_UTI</a:t>
            </a:r>
          </a:p>
        </p:txBody>
      </p:sp>
      <p:sp>
        <p:nvSpPr>
          <p:cNvPr id="49" name="">
            <a:extLst>
              <a:ext uri="{FF2B5EF4-FFF2-40B4-BE49-F238E27FC236}">
                <a16:creationId id="{24E87D5E-52E9-47A6-BA21-99F9E183AAD3}"/>
              </a:ext>
            </a:extLst>
          </p:cNvPr>
          <p:cNvSpPr>
            <a:spLocks noGrp="1"/>
          </p:cNvSpPr>
          <p:nvPr/>
        </p:nvSpPr>
        <p:spPr>
          <a:xfrm>
            <a:off x="9658350" y="5000625"/>
            <a:ext cx="971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64748B"/>
                </a:solidFill>
                <a:latin typeface="Aptos"/>
                <a:ea typeface="Aptos"/>
                <a:cs typeface="Aptos"/>
              </a:defRPr>
            </a:pPr>
            <a:r>
              <a:rPr sz="863" b="0">
                <a:solidFill>
                  <a:srgbClr val="64748B"/>
                </a:solidFill>
                <a:latin typeface="Aptos"/>
                <a:ea typeface="Aptos"/>
                <a:cs typeface="Aptos"/>
              </a:rPr>
              <a:t>Episode 5</a:t>
            </a:r>
          </a:p>
        </p:txBody>
      </p:sp>
      <p:sp>
        <p:nvSpPr>
          <p:cNvPr id="50" name="">
            <a:extLst>
              <a:ext uri="{FF2B5EF4-FFF2-40B4-BE49-F238E27FC236}">
                <a16:creationId id="{8274CB40-1C75-4FD9-A675-F40AD03FEB55}"/>
              </a:ext>
            </a:extLst>
          </p:cNvPr>
          <p:cNvSpPr>
            <a:spLocks noGrp="1"/>
          </p:cNvSpPr>
          <p:nvPr/>
        </p:nvSpPr>
        <p:spPr>
          <a:xfrm>
            <a:off x="933450" y="5524500"/>
            <a:ext cx="10001250" cy="552450"/>
          </a:xfrm>
          <a:prstGeom prst="roundRect">
            <a:avLst>
              <a:gd name="adj" fmla="val 13793"/>
            </a:avLst>
          </a:prstGeom>
          <a:solidFill>
            <a:srgbClr val="F8FAFC"/>
          </a:solidFill>
          <a:ln w="9525">
            <a:solidFill>
              <a:srgbClr val="CBD5E1"/>
            </a:solidFill>
            <a:prstDash val="solid"/>
          </a:ln>
        </p:spPr>
      </p:sp>
      <p:sp>
        <p:nvSpPr>
          <p:cNvPr id="51" name="">
            <a:extLst>
              <a:ext uri="{FF2B5EF4-FFF2-40B4-BE49-F238E27FC236}">
                <a16:creationId id="{78BF412B-5251-4338-B524-2DA92A025F78}"/>
              </a:ext>
            </a:extLst>
          </p:cNvPr>
          <p:cNvSpPr>
            <a:spLocks noGrp="1"/>
          </p:cNvSpPr>
          <p:nvPr/>
        </p:nvSpPr>
        <p:spPr>
          <a:xfrm>
            <a:off x="1104900" y="5695950"/>
            <a:ext cx="9658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1">
                <a:solidFill>
                  <a:srgbClr val="111827"/>
                </a:solidFill>
                <a:latin typeface="Aptos"/>
                <a:ea typeface="Aptos"/>
                <a:cs typeface="Aptos"/>
              </a:defRPr>
            </a:pPr>
            <a:r>
              <a:rPr sz="1050" b="1">
                <a:solidFill>
                  <a:srgbClr val="111827"/>
                </a:solidFill>
                <a:latin typeface="Aptos"/>
                <a:ea typeface="Aptos"/>
                <a:cs typeface="Aptos"/>
              </a:rPr>
              <a:t>Interpretation stance</a:t>
            </a:r>
          </a:p>
        </p:txBody>
      </p:sp>
      <p:sp>
        <p:nvSpPr>
          <p:cNvPr id="52" name="">
            <a:extLst>
              <a:ext uri="{FF2B5EF4-FFF2-40B4-BE49-F238E27FC236}">
                <a16:creationId id="{7E1159AB-C9F2-442D-B28E-34D87F3DA626}"/>
              </a:ext>
            </a:extLst>
          </p:cNvPr>
          <p:cNvSpPr>
            <a:spLocks noGrp="1"/>
          </p:cNvSpPr>
          <p:nvPr/>
        </p:nvSpPr>
        <p:spPr>
          <a:xfrm>
            <a:off x="1104900" y="5981700"/>
            <a:ext cx="9658350" cy="-38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0">
                <a:solidFill>
                  <a:srgbClr val="64748B"/>
                </a:solidFill>
                <a:latin typeface="Aptos"/>
                <a:ea typeface="Aptos"/>
                <a:cs typeface="Aptos"/>
              </a:defRPr>
            </a:pPr>
            <a:r>
              <a:rPr sz="938" b="0">
                <a:solidFill>
                  <a:srgbClr val="64748B"/>
                </a:solidFill>
                <a:latin typeface="Aptos"/>
                <a:ea typeface="Aptos"/>
                <a:cs typeface="Aptos"/>
              </a:rPr>
              <a:t>The unit of VF measurement is an episode-level isolate profile. Status labels can be overlaid, but repeated measures, lineage structure, and sparse UTI counts limit causal status claims.</a:t>
            </a:r>
          </a:p>
        </p:txBody>
      </p:sp>
    </p:spTree>
    <p:extLst>
      <p:ext uri="{BB962C8B-B14F-4D97-AF65-F5344CB8AC3E}">
        <p14:creationId val="1635553070"/>
      </p:ext>
    </p:extLst>
  </p:cSld>
</p:sld>
</file>

<file path=ppt/slides/slide4.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p:cNvGrpSpPr/>
        <p:nvPr/>
      </p:nvGrpSpPr>
      <p:grpSpPr>
        <a:xfrm/>
      </p:grpSpPr>
      <p:sp>
        <p:nvSpPr>
          <p:cNvPr id="2" name="">
            <a:extLst>
              <a:ext uri="{FF2B5EF4-FFF2-40B4-BE49-F238E27FC236}">
                <a16:creationId id="{8FF89918-4184-4D0B-B82C-36E0B130EEF2}"/>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EBE27ED4-50CE-43C6-AEEC-CF72076114EF}"/>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979EE666-1F94-415A-8703-5508556184CE}"/>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CURRENT PIPELINE</a:t>
            </a:r>
          </a:p>
        </p:txBody>
      </p:sp>
      <p:sp>
        <p:nvSpPr>
          <p:cNvPr id="5" name="">
            <a:extLst>
              <a:ext uri="{FF2B5EF4-FFF2-40B4-BE49-F238E27FC236}">
                <a16:creationId id="{C2BEED8F-3D15-490F-A88F-A145704934A5}"/>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Numbered clinical-to-VF pipeline with visible denominators at each handoff</a:t>
            </a:r>
          </a:p>
        </p:txBody>
      </p:sp>
      <p:sp>
        <p:nvSpPr>
          <p:cNvPr id="6" name="">
            <a:extLst>
              <a:ext uri="{FF2B5EF4-FFF2-40B4-BE49-F238E27FC236}">
                <a16:creationId id="{2066775F-5303-4319-AB19-5754E1913167}"/>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Counts come from current denominator summaries and validation checks; assembler alternatives are labelled explicitly.</a:t>
            </a:r>
          </a:p>
        </p:txBody>
      </p:sp>
      <p:sp>
        <p:nvSpPr>
          <p:cNvPr id="7" name="">
            <a:extLst>
              <a:ext uri="{FF2B5EF4-FFF2-40B4-BE49-F238E27FC236}">
                <a16:creationId id="{0C447453-D417-43C3-97F4-AB6621F5D4F8}"/>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7EE84166-1931-464C-AAB0-FA915D73C06E}"/>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38926521-6391-4264-BF8A-612C1980092A}"/>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7CA47DBF-2003-447C-B6AF-8923AEF711B1}"/>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04</a:t>
            </a:r>
          </a:p>
        </p:txBody>
      </p:sp>
      <p:sp>
        <p:nvSpPr>
          <p:cNvPr id="11" name="">
            <a:extLst>
              <a:ext uri="{FF2B5EF4-FFF2-40B4-BE49-F238E27FC236}">
                <a16:creationId id="{1F81907C-7020-4409-AF92-93979E901411}"/>
              </a:ext>
            </a:extLst>
          </p:cNvPr>
          <p:cNvSpPr>
            <a:spLocks noGrp="1"/>
          </p:cNvSpPr>
          <p:nvPr/>
        </p:nvSpPr>
        <p:spPr>
          <a:xfrm>
            <a:off x="666750" y="1581150"/>
            <a:ext cx="3276600" cy="1066800"/>
          </a:xfrm>
          <a:prstGeom prst="roundRect">
            <a:avLst>
              <a:gd name="adj" fmla="val 7143"/>
            </a:avLst>
          </a:prstGeom>
          <a:solidFill>
            <a:srgbClr val="FFF4E6"/>
          </a:solidFill>
          <a:ln w="9525">
            <a:solidFill>
              <a:srgbClr val="D8DEE8"/>
            </a:solidFill>
            <a:prstDash val="solid"/>
          </a:ln>
        </p:spPr>
      </p:sp>
      <p:sp>
        <p:nvSpPr>
          <p:cNvPr id="12" name="">
            <a:extLst>
              <a:ext uri="{FF2B5EF4-FFF2-40B4-BE49-F238E27FC236}">
                <a16:creationId id="{3F8619D8-4B1C-42B0-B85A-48EB6F28F0FC}"/>
              </a:ext>
            </a:extLst>
          </p:cNvPr>
          <p:cNvSpPr>
            <a:spLocks noGrp="1"/>
          </p:cNvSpPr>
          <p:nvPr/>
        </p:nvSpPr>
        <p:spPr>
          <a:xfrm>
            <a:off x="819150" y="1752600"/>
            <a:ext cx="285750" cy="285750"/>
          </a:xfrm>
          <a:prstGeom prst="ellipse">
            <a:avLst/>
          </a:prstGeom>
          <a:solidFill>
            <a:srgbClr val="111827"/>
          </a:solidFill>
          <a:ln w="0">
            <a:solidFill>
              <a:srgbClr val="000000">
                <a:alpha val="0"/>
              </a:srgbClr>
            </a:solidFill>
            <a:prstDash val="solid"/>
          </a:ln>
        </p:spPr>
      </p:sp>
      <p:sp>
        <p:nvSpPr>
          <p:cNvPr id="13" name="">
            <a:extLst>
              <a:ext uri="{FF2B5EF4-FFF2-40B4-BE49-F238E27FC236}">
                <a16:creationId id="{F46D919B-2420-4CFD-9C14-D8073D29172F}"/>
              </a:ext>
            </a:extLst>
          </p:cNvPr>
          <p:cNvSpPr>
            <a:spLocks noGrp="1"/>
          </p:cNvSpPr>
          <p:nvPr/>
        </p:nvSpPr>
        <p:spPr>
          <a:xfrm>
            <a:off x="819150" y="1809750"/>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1">
                <a:solidFill>
                  <a:srgbClr val="FFFFFF"/>
                </a:solidFill>
                <a:latin typeface="Aptos"/>
                <a:ea typeface="Aptos"/>
                <a:cs typeface="Aptos"/>
              </a:defRPr>
            </a:pPr>
            <a:r>
              <a:rPr sz="863" b="1">
                <a:solidFill>
                  <a:srgbClr val="FFFFFF"/>
                </a:solidFill>
                <a:latin typeface="Aptos"/>
                <a:ea typeface="Aptos"/>
                <a:cs typeface="Aptos"/>
              </a:rPr>
              <a:t>1</a:t>
            </a:r>
          </a:p>
        </p:txBody>
      </p:sp>
      <p:sp>
        <p:nvSpPr>
          <p:cNvPr id="14" name="">
            <a:extLst>
              <a:ext uri="{FF2B5EF4-FFF2-40B4-BE49-F238E27FC236}">
                <a16:creationId id="{B499A76E-F90C-48D8-A426-B2BC89B29A7D}"/>
              </a:ext>
            </a:extLst>
          </p:cNvPr>
          <p:cNvSpPr>
            <a:spLocks noGrp="1"/>
          </p:cNvSpPr>
          <p:nvPr/>
        </p:nvSpPr>
        <p:spPr>
          <a:xfrm>
            <a:off x="1219200" y="1724025"/>
            <a:ext cx="2476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11827"/>
                </a:solidFill>
                <a:latin typeface="Aptos"/>
                <a:ea typeface="Aptos"/>
                <a:cs typeface="Aptos"/>
              </a:defRPr>
            </a:pPr>
            <a:r>
              <a:rPr sz="1125" b="1">
                <a:solidFill>
                  <a:srgbClr val="111827"/>
                </a:solidFill>
                <a:latin typeface="Aptos"/>
                <a:ea typeface="Aptos"/>
                <a:cs typeface="Aptos"/>
              </a:rPr>
              <a:t>Clinical classification</a:t>
            </a:r>
          </a:p>
        </p:txBody>
      </p:sp>
      <p:sp>
        <p:nvSpPr>
          <p:cNvPr id="15" name="">
            <a:extLst>
              <a:ext uri="{FF2B5EF4-FFF2-40B4-BE49-F238E27FC236}">
                <a16:creationId id="{2B674CD5-6807-4471-8826-0588EA023AD2}"/>
              </a:ext>
            </a:extLst>
          </p:cNvPr>
          <p:cNvSpPr>
            <a:spLocks noGrp="1"/>
          </p:cNvSpPr>
          <p:nvPr/>
        </p:nvSpPr>
        <p:spPr>
          <a:xfrm>
            <a:off x="1219200" y="1943100"/>
            <a:ext cx="2476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00a / 00b</a:t>
            </a:r>
          </a:p>
        </p:txBody>
      </p:sp>
      <p:sp>
        <p:nvSpPr>
          <p:cNvPr id="16" name="">
            <a:extLst>
              <a:ext uri="{FF2B5EF4-FFF2-40B4-BE49-F238E27FC236}">
                <a16:creationId id="{7D7BC549-DF5D-4E0D-8003-264EC436F6D9}"/>
              </a:ext>
            </a:extLst>
          </p:cNvPr>
          <p:cNvSpPr>
            <a:spLocks noGrp="1"/>
          </p:cNvSpPr>
          <p:nvPr/>
        </p:nvSpPr>
        <p:spPr>
          <a:xfrm>
            <a:off x="838200" y="2190750"/>
            <a:ext cx="2933700" cy="333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111827"/>
                </a:solidFill>
                <a:latin typeface="Aptos"/>
                <a:ea typeface="Aptos"/>
                <a:cs typeface="Aptos"/>
              </a:defRPr>
            </a:pPr>
            <a:r>
              <a:rPr sz="863" b="0">
                <a:solidFill>
                  <a:srgbClr val="111827"/>
                </a:solidFill>
                <a:latin typeface="Aptos"/>
                <a:ea typeface="Aptos"/>
                <a:cs typeface="Aptos"/>
              </a:rPr>
              <a:t>585 classified episodes before manual exclusions</a:t>
            </a:r>
          </a:p>
        </p:txBody>
      </p:sp>
      <p:sp>
        <p:nvSpPr>
          <p:cNvPr id="17" name="">
            <a:extLst>
              <a:ext uri="{FF2B5EF4-FFF2-40B4-BE49-F238E27FC236}">
                <a16:creationId id="{3F767E24-CBE3-4259-A4B8-63834424B83C}"/>
              </a:ext>
            </a:extLst>
          </p:cNvPr>
          <p:cNvSpPr>
            <a:spLocks noGrp="1"/>
          </p:cNvSpPr>
          <p:nvPr/>
        </p:nvSpPr>
        <p:spPr>
          <a:xfrm rot="0">
            <a:off x="3981450" y="2105025"/>
            <a:ext cx="323850" cy="19050"/>
          </a:xfrm>
          <a:prstGeom prst="rect">
            <a:avLst/>
          </a:prstGeom>
          <a:solidFill>
            <a:srgbClr val="94A3B8"/>
          </a:solidFill>
          <a:ln w="0">
            <a:solidFill>
              <a:srgbClr val="000000">
                <a:alpha val="0"/>
              </a:srgbClr>
            </a:solidFill>
            <a:prstDash val="solid"/>
          </a:ln>
        </p:spPr>
      </p:sp>
      <p:sp>
        <p:nvSpPr>
          <p:cNvPr id="18" name="">
            <a:extLst>
              <a:ext uri="{FF2B5EF4-FFF2-40B4-BE49-F238E27FC236}">
                <a16:creationId id="{E1DEAC7B-4413-4140-8278-B4D809153A52}"/>
              </a:ext>
            </a:extLst>
          </p:cNvPr>
          <p:cNvSpPr>
            <a:spLocks noGrp="1"/>
          </p:cNvSpPr>
          <p:nvPr/>
        </p:nvSpPr>
        <p:spPr>
          <a:xfrm rot="5400000">
            <a:off x="4238625" y="2066925"/>
            <a:ext cx="95250" cy="95250"/>
          </a:xfrm>
          <a:prstGeom prst="triangle">
            <a:avLst/>
          </a:prstGeom>
          <a:solidFill>
            <a:srgbClr val="94A3B8"/>
          </a:solidFill>
          <a:ln w="0">
            <a:solidFill>
              <a:srgbClr val="000000">
                <a:alpha val="0"/>
              </a:srgbClr>
            </a:solidFill>
            <a:prstDash val="solid"/>
          </a:ln>
        </p:spPr>
      </p:sp>
      <p:sp>
        <p:nvSpPr>
          <p:cNvPr id="19" name="">
            <a:extLst>
              <a:ext uri="{FF2B5EF4-FFF2-40B4-BE49-F238E27FC236}">
                <a16:creationId id="{1BEADFE6-9FE1-4425-8EC6-9AEFE3E81871}"/>
              </a:ext>
            </a:extLst>
          </p:cNvPr>
          <p:cNvSpPr>
            <a:spLocks noGrp="1"/>
          </p:cNvSpPr>
          <p:nvPr/>
        </p:nvSpPr>
        <p:spPr>
          <a:xfrm>
            <a:off x="4400550" y="1581150"/>
            <a:ext cx="3276600" cy="1066800"/>
          </a:xfrm>
          <a:prstGeom prst="roundRect">
            <a:avLst>
              <a:gd name="adj" fmla="val 7143"/>
            </a:avLst>
          </a:prstGeom>
          <a:solidFill>
            <a:srgbClr val="FFF4E6"/>
          </a:solidFill>
          <a:ln w="9525">
            <a:solidFill>
              <a:srgbClr val="D8DEE8"/>
            </a:solidFill>
            <a:prstDash val="solid"/>
          </a:ln>
        </p:spPr>
      </p:sp>
      <p:sp>
        <p:nvSpPr>
          <p:cNvPr id="20" name="">
            <a:extLst>
              <a:ext uri="{FF2B5EF4-FFF2-40B4-BE49-F238E27FC236}">
                <a16:creationId id="{6DA634AC-47C4-4B0F-8996-7C0C3699F74F}"/>
              </a:ext>
            </a:extLst>
          </p:cNvPr>
          <p:cNvSpPr>
            <a:spLocks noGrp="1"/>
          </p:cNvSpPr>
          <p:nvPr/>
        </p:nvSpPr>
        <p:spPr>
          <a:xfrm>
            <a:off x="4552950" y="1752600"/>
            <a:ext cx="285750" cy="285750"/>
          </a:xfrm>
          <a:prstGeom prst="ellipse">
            <a:avLst/>
          </a:prstGeom>
          <a:solidFill>
            <a:srgbClr val="111827"/>
          </a:solidFill>
          <a:ln w="0">
            <a:solidFill>
              <a:srgbClr val="000000">
                <a:alpha val="0"/>
              </a:srgbClr>
            </a:solidFill>
            <a:prstDash val="solid"/>
          </a:ln>
        </p:spPr>
      </p:sp>
      <p:sp>
        <p:nvSpPr>
          <p:cNvPr id="21" name="">
            <a:extLst>
              <a:ext uri="{FF2B5EF4-FFF2-40B4-BE49-F238E27FC236}">
                <a16:creationId id="{25D8CEFA-CD7C-4CE1-A311-56FFEE75AC44}"/>
              </a:ext>
            </a:extLst>
          </p:cNvPr>
          <p:cNvSpPr>
            <a:spLocks noGrp="1"/>
          </p:cNvSpPr>
          <p:nvPr/>
        </p:nvSpPr>
        <p:spPr>
          <a:xfrm>
            <a:off x="4552950" y="1809750"/>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1">
                <a:solidFill>
                  <a:srgbClr val="FFFFFF"/>
                </a:solidFill>
                <a:latin typeface="Aptos"/>
                <a:ea typeface="Aptos"/>
                <a:cs typeface="Aptos"/>
              </a:defRPr>
            </a:pPr>
            <a:r>
              <a:rPr sz="863" b="1">
                <a:solidFill>
                  <a:srgbClr val="FFFFFF"/>
                </a:solidFill>
                <a:latin typeface="Aptos"/>
                <a:ea typeface="Aptos"/>
                <a:cs typeface="Aptos"/>
              </a:rPr>
              <a:t>2</a:t>
            </a:r>
          </a:p>
        </p:txBody>
      </p:sp>
      <p:sp>
        <p:nvSpPr>
          <p:cNvPr id="22" name="">
            <a:extLst>
              <a:ext uri="{FF2B5EF4-FFF2-40B4-BE49-F238E27FC236}">
                <a16:creationId id="{90D710F2-2849-4881-92DD-79B4167BDCFF}"/>
              </a:ext>
            </a:extLst>
          </p:cNvPr>
          <p:cNvSpPr>
            <a:spLocks noGrp="1"/>
          </p:cNvSpPr>
          <p:nvPr/>
        </p:nvSpPr>
        <p:spPr>
          <a:xfrm>
            <a:off x="4953000" y="1724025"/>
            <a:ext cx="2476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11827"/>
                </a:solidFill>
                <a:latin typeface="Aptos"/>
                <a:ea typeface="Aptos"/>
                <a:cs typeface="Aptos"/>
              </a:defRPr>
            </a:pPr>
            <a:r>
              <a:rPr sz="1125" b="1">
                <a:solidFill>
                  <a:srgbClr val="111827"/>
                </a:solidFill>
                <a:latin typeface="Aptos"/>
                <a:ea typeface="Aptos"/>
                <a:cs typeface="Aptos"/>
              </a:rPr>
              <a:t>Primary inclusion</a:t>
            </a:r>
          </a:p>
        </p:txBody>
      </p:sp>
      <p:sp>
        <p:nvSpPr>
          <p:cNvPr id="23" name="">
            <a:extLst>
              <a:ext uri="{FF2B5EF4-FFF2-40B4-BE49-F238E27FC236}">
                <a16:creationId id="{9F145588-F66F-45DA-B787-1BB6A33623ED}"/>
              </a:ext>
            </a:extLst>
          </p:cNvPr>
          <p:cNvSpPr>
            <a:spLocks noGrp="1"/>
          </p:cNvSpPr>
          <p:nvPr/>
        </p:nvSpPr>
        <p:spPr>
          <a:xfrm>
            <a:off x="4953000" y="1943100"/>
            <a:ext cx="2476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status_map.csv</a:t>
            </a:r>
          </a:p>
        </p:txBody>
      </p:sp>
      <p:sp>
        <p:nvSpPr>
          <p:cNvPr id="24" name="">
            <a:extLst>
              <a:ext uri="{FF2B5EF4-FFF2-40B4-BE49-F238E27FC236}">
                <a16:creationId id="{03D41E65-B3D3-48C3-9325-66779DFE79A4}"/>
              </a:ext>
            </a:extLst>
          </p:cNvPr>
          <p:cNvSpPr>
            <a:spLocks noGrp="1"/>
          </p:cNvSpPr>
          <p:nvPr/>
        </p:nvSpPr>
        <p:spPr>
          <a:xfrm>
            <a:off x="4572000" y="2190750"/>
            <a:ext cx="2933700" cy="333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111827"/>
                </a:solidFill>
                <a:latin typeface="Aptos"/>
                <a:ea typeface="Aptos"/>
                <a:cs typeface="Aptos"/>
              </a:defRPr>
            </a:pPr>
            <a:r>
              <a:rPr sz="863" b="0">
                <a:solidFill>
                  <a:srgbClr val="111827"/>
                </a:solidFill>
                <a:latin typeface="Aptos"/>
                <a:ea typeface="Aptos"/>
                <a:cs typeface="Aptos"/>
              </a:rPr>
              <a:t>583 included: 18 UTI, 565 Not_UTI; 2 excluded</a:t>
            </a:r>
          </a:p>
        </p:txBody>
      </p:sp>
      <p:sp>
        <p:nvSpPr>
          <p:cNvPr id="25" name="">
            <a:extLst>
              <a:ext uri="{FF2B5EF4-FFF2-40B4-BE49-F238E27FC236}">
                <a16:creationId id="{03CBFDFF-033A-406E-B8B5-CEB049DD1C36}"/>
              </a:ext>
            </a:extLst>
          </p:cNvPr>
          <p:cNvSpPr>
            <a:spLocks noGrp="1"/>
          </p:cNvSpPr>
          <p:nvPr/>
        </p:nvSpPr>
        <p:spPr>
          <a:xfrm rot="0">
            <a:off x="7715250" y="2105025"/>
            <a:ext cx="323850" cy="19050"/>
          </a:xfrm>
          <a:prstGeom prst="rect">
            <a:avLst/>
          </a:prstGeom>
          <a:solidFill>
            <a:srgbClr val="94A3B8"/>
          </a:solidFill>
          <a:ln w="0">
            <a:solidFill>
              <a:srgbClr val="000000">
                <a:alpha val="0"/>
              </a:srgbClr>
            </a:solidFill>
            <a:prstDash val="solid"/>
          </a:ln>
        </p:spPr>
      </p:sp>
      <p:sp>
        <p:nvSpPr>
          <p:cNvPr id="26" name="">
            <a:extLst>
              <a:ext uri="{FF2B5EF4-FFF2-40B4-BE49-F238E27FC236}">
                <a16:creationId id="{EF4225BE-E7FD-45CE-9E54-E5218B029138}"/>
              </a:ext>
            </a:extLst>
          </p:cNvPr>
          <p:cNvSpPr>
            <a:spLocks noGrp="1"/>
          </p:cNvSpPr>
          <p:nvPr/>
        </p:nvSpPr>
        <p:spPr>
          <a:xfrm rot="5400000">
            <a:off x="7972425" y="2066925"/>
            <a:ext cx="95250" cy="95250"/>
          </a:xfrm>
          <a:prstGeom prst="triangle">
            <a:avLst/>
          </a:prstGeom>
          <a:solidFill>
            <a:srgbClr val="94A3B8"/>
          </a:solidFill>
          <a:ln w="0">
            <a:solidFill>
              <a:srgbClr val="000000">
                <a:alpha val="0"/>
              </a:srgbClr>
            </a:solidFill>
            <a:prstDash val="solid"/>
          </a:ln>
        </p:spPr>
      </p:sp>
      <p:sp>
        <p:nvSpPr>
          <p:cNvPr id="27" name="">
            <a:extLst>
              <a:ext uri="{FF2B5EF4-FFF2-40B4-BE49-F238E27FC236}">
                <a16:creationId id="{C44B974E-331C-48BB-BBE9-9CF6CF1DE216}"/>
              </a:ext>
            </a:extLst>
          </p:cNvPr>
          <p:cNvSpPr>
            <a:spLocks noGrp="1"/>
          </p:cNvSpPr>
          <p:nvPr/>
        </p:nvSpPr>
        <p:spPr>
          <a:xfrm>
            <a:off x="8134350" y="1581150"/>
            <a:ext cx="3276600" cy="1066800"/>
          </a:xfrm>
          <a:prstGeom prst="roundRect">
            <a:avLst>
              <a:gd name="adj" fmla="val 7143"/>
            </a:avLst>
          </a:prstGeom>
          <a:solidFill>
            <a:srgbClr val="E8F1FA"/>
          </a:solidFill>
          <a:ln w="9525">
            <a:solidFill>
              <a:srgbClr val="D8DEE8"/>
            </a:solidFill>
            <a:prstDash val="solid"/>
          </a:ln>
        </p:spPr>
      </p:sp>
      <p:sp>
        <p:nvSpPr>
          <p:cNvPr id="28" name="">
            <a:extLst>
              <a:ext uri="{FF2B5EF4-FFF2-40B4-BE49-F238E27FC236}">
                <a16:creationId id="{90E8EF3C-818C-4CFF-8E61-2AAAE16C9C9C}"/>
              </a:ext>
            </a:extLst>
          </p:cNvPr>
          <p:cNvSpPr>
            <a:spLocks noGrp="1"/>
          </p:cNvSpPr>
          <p:nvPr/>
        </p:nvSpPr>
        <p:spPr>
          <a:xfrm>
            <a:off x="8286750" y="1752600"/>
            <a:ext cx="285750" cy="285750"/>
          </a:xfrm>
          <a:prstGeom prst="ellipse">
            <a:avLst/>
          </a:prstGeom>
          <a:solidFill>
            <a:srgbClr val="111827"/>
          </a:solidFill>
          <a:ln w="0">
            <a:solidFill>
              <a:srgbClr val="000000">
                <a:alpha val="0"/>
              </a:srgbClr>
            </a:solidFill>
            <a:prstDash val="solid"/>
          </a:ln>
        </p:spPr>
      </p:sp>
      <p:sp>
        <p:nvSpPr>
          <p:cNvPr id="29" name="">
            <a:extLst>
              <a:ext uri="{FF2B5EF4-FFF2-40B4-BE49-F238E27FC236}">
                <a16:creationId id="{7BD589E2-9390-4000-AB6B-4C9B6B5F1B9B}"/>
              </a:ext>
            </a:extLst>
          </p:cNvPr>
          <p:cNvSpPr>
            <a:spLocks noGrp="1"/>
          </p:cNvSpPr>
          <p:nvPr/>
        </p:nvSpPr>
        <p:spPr>
          <a:xfrm>
            <a:off x="8286750" y="1809750"/>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1">
                <a:solidFill>
                  <a:srgbClr val="FFFFFF"/>
                </a:solidFill>
                <a:latin typeface="Aptos"/>
                <a:ea typeface="Aptos"/>
                <a:cs typeface="Aptos"/>
              </a:defRPr>
            </a:pPr>
            <a:r>
              <a:rPr sz="863" b="1">
                <a:solidFill>
                  <a:srgbClr val="FFFFFF"/>
                </a:solidFill>
                <a:latin typeface="Aptos"/>
                <a:ea typeface="Aptos"/>
                <a:cs typeface="Aptos"/>
              </a:rPr>
              <a:t>3</a:t>
            </a:r>
          </a:p>
        </p:txBody>
      </p:sp>
      <p:sp>
        <p:nvSpPr>
          <p:cNvPr id="30" name="">
            <a:extLst>
              <a:ext uri="{FF2B5EF4-FFF2-40B4-BE49-F238E27FC236}">
                <a16:creationId id="{4A18E3F0-4D2D-4C0B-AC94-CBD9334090B0}"/>
              </a:ext>
            </a:extLst>
          </p:cNvPr>
          <p:cNvSpPr>
            <a:spLocks noGrp="1"/>
          </p:cNvSpPr>
          <p:nvPr/>
        </p:nvSpPr>
        <p:spPr>
          <a:xfrm>
            <a:off x="8686800" y="1724025"/>
            <a:ext cx="2476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11827"/>
                </a:solidFill>
                <a:latin typeface="Aptos"/>
                <a:ea typeface="Aptos"/>
                <a:cs typeface="Aptos"/>
              </a:defRPr>
            </a:pPr>
            <a:r>
              <a:rPr sz="1125" b="1">
                <a:solidFill>
                  <a:srgbClr val="111827"/>
                </a:solidFill>
                <a:latin typeface="Aptos"/>
                <a:ea typeface="Aptos"/>
                <a:cs typeface="Aptos"/>
              </a:rPr>
              <a:t>Assembly QC</a:t>
            </a:r>
          </a:p>
        </p:txBody>
      </p:sp>
      <p:sp>
        <p:nvSpPr>
          <p:cNvPr id="31" name="">
            <a:extLst>
              <a:ext uri="{FF2B5EF4-FFF2-40B4-BE49-F238E27FC236}">
                <a16:creationId id="{AD472773-5EBF-4D54-85B4-A5D421F1F790}"/>
              </a:ext>
            </a:extLst>
          </p:cNvPr>
          <p:cNvSpPr>
            <a:spLocks noGrp="1"/>
          </p:cNvSpPr>
          <p:nvPr/>
        </p:nvSpPr>
        <p:spPr>
          <a:xfrm>
            <a:off x="8686800" y="1943100"/>
            <a:ext cx="2476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12a_wgs_qc.R</a:t>
            </a:r>
          </a:p>
        </p:txBody>
      </p:sp>
      <p:sp>
        <p:nvSpPr>
          <p:cNvPr id="32" name="">
            <a:extLst>
              <a:ext uri="{FF2B5EF4-FFF2-40B4-BE49-F238E27FC236}">
                <a16:creationId id="{617199D1-C9F1-47AC-9A7B-19C05CE2CEA2}"/>
              </a:ext>
            </a:extLst>
          </p:cNvPr>
          <p:cNvSpPr>
            <a:spLocks noGrp="1"/>
          </p:cNvSpPr>
          <p:nvPr/>
        </p:nvSpPr>
        <p:spPr>
          <a:xfrm>
            <a:off x="8305800" y="2190750"/>
            <a:ext cx="2933700" cy="333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111827"/>
                </a:solidFill>
                <a:latin typeface="Aptos"/>
                <a:ea typeface="Aptos"/>
                <a:cs typeface="Aptos"/>
              </a:defRPr>
            </a:pPr>
            <a:r>
              <a:rPr sz="863" b="0">
                <a:solidFill>
                  <a:srgbClr val="111827"/>
                </a:solidFill>
                <a:latin typeface="Aptos"/>
                <a:ea typeface="Aptos"/>
                <a:cs typeface="Aptos"/>
              </a:rPr>
              <a:t>1,291 assembly-level QC records incl. assembler alternatives</a:t>
            </a:r>
          </a:p>
        </p:txBody>
      </p:sp>
      <p:sp>
        <p:nvSpPr>
          <p:cNvPr id="33" name="">
            <a:extLst>
              <a:ext uri="{FF2B5EF4-FFF2-40B4-BE49-F238E27FC236}">
                <a16:creationId id="{1D531012-2143-4B96-BD50-9677614D73D4}"/>
              </a:ext>
            </a:extLst>
          </p:cNvPr>
          <p:cNvSpPr>
            <a:spLocks noGrp="1"/>
          </p:cNvSpPr>
          <p:nvPr/>
        </p:nvSpPr>
        <p:spPr>
          <a:xfrm>
            <a:off x="666750" y="3086100"/>
            <a:ext cx="3276600" cy="1066800"/>
          </a:xfrm>
          <a:prstGeom prst="roundRect">
            <a:avLst>
              <a:gd name="adj" fmla="val 7143"/>
            </a:avLst>
          </a:prstGeom>
          <a:solidFill>
            <a:srgbClr val="E8F1FA"/>
          </a:solidFill>
          <a:ln w="9525">
            <a:solidFill>
              <a:srgbClr val="D8DEE8"/>
            </a:solidFill>
            <a:prstDash val="solid"/>
          </a:ln>
        </p:spPr>
      </p:sp>
      <p:sp>
        <p:nvSpPr>
          <p:cNvPr id="34" name="">
            <a:extLst>
              <a:ext uri="{FF2B5EF4-FFF2-40B4-BE49-F238E27FC236}">
                <a16:creationId id="{A0EF2C5E-B928-47B8-97C6-AE685992D86C}"/>
              </a:ext>
            </a:extLst>
          </p:cNvPr>
          <p:cNvSpPr>
            <a:spLocks noGrp="1"/>
          </p:cNvSpPr>
          <p:nvPr/>
        </p:nvSpPr>
        <p:spPr>
          <a:xfrm>
            <a:off x="819150" y="3257550"/>
            <a:ext cx="285750" cy="285750"/>
          </a:xfrm>
          <a:prstGeom prst="ellipse">
            <a:avLst/>
          </a:prstGeom>
          <a:solidFill>
            <a:srgbClr val="111827"/>
          </a:solidFill>
          <a:ln w="0">
            <a:solidFill>
              <a:srgbClr val="000000">
                <a:alpha val="0"/>
              </a:srgbClr>
            </a:solidFill>
            <a:prstDash val="solid"/>
          </a:ln>
        </p:spPr>
      </p:sp>
      <p:sp>
        <p:nvSpPr>
          <p:cNvPr id="35" name="">
            <a:extLst>
              <a:ext uri="{FF2B5EF4-FFF2-40B4-BE49-F238E27FC236}">
                <a16:creationId id="{4096891B-C6BD-4A74-9381-7CCC6577D5B7}"/>
              </a:ext>
            </a:extLst>
          </p:cNvPr>
          <p:cNvSpPr>
            <a:spLocks noGrp="1"/>
          </p:cNvSpPr>
          <p:nvPr/>
        </p:nvSpPr>
        <p:spPr>
          <a:xfrm>
            <a:off x="819150" y="3314700"/>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1">
                <a:solidFill>
                  <a:srgbClr val="FFFFFF"/>
                </a:solidFill>
                <a:latin typeface="Aptos"/>
                <a:ea typeface="Aptos"/>
                <a:cs typeface="Aptos"/>
              </a:defRPr>
            </a:pPr>
            <a:r>
              <a:rPr sz="863" b="1">
                <a:solidFill>
                  <a:srgbClr val="FFFFFF"/>
                </a:solidFill>
                <a:latin typeface="Aptos"/>
                <a:ea typeface="Aptos"/>
                <a:cs typeface="Aptos"/>
              </a:rPr>
              <a:t>4</a:t>
            </a:r>
          </a:p>
        </p:txBody>
      </p:sp>
      <p:sp>
        <p:nvSpPr>
          <p:cNvPr id="36" name="">
            <a:extLst>
              <a:ext uri="{FF2B5EF4-FFF2-40B4-BE49-F238E27FC236}">
                <a16:creationId id="{908B668D-B11D-4D04-B4DB-CF8DD0B5F09C}"/>
              </a:ext>
            </a:extLst>
          </p:cNvPr>
          <p:cNvSpPr>
            <a:spLocks noGrp="1"/>
          </p:cNvSpPr>
          <p:nvPr/>
        </p:nvSpPr>
        <p:spPr>
          <a:xfrm>
            <a:off x="1219200" y="3228975"/>
            <a:ext cx="2476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11827"/>
                </a:solidFill>
                <a:latin typeface="Aptos"/>
                <a:ea typeface="Aptos"/>
                <a:cs typeface="Aptos"/>
              </a:defRPr>
            </a:pPr>
            <a:r>
              <a:rPr sz="1125" b="1">
                <a:solidFill>
                  <a:srgbClr val="111827"/>
                </a:solidFill>
                <a:latin typeface="Aptos"/>
                <a:ea typeface="Aptos"/>
                <a:cs typeface="Aptos"/>
              </a:rPr>
              <a:t>Canonical selection</a:t>
            </a:r>
          </a:p>
        </p:txBody>
      </p:sp>
      <p:sp>
        <p:nvSpPr>
          <p:cNvPr id="37" name="">
            <a:extLst>
              <a:ext uri="{FF2B5EF4-FFF2-40B4-BE49-F238E27FC236}">
                <a16:creationId id="{49A688C8-A7E0-484A-8773-834DDD4B9B55}"/>
              </a:ext>
            </a:extLst>
          </p:cNvPr>
          <p:cNvSpPr>
            <a:spLocks noGrp="1"/>
          </p:cNvSpPr>
          <p:nvPr/>
        </p:nvSpPr>
        <p:spPr>
          <a:xfrm>
            <a:off x="1219200" y="3448050"/>
            <a:ext cx="2476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canonical_assembly_selection.csv</a:t>
            </a:r>
          </a:p>
        </p:txBody>
      </p:sp>
      <p:sp>
        <p:nvSpPr>
          <p:cNvPr id="38" name="">
            <a:extLst>
              <a:ext uri="{FF2B5EF4-FFF2-40B4-BE49-F238E27FC236}">
                <a16:creationId id="{8E1D9D02-EE2D-4AE1-96EF-2EBBA3D5660E}"/>
              </a:ext>
            </a:extLst>
          </p:cNvPr>
          <p:cNvSpPr>
            <a:spLocks noGrp="1"/>
          </p:cNvSpPr>
          <p:nvPr/>
        </p:nvSpPr>
        <p:spPr>
          <a:xfrm>
            <a:off x="838200" y="3695700"/>
            <a:ext cx="2933700" cy="333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111827"/>
                </a:solidFill>
                <a:latin typeface="Aptos"/>
                <a:ea typeface="Aptos"/>
                <a:cs typeface="Aptos"/>
              </a:defRPr>
            </a:pPr>
            <a:r>
              <a:rPr sz="863" b="0">
                <a:solidFill>
                  <a:srgbClr val="111827"/>
                </a:solidFill>
                <a:latin typeface="Aptos"/>
                <a:ea typeface="Aptos"/>
                <a:cs typeface="Aptos"/>
              </a:rPr>
              <a:t>556 selected episode-level assemblies</a:t>
            </a:r>
          </a:p>
        </p:txBody>
      </p:sp>
      <p:sp>
        <p:nvSpPr>
          <p:cNvPr id="39" name="">
            <a:extLst>
              <a:ext uri="{FF2B5EF4-FFF2-40B4-BE49-F238E27FC236}">
                <a16:creationId id="{598F0E24-81CC-4B7D-868E-35AE3F809C02}"/>
              </a:ext>
            </a:extLst>
          </p:cNvPr>
          <p:cNvSpPr>
            <a:spLocks noGrp="1"/>
          </p:cNvSpPr>
          <p:nvPr/>
        </p:nvSpPr>
        <p:spPr>
          <a:xfrm rot="0">
            <a:off x="3981450" y="3609975"/>
            <a:ext cx="323850" cy="19050"/>
          </a:xfrm>
          <a:prstGeom prst="rect">
            <a:avLst/>
          </a:prstGeom>
          <a:solidFill>
            <a:srgbClr val="94A3B8"/>
          </a:solidFill>
          <a:ln w="0">
            <a:solidFill>
              <a:srgbClr val="000000">
                <a:alpha val="0"/>
              </a:srgbClr>
            </a:solidFill>
            <a:prstDash val="solid"/>
          </a:ln>
        </p:spPr>
      </p:sp>
      <p:sp>
        <p:nvSpPr>
          <p:cNvPr id="40" name="">
            <a:extLst>
              <a:ext uri="{FF2B5EF4-FFF2-40B4-BE49-F238E27FC236}">
                <a16:creationId id="{7169806B-4622-423A-9425-05A7D6D0B3BB}"/>
              </a:ext>
            </a:extLst>
          </p:cNvPr>
          <p:cNvSpPr>
            <a:spLocks noGrp="1"/>
          </p:cNvSpPr>
          <p:nvPr/>
        </p:nvSpPr>
        <p:spPr>
          <a:xfrm rot="5400000">
            <a:off x="4238625" y="3571875"/>
            <a:ext cx="95250" cy="95250"/>
          </a:xfrm>
          <a:prstGeom prst="triangle">
            <a:avLst/>
          </a:prstGeom>
          <a:solidFill>
            <a:srgbClr val="94A3B8"/>
          </a:solidFill>
          <a:ln w="0">
            <a:solidFill>
              <a:srgbClr val="000000">
                <a:alpha val="0"/>
              </a:srgbClr>
            </a:solidFill>
            <a:prstDash val="solid"/>
          </a:ln>
        </p:spPr>
      </p:sp>
      <p:sp>
        <p:nvSpPr>
          <p:cNvPr id="41" name="">
            <a:extLst>
              <a:ext uri="{FF2B5EF4-FFF2-40B4-BE49-F238E27FC236}">
                <a16:creationId id="{D488FEFD-B95C-43F9-ACFD-DA3CE2D9D92B}"/>
              </a:ext>
            </a:extLst>
          </p:cNvPr>
          <p:cNvSpPr>
            <a:spLocks noGrp="1"/>
          </p:cNvSpPr>
          <p:nvPr/>
        </p:nvSpPr>
        <p:spPr>
          <a:xfrm>
            <a:off x="4400550" y="3086100"/>
            <a:ext cx="3276600" cy="1066800"/>
          </a:xfrm>
          <a:prstGeom prst="roundRect">
            <a:avLst>
              <a:gd name="adj" fmla="val 7143"/>
            </a:avLst>
          </a:prstGeom>
          <a:solidFill>
            <a:srgbClr val="E8F1FA"/>
          </a:solidFill>
          <a:ln w="9525">
            <a:solidFill>
              <a:srgbClr val="D8DEE8"/>
            </a:solidFill>
            <a:prstDash val="solid"/>
          </a:ln>
        </p:spPr>
      </p:sp>
      <p:sp>
        <p:nvSpPr>
          <p:cNvPr id="42" name="">
            <a:extLst>
              <a:ext uri="{FF2B5EF4-FFF2-40B4-BE49-F238E27FC236}">
                <a16:creationId id="{2CB1F8C0-5729-436C-806C-84F854D2B6A1}"/>
              </a:ext>
            </a:extLst>
          </p:cNvPr>
          <p:cNvSpPr>
            <a:spLocks noGrp="1"/>
          </p:cNvSpPr>
          <p:nvPr/>
        </p:nvSpPr>
        <p:spPr>
          <a:xfrm>
            <a:off x="4552950" y="3257550"/>
            <a:ext cx="285750" cy="285750"/>
          </a:xfrm>
          <a:prstGeom prst="ellipse">
            <a:avLst/>
          </a:prstGeom>
          <a:solidFill>
            <a:srgbClr val="111827"/>
          </a:solidFill>
          <a:ln w="0">
            <a:solidFill>
              <a:srgbClr val="000000">
                <a:alpha val="0"/>
              </a:srgbClr>
            </a:solidFill>
            <a:prstDash val="solid"/>
          </a:ln>
        </p:spPr>
      </p:sp>
      <p:sp>
        <p:nvSpPr>
          <p:cNvPr id="43" name="">
            <a:extLst>
              <a:ext uri="{FF2B5EF4-FFF2-40B4-BE49-F238E27FC236}">
                <a16:creationId id="{D276B412-69D6-4A69-A4F7-F563A89EDBCC}"/>
              </a:ext>
            </a:extLst>
          </p:cNvPr>
          <p:cNvSpPr>
            <a:spLocks noGrp="1"/>
          </p:cNvSpPr>
          <p:nvPr/>
        </p:nvSpPr>
        <p:spPr>
          <a:xfrm>
            <a:off x="4552950" y="3314700"/>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1">
                <a:solidFill>
                  <a:srgbClr val="FFFFFF"/>
                </a:solidFill>
                <a:latin typeface="Aptos"/>
                <a:ea typeface="Aptos"/>
                <a:cs typeface="Aptos"/>
              </a:defRPr>
            </a:pPr>
            <a:r>
              <a:rPr sz="863" b="1">
                <a:solidFill>
                  <a:srgbClr val="FFFFFF"/>
                </a:solidFill>
                <a:latin typeface="Aptos"/>
                <a:ea typeface="Aptos"/>
                <a:cs typeface="Aptos"/>
              </a:rPr>
              <a:t>5</a:t>
            </a:r>
          </a:p>
        </p:txBody>
      </p:sp>
      <p:sp>
        <p:nvSpPr>
          <p:cNvPr id="44" name="">
            <a:extLst>
              <a:ext uri="{FF2B5EF4-FFF2-40B4-BE49-F238E27FC236}">
                <a16:creationId id="{7217C312-06F7-47B3-82CD-5B81399CD40D}"/>
              </a:ext>
            </a:extLst>
          </p:cNvPr>
          <p:cNvSpPr>
            <a:spLocks noGrp="1"/>
          </p:cNvSpPr>
          <p:nvPr/>
        </p:nvSpPr>
        <p:spPr>
          <a:xfrm>
            <a:off x="4953000" y="3228975"/>
            <a:ext cx="2476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11827"/>
                </a:solidFill>
                <a:latin typeface="Aptos"/>
                <a:ea typeface="Aptos"/>
                <a:cs typeface="Aptos"/>
              </a:defRPr>
            </a:pPr>
            <a:r>
              <a:rPr sz="1125" b="1">
                <a:solidFill>
                  <a:srgbClr val="111827"/>
                </a:solidFill>
                <a:latin typeface="Aptos"/>
                <a:ea typeface="Aptos"/>
                <a:cs typeface="Aptos"/>
              </a:rPr>
              <a:t>VF P/A matrix</a:t>
            </a:r>
          </a:p>
        </p:txBody>
      </p:sp>
      <p:sp>
        <p:nvSpPr>
          <p:cNvPr id="45" name="">
            <a:extLst>
              <a:ext uri="{FF2B5EF4-FFF2-40B4-BE49-F238E27FC236}">
                <a16:creationId id="{B4831EC7-BE96-4ACA-8988-CBBFDDFF2197}"/>
              </a:ext>
            </a:extLst>
          </p:cNvPr>
          <p:cNvSpPr>
            <a:spLocks noGrp="1"/>
          </p:cNvSpPr>
          <p:nvPr/>
        </p:nvSpPr>
        <p:spPr>
          <a:xfrm>
            <a:off x="4953000" y="3448050"/>
            <a:ext cx="2476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02_gene_presence_analysis.R</a:t>
            </a:r>
          </a:p>
        </p:txBody>
      </p:sp>
      <p:sp>
        <p:nvSpPr>
          <p:cNvPr id="46" name="">
            <a:extLst>
              <a:ext uri="{FF2B5EF4-FFF2-40B4-BE49-F238E27FC236}">
                <a16:creationId id="{4A81D82B-F6BC-4686-8AD4-DC2B6EED6E4F}"/>
              </a:ext>
            </a:extLst>
          </p:cNvPr>
          <p:cNvSpPr>
            <a:spLocks noGrp="1"/>
          </p:cNvSpPr>
          <p:nvPr/>
        </p:nvSpPr>
        <p:spPr>
          <a:xfrm>
            <a:off x="4572000" y="3695700"/>
            <a:ext cx="2933700" cy="333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111827"/>
                </a:solidFill>
                <a:latin typeface="Aptos"/>
                <a:ea typeface="Aptos"/>
                <a:cs typeface="Aptos"/>
              </a:defRPr>
            </a:pPr>
            <a:r>
              <a:rPr sz="863" b="0">
                <a:solidFill>
                  <a:srgbClr val="111827"/>
                </a:solidFill>
                <a:latin typeface="Aptos"/>
                <a:ea typeface="Aptos"/>
                <a:cs typeface="Aptos"/>
              </a:rPr>
              <a:t>556 episode-level VF rows</a:t>
            </a:r>
          </a:p>
        </p:txBody>
      </p:sp>
      <p:sp>
        <p:nvSpPr>
          <p:cNvPr id="47" name="">
            <a:extLst>
              <a:ext uri="{FF2B5EF4-FFF2-40B4-BE49-F238E27FC236}">
                <a16:creationId id="{03807480-E639-4A13-8E08-62EC5BDEAD91}"/>
              </a:ext>
            </a:extLst>
          </p:cNvPr>
          <p:cNvSpPr>
            <a:spLocks noGrp="1"/>
          </p:cNvSpPr>
          <p:nvPr/>
        </p:nvSpPr>
        <p:spPr>
          <a:xfrm rot="0">
            <a:off x="7715250" y="3609975"/>
            <a:ext cx="323850" cy="19050"/>
          </a:xfrm>
          <a:prstGeom prst="rect">
            <a:avLst/>
          </a:prstGeom>
          <a:solidFill>
            <a:srgbClr val="94A3B8"/>
          </a:solidFill>
          <a:ln w="0">
            <a:solidFill>
              <a:srgbClr val="000000">
                <a:alpha val="0"/>
              </a:srgbClr>
            </a:solidFill>
            <a:prstDash val="solid"/>
          </a:ln>
        </p:spPr>
      </p:sp>
      <p:sp>
        <p:nvSpPr>
          <p:cNvPr id="48" name="">
            <a:extLst>
              <a:ext uri="{FF2B5EF4-FFF2-40B4-BE49-F238E27FC236}">
                <a16:creationId id="{2235E338-28A2-42BE-B670-09A28F3B9928}"/>
              </a:ext>
            </a:extLst>
          </p:cNvPr>
          <p:cNvSpPr>
            <a:spLocks noGrp="1"/>
          </p:cNvSpPr>
          <p:nvPr/>
        </p:nvSpPr>
        <p:spPr>
          <a:xfrm rot="5400000">
            <a:off x="7972425" y="3571875"/>
            <a:ext cx="95250" cy="95250"/>
          </a:xfrm>
          <a:prstGeom prst="triangle">
            <a:avLst/>
          </a:prstGeom>
          <a:solidFill>
            <a:srgbClr val="94A3B8"/>
          </a:solidFill>
          <a:ln w="0">
            <a:solidFill>
              <a:srgbClr val="000000">
                <a:alpha val="0"/>
              </a:srgbClr>
            </a:solidFill>
            <a:prstDash val="solid"/>
          </a:ln>
        </p:spPr>
      </p:sp>
      <p:sp>
        <p:nvSpPr>
          <p:cNvPr id="49" name="">
            <a:extLst>
              <a:ext uri="{FF2B5EF4-FFF2-40B4-BE49-F238E27FC236}">
                <a16:creationId id="{E2388EA8-8E83-4EAD-B9C9-915F6BC463FC}"/>
              </a:ext>
            </a:extLst>
          </p:cNvPr>
          <p:cNvSpPr>
            <a:spLocks noGrp="1"/>
          </p:cNvSpPr>
          <p:nvPr/>
        </p:nvSpPr>
        <p:spPr>
          <a:xfrm>
            <a:off x="8134350" y="3086100"/>
            <a:ext cx="3276600" cy="1066800"/>
          </a:xfrm>
          <a:prstGeom prst="roundRect">
            <a:avLst>
              <a:gd name="adj" fmla="val 7143"/>
            </a:avLst>
          </a:prstGeom>
          <a:solidFill>
            <a:srgbClr val="E8F1FA"/>
          </a:solidFill>
          <a:ln w="9525">
            <a:solidFill>
              <a:srgbClr val="D8DEE8"/>
            </a:solidFill>
            <a:prstDash val="solid"/>
          </a:ln>
        </p:spPr>
      </p:sp>
      <p:sp>
        <p:nvSpPr>
          <p:cNvPr id="50" name="">
            <a:extLst>
              <a:ext uri="{FF2B5EF4-FFF2-40B4-BE49-F238E27FC236}">
                <a16:creationId id="{3AC51169-DE0E-47E7-80FE-BD9BB791C5B6}"/>
              </a:ext>
            </a:extLst>
          </p:cNvPr>
          <p:cNvSpPr>
            <a:spLocks noGrp="1"/>
          </p:cNvSpPr>
          <p:nvPr/>
        </p:nvSpPr>
        <p:spPr>
          <a:xfrm>
            <a:off x="8286750" y="3257550"/>
            <a:ext cx="285750" cy="285750"/>
          </a:xfrm>
          <a:prstGeom prst="ellipse">
            <a:avLst/>
          </a:prstGeom>
          <a:solidFill>
            <a:srgbClr val="111827"/>
          </a:solidFill>
          <a:ln w="0">
            <a:solidFill>
              <a:srgbClr val="000000">
                <a:alpha val="0"/>
              </a:srgbClr>
            </a:solidFill>
            <a:prstDash val="solid"/>
          </a:ln>
        </p:spPr>
      </p:sp>
      <p:sp>
        <p:nvSpPr>
          <p:cNvPr id="51" name="">
            <a:extLst>
              <a:ext uri="{FF2B5EF4-FFF2-40B4-BE49-F238E27FC236}">
                <a16:creationId id="{4742FA35-84EF-40D5-8721-1D5411B1D9BD}"/>
              </a:ext>
            </a:extLst>
          </p:cNvPr>
          <p:cNvSpPr>
            <a:spLocks noGrp="1"/>
          </p:cNvSpPr>
          <p:nvPr/>
        </p:nvSpPr>
        <p:spPr>
          <a:xfrm>
            <a:off x="8286750" y="3314700"/>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1">
                <a:solidFill>
                  <a:srgbClr val="FFFFFF"/>
                </a:solidFill>
                <a:latin typeface="Aptos"/>
                <a:ea typeface="Aptos"/>
                <a:cs typeface="Aptos"/>
              </a:defRPr>
            </a:pPr>
            <a:r>
              <a:rPr sz="863" b="1">
                <a:solidFill>
                  <a:srgbClr val="FFFFFF"/>
                </a:solidFill>
                <a:latin typeface="Aptos"/>
                <a:ea typeface="Aptos"/>
                <a:cs typeface="Aptos"/>
              </a:rPr>
              <a:t>6</a:t>
            </a:r>
          </a:p>
        </p:txBody>
      </p:sp>
      <p:sp>
        <p:nvSpPr>
          <p:cNvPr id="52" name="">
            <a:extLst>
              <a:ext uri="{FF2B5EF4-FFF2-40B4-BE49-F238E27FC236}">
                <a16:creationId id="{BCDA8F25-904D-4740-99ED-FA5E797CA1AA}"/>
              </a:ext>
            </a:extLst>
          </p:cNvPr>
          <p:cNvSpPr>
            <a:spLocks noGrp="1"/>
          </p:cNvSpPr>
          <p:nvPr/>
        </p:nvSpPr>
        <p:spPr>
          <a:xfrm>
            <a:off x="8686800" y="3228975"/>
            <a:ext cx="2476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11827"/>
                </a:solidFill>
                <a:latin typeface="Aptos"/>
                <a:ea typeface="Aptos"/>
                <a:cs typeface="Aptos"/>
              </a:defRPr>
            </a:pPr>
            <a:r>
              <a:rPr sz="1125" b="1">
                <a:solidFill>
                  <a:srgbClr val="111827"/>
                </a:solidFill>
                <a:latin typeface="Aptos"/>
                <a:ea typeface="Aptos"/>
                <a:cs typeface="Aptos"/>
              </a:rPr>
              <a:t>VF/model-ready</a:t>
            </a:r>
          </a:p>
        </p:txBody>
      </p:sp>
      <p:sp>
        <p:nvSpPr>
          <p:cNvPr id="53" name="">
            <a:extLst>
              <a:ext uri="{FF2B5EF4-FFF2-40B4-BE49-F238E27FC236}">
                <a16:creationId id="{D1699DF5-D8CE-42A3-AE84-9FE9D51E400A}"/>
              </a:ext>
            </a:extLst>
          </p:cNvPr>
          <p:cNvSpPr>
            <a:spLocks noGrp="1"/>
          </p:cNvSpPr>
          <p:nvPr/>
        </p:nvSpPr>
        <p:spPr>
          <a:xfrm>
            <a:off x="8686800" y="3448050"/>
            <a:ext cx="2476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22_vf_build_analysis_dataset.R</a:t>
            </a:r>
          </a:p>
        </p:txBody>
      </p:sp>
      <p:sp>
        <p:nvSpPr>
          <p:cNvPr id="54" name="">
            <a:extLst>
              <a:ext uri="{FF2B5EF4-FFF2-40B4-BE49-F238E27FC236}">
                <a16:creationId id="{11B128F3-A810-4F73-886D-2A36E5C6F4F5}"/>
              </a:ext>
            </a:extLst>
          </p:cNvPr>
          <p:cNvSpPr>
            <a:spLocks noGrp="1"/>
          </p:cNvSpPr>
          <p:nvPr/>
        </p:nvSpPr>
        <p:spPr>
          <a:xfrm>
            <a:off x="8305800" y="3695700"/>
            <a:ext cx="2933700" cy="333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111827"/>
                </a:solidFill>
                <a:latin typeface="Aptos"/>
                <a:ea typeface="Aptos"/>
                <a:cs typeface="Aptos"/>
              </a:defRPr>
            </a:pPr>
            <a:r>
              <a:rPr sz="863" b="0">
                <a:solidFill>
                  <a:srgbClr val="111827"/>
                </a:solidFill>
                <a:latin typeface="Aptos"/>
                <a:ea typeface="Aptos"/>
                <a:cs typeface="Aptos"/>
              </a:rPr>
              <a:t>556 episodes: 17 UTI, 539 Not_UTI; 27 clinical episodes lack VF-ready evidence</a:t>
            </a:r>
          </a:p>
        </p:txBody>
      </p:sp>
      <p:sp>
        <p:nvSpPr>
          <p:cNvPr id="55" name="">
            <a:extLst>
              <a:ext uri="{FF2B5EF4-FFF2-40B4-BE49-F238E27FC236}">
                <a16:creationId id="{BC78D11B-C66D-40EA-BE8D-DAD3F686AC10}"/>
              </a:ext>
            </a:extLst>
          </p:cNvPr>
          <p:cNvSpPr>
            <a:spLocks noGrp="1"/>
          </p:cNvSpPr>
          <p:nvPr/>
        </p:nvSpPr>
        <p:spPr>
          <a:xfrm>
            <a:off x="666750" y="4591050"/>
            <a:ext cx="3276600" cy="1066800"/>
          </a:xfrm>
          <a:prstGeom prst="roundRect">
            <a:avLst>
              <a:gd name="adj" fmla="val 7143"/>
            </a:avLst>
          </a:prstGeom>
          <a:solidFill>
            <a:srgbClr val="EEF3F8"/>
          </a:solidFill>
          <a:ln w="9525">
            <a:solidFill>
              <a:srgbClr val="D8DEE8"/>
            </a:solidFill>
            <a:prstDash val="solid"/>
          </a:ln>
        </p:spPr>
      </p:sp>
      <p:sp>
        <p:nvSpPr>
          <p:cNvPr id="56" name="">
            <a:extLst>
              <a:ext uri="{FF2B5EF4-FFF2-40B4-BE49-F238E27FC236}">
                <a16:creationId id="{ACD73F21-EED0-4AD8-8E73-56019053E7E0}"/>
              </a:ext>
            </a:extLst>
          </p:cNvPr>
          <p:cNvSpPr>
            <a:spLocks noGrp="1"/>
          </p:cNvSpPr>
          <p:nvPr/>
        </p:nvSpPr>
        <p:spPr>
          <a:xfrm>
            <a:off x="819150" y="4762500"/>
            <a:ext cx="285750" cy="285750"/>
          </a:xfrm>
          <a:prstGeom prst="ellipse">
            <a:avLst/>
          </a:prstGeom>
          <a:solidFill>
            <a:srgbClr val="111827"/>
          </a:solidFill>
          <a:ln w="0">
            <a:solidFill>
              <a:srgbClr val="000000">
                <a:alpha val="0"/>
              </a:srgbClr>
            </a:solidFill>
            <a:prstDash val="solid"/>
          </a:ln>
        </p:spPr>
      </p:sp>
      <p:sp>
        <p:nvSpPr>
          <p:cNvPr id="57" name="">
            <a:extLst>
              <a:ext uri="{FF2B5EF4-FFF2-40B4-BE49-F238E27FC236}">
                <a16:creationId id="{5B38E09D-5A32-48BE-A6B1-6D7BC46D8BEA}"/>
              </a:ext>
            </a:extLst>
          </p:cNvPr>
          <p:cNvSpPr>
            <a:spLocks noGrp="1"/>
          </p:cNvSpPr>
          <p:nvPr/>
        </p:nvSpPr>
        <p:spPr>
          <a:xfrm>
            <a:off x="819150" y="4819650"/>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1">
                <a:solidFill>
                  <a:srgbClr val="FFFFFF"/>
                </a:solidFill>
                <a:latin typeface="Aptos"/>
                <a:ea typeface="Aptos"/>
                <a:cs typeface="Aptos"/>
              </a:defRPr>
            </a:pPr>
            <a:r>
              <a:rPr sz="863" b="1">
                <a:solidFill>
                  <a:srgbClr val="FFFFFF"/>
                </a:solidFill>
                <a:latin typeface="Aptos"/>
                <a:ea typeface="Aptos"/>
                <a:cs typeface="Aptos"/>
              </a:rPr>
              <a:t>7</a:t>
            </a:r>
          </a:p>
        </p:txBody>
      </p:sp>
      <p:sp>
        <p:nvSpPr>
          <p:cNvPr id="58" name="">
            <a:extLst>
              <a:ext uri="{FF2B5EF4-FFF2-40B4-BE49-F238E27FC236}">
                <a16:creationId id="{E1C31AC9-4A47-4709-85E0-18736B4F52DE}"/>
              </a:ext>
            </a:extLst>
          </p:cNvPr>
          <p:cNvSpPr>
            <a:spLocks noGrp="1"/>
          </p:cNvSpPr>
          <p:nvPr/>
        </p:nvSpPr>
        <p:spPr>
          <a:xfrm>
            <a:off x="1219200" y="4733925"/>
            <a:ext cx="2476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11827"/>
                </a:solidFill>
                <a:latin typeface="Aptos"/>
                <a:ea typeface="Aptos"/>
                <a:cs typeface="Aptos"/>
              </a:defRPr>
            </a:pPr>
            <a:r>
              <a:rPr sz="1125" b="1">
                <a:solidFill>
                  <a:srgbClr val="111827"/>
                </a:solidFill>
                <a:latin typeface="Aptos"/>
                <a:ea typeface="Aptos"/>
                <a:cs typeface="Aptos"/>
              </a:rPr>
              <a:t>Feature framework</a:t>
            </a:r>
          </a:p>
        </p:txBody>
      </p:sp>
      <p:sp>
        <p:nvSpPr>
          <p:cNvPr id="59" name="">
            <a:extLst>
              <a:ext uri="{FF2B5EF4-FFF2-40B4-BE49-F238E27FC236}">
                <a16:creationId id="{78CE4067-958F-4A47-B6CA-64CA34E0E5AA}"/>
              </a:ext>
            </a:extLst>
          </p:cNvPr>
          <p:cNvSpPr>
            <a:spLocks noGrp="1"/>
          </p:cNvSpPr>
          <p:nvPr/>
        </p:nvSpPr>
        <p:spPr>
          <a:xfrm>
            <a:off x="1219200" y="4953000"/>
            <a:ext cx="2476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26_vf_define_gene_modules.R</a:t>
            </a:r>
          </a:p>
        </p:txBody>
      </p:sp>
      <p:sp>
        <p:nvSpPr>
          <p:cNvPr id="60" name="">
            <a:extLst>
              <a:ext uri="{FF2B5EF4-FFF2-40B4-BE49-F238E27FC236}">
                <a16:creationId id="{5678F188-A8CB-478A-86D3-05DBBFFF07F1}"/>
              </a:ext>
            </a:extLst>
          </p:cNvPr>
          <p:cNvSpPr>
            <a:spLocks noGrp="1"/>
          </p:cNvSpPr>
          <p:nvPr/>
        </p:nvSpPr>
        <p:spPr>
          <a:xfrm>
            <a:off x="838200" y="5200650"/>
            <a:ext cx="2933700" cy="333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111827"/>
                </a:solidFill>
                <a:latin typeface="Aptos"/>
                <a:ea typeface="Aptos"/>
                <a:cs typeface="Aptos"/>
              </a:defRPr>
            </a:pPr>
            <a:r>
              <a:rPr sz="863" b="0">
                <a:solidFill>
                  <a:srgbClr val="111827"/>
                </a:solidFill>
                <a:latin typeface="Aptos"/>
                <a:ea typeface="Aptos"/>
                <a:cs typeface="Aptos"/>
              </a:rPr>
              <a:t>227 VF gene columns -&gt; 32 modules, incl. 18 UPEC-candidate modules</a:t>
            </a:r>
          </a:p>
        </p:txBody>
      </p:sp>
      <p:sp>
        <p:nvSpPr>
          <p:cNvPr id="61" name="">
            <a:extLst>
              <a:ext uri="{FF2B5EF4-FFF2-40B4-BE49-F238E27FC236}">
                <a16:creationId id="{BA14A9F0-935A-4B10-8250-7682C8C1E253}"/>
              </a:ext>
            </a:extLst>
          </p:cNvPr>
          <p:cNvSpPr>
            <a:spLocks noGrp="1"/>
          </p:cNvSpPr>
          <p:nvPr/>
        </p:nvSpPr>
        <p:spPr>
          <a:xfrm rot="0">
            <a:off x="3981450" y="5114925"/>
            <a:ext cx="323850" cy="19050"/>
          </a:xfrm>
          <a:prstGeom prst="rect">
            <a:avLst/>
          </a:prstGeom>
          <a:solidFill>
            <a:srgbClr val="94A3B8"/>
          </a:solidFill>
          <a:ln w="0">
            <a:solidFill>
              <a:srgbClr val="000000">
                <a:alpha val="0"/>
              </a:srgbClr>
            </a:solidFill>
            <a:prstDash val="solid"/>
          </a:ln>
        </p:spPr>
      </p:sp>
      <p:sp>
        <p:nvSpPr>
          <p:cNvPr id="62" name="">
            <a:extLst>
              <a:ext uri="{FF2B5EF4-FFF2-40B4-BE49-F238E27FC236}">
                <a16:creationId id="{3BCC2EF8-7AC8-4E9D-881D-F278D0479009}"/>
              </a:ext>
            </a:extLst>
          </p:cNvPr>
          <p:cNvSpPr>
            <a:spLocks noGrp="1"/>
          </p:cNvSpPr>
          <p:nvPr/>
        </p:nvSpPr>
        <p:spPr>
          <a:xfrm rot="5400000">
            <a:off x="4238625" y="5076825"/>
            <a:ext cx="95250" cy="95250"/>
          </a:xfrm>
          <a:prstGeom prst="triangle">
            <a:avLst/>
          </a:prstGeom>
          <a:solidFill>
            <a:srgbClr val="94A3B8"/>
          </a:solidFill>
          <a:ln w="0">
            <a:solidFill>
              <a:srgbClr val="000000">
                <a:alpha val="0"/>
              </a:srgbClr>
            </a:solidFill>
            <a:prstDash val="solid"/>
          </a:ln>
        </p:spPr>
      </p:sp>
      <p:sp>
        <p:nvSpPr>
          <p:cNvPr id="63" name="">
            <a:extLst>
              <a:ext uri="{FF2B5EF4-FFF2-40B4-BE49-F238E27FC236}">
                <a16:creationId id="{D9C24569-E7DF-4A56-8F4C-1306E542776F}"/>
              </a:ext>
            </a:extLst>
          </p:cNvPr>
          <p:cNvSpPr>
            <a:spLocks noGrp="1"/>
          </p:cNvSpPr>
          <p:nvPr/>
        </p:nvSpPr>
        <p:spPr>
          <a:xfrm>
            <a:off x="4400550" y="4591050"/>
            <a:ext cx="3276600" cy="1066800"/>
          </a:xfrm>
          <a:prstGeom prst="roundRect">
            <a:avLst>
              <a:gd name="adj" fmla="val 7143"/>
            </a:avLst>
          </a:prstGeom>
          <a:solidFill>
            <a:srgbClr val="EAF7EF"/>
          </a:solidFill>
          <a:ln w="9525">
            <a:solidFill>
              <a:srgbClr val="D8DEE8"/>
            </a:solidFill>
            <a:prstDash val="solid"/>
          </a:ln>
        </p:spPr>
      </p:sp>
      <p:sp>
        <p:nvSpPr>
          <p:cNvPr id="64" name="">
            <a:extLst>
              <a:ext uri="{FF2B5EF4-FFF2-40B4-BE49-F238E27FC236}">
                <a16:creationId id="{7BE10E29-B4F6-4D77-AA46-1048B3FE1E3A}"/>
              </a:ext>
            </a:extLst>
          </p:cNvPr>
          <p:cNvSpPr>
            <a:spLocks noGrp="1"/>
          </p:cNvSpPr>
          <p:nvPr/>
        </p:nvSpPr>
        <p:spPr>
          <a:xfrm>
            <a:off x="4552950" y="4762500"/>
            <a:ext cx="285750" cy="285750"/>
          </a:xfrm>
          <a:prstGeom prst="ellipse">
            <a:avLst/>
          </a:prstGeom>
          <a:solidFill>
            <a:srgbClr val="111827"/>
          </a:solidFill>
          <a:ln w="0">
            <a:solidFill>
              <a:srgbClr val="000000">
                <a:alpha val="0"/>
              </a:srgbClr>
            </a:solidFill>
            <a:prstDash val="solid"/>
          </a:ln>
        </p:spPr>
      </p:sp>
      <p:sp>
        <p:nvSpPr>
          <p:cNvPr id="65" name="">
            <a:extLst>
              <a:ext uri="{FF2B5EF4-FFF2-40B4-BE49-F238E27FC236}">
                <a16:creationId id="{7D3B552F-4908-4830-BF07-234812144910}"/>
              </a:ext>
            </a:extLst>
          </p:cNvPr>
          <p:cNvSpPr>
            <a:spLocks noGrp="1"/>
          </p:cNvSpPr>
          <p:nvPr/>
        </p:nvSpPr>
        <p:spPr>
          <a:xfrm>
            <a:off x="4552950" y="4819650"/>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1">
                <a:solidFill>
                  <a:srgbClr val="FFFFFF"/>
                </a:solidFill>
                <a:latin typeface="Aptos"/>
                <a:ea typeface="Aptos"/>
                <a:cs typeface="Aptos"/>
              </a:defRPr>
            </a:pPr>
            <a:r>
              <a:rPr sz="863" b="1">
                <a:solidFill>
                  <a:srgbClr val="FFFFFF"/>
                </a:solidFill>
                <a:latin typeface="Aptos"/>
                <a:ea typeface="Aptos"/>
                <a:cs typeface="Aptos"/>
              </a:rPr>
              <a:t>8</a:t>
            </a:r>
          </a:p>
        </p:txBody>
      </p:sp>
      <p:sp>
        <p:nvSpPr>
          <p:cNvPr id="66" name="">
            <a:extLst>
              <a:ext uri="{FF2B5EF4-FFF2-40B4-BE49-F238E27FC236}">
                <a16:creationId id="{FCF38AA9-8F85-4115-A420-AB62F2750111}"/>
              </a:ext>
            </a:extLst>
          </p:cNvPr>
          <p:cNvSpPr>
            <a:spLocks noGrp="1"/>
          </p:cNvSpPr>
          <p:nvPr/>
        </p:nvSpPr>
        <p:spPr>
          <a:xfrm>
            <a:off x="4953000" y="4733925"/>
            <a:ext cx="2476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11827"/>
                </a:solidFill>
                <a:latin typeface="Aptos"/>
                <a:ea typeface="Aptos"/>
                <a:cs typeface="Aptos"/>
              </a:defRPr>
            </a:pPr>
            <a:r>
              <a:rPr sz="1125" b="1">
                <a:solidFill>
                  <a:srgbClr val="111827"/>
                </a:solidFill>
                <a:latin typeface="Aptos"/>
                <a:ea typeface="Aptos"/>
                <a:cs typeface="Aptos"/>
              </a:rPr>
              <a:t>Longitudinal pairs</a:t>
            </a:r>
          </a:p>
        </p:txBody>
      </p:sp>
      <p:sp>
        <p:nvSpPr>
          <p:cNvPr id="67" name="">
            <a:extLst>
              <a:ext uri="{FF2B5EF4-FFF2-40B4-BE49-F238E27FC236}">
                <a16:creationId id="{233AB918-79D6-4C3E-917E-5F33C7629E59}"/>
              </a:ext>
            </a:extLst>
          </p:cNvPr>
          <p:cNvSpPr>
            <a:spLocks noGrp="1"/>
          </p:cNvSpPr>
          <p:nvPr/>
        </p:nvSpPr>
        <p:spPr>
          <a:xfrm>
            <a:off x="4953000" y="4953000"/>
            <a:ext cx="2476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24_vf_longitudinal_dynamics.R</a:t>
            </a:r>
          </a:p>
        </p:txBody>
      </p:sp>
      <p:sp>
        <p:nvSpPr>
          <p:cNvPr id="68" name="">
            <a:extLst>
              <a:ext uri="{FF2B5EF4-FFF2-40B4-BE49-F238E27FC236}">
                <a16:creationId id="{D1DB697C-929D-448D-A88B-7A2894CA32FD}"/>
              </a:ext>
            </a:extLst>
          </p:cNvPr>
          <p:cNvSpPr>
            <a:spLocks noGrp="1"/>
          </p:cNvSpPr>
          <p:nvPr/>
        </p:nvSpPr>
        <p:spPr>
          <a:xfrm>
            <a:off x="4572000" y="5200650"/>
            <a:ext cx="2933700" cy="333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111827"/>
                </a:solidFill>
                <a:latin typeface="Aptos"/>
                <a:ea typeface="Aptos"/>
                <a:cs typeface="Aptos"/>
              </a:defRPr>
            </a:pPr>
            <a:r>
              <a:rPr sz="863" b="0">
                <a:solidFill>
                  <a:srgbClr val="111827"/>
                </a:solidFill>
                <a:latin typeface="Aptos"/>
                <a:ea typeface="Aptos"/>
                <a:cs typeface="Aptos"/>
              </a:rPr>
              <a:t>394 consecutive comparisons from 144 participants</a:t>
            </a:r>
          </a:p>
        </p:txBody>
      </p:sp>
      <p:sp>
        <p:nvSpPr>
          <p:cNvPr id="69" name="">
            <a:extLst>
              <a:ext uri="{FF2B5EF4-FFF2-40B4-BE49-F238E27FC236}">
                <a16:creationId id="{65B5AE4B-E26C-404B-B0C8-2D275F2882BA}"/>
              </a:ext>
            </a:extLst>
          </p:cNvPr>
          <p:cNvSpPr>
            <a:spLocks noGrp="1"/>
          </p:cNvSpPr>
          <p:nvPr/>
        </p:nvSpPr>
        <p:spPr>
          <a:xfrm rot="0">
            <a:off x="7715250" y="5114925"/>
            <a:ext cx="323850" cy="19050"/>
          </a:xfrm>
          <a:prstGeom prst="rect">
            <a:avLst/>
          </a:prstGeom>
          <a:solidFill>
            <a:srgbClr val="94A3B8"/>
          </a:solidFill>
          <a:ln w="0">
            <a:solidFill>
              <a:srgbClr val="000000">
                <a:alpha val="0"/>
              </a:srgbClr>
            </a:solidFill>
            <a:prstDash val="solid"/>
          </a:ln>
        </p:spPr>
      </p:sp>
      <p:sp>
        <p:nvSpPr>
          <p:cNvPr id="70" name="">
            <a:extLst>
              <a:ext uri="{FF2B5EF4-FFF2-40B4-BE49-F238E27FC236}">
                <a16:creationId id="{67C0C469-4EA1-49BD-87F6-E2ADDBD445BF}"/>
              </a:ext>
            </a:extLst>
          </p:cNvPr>
          <p:cNvSpPr>
            <a:spLocks noGrp="1"/>
          </p:cNvSpPr>
          <p:nvPr/>
        </p:nvSpPr>
        <p:spPr>
          <a:xfrm rot="5400000">
            <a:off x="7972425" y="5076825"/>
            <a:ext cx="95250" cy="95250"/>
          </a:xfrm>
          <a:prstGeom prst="triangle">
            <a:avLst/>
          </a:prstGeom>
          <a:solidFill>
            <a:srgbClr val="94A3B8"/>
          </a:solidFill>
          <a:ln w="0">
            <a:solidFill>
              <a:srgbClr val="000000">
                <a:alpha val="0"/>
              </a:srgbClr>
            </a:solidFill>
            <a:prstDash val="solid"/>
          </a:ln>
        </p:spPr>
      </p:sp>
      <p:sp>
        <p:nvSpPr>
          <p:cNvPr id="71" name="">
            <a:extLst>
              <a:ext uri="{FF2B5EF4-FFF2-40B4-BE49-F238E27FC236}">
                <a16:creationId id="{A3F79D12-C26E-42AD-B7A4-4D327F29EE75}"/>
              </a:ext>
            </a:extLst>
          </p:cNvPr>
          <p:cNvSpPr>
            <a:spLocks noGrp="1"/>
          </p:cNvSpPr>
          <p:nvPr/>
        </p:nvSpPr>
        <p:spPr>
          <a:xfrm>
            <a:off x="8134350" y="4591050"/>
            <a:ext cx="3276600" cy="1066800"/>
          </a:xfrm>
          <a:prstGeom prst="roundRect">
            <a:avLst>
              <a:gd name="adj" fmla="val 7143"/>
            </a:avLst>
          </a:prstGeom>
          <a:solidFill>
            <a:srgbClr val="EEF3F8"/>
          </a:solidFill>
          <a:ln w="9525">
            <a:solidFill>
              <a:srgbClr val="D8DEE8"/>
            </a:solidFill>
            <a:prstDash val="solid"/>
          </a:ln>
        </p:spPr>
      </p:sp>
      <p:sp>
        <p:nvSpPr>
          <p:cNvPr id="72" name="">
            <a:extLst>
              <a:ext uri="{FF2B5EF4-FFF2-40B4-BE49-F238E27FC236}">
                <a16:creationId id="{0C99E372-3AE4-4826-AB06-8758AEC8A420}"/>
              </a:ext>
            </a:extLst>
          </p:cNvPr>
          <p:cNvSpPr>
            <a:spLocks noGrp="1"/>
          </p:cNvSpPr>
          <p:nvPr/>
        </p:nvSpPr>
        <p:spPr>
          <a:xfrm>
            <a:off x="8286750" y="4762500"/>
            <a:ext cx="285750" cy="285750"/>
          </a:xfrm>
          <a:prstGeom prst="ellipse">
            <a:avLst/>
          </a:prstGeom>
          <a:solidFill>
            <a:srgbClr val="111827"/>
          </a:solidFill>
          <a:ln w="0">
            <a:solidFill>
              <a:srgbClr val="000000">
                <a:alpha val="0"/>
              </a:srgbClr>
            </a:solidFill>
            <a:prstDash val="solid"/>
          </a:ln>
        </p:spPr>
      </p:sp>
      <p:sp>
        <p:nvSpPr>
          <p:cNvPr id="73" name="">
            <a:extLst>
              <a:ext uri="{FF2B5EF4-FFF2-40B4-BE49-F238E27FC236}">
                <a16:creationId id="{6F0BDF31-AD8D-4B12-A573-CA4D9EE70E3B}"/>
              </a:ext>
            </a:extLst>
          </p:cNvPr>
          <p:cNvSpPr>
            <a:spLocks noGrp="1"/>
          </p:cNvSpPr>
          <p:nvPr/>
        </p:nvSpPr>
        <p:spPr>
          <a:xfrm>
            <a:off x="8286750" y="4819650"/>
            <a:ext cx="285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1">
                <a:solidFill>
                  <a:srgbClr val="FFFFFF"/>
                </a:solidFill>
                <a:latin typeface="Aptos"/>
                <a:ea typeface="Aptos"/>
                <a:cs typeface="Aptos"/>
              </a:defRPr>
            </a:pPr>
            <a:r>
              <a:rPr sz="863" b="1">
                <a:solidFill>
                  <a:srgbClr val="FFFFFF"/>
                </a:solidFill>
                <a:latin typeface="Aptos"/>
                <a:ea typeface="Aptos"/>
                <a:cs typeface="Aptos"/>
              </a:rPr>
              <a:t>9</a:t>
            </a:r>
          </a:p>
        </p:txBody>
      </p:sp>
      <p:sp>
        <p:nvSpPr>
          <p:cNvPr id="74" name="">
            <a:extLst>
              <a:ext uri="{FF2B5EF4-FFF2-40B4-BE49-F238E27FC236}">
                <a16:creationId id="{FEC3732E-BBE3-4E0F-B4DF-1AA65554A998}"/>
              </a:ext>
            </a:extLst>
          </p:cNvPr>
          <p:cNvSpPr>
            <a:spLocks noGrp="1"/>
          </p:cNvSpPr>
          <p:nvPr/>
        </p:nvSpPr>
        <p:spPr>
          <a:xfrm>
            <a:off x="8686800" y="4733925"/>
            <a:ext cx="2476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1">
                <a:solidFill>
                  <a:srgbClr val="111827"/>
                </a:solidFill>
                <a:latin typeface="Aptos"/>
                <a:ea typeface="Aptos"/>
                <a:cs typeface="Aptos"/>
              </a:defRPr>
            </a:pPr>
            <a:r>
              <a:rPr sz="1125" b="1">
                <a:solidFill>
                  <a:srgbClr val="111827"/>
                </a:solidFill>
                <a:latin typeface="Aptos"/>
                <a:ea typeface="Aptos"/>
                <a:cs typeface="Aptos"/>
              </a:rPr>
              <a:t>Clinical application</a:t>
            </a:r>
          </a:p>
        </p:txBody>
      </p:sp>
      <p:sp>
        <p:nvSpPr>
          <p:cNvPr id="75" name="">
            <a:extLst>
              <a:ext uri="{FF2B5EF4-FFF2-40B4-BE49-F238E27FC236}">
                <a16:creationId id="{63ED352F-EDFE-476B-8DF4-EBB5AF497F14}"/>
              </a:ext>
            </a:extLst>
          </p:cNvPr>
          <p:cNvSpPr>
            <a:spLocks noGrp="1"/>
          </p:cNvSpPr>
          <p:nvPr/>
        </p:nvSpPr>
        <p:spPr>
          <a:xfrm>
            <a:off x="8686800" y="4953000"/>
            <a:ext cx="2476500" cy="1428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casebook outputs</a:t>
            </a:r>
          </a:p>
        </p:txBody>
      </p:sp>
      <p:sp>
        <p:nvSpPr>
          <p:cNvPr id="76" name="">
            <a:extLst>
              <a:ext uri="{FF2B5EF4-FFF2-40B4-BE49-F238E27FC236}">
                <a16:creationId id="{E8BDDE5E-ED80-4222-9FC5-59FB0DE54950}"/>
              </a:ext>
            </a:extLst>
          </p:cNvPr>
          <p:cNvSpPr>
            <a:spLocks noGrp="1"/>
          </p:cNvSpPr>
          <p:nvPr/>
        </p:nvSpPr>
        <p:spPr>
          <a:xfrm>
            <a:off x="8305800" y="5200650"/>
            <a:ext cx="2933700" cy="3333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111827"/>
                </a:solidFill>
                <a:latin typeface="Aptos"/>
                <a:ea typeface="Aptos"/>
                <a:cs typeface="Aptos"/>
              </a:defRPr>
            </a:pPr>
            <a:r>
              <a:rPr sz="863" b="0">
                <a:solidFill>
                  <a:srgbClr val="111827"/>
                </a:solidFill>
                <a:latin typeface="Aptos"/>
                <a:ea typeface="Aptos"/>
                <a:cs typeface="Aptos"/>
              </a:rPr>
              <a:t>11 Not_UTI -&gt; UTI transitions; 10 WGS/VF-linked; 1 missing endpoint</a:t>
            </a:r>
          </a:p>
        </p:txBody>
      </p:sp>
    </p:spTree>
    <p:extLst>
      <p:ext uri="{BB962C8B-B14F-4D97-AF65-F5344CB8AC3E}">
        <p14:creationId val="1779923053"/>
      </p:ext>
    </p:extLst>
  </p:cSld>
</p:sld>
</file>

<file path=ppt/slides/slide5.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p:cNvGrpSpPr/>
        <p:nvPr/>
      </p:nvGrpSpPr>
      <p:grpSpPr>
        <a:xfrm/>
      </p:grpSpPr>
      <p:sp>
        <p:nvSpPr>
          <p:cNvPr id="2" name="">
            <a:extLst>
              <a:ext uri="{FF2B5EF4-FFF2-40B4-BE49-F238E27FC236}">
                <a16:creationId id="{0F03ED3B-BC23-4190-B11B-591794DDBEB8}"/>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8C9F15BD-B08D-4565-A66C-D10C75FF8AF9}"/>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89268041-B7DB-4EDA-9F2E-8836E86551F5}"/>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VF REPRESENTATION</a:t>
            </a:r>
          </a:p>
        </p:txBody>
      </p:sp>
      <p:sp>
        <p:nvSpPr>
          <p:cNvPr id="5" name="">
            <a:extLst>
              <a:ext uri="{FF2B5EF4-FFF2-40B4-BE49-F238E27FC236}">
                <a16:creationId id="{28EF80F9-BA33-4EA7-80CD-E179D3555FEA}"/>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The analysis separates raw gene burden, curated modules, and longitudinal similarity</a:t>
            </a:r>
          </a:p>
        </p:txBody>
      </p:sp>
      <p:sp>
        <p:nvSpPr>
          <p:cNvPr id="6" name="">
            <a:extLst>
              <a:ext uri="{FF2B5EF4-FFF2-40B4-BE49-F238E27FC236}">
                <a16:creationId id="{3432461F-908E-4294-9A70-14CBDE989446}"/>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Module and score outputs help interpretation, but they are not validated disease-causality scores.</a:t>
            </a:r>
          </a:p>
        </p:txBody>
      </p:sp>
      <p:sp>
        <p:nvSpPr>
          <p:cNvPr id="7" name="">
            <a:extLst>
              <a:ext uri="{FF2B5EF4-FFF2-40B4-BE49-F238E27FC236}">
                <a16:creationId id="{100B4883-152C-4C79-A2AF-4711819B148B}"/>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5CAFCA1E-9BC9-4AE5-9872-766738C41710}"/>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159C8A2A-8857-48CA-BF71-B49833F3DD03}"/>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427371AC-B0BF-4641-B179-79BA498B6274}"/>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05</a:t>
            </a:r>
          </a:p>
        </p:txBody>
      </p:sp>
      <p:sp>
        <p:nvSpPr>
          <p:cNvPr id="11" name="">
            <a:extLst>
              <a:ext uri="{FF2B5EF4-FFF2-40B4-BE49-F238E27FC236}">
                <a16:creationId id="{570CD3BA-74CE-456F-8067-BDD53D9CD89A}"/>
              </a:ext>
            </a:extLst>
          </p:cNvPr>
          <p:cNvSpPr>
            <a:spLocks noGrp="1"/>
          </p:cNvSpPr>
          <p:nvPr/>
        </p:nvSpPr>
        <p:spPr>
          <a:xfrm>
            <a:off x="704850" y="1752600"/>
            <a:ext cx="2667000" cy="1333500"/>
          </a:xfrm>
          <a:prstGeom prst="roundRect">
            <a:avLst>
              <a:gd name="adj" fmla="val 5714"/>
            </a:avLst>
          </a:prstGeom>
          <a:solidFill>
            <a:srgbClr val="E8F1FA"/>
          </a:solidFill>
          <a:ln w="9525">
            <a:solidFill>
              <a:srgbClr val="B9D5F0"/>
            </a:solidFill>
            <a:prstDash val="solid"/>
          </a:ln>
        </p:spPr>
      </p:sp>
      <p:sp>
        <p:nvSpPr>
          <p:cNvPr id="12" name="">
            <a:extLst>
              <a:ext uri="{FF2B5EF4-FFF2-40B4-BE49-F238E27FC236}">
                <a16:creationId id="{EFCCF72B-C6B6-4D89-B9ED-C5FB00C48C82}"/>
              </a:ext>
            </a:extLst>
          </p:cNvPr>
          <p:cNvSpPr>
            <a:spLocks noGrp="1"/>
          </p:cNvSpPr>
          <p:nvPr/>
        </p:nvSpPr>
        <p:spPr>
          <a:xfrm>
            <a:off x="876300" y="1924050"/>
            <a:ext cx="2324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2B6CB0"/>
                </a:solidFill>
                <a:latin typeface="Aptos"/>
                <a:ea typeface="Aptos"/>
                <a:cs typeface="Aptos"/>
              </a:defRPr>
            </a:pPr>
            <a:r>
              <a:rPr sz="1350" b="1">
                <a:solidFill>
                  <a:srgbClr val="2B6CB0"/>
                </a:solidFill>
                <a:latin typeface="Aptos"/>
                <a:ea typeface="Aptos"/>
                <a:cs typeface="Aptos"/>
              </a:rPr>
              <a:t>Binary VF gene matrix</a:t>
            </a:r>
          </a:p>
        </p:txBody>
      </p:sp>
      <p:sp>
        <p:nvSpPr>
          <p:cNvPr id="13" name="">
            <a:extLst>
              <a:ext uri="{FF2B5EF4-FFF2-40B4-BE49-F238E27FC236}">
                <a16:creationId id="{FFF378B0-8102-4824-B3C4-202E18CAE5C2}"/>
              </a:ext>
            </a:extLst>
          </p:cNvPr>
          <p:cNvSpPr>
            <a:spLocks noGrp="1"/>
          </p:cNvSpPr>
          <p:nvPr/>
        </p:nvSpPr>
        <p:spPr>
          <a:xfrm>
            <a:off x="876300" y="2209800"/>
            <a:ext cx="232410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13" b="0">
                <a:solidFill>
                  <a:srgbClr val="64748B"/>
                </a:solidFill>
                <a:latin typeface="Aptos"/>
                <a:ea typeface="Aptos"/>
                <a:cs typeface="Aptos"/>
              </a:defRPr>
            </a:pPr>
            <a:r>
              <a:rPr sz="1013" b="0">
                <a:solidFill>
                  <a:srgbClr val="64748B"/>
                </a:solidFill>
                <a:latin typeface="Aptos"/>
                <a:ea typeface="Aptos"/>
                <a:cs typeface="Aptos"/>
              </a:rPr>
              <a:t>227 presence/absence gene columns per episode-level isolate.</a:t>
            </a:r>
          </a:p>
        </p:txBody>
      </p:sp>
      <p:sp>
        <p:nvSpPr>
          <p:cNvPr id="14" name="">
            <a:extLst>
              <a:ext uri="{FF2B5EF4-FFF2-40B4-BE49-F238E27FC236}">
                <a16:creationId id="{8C28B501-436A-4CAD-9CB8-10D3664EE30A}"/>
              </a:ext>
            </a:extLst>
          </p:cNvPr>
          <p:cNvSpPr>
            <a:spLocks noGrp="1"/>
          </p:cNvSpPr>
          <p:nvPr/>
        </p:nvSpPr>
        <p:spPr>
          <a:xfrm>
            <a:off x="4762500" y="1752600"/>
            <a:ext cx="2667000" cy="1333500"/>
          </a:xfrm>
          <a:prstGeom prst="roundRect">
            <a:avLst>
              <a:gd name="adj" fmla="val 5714"/>
            </a:avLst>
          </a:prstGeom>
          <a:solidFill>
            <a:srgbClr val="EAF7EF"/>
          </a:solidFill>
          <a:ln w="9525">
            <a:solidFill>
              <a:srgbClr val="BCE4C9"/>
            </a:solidFill>
            <a:prstDash val="solid"/>
          </a:ln>
        </p:spPr>
      </p:sp>
      <p:sp>
        <p:nvSpPr>
          <p:cNvPr id="15" name="">
            <a:extLst>
              <a:ext uri="{FF2B5EF4-FFF2-40B4-BE49-F238E27FC236}">
                <a16:creationId id="{55595CDB-BB5B-4388-8A4E-4B718820DB08}"/>
              </a:ext>
            </a:extLst>
          </p:cNvPr>
          <p:cNvSpPr>
            <a:spLocks noGrp="1"/>
          </p:cNvSpPr>
          <p:nvPr/>
        </p:nvSpPr>
        <p:spPr>
          <a:xfrm>
            <a:off x="4933950" y="1924050"/>
            <a:ext cx="2324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2F855A"/>
                </a:solidFill>
                <a:latin typeface="Aptos"/>
                <a:ea typeface="Aptos"/>
                <a:cs typeface="Aptos"/>
              </a:defRPr>
            </a:pPr>
            <a:r>
              <a:rPr sz="1350" b="1">
                <a:solidFill>
                  <a:srgbClr val="2F855A"/>
                </a:solidFill>
                <a:latin typeface="Aptos"/>
                <a:ea typeface="Aptos"/>
                <a:cs typeface="Aptos"/>
              </a:rPr>
              <a:t>Curated modules</a:t>
            </a:r>
          </a:p>
        </p:txBody>
      </p:sp>
      <p:sp>
        <p:nvSpPr>
          <p:cNvPr id="16" name="">
            <a:extLst>
              <a:ext uri="{FF2B5EF4-FFF2-40B4-BE49-F238E27FC236}">
                <a16:creationId id="{14896D0A-BF7B-422A-A9E0-876CABE0EC6C}"/>
              </a:ext>
            </a:extLst>
          </p:cNvPr>
          <p:cNvSpPr>
            <a:spLocks noGrp="1"/>
          </p:cNvSpPr>
          <p:nvPr/>
        </p:nvSpPr>
        <p:spPr>
          <a:xfrm>
            <a:off x="4933950" y="2209800"/>
            <a:ext cx="232410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13" b="0">
                <a:solidFill>
                  <a:srgbClr val="64748B"/>
                </a:solidFill>
                <a:latin typeface="Aptos"/>
                <a:ea typeface="Aptos"/>
                <a:cs typeface="Aptos"/>
              </a:defRPr>
            </a:pPr>
            <a:r>
              <a:rPr sz="1013" b="0">
                <a:solidFill>
                  <a:srgbClr val="64748B"/>
                </a:solidFill>
                <a:latin typeface="Aptos"/>
                <a:ea typeface="Aptos"/>
                <a:cs typeface="Aptos"/>
              </a:rPr>
              <a:t>32 biological curation units, including 18 UPEC-candidate modules.</a:t>
            </a:r>
          </a:p>
        </p:txBody>
      </p:sp>
      <p:sp>
        <p:nvSpPr>
          <p:cNvPr id="17" name="">
            <a:extLst>
              <a:ext uri="{FF2B5EF4-FFF2-40B4-BE49-F238E27FC236}">
                <a16:creationId id="{BC923278-BBAA-4F0D-B385-CDD79DAD9C0A}"/>
              </a:ext>
            </a:extLst>
          </p:cNvPr>
          <p:cNvSpPr>
            <a:spLocks noGrp="1"/>
          </p:cNvSpPr>
          <p:nvPr/>
        </p:nvSpPr>
        <p:spPr>
          <a:xfrm>
            <a:off x="8820150" y="1752600"/>
            <a:ext cx="2667000" cy="1333500"/>
          </a:xfrm>
          <a:prstGeom prst="roundRect">
            <a:avLst>
              <a:gd name="adj" fmla="val 5714"/>
            </a:avLst>
          </a:prstGeom>
          <a:solidFill>
            <a:srgbClr val="FFF4E6"/>
          </a:solidFill>
          <a:ln w="9525">
            <a:solidFill>
              <a:srgbClr val="F4C98A"/>
            </a:solidFill>
            <a:prstDash val="solid"/>
          </a:ln>
        </p:spPr>
      </p:sp>
      <p:sp>
        <p:nvSpPr>
          <p:cNvPr id="18" name="">
            <a:extLst>
              <a:ext uri="{FF2B5EF4-FFF2-40B4-BE49-F238E27FC236}">
                <a16:creationId id="{290CF30D-415E-490C-9F0C-47D2AC68707A}"/>
              </a:ext>
            </a:extLst>
          </p:cNvPr>
          <p:cNvSpPr>
            <a:spLocks noGrp="1"/>
          </p:cNvSpPr>
          <p:nvPr/>
        </p:nvSpPr>
        <p:spPr>
          <a:xfrm>
            <a:off x="8991600" y="1924050"/>
            <a:ext cx="2324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D97706"/>
                </a:solidFill>
                <a:latin typeface="Aptos"/>
                <a:ea typeface="Aptos"/>
                <a:cs typeface="Aptos"/>
              </a:defRPr>
            </a:pPr>
            <a:r>
              <a:rPr sz="1350" b="1">
                <a:solidFill>
                  <a:srgbClr val="D97706"/>
                </a:solidFill>
                <a:latin typeface="Aptos"/>
                <a:ea typeface="Aptos"/>
                <a:cs typeface="Aptos"/>
              </a:rPr>
              <a:t>Outputs</a:t>
            </a:r>
          </a:p>
        </p:txBody>
      </p:sp>
      <p:sp>
        <p:nvSpPr>
          <p:cNvPr id="19" name="">
            <a:extLst>
              <a:ext uri="{FF2B5EF4-FFF2-40B4-BE49-F238E27FC236}">
                <a16:creationId id="{9865BC09-C3E9-45CE-A8F1-C61AED343496}"/>
              </a:ext>
            </a:extLst>
          </p:cNvPr>
          <p:cNvSpPr>
            <a:spLocks noGrp="1"/>
          </p:cNvSpPr>
          <p:nvPr/>
        </p:nvSpPr>
        <p:spPr>
          <a:xfrm>
            <a:off x="8991600" y="2209800"/>
            <a:ext cx="2324100" cy="7429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13" b="0">
                <a:solidFill>
                  <a:srgbClr val="64748B"/>
                </a:solidFill>
                <a:latin typeface="Aptos"/>
                <a:ea typeface="Aptos"/>
                <a:cs typeface="Aptos"/>
              </a:defRPr>
            </a:pPr>
            <a:r>
              <a:rPr sz="1013" b="0">
                <a:solidFill>
                  <a:srgbClr val="64748B"/>
                </a:solidFill>
                <a:latin typeface="Aptos"/>
                <a:ea typeface="Aptos"/>
                <a:cs typeface="Aptos"/>
              </a:rPr>
              <a:t>Burden, prevalence, Jaccard similarity, gain/loss, and exploratory models.</a:t>
            </a:r>
          </a:p>
        </p:txBody>
      </p:sp>
      <p:sp>
        <p:nvSpPr>
          <p:cNvPr id="20" name="">
            <a:extLst>
              <a:ext uri="{FF2B5EF4-FFF2-40B4-BE49-F238E27FC236}">
                <a16:creationId id="{04AB6BDF-8E71-4FAA-B631-7349CCCD01F1}"/>
              </a:ext>
            </a:extLst>
          </p:cNvPr>
          <p:cNvSpPr>
            <a:spLocks noGrp="1"/>
          </p:cNvSpPr>
          <p:nvPr/>
        </p:nvSpPr>
        <p:spPr>
          <a:xfrm rot="0">
            <a:off x="3505200" y="2390775"/>
            <a:ext cx="1123950" cy="19050"/>
          </a:xfrm>
          <a:prstGeom prst="rect">
            <a:avLst/>
          </a:prstGeom>
          <a:solidFill>
            <a:srgbClr val="94A3B8"/>
          </a:solidFill>
          <a:ln w="0">
            <a:solidFill>
              <a:srgbClr val="000000">
                <a:alpha val="0"/>
              </a:srgbClr>
            </a:solidFill>
            <a:prstDash val="solid"/>
          </a:ln>
        </p:spPr>
      </p:sp>
      <p:sp>
        <p:nvSpPr>
          <p:cNvPr id="21" name="">
            <a:extLst>
              <a:ext uri="{FF2B5EF4-FFF2-40B4-BE49-F238E27FC236}">
                <a16:creationId id="{7A0BCE45-A3BD-4249-8DAF-28B82A47C294}"/>
              </a:ext>
            </a:extLst>
          </p:cNvPr>
          <p:cNvSpPr>
            <a:spLocks noGrp="1"/>
          </p:cNvSpPr>
          <p:nvPr/>
        </p:nvSpPr>
        <p:spPr>
          <a:xfrm rot="5400000">
            <a:off x="4562475" y="2352675"/>
            <a:ext cx="95250" cy="95250"/>
          </a:xfrm>
          <a:prstGeom prst="triangle">
            <a:avLst/>
          </a:prstGeom>
          <a:solidFill>
            <a:srgbClr val="94A3B8"/>
          </a:solidFill>
          <a:ln w="0">
            <a:solidFill>
              <a:srgbClr val="000000">
                <a:alpha val="0"/>
              </a:srgbClr>
            </a:solidFill>
            <a:prstDash val="solid"/>
          </a:ln>
        </p:spPr>
      </p:sp>
      <p:sp>
        <p:nvSpPr>
          <p:cNvPr id="22" name="">
            <a:extLst>
              <a:ext uri="{FF2B5EF4-FFF2-40B4-BE49-F238E27FC236}">
                <a16:creationId id="{A72E2CD2-CCC4-41A7-954A-86F84914FDB0}"/>
              </a:ext>
            </a:extLst>
          </p:cNvPr>
          <p:cNvSpPr>
            <a:spLocks noGrp="1"/>
          </p:cNvSpPr>
          <p:nvPr/>
        </p:nvSpPr>
        <p:spPr>
          <a:xfrm rot="0">
            <a:off x="7562850" y="2390775"/>
            <a:ext cx="1123950" cy="19050"/>
          </a:xfrm>
          <a:prstGeom prst="rect">
            <a:avLst/>
          </a:prstGeom>
          <a:solidFill>
            <a:srgbClr val="94A3B8"/>
          </a:solidFill>
          <a:ln w="0">
            <a:solidFill>
              <a:srgbClr val="000000">
                <a:alpha val="0"/>
              </a:srgbClr>
            </a:solidFill>
            <a:prstDash val="solid"/>
          </a:ln>
        </p:spPr>
      </p:sp>
      <p:sp>
        <p:nvSpPr>
          <p:cNvPr id="23" name="">
            <a:extLst>
              <a:ext uri="{FF2B5EF4-FFF2-40B4-BE49-F238E27FC236}">
                <a16:creationId id="{1BD96783-36A9-4ED6-9872-162B315FC715}"/>
              </a:ext>
            </a:extLst>
          </p:cNvPr>
          <p:cNvSpPr>
            <a:spLocks noGrp="1"/>
          </p:cNvSpPr>
          <p:nvPr/>
        </p:nvSpPr>
        <p:spPr>
          <a:xfrm rot="5400000">
            <a:off x="8620125" y="2352675"/>
            <a:ext cx="95250" cy="95250"/>
          </a:xfrm>
          <a:prstGeom prst="triangle">
            <a:avLst/>
          </a:prstGeom>
          <a:solidFill>
            <a:srgbClr val="94A3B8"/>
          </a:solidFill>
          <a:ln w="0">
            <a:solidFill>
              <a:srgbClr val="000000">
                <a:alpha val="0"/>
              </a:srgbClr>
            </a:solidFill>
            <a:prstDash val="solid"/>
          </a:ln>
        </p:spPr>
      </p:sp>
      <p:sp>
        <p:nvSpPr>
          <p:cNvPr id="24" name="">
            <a:extLst>
              <a:ext uri="{FF2B5EF4-FFF2-40B4-BE49-F238E27FC236}">
                <a16:creationId id="{AC2632F0-3235-4808-9A6B-759EC8BC0FF8}"/>
              </a:ext>
            </a:extLst>
          </p:cNvPr>
          <p:cNvSpPr>
            <a:spLocks noGrp="1"/>
          </p:cNvSpPr>
          <p:nvPr/>
        </p:nvSpPr>
        <p:spPr>
          <a:xfrm>
            <a:off x="1047750" y="3790950"/>
            <a:ext cx="133350" cy="114300"/>
          </a:xfrm>
          <a:prstGeom prst="rect">
            <a:avLst/>
          </a:prstGeom>
          <a:solidFill>
            <a:srgbClr val="E2E8F0"/>
          </a:solidFill>
          <a:ln w="0">
            <a:solidFill>
              <a:srgbClr val="000000">
                <a:alpha val="0"/>
              </a:srgbClr>
            </a:solidFill>
            <a:prstDash val="solid"/>
          </a:ln>
        </p:spPr>
      </p:sp>
      <p:sp>
        <p:nvSpPr>
          <p:cNvPr id="25" name="">
            <a:extLst>
              <a:ext uri="{FF2B5EF4-FFF2-40B4-BE49-F238E27FC236}">
                <a16:creationId id="{B7D2F0DB-8EC9-4EDB-9A32-7134FCEB0871}"/>
              </a:ext>
            </a:extLst>
          </p:cNvPr>
          <p:cNvSpPr>
            <a:spLocks noGrp="1"/>
          </p:cNvSpPr>
          <p:nvPr/>
        </p:nvSpPr>
        <p:spPr>
          <a:xfrm>
            <a:off x="1228725" y="3790950"/>
            <a:ext cx="133350" cy="114300"/>
          </a:xfrm>
          <a:prstGeom prst="rect">
            <a:avLst/>
          </a:prstGeom>
          <a:solidFill>
            <a:srgbClr val="2B6CB0"/>
          </a:solidFill>
          <a:ln w="0">
            <a:solidFill>
              <a:srgbClr val="000000">
                <a:alpha val="0"/>
              </a:srgbClr>
            </a:solidFill>
            <a:prstDash val="solid"/>
          </a:ln>
        </p:spPr>
      </p:sp>
      <p:sp>
        <p:nvSpPr>
          <p:cNvPr id="26" name="">
            <a:extLst>
              <a:ext uri="{FF2B5EF4-FFF2-40B4-BE49-F238E27FC236}">
                <a16:creationId id="{6FF3B4C1-1D3D-40C3-B1FD-FD28D00FBE5D}"/>
              </a:ext>
            </a:extLst>
          </p:cNvPr>
          <p:cNvSpPr>
            <a:spLocks noGrp="1"/>
          </p:cNvSpPr>
          <p:nvPr/>
        </p:nvSpPr>
        <p:spPr>
          <a:xfrm>
            <a:off x="1409700" y="3790950"/>
            <a:ext cx="133350" cy="114300"/>
          </a:xfrm>
          <a:prstGeom prst="rect">
            <a:avLst/>
          </a:prstGeom>
          <a:solidFill>
            <a:srgbClr val="2B6CB0"/>
          </a:solidFill>
          <a:ln w="0">
            <a:solidFill>
              <a:srgbClr val="000000">
                <a:alpha val="0"/>
              </a:srgbClr>
            </a:solidFill>
            <a:prstDash val="solid"/>
          </a:ln>
        </p:spPr>
      </p:sp>
      <p:sp>
        <p:nvSpPr>
          <p:cNvPr id="27" name="">
            <a:extLst>
              <a:ext uri="{FF2B5EF4-FFF2-40B4-BE49-F238E27FC236}">
                <a16:creationId id="{DFC78E98-0D3B-421B-95BB-58606589F1CA}"/>
              </a:ext>
            </a:extLst>
          </p:cNvPr>
          <p:cNvSpPr>
            <a:spLocks noGrp="1"/>
          </p:cNvSpPr>
          <p:nvPr/>
        </p:nvSpPr>
        <p:spPr>
          <a:xfrm>
            <a:off x="1590675" y="3790950"/>
            <a:ext cx="133350" cy="114300"/>
          </a:xfrm>
          <a:prstGeom prst="rect">
            <a:avLst/>
          </a:prstGeom>
          <a:solidFill>
            <a:srgbClr val="E2E8F0"/>
          </a:solidFill>
          <a:ln w="0">
            <a:solidFill>
              <a:srgbClr val="000000">
                <a:alpha val="0"/>
              </a:srgbClr>
            </a:solidFill>
            <a:prstDash val="solid"/>
          </a:ln>
        </p:spPr>
      </p:sp>
      <p:sp>
        <p:nvSpPr>
          <p:cNvPr id="28" name="">
            <a:extLst>
              <a:ext uri="{FF2B5EF4-FFF2-40B4-BE49-F238E27FC236}">
                <a16:creationId id="{F106EFAB-BBF3-43B5-96BC-A24DB388BF97}"/>
              </a:ext>
            </a:extLst>
          </p:cNvPr>
          <p:cNvSpPr>
            <a:spLocks noGrp="1"/>
          </p:cNvSpPr>
          <p:nvPr/>
        </p:nvSpPr>
        <p:spPr>
          <a:xfrm>
            <a:off x="1771650" y="3790950"/>
            <a:ext cx="133350" cy="114300"/>
          </a:xfrm>
          <a:prstGeom prst="rect">
            <a:avLst/>
          </a:prstGeom>
          <a:solidFill>
            <a:srgbClr val="2B6CB0"/>
          </a:solidFill>
          <a:ln w="0">
            <a:solidFill>
              <a:srgbClr val="000000">
                <a:alpha val="0"/>
              </a:srgbClr>
            </a:solidFill>
            <a:prstDash val="solid"/>
          </a:ln>
        </p:spPr>
      </p:sp>
      <p:sp>
        <p:nvSpPr>
          <p:cNvPr id="29" name="">
            <a:extLst>
              <a:ext uri="{FF2B5EF4-FFF2-40B4-BE49-F238E27FC236}">
                <a16:creationId id="{43FD1FA4-6DA3-41FA-8FC4-B06D30732179}"/>
              </a:ext>
            </a:extLst>
          </p:cNvPr>
          <p:cNvSpPr>
            <a:spLocks noGrp="1"/>
          </p:cNvSpPr>
          <p:nvPr/>
        </p:nvSpPr>
        <p:spPr>
          <a:xfrm>
            <a:off x="1952625" y="3790950"/>
            <a:ext cx="133350" cy="114300"/>
          </a:xfrm>
          <a:prstGeom prst="rect">
            <a:avLst/>
          </a:prstGeom>
          <a:solidFill>
            <a:srgbClr val="2B6CB0"/>
          </a:solidFill>
          <a:ln w="0">
            <a:solidFill>
              <a:srgbClr val="000000">
                <a:alpha val="0"/>
              </a:srgbClr>
            </a:solidFill>
            <a:prstDash val="solid"/>
          </a:ln>
        </p:spPr>
      </p:sp>
      <p:sp>
        <p:nvSpPr>
          <p:cNvPr id="30" name="">
            <a:extLst>
              <a:ext uri="{FF2B5EF4-FFF2-40B4-BE49-F238E27FC236}">
                <a16:creationId id="{8526C162-B799-4973-A81F-77721B78E695}"/>
              </a:ext>
            </a:extLst>
          </p:cNvPr>
          <p:cNvSpPr>
            <a:spLocks noGrp="1"/>
          </p:cNvSpPr>
          <p:nvPr/>
        </p:nvSpPr>
        <p:spPr>
          <a:xfrm>
            <a:off x="2133600" y="3790950"/>
            <a:ext cx="133350" cy="114300"/>
          </a:xfrm>
          <a:prstGeom prst="rect">
            <a:avLst/>
          </a:prstGeom>
          <a:solidFill>
            <a:srgbClr val="E2E8F0"/>
          </a:solidFill>
          <a:ln w="0">
            <a:solidFill>
              <a:srgbClr val="000000">
                <a:alpha val="0"/>
              </a:srgbClr>
            </a:solidFill>
            <a:prstDash val="solid"/>
          </a:ln>
        </p:spPr>
      </p:sp>
      <p:sp>
        <p:nvSpPr>
          <p:cNvPr id="31" name="">
            <a:extLst>
              <a:ext uri="{FF2B5EF4-FFF2-40B4-BE49-F238E27FC236}">
                <a16:creationId id="{7B64385B-588D-46ED-BD6F-C42B58691887}"/>
              </a:ext>
            </a:extLst>
          </p:cNvPr>
          <p:cNvSpPr>
            <a:spLocks noGrp="1"/>
          </p:cNvSpPr>
          <p:nvPr/>
        </p:nvSpPr>
        <p:spPr>
          <a:xfrm>
            <a:off x="2314575" y="3790950"/>
            <a:ext cx="133350" cy="114300"/>
          </a:xfrm>
          <a:prstGeom prst="rect">
            <a:avLst/>
          </a:prstGeom>
          <a:solidFill>
            <a:srgbClr val="2B6CB0"/>
          </a:solidFill>
          <a:ln w="0">
            <a:solidFill>
              <a:srgbClr val="000000">
                <a:alpha val="0"/>
              </a:srgbClr>
            </a:solidFill>
            <a:prstDash val="solid"/>
          </a:ln>
        </p:spPr>
      </p:sp>
      <p:sp>
        <p:nvSpPr>
          <p:cNvPr id="32" name="">
            <a:extLst>
              <a:ext uri="{FF2B5EF4-FFF2-40B4-BE49-F238E27FC236}">
                <a16:creationId id="{13C14BDB-872C-42AB-9288-C9F1B9659DC6}"/>
              </a:ext>
            </a:extLst>
          </p:cNvPr>
          <p:cNvSpPr>
            <a:spLocks noGrp="1"/>
          </p:cNvSpPr>
          <p:nvPr/>
        </p:nvSpPr>
        <p:spPr>
          <a:xfrm>
            <a:off x="2495550" y="3790950"/>
            <a:ext cx="133350" cy="114300"/>
          </a:xfrm>
          <a:prstGeom prst="rect">
            <a:avLst/>
          </a:prstGeom>
          <a:solidFill>
            <a:srgbClr val="2B6CB0"/>
          </a:solidFill>
          <a:ln w="0">
            <a:solidFill>
              <a:srgbClr val="000000">
                <a:alpha val="0"/>
              </a:srgbClr>
            </a:solidFill>
            <a:prstDash val="solid"/>
          </a:ln>
        </p:spPr>
      </p:sp>
      <p:sp>
        <p:nvSpPr>
          <p:cNvPr id="33" name="">
            <a:extLst>
              <a:ext uri="{FF2B5EF4-FFF2-40B4-BE49-F238E27FC236}">
                <a16:creationId id="{8F217F82-EB92-4FA1-BAE6-129114EE7424}"/>
              </a:ext>
            </a:extLst>
          </p:cNvPr>
          <p:cNvSpPr>
            <a:spLocks noGrp="1"/>
          </p:cNvSpPr>
          <p:nvPr/>
        </p:nvSpPr>
        <p:spPr>
          <a:xfrm>
            <a:off x="2676525" y="3790950"/>
            <a:ext cx="133350" cy="114300"/>
          </a:xfrm>
          <a:prstGeom prst="rect">
            <a:avLst/>
          </a:prstGeom>
          <a:solidFill>
            <a:srgbClr val="E2E8F0"/>
          </a:solidFill>
          <a:ln w="0">
            <a:solidFill>
              <a:srgbClr val="000000">
                <a:alpha val="0"/>
              </a:srgbClr>
            </a:solidFill>
            <a:prstDash val="solid"/>
          </a:ln>
        </p:spPr>
      </p:sp>
      <p:sp>
        <p:nvSpPr>
          <p:cNvPr id="34" name="">
            <a:extLst>
              <a:ext uri="{FF2B5EF4-FFF2-40B4-BE49-F238E27FC236}">
                <a16:creationId id="{90ABCFB5-4B43-40F4-BACB-5D256AC4E84F}"/>
              </a:ext>
            </a:extLst>
          </p:cNvPr>
          <p:cNvSpPr>
            <a:spLocks noGrp="1"/>
          </p:cNvSpPr>
          <p:nvPr/>
        </p:nvSpPr>
        <p:spPr>
          <a:xfrm>
            <a:off x="1047750" y="3952875"/>
            <a:ext cx="133350" cy="114300"/>
          </a:xfrm>
          <a:prstGeom prst="rect">
            <a:avLst/>
          </a:prstGeom>
          <a:solidFill>
            <a:srgbClr val="2B6CB0"/>
          </a:solidFill>
          <a:ln w="0">
            <a:solidFill>
              <a:srgbClr val="000000">
                <a:alpha val="0"/>
              </a:srgbClr>
            </a:solidFill>
            <a:prstDash val="solid"/>
          </a:ln>
        </p:spPr>
      </p:sp>
      <p:sp>
        <p:nvSpPr>
          <p:cNvPr id="35" name="">
            <a:extLst>
              <a:ext uri="{FF2B5EF4-FFF2-40B4-BE49-F238E27FC236}">
                <a16:creationId id="{BACD757B-D910-44F4-B37B-86ECF6F49AC4}"/>
              </a:ext>
            </a:extLst>
          </p:cNvPr>
          <p:cNvSpPr>
            <a:spLocks noGrp="1"/>
          </p:cNvSpPr>
          <p:nvPr/>
        </p:nvSpPr>
        <p:spPr>
          <a:xfrm>
            <a:off x="1228725" y="3952875"/>
            <a:ext cx="133350" cy="114300"/>
          </a:xfrm>
          <a:prstGeom prst="rect">
            <a:avLst/>
          </a:prstGeom>
          <a:solidFill>
            <a:srgbClr val="E2E8F0"/>
          </a:solidFill>
          <a:ln w="0">
            <a:solidFill>
              <a:srgbClr val="000000">
                <a:alpha val="0"/>
              </a:srgbClr>
            </a:solidFill>
            <a:prstDash val="solid"/>
          </a:ln>
        </p:spPr>
      </p:sp>
      <p:sp>
        <p:nvSpPr>
          <p:cNvPr id="36" name="">
            <a:extLst>
              <a:ext uri="{FF2B5EF4-FFF2-40B4-BE49-F238E27FC236}">
                <a16:creationId id="{6240478E-F79B-4C29-B83F-0140CB52E759}"/>
              </a:ext>
            </a:extLst>
          </p:cNvPr>
          <p:cNvSpPr>
            <a:spLocks noGrp="1"/>
          </p:cNvSpPr>
          <p:nvPr/>
        </p:nvSpPr>
        <p:spPr>
          <a:xfrm>
            <a:off x="1409700" y="3952875"/>
            <a:ext cx="133350" cy="114300"/>
          </a:xfrm>
          <a:prstGeom prst="rect">
            <a:avLst/>
          </a:prstGeom>
          <a:solidFill>
            <a:srgbClr val="2B6CB0"/>
          </a:solidFill>
          <a:ln w="0">
            <a:solidFill>
              <a:srgbClr val="000000">
                <a:alpha val="0"/>
              </a:srgbClr>
            </a:solidFill>
            <a:prstDash val="solid"/>
          </a:ln>
        </p:spPr>
      </p:sp>
      <p:sp>
        <p:nvSpPr>
          <p:cNvPr id="37" name="">
            <a:extLst>
              <a:ext uri="{FF2B5EF4-FFF2-40B4-BE49-F238E27FC236}">
                <a16:creationId id="{9457464E-06ED-4380-9D59-7C2CC5DCED5B}"/>
              </a:ext>
            </a:extLst>
          </p:cNvPr>
          <p:cNvSpPr>
            <a:spLocks noGrp="1"/>
          </p:cNvSpPr>
          <p:nvPr/>
        </p:nvSpPr>
        <p:spPr>
          <a:xfrm>
            <a:off x="1590675" y="3952875"/>
            <a:ext cx="133350" cy="114300"/>
          </a:xfrm>
          <a:prstGeom prst="rect">
            <a:avLst/>
          </a:prstGeom>
          <a:solidFill>
            <a:srgbClr val="2B6CB0"/>
          </a:solidFill>
          <a:ln w="0">
            <a:solidFill>
              <a:srgbClr val="000000">
                <a:alpha val="0"/>
              </a:srgbClr>
            </a:solidFill>
            <a:prstDash val="solid"/>
          </a:ln>
        </p:spPr>
      </p:sp>
      <p:sp>
        <p:nvSpPr>
          <p:cNvPr id="38" name="">
            <a:extLst>
              <a:ext uri="{FF2B5EF4-FFF2-40B4-BE49-F238E27FC236}">
                <a16:creationId id="{D6A64A53-86ED-4661-B624-5C7B67492DE4}"/>
              </a:ext>
            </a:extLst>
          </p:cNvPr>
          <p:cNvSpPr>
            <a:spLocks noGrp="1"/>
          </p:cNvSpPr>
          <p:nvPr/>
        </p:nvSpPr>
        <p:spPr>
          <a:xfrm>
            <a:off x="1771650" y="3952875"/>
            <a:ext cx="133350" cy="114300"/>
          </a:xfrm>
          <a:prstGeom prst="rect">
            <a:avLst/>
          </a:prstGeom>
          <a:solidFill>
            <a:srgbClr val="E2E8F0"/>
          </a:solidFill>
          <a:ln w="0">
            <a:solidFill>
              <a:srgbClr val="000000">
                <a:alpha val="0"/>
              </a:srgbClr>
            </a:solidFill>
            <a:prstDash val="solid"/>
          </a:ln>
        </p:spPr>
      </p:sp>
      <p:sp>
        <p:nvSpPr>
          <p:cNvPr id="39" name="">
            <a:extLst>
              <a:ext uri="{FF2B5EF4-FFF2-40B4-BE49-F238E27FC236}">
                <a16:creationId id="{CED22307-E2FA-47CC-AE96-4AFA54F903E6}"/>
              </a:ext>
            </a:extLst>
          </p:cNvPr>
          <p:cNvSpPr>
            <a:spLocks noGrp="1"/>
          </p:cNvSpPr>
          <p:nvPr/>
        </p:nvSpPr>
        <p:spPr>
          <a:xfrm>
            <a:off x="1952625" y="3952875"/>
            <a:ext cx="133350" cy="114300"/>
          </a:xfrm>
          <a:prstGeom prst="rect">
            <a:avLst/>
          </a:prstGeom>
          <a:solidFill>
            <a:srgbClr val="2B6CB0"/>
          </a:solidFill>
          <a:ln w="0">
            <a:solidFill>
              <a:srgbClr val="000000">
                <a:alpha val="0"/>
              </a:srgbClr>
            </a:solidFill>
            <a:prstDash val="solid"/>
          </a:ln>
        </p:spPr>
      </p:sp>
      <p:sp>
        <p:nvSpPr>
          <p:cNvPr id="40" name="">
            <a:extLst>
              <a:ext uri="{FF2B5EF4-FFF2-40B4-BE49-F238E27FC236}">
                <a16:creationId id="{11DA579B-4F28-4F20-AD25-D1EC3EB0CE7B}"/>
              </a:ext>
            </a:extLst>
          </p:cNvPr>
          <p:cNvSpPr>
            <a:spLocks noGrp="1"/>
          </p:cNvSpPr>
          <p:nvPr/>
        </p:nvSpPr>
        <p:spPr>
          <a:xfrm>
            <a:off x="2133600" y="3952875"/>
            <a:ext cx="133350" cy="114300"/>
          </a:xfrm>
          <a:prstGeom prst="rect">
            <a:avLst/>
          </a:prstGeom>
          <a:solidFill>
            <a:srgbClr val="2B6CB0"/>
          </a:solidFill>
          <a:ln w="0">
            <a:solidFill>
              <a:srgbClr val="000000">
                <a:alpha val="0"/>
              </a:srgbClr>
            </a:solidFill>
            <a:prstDash val="solid"/>
          </a:ln>
        </p:spPr>
      </p:sp>
      <p:sp>
        <p:nvSpPr>
          <p:cNvPr id="41" name="">
            <a:extLst>
              <a:ext uri="{FF2B5EF4-FFF2-40B4-BE49-F238E27FC236}">
                <a16:creationId id="{8750F85F-6B42-44A5-835E-5DF757CD12BB}"/>
              </a:ext>
            </a:extLst>
          </p:cNvPr>
          <p:cNvSpPr>
            <a:spLocks noGrp="1"/>
          </p:cNvSpPr>
          <p:nvPr/>
        </p:nvSpPr>
        <p:spPr>
          <a:xfrm>
            <a:off x="2314575" y="3952875"/>
            <a:ext cx="133350" cy="114300"/>
          </a:xfrm>
          <a:prstGeom prst="rect">
            <a:avLst/>
          </a:prstGeom>
          <a:solidFill>
            <a:srgbClr val="E2E8F0"/>
          </a:solidFill>
          <a:ln w="0">
            <a:solidFill>
              <a:srgbClr val="000000">
                <a:alpha val="0"/>
              </a:srgbClr>
            </a:solidFill>
            <a:prstDash val="solid"/>
          </a:ln>
        </p:spPr>
      </p:sp>
      <p:sp>
        <p:nvSpPr>
          <p:cNvPr id="42" name="">
            <a:extLst>
              <a:ext uri="{FF2B5EF4-FFF2-40B4-BE49-F238E27FC236}">
                <a16:creationId id="{96392206-9076-4401-BDC1-A6FC3D2961F6}"/>
              </a:ext>
            </a:extLst>
          </p:cNvPr>
          <p:cNvSpPr>
            <a:spLocks noGrp="1"/>
          </p:cNvSpPr>
          <p:nvPr/>
        </p:nvSpPr>
        <p:spPr>
          <a:xfrm>
            <a:off x="2495550" y="3952875"/>
            <a:ext cx="133350" cy="114300"/>
          </a:xfrm>
          <a:prstGeom prst="rect">
            <a:avLst/>
          </a:prstGeom>
          <a:solidFill>
            <a:srgbClr val="2B6CB0"/>
          </a:solidFill>
          <a:ln w="0">
            <a:solidFill>
              <a:srgbClr val="000000">
                <a:alpha val="0"/>
              </a:srgbClr>
            </a:solidFill>
            <a:prstDash val="solid"/>
          </a:ln>
        </p:spPr>
      </p:sp>
      <p:sp>
        <p:nvSpPr>
          <p:cNvPr id="43" name="">
            <a:extLst>
              <a:ext uri="{FF2B5EF4-FFF2-40B4-BE49-F238E27FC236}">
                <a16:creationId id="{BCDCB9E1-616A-4A3A-9B98-328222B54EC6}"/>
              </a:ext>
            </a:extLst>
          </p:cNvPr>
          <p:cNvSpPr>
            <a:spLocks noGrp="1"/>
          </p:cNvSpPr>
          <p:nvPr/>
        </p:nvSpPr>
        <p:spPr>
          <a:xfrm>
            <a:off x="2676525" y="3952875"/>
            <a:ext cx="133350" cy="114300"/>
          </a:xfrm>
          <a:prstGeom prst="rect">
            <a:avLst/>
          </a:prstGeom>
          <a:solidFill>
            <a:srgbClr val="2B6CB0"/>
          </a:solidFill>
          <a:ln w="0">
            <a:solidFill>
              <a:srgbClr val="000000">
                <a:alpha val="0"/>
              </a:srgbClr>
            </a:solidFill>
            <a:prstDash val="solid"/>
          </a:ln>
        </p:spPr>
      </p:sp>
      <p:sp>
        <p:nvSpPr>
          <p:cNvPr id="44" name="">
            <a:extLst>
              <a:ext uri="{FF2B5EF4-FFF2-40B4-BE49-F238E27FC236}">
                <a16:creationId id="{1ECDB545-B00E-44B6-9BFA-44338587C0B7}"/>
              </a:ext>
            </a:extLst>
          </p:cNvPr>
          <p:cNvSpPr>
            <a:spLocks noGrp="1"/>
          </p:cNvSpPr>
          <p:nvPr/>
        </p:nvSpPr>
        <p:spPr>
          <a:xfrm>
            <a:off x="1047750" y="4114800"/>
            <a:ext cx="133350" cy="114300"/>
          </a:xfrm>
          <a:prstGeom prst="rect">
            <a:avLst/>
          </a:prstGeom>
          <a:solidFill>
            <a:srgbClr val="2B6CB0"/>
          </a:solidFill>
          <a:ln w="0">
            <a:solidFill>
              <a:srgbClr val="000000">
                <a:alpha val="0"/>
              </a:srgbClr>
            </a:solidFill>
            <a:prstDash val="solid"/>
          </a:ln>
        </p:spPr>
      </p:sp>
      <p:sp>
        <p:nvSpPr>
          <p:cNvPr id="45" name="">
            <a:extLst>
              <a:ext uri="{FF2B5EF4-FFF2-40B4-BE49-F238E27FC236}">
                <a16:creationId id="{6C8ABA08-233F-4067-8B55-CB2A19A46ABB}"/>
              </a:ext>
            </a:extLst>
          </p:cNvPr>
          <p:cNvSpPr>
            <a:spLocks noGrp="1"/>
          </p:cNvSpPr>
          <p:nvPr/>
        </p:nvSpPr>
        <p:spPr>
          <a:xfrm>
            <a:off x="1228725" y="4114800"/>
            <a:ext cx="133350" cy="114300"/>
          </a:xfrm>
          <a:prstGeom prst="rect">
            <a:avLst/>
          </a:prstGeom>
          <a:solidFill>
            <a:srgbClr val="2B6CB0"/>
          </a:solidFill>
          <a:ln w="0">
            <a:solidFill>
              <a:srgbClr val="000000">
                <a:alpha val="0"/>
              </a:srgbClr>
            </a:solidFill>
            <a:prstDash val="solid"/>
          </a:ln>
        </p:spPr>
      </p:sp>
      <p:sp>
        <p:nvSpPr>
          <p:cNvPr id="46" name="">
            <a:extLst>
              <a:ext uri="{FF2B5EF4-FFF2-40B4-BE49-F238E27FC236}">
                <a16:creationId id="{162AA693-4A04-49B8-8BAC-B31E128B2A17}"/>
              </a:ext>
            </a:extLst>
          </p:cNvPr>
          <p:cNvSpPr>
            <a:spLocks noGrp="1"/>
          </p:cNvSpPr>
          <p:nvPr/>
        </p:nvSpPr>
        <p:spPr>
          <a:xfrm>
            <a:off x="1409700" y="4114800"/>
            <a:ext cx="133350" cy="114300"/>
          </a:xfrm>
          <a:prstGeom prst="rect">
            <a:avLst/>
          </a:prstGeom>
          <a:solidFill>
            <a:srgbClr val="E2E8F0"/>
          </a:solidFill>
          <a:ln w="0">
            <a:solidFill>
              <a:srgbClr val="000000">
                <a:alpha val="0"/>
              </a:srgbClr>
            </a:solidFill>
            <a:prstDash val="solid"/>
          </a:ln>
        </p:spPr>
      </p:sp>
      <p:sp>
        <p:nvSpPr>
          <p:cNvPr id="47" name="">
            <a:extLst>
              <a:ext uri="{FF2B5EF4-FFF2-40B4-BE49-F238E27FC236}">
                <a16:creationId id="{44D5D376-7C3C-4252-BA2B-F7934897E073}"/>
              </a:ext>
            </a:extLst>
          </p:cNvPr>
          <p:cNvSpPr>
            <a:spLocks noGrp="1"/>
          </p:cNvSpPr>
          <p:nvPr/>
        </p:nvSpPr>
        <p:spPr>
          <a:xfrm>
            <a:off x="1590675" y="4114800"/>
            <a:ext cx="133350" cy="114300"/>
          </a:xfrm>
          <a:prstGeom prst="rect">
            <a:avLst/>
          </a:prstGeom>
          <a:solidFill>
            <a:srgbClr val="2B6CB0"/>
          </a:solidFill>
          <a:ln w="0">
            <a:solidFill>
              <a:srgbClr val="000000">
                <a:alpha val="0"/>
              </a:srgbClr>
            </a:solidFill>
            <a:prstDash val="solid"/>
          </a:ln>
        </p:spPr>
      </p:sp>
      <p:sp>
        <p:nvSpPr>
          <p:cNvPr id="48" name="">
            <a:extLst>
              <a:ext uri="{FF2B5EF4-FFF2-40B4-BE49-F238E27FC236}">
                <a16:creationId id="{3132583E-5F58-4920-9B30-CED445BB6BBC}"/>
              </a:ext>
            </a:extLst>
          </p:cNvPr>
          <p:cNvSpPr>
            <a:spLocks noGrp="1"/>
          </p:cNvSpPr>
          <p:nvPr/>
        </p:nvSpPr>
        <p:spPr>
          <a:xfrm>
            <a:off x="1771650" y="4114800"/>
            <a:ext cx="133350" cy="114300"/>
          </a:xfrm>
          <a:prstGeom prst="rect">
            <a:avLst/>
          </a:prstGeom>
          <a:solidFill>
            <a:srgbClr val="2B6CB0"/>
          </a:solidFill>
          <a:ln w="0">
            <a:solidFill>
              <a:srgbClr val="000000">
                <a:alpha val="0"/>
              </a:srgbClr>
            </a:solidFill>
            <a:prstDash val="solid"/>
          </a:ln>
        </p:spPr>
      </p:sp>
      <p:sp>
        <p:nvSpPr>
          <p:cNvPr id="49" name="">
            <a:extLst>
              <a:ext uri="{FF2B5EF4-FFF2-40B4-BE49-F238E27FC236}">
                <a16:creationId id="{0AD4A952-B72E-4FFA-A14B-9B0F23038941}"/>
              </a:ext>
            </a:extLst>
          </p:cNvPr>
          <p:cNvSpPr>
            <a:spLocks noGrp="1"/>
          </p:cNvSpPr>
          <p:nvPr/>
        </p:nvSpPr>
        <p:spPr>
          <a:xfrm>
            <a:off x="1952625" y="4114800"/>
            <a:ext cx="133350" cy="114300"/>
          </a:xfrm>
          <a:prstGeom prst="rect">
            <a:avLst/>
          </a:prstGeom>
          <a:solidFill>
            <a:srgbClr val="E2E8F0"/>
          </a:solidFill>
          <a:ln w="0">
            <a:solidFill>
              <a:srgbClr val="000000">
                <a:alpha val="0"/>
              </a:srgbClr>
            </a:solidFill>
            <a:prstDash val="solid"/>
          </a:ln>
        </p:spPr>
      </p:sp>
      <p:sp>
        <p:nvSpPr>
          <p:cNvPr id="50" name="">
            <a:extLst>
              <a:ext uri="{FF2B5EF4-FFF2-40B4-BE49-F238E27FC236}">
                <a16:creationId id="{D43892F2-5BAF-43D4-B36E-8C718A0CBB87}"/>
              </a:ext>
            </a:extLst>
          </p:cNvPr>
          <p:cNvSpPr>
            <a:spLocks noGrp="1"/>
          </p:cNvSpPr>
          <p:nvPr/>
        </p:nvSpPr>
        <p:spPr>
          <a:xfrm>
            <a:off x="2133600" y="4114800"/>
            <a:ext cx="133350" cy="114300"/>
          </a:xfrm>
          <a:prstGeom prst="rect">
            <a:avLst/>
          </a:prstGeom>
          <a:solidFill>
            <a:srgbClr val="2B6CB0"/>
          </a:solidFill>
          <a:ln w="0">
            <a:solidFill>
              <a:srgbClr val="000000">
                <a:alpha val="0"/>
              </a:srgbClr>
            </a:solidFill>
            <a:prstDash val="solid"/>
          </a:ln>
        </p:spPr>
      </p:sp>
      <p:sp>
        <p:nvSpPr>
          <p:cNvPr id="51" name="">
            <a:extLst>
              <a:ext uri="{FF2B5EF4-FFF2-40B4-BE49-F238E27FC236}">
                <a16:creationId id="{A5C5B73C-0B29-4649-96CC-D117D58BD557}"/>
              </a:ext>
            </a:extLst>
          </p:cNvPr>
          <p:cNvSpPr>
            <a:spLocks noGrp="1"/>
          </p:cNvSpPr>
          <p:nvPr/>
        </p:nvSpPr>
        <p:spPr>
          <a:xfrm>
            <a:off x="2314575" y="4114800"/>
            <a:ext cx="133350" cy="114300"/>
          </a:xfrm>
          <a:prstGeom prst="rect">
            <a:avLst/>
          </a:prstGeom>
          <a:solidFill>
            <a:srgbClr val="2B6CB0"/>
          </a:solidFill>
          <a:ln w="0">
            <a:solidFill>
              <a:srgbClr val="000000">
                <a:alpha val="0"/>
              </a:srgbClr>
            </a:solidFill>
            <a:prstDash val="solid"/>
          </a:ln>
        </p:spPr>
      </p:sp>
      <p:sp>
        <p:nvSpPr>
          <p:cNvPr id="52" name="">
            <a:extLst>
              <a:ext uri="{FF2B5EF4-FFF2-40B4-BE49-F238E27FC236}">
                <a16:creationId id="{DCA120BF-8E1C-498D-B296-6DD73223F6BD}"/>
              </a:ext>
            </a:extLst>
          </p:cNvPr>
          <p:cNvSpPr>
            <a:spLocks noGrp="1"/>
          </p:cNvSpPr>
          <p:nvPr/>
        </p:nvSpPr>
        <p:spPr>
          <a:xfrm>
            <a:off x="2495550" y="4114800"/>
            <a:ext cx="133350" cy="114300"/>
          </a:xfrm>
          <a:prstGeom prst="rect">
            <a:avLst/>
          </a:prstGeom>
          <a:solidFill>
            <a:srgbClr val="E2E8F0"/>
          </a:solidFill>
          <a:ln w="0">
            <a:solidFill>
              <a:srgbClr val="000000">
                <a:alpha val="0"/>
              </a:srgbClr>
            </a:solidFill>
            <a:prstDash val="solid"/>
          </a:ln>
        </p:spPr>
      </p:sp>
      <p:sp>
        <p:nvSpPr>
          <p:cNvPr id="53" name="">
            <a:extLst>
              <a:ext uri="{FF2B5EF4-FFF2-40B4-BE49-F238E27FC236}">
                <a16:creationId id="{65AC9094-02E7-4735-93EE-FC2F56EE15FA}"/>
              </a:ext>
            </a:extLst>
          </p:cNvPr>
          <p:cNvSpPr>
            <a:spLocks noGrp="1"/>
          </p:cNvSpPr>
          <p:nvPr/>
        </p:nvSpPr>
        <p:spPr>
          <a:xfrm>
            <a:off x="2676525" y="4114800"/>
            <a:ext cx="133350" cy="114300"/>
          </a:xfrm>
          <a:prstGeom prst="rect">
            <a:avLst/>
          </a:prstGeom>
          <a:solidFill>
            <a:srgbClr val="2B6CB0"/>
          </a:solidFill>
          <a:ln w="0">
            <a:solidFill>
              <a:srgbClr val="000000">
                <a:alpha val="0"/>
              </a:srgbClr>
            </a:solidFill>
            <a:prstDash val="solid"/>
          </a:ln>
        </p:spPr>
      </p:sp>
      <p:sp>
        <p:nvSpPr>
          <p:cNvPr id="54" name="">
            <a:extLst>
              <a:ext uri="{FF2B5EF4-FFF2-40B4-BE49-F238E27FC236}">
                <a16:creationId id="{534F745E-786C-45B3-9798-742D9C42348D}"/>
              </a:ext>
            </a:extLst>
          </p:cNvPr>
          <p:cNvSpPr>
            <a:spLocks noGrp="1"/>
          </p:cNvSpPr>
          <p:nvPr/>
        </p:nvSpPr>
        <p:spPr>
          <a:xfrm>
            <a:off x="1047750" y="4276725"/>
            <a:ext cx="133350" cy="114300"/>
          </a:xfrm>
          <a:prstGeom prst="rect">
            <a:avLst/>
          </a:prstGeom>
          <a:solidFill>
            <a:srgbClr val="E2E8F0"/>
          </a:solidFill>
          <a:ln w="0">
            <a:solidFill>
              <a:srgbClr val="000000">
                <a:alpha val="0"/>
              </a:srgbClr>
            </a:solidFill>
            <a:prstDash val="solid"/>
          </a:ln>
        </p:spPr>
      </p:sp>
      <p:sp>
        <p:nvSpPr>
          <p:cNvPr id="55" name="">
            <a:extLst>
              <a:ext uri="{FF2B5EF4-FFF2-40B4-BE49-F238E27FC236}">
                <a16:creationId id="{19AF626D-272A-406B-A2AE-DC7635FC52ED}"/>
              </a:ext>
            </a:extLst>
          </p:cNvPr>
          <p:cNvSpPr>
            <a:spLocks noGrp="1"/>
          </p:cNvSpPr>
          <p:nvPr/>
        </p:nvSpPr>
        <p:spPr>
          <a:xfrm>
            <a:off x="1228725" y="4276725"/>
            <a:ext cx="133350" cy="114300"/>
          </a:xfrm>
          <a:prstGeom prst="rect">
            <a:avLst/>
          </a:prstGeom>
          <a:solidFill>
            <a:srgbClr val="2B6CB0"/>
          </a:solidFill>
          <a:ln w="0">
            <a:solidFill>
              <a:srgbClr val="000000">
                <a:alpha val="0"/>
              </a:srgbClr>
            </a:solidFill>
            <a:prstDash val="solid"/>
          </a:ln>
        </p:spPr>
      </p:sp>
      <p:sp>
        <p:nvSpPr>
          <p:cNvPr id="56" name="">
            <a:extLst>
              <a:ext uri="{FF2B5EF4-FFF2-40B4-BE49-F238E27FC236}">
                <a16:creationId id="{55FAB60B-5654-45EF-A1AE-7C8DB270B57C}"/>
              </a:ext>
            </a:extLst>
          </p:cNvPr>
          <p:cNvSpPr>
            <a:spLocks noGrp="1"/>
          </p:cNvSpPr>
          <p:nvPr/>
        </p:nvSpPr>
        <p:spPr>
          <a:xfrm>
            <a:off x="1409700" y="4276725"/>
            <a:ext cx="133350" cy="114300"/>
          </a:xfrm>
          <a:prstGeom prst="rect">
            <a:avLst/>
          </a:prstGeom>
          <a:solidFill>
            <a:srgbClr val="2B6CB0"/>
          </a:solidFill>
          <a:ln w="0">
            <a:solidFill>
              <a:srgbClr val="000000">
                <a:alpha val="0"/>
              </a:srgbClr>
            </a:solidFill>
            <a:prstDash val="solid"/>
          </a:ln>
        </p:spPr>
      </p:sp>
      <p:sp>
        <p:nvSpPr>
          <p:cNvPr id="57" name="">
            <a:extLst>
              <a:ext uri="{FF2B5EF4-FFF2-40B4-BE49-F238E27FC236}">
                <a16:creationId id="{FAA3C978-72C0-41B7-8EE9-C54A70BCDF0E}"/>
              </a:ext>
            </a:extLst>
          </p:cNvPr>
          <p:cNvSpPr>
            <a:spLocks noGrp="1"/>
          </p:cNvSpPr>
          <p:nvPr/>
        </p:nvSpPr>
        <p:spPr>
          <a:xfrm>
            <a:off x="1590675" y="4276725"/>
            <a:ext cx="133350" cy="114300"/>
          </a:xfrm>
          <a:prstGeom prst="rect">
            <a:avLst/>
          </a:prstGeom>
          <a:solidFill>
            <a:srgbClr val="E2E8F0"/>
          </a:solidFill>
          <a:ln w="0">
            <a:solidFill>
              <a:srgbClr val="000000">
                <a:alpha val="0"/>
              </a:srgbClr>
            </a:solidFill>
            <a:prstDash val="solid"/>
          </a:ln>
        </p:spPr>
      </p:sp>
      <p:sp>
        <p:nvSpPr>
          <p:cNvPr id="58" name="">
            <a:extLst>
              <a:ext uri="{FF2B5EF4-FFF2-40B4-BE49-F238E27FC236}">
                <a16:creationId id="{998A3822-90EB-4216-9AF2-0B47A3B5A1CB}"/>
              </a:ext>
            </a:extLst>
          </p:cNvPr>
          <p:cNvSpPr>
            <a:spLocks noGrp="1"/>
          </p:cNvSpPr>
          <p:nvPr/>
        </p:nvSpPr>
        <p:spPr>
          <a:xfrm>
            <a:off x="1771650" y="4276725"/>
            <a:ext cx="133350" cy="114300"/>
          </a:xfrm>
          <a:prstGeom prst="rect">
            <a:avLst/>
          </a:prstGeom>
          <a:solidFill>
            <a:srgbClr val="2B6CB0"/>
          </a:solidFill>
          <a:ln w="0">
            <a:solidFill>
              <a:srgbClr val="000000">
                <a:alpha val="0"/>
              </a:srgbClr>
            </a:solidFill>
            <a:prstDash val="solid"/>
          </a:ln>
        </p:spPr>
      </p:sp>
      <p:sp>
        <p:nvSpPr>
          <p:cNvPr id="59" name="">
            <a:extLst>
              <a:ext uri="{FF2B5EF4-FFF2-40B4-BE49-F238E27FC236}">
                <a16:creationId id="{429FCAF2-8B02-45F2-B660-3A7851AF8CF6}"/>
              </a:ext>
            </a:extLst>
          </p:cNvPr>
          <p:cNvSpPr>
            <a:spLocks noGrp="1"/>
          </p:cNvSpPr>
          <p:nvPr/>
        </p:nvSpPr>
        <p:spPr>
          <a:xfrm>
            <a:off x="1952625" y="4276725"/>
            <a:ext cx="133350" cy="114300"/>
          </a:xfrm>
          <a:prstGeom prst="rect">
            <a:avLst/>
          </a:prstGeom>
          <a:solidFill>
            <a:srgbClr val="2B6CB0"/>
          </a:solidFill>
          <a:ln w="0">
            <a:solidFill>
              <a:srgbClr val="000000">
                <a:alpha val="0"/>
              </a:srgbClr>
            </a:solidFill>
            <a:prstDash val="solid"/>
          </a:ln>
        </p:spPr>
      </p:sp>
      <p:sp>
        <p:nvSpPr>
          <p:cNvPr id="60" name="">
            <a:extLst>
              <a:ext uri="{FF2B5EF4-FFF2-40B4-BE49-F238E27FC236}">
                <a16:creationId id="{DA8B7BDC-ED35-4815-9FDE-DA99BFF9AEA3}"/>
              </a:ext>
            </a:extLst>
          </p:cNvPr>
          <p:cNvSpPr>
            <a:spLocks noGrp="1"/>
          </p:cNvSpPr>
          <p:nvPr/>
        </p:nvSpPr>
        <p:spPr>
          <a:xfrm>
            <a:off x="2133600" y="4276725"/>
            <a:ext cx="133350" cy="114300"/>
          </a:xfrm>
          <a:prstGeom prst="rect">
            <a:avLst/>
          </a:prstGeom>
          <a:solidFill>
            <a:srgbClr val="E2E8F0"/>
          </a:solidFill>
          <a:ln w="0">
            <a:solidFill>
              <a:srgbClr val="000000">
                <a:alpha val="0"/>
              </a:srgbClr>
            </a:solidFill>
            <a:prstDash val="solid"/>
          </a:ln>
        </p:spPr>
      </p:sp>
      <p:sp>
        <p:nvSpPr>
          <p:cNvPr id="61" name="">
            <a:extLst>
              <a:ext uri="{FF2B5EF4-FFF2-40B4-BE49-F238E27FC236}">
                <a16:creationId id="{FDB59D20-105D-4E75-B815-F4889EE5ADD0}"/>
              </a:ext>
            </a:extLst>
          </p:cNvPr>
          <p:cNvSpPr>
            <a:spLocks noGrp="1"/>
          </p:cNvSpPr>
          <p:nvPr/>
        </p:nvSpPr>
        <p:spPr>
          <a:xfrm>
            <a:off x="2314575" y="4276725"/>
            <a:ext cx="133350" cy="114300"/>
          </a:xfrm>
          <a:prstGeom prst="rect">
            <a:avLst/>
          </a:prstGeom>
          <a:solidFill>
            <a:srgbClr val="2B6CB0"/>
          </a:solidFill>
          <a:ln w="0">
            <a:solidFill>
              <a:srgbClr val="000000">
                <a:alpha val="0"/>
              </a:srgbClr>
            </a:solidFill>
            <a:prstDash val="solid"/>
          </a:ln>
        </p:spPr>
      </p:sp>
      <p:sp>
        <p:nvSpPr>
          <p:cNvPr id="62" name="">
            <a:extLst>
              <a:ext uri="{FF2B5EF4-FFF2-40B4-BE49-F238E27FC236}">
                <a16:creationId id="{CBF44239-C760-4C57-A50A-10409CA5C165}"/>
              </a:ext>
            </a:extLst>
          </p:cNvPr>
          <p:cNvSpPr>
            <a:spLocks noGrp="1"/>
          </p:cNvSpPr>
          <p:nvPr/>
        </p:nvSpPr>
        <p:spPr>
          <a:xfrm>
            <a:off x="2495550" y="4276725"/>
            <a:ext cx="133350" cy="114300"/>
          </a:xfrm>
          <a:prstGeom prst="rect">
            <a:avLst/>
          </a:prstGeom>
          <a:solidFill>
            <a:srgbClr val="2B6CB0"/>
          </a:solidFill>
          <a:ln w="0">
            <a:solidFill>
              <a:srgbClr val="000000">
                <a:alpha val="0"/>
              </a:srgbClr>
            </a:solidFill>
            <a:prstDash val="solid"/>
          </a:ln>
        </p:spPr>
      </p:sp>
      <p:sp>
        <p:nvSpPr>
          <p:cNvPr id="63" name="">
            <a:extLst>
              <a:ext uri="{FF2B5EF4-FFF2-40B4-BE49-F238E27FC236}">
                <a16:creationId id="{5B0F2AB0-D22E-461D-A488-F2948676AA82}"/>
              </a:ext>
            </a:extLst>
          </p:cNvPr>
          <p:cNvSpPr>
            <a:spLocks noGrp="1"/>
          </p:cNvSpPr>
          <p:nvPr/>
        </p:nvSpPr>
        <p:spPr>
          <a:xfrm>
            <a:off x="2676525" y="4276725"/>
            <a:ext cx="133350" cy="114300"/>
          </a:xfrm>
          <a:prstGeom prst="rect">
            <a:avLst/>
          </a:prstGeom>
          <a:solidFill>
            <a:srgbClr val="E2E8F0"/>
          </a:solidFill>
          <a:ln w="0">
            <a:solidFill>
              <a:srgbClr val="000000">
                <a:alpha val="0"/>
              </a:srgbClr>
            </a:solidFill>
            <a:prstDash val="solid"/>
          </a:ln>
        </p:spPr>
      </p:sp>
      <p:sp>
        <p:nvSpPr>
          <p:cNvPr id="64" name="">
            <a:extLst>
              <a:ext uri="{FF2B5EF4-FFF2-40B4-BE49-F238E27FC236}">
                <a16:creationId id="{6CFAEF2D-891B-4E38-ADB9-47F365A93C05}"/>
              </a:ext>
            </a:extLst>
          </p:cNvPr>
          <p:cNvSpPr>
            <a:spLocks noGrp="1"/>
          </p:cNvSpPr>
          <p:nvPr/>
        </p:nvSpPr>
        <p:spPr>
          <a:xfrm>
            <a:off x="1047750" y="4438650"/>
            <a:ext cx="133350" cy="114300"/>
          </a:xfrm>
          <a:prstGeom prst="rect">
            <a:avLst/>
          </a:prstGeom>
          <a:solidFill>
            <a:srgbClr val="2B6CB0"/>
          </a:solidFill>
          <a:ln w="0">
            <a:solidFill>
              <a:srgbClr val="000000">
                <a:alpha val="0"/>
              </a:srgbClr>
            </a:solidFill>
            <a:prstDash val="solid"/>
          </a:ln>
        </p:spPr>
      </p:sp>
      <p:sp>
        <p:nvSpPr>
          <p:cNvPr id="65" name="">
            <a:extLst>
              <a:ext uri="{FF2B5EF4-FFF2-40B4-BE49-F238E27FC236}">
                <a16:creationId id="{0424CD92-1B1E-49A6-8F43-1A6FF319E1EC}"/>
              </a:ext>
            </a:extLst>
          </p:cNvPr>
          <p:cNvSpPr>
            <a:spLocks noGrp="1"/>
          </p:cNvSpPr>
          <p:nvPr/>
        </p:nvSpPr>
        <p:spPr>
          <a:xfrm>
            <a:off x="1228725" y="4438650"/>
            <a:ext cx="133350" cy="114300"/>
          </a:xfrm>
          <a:prstGeom prst="rect">
            <a:avLst/>
          </a:prstGeom>
          <a:solidFill>
            <a:srgbClr val="E2E8F0"/>
          </a:solidFill>
          <a:ln w="0">
            <a:solidFill>
              <a:srgbClr val="000000">
                <a:alpha val="0"/>
              </a:srgbClr>
            </a:solidFill>
            <a:prstDash val="solid"/>
          </a:ln>
        </p:spPr>
      </p:sp>
      <p:sp>
        <p:nvSpPr>
          <p:cNvPr id="66" name="">
            <a:extLst>
              <a:ext uri="{FF2B5EF4-FFF2-40B4-BE49-F238E27FC236}">
                <a16:creationId id="{B472F064-9780-46E6-A7F3-CE2A89A57E8C}"/>
              </a:ext>
            </a:extLst>
          </p:cNvPr>
          <p:cNvSpPr>
            <a:spLocks noGrp="1"/>
          </p:cNvSpPr>
          <p:nvPr/>
        </p:nvSpPr>
        <p:spPr>
          <a:xfrm>
            <a:off x="1409700" y="4438650"/>
            <a:ext cx="133350" cy="114300"/>
          </a:xfrm>
          <a:prstGeom prst="rect">
            <a:avLst/>
          </a:prstGeom>
          <a:solidFill>
            <a:srgbClr val="2B6CB0"/>
          </a:solidFill>
          <a:ln w="0">
            <a:solidFill>
              <a:srgbClr val="000000">
                <a:alpha val="0"/>
              </a:srgbClr>
            </a:solidFill>
            <a:prstDash val="solid"/>
          </a:ln>
        </p:spPr>
      </p:sp>
      <p:sp>
        <p:nvSpPr>
          <p:cNvPr id="67" name="">
            <a:extLst>
              <a:ext uri="{FF2B5EF4-FFF2-40B4-BE49-F238E27FC236}">
                <a16:creationId id="{B4E4F88C-E78B-45A0-92C0-7131F6ECCCE9}"/>
              </a:ext>
            </a:extLst>
          </p:cNvPr>
          <p:cNvSpPr>
            <a:spLocks noGrp="1"/>
          </p:cNvSpPr>
          <p:nvPr/>
        </p:nvSpPr>
        <p:spPr>
          <a:xfrm>
            <a:off x="1590675" y="4438650"/>
            <a:ext cx="133350" cy="114300"/>
          </a:xfrm>
          <a:prstGeom prst="rect">
            <a:avLst/>
          </a:prstGeom>
          <a:solidFill>
            <a:srgbClr val="2B6CB0"/>
          </a:solidFill>
          <a:ln w="0">
            <a:solidFill>
              <a:srgbClr val="000000">
                <a:alpha val="0"/>
              </a:srgbClr>
            </a:solidFill>
            <a:prstDash val="solid"/>
          </a:ln>
        </p:spPr>
      </p:sp>
      <p:sp>
        <p:nvSpPr>
          <p:cNvPr id="68" name="">
            <a:extLst>
              <a:ext uri="{FF2B5EF4-FFF2-40B4-BE49-F238E27FC236}">
                <a16:creationId id="{0C91D157-D24D-4419-AA74-6B9BE20D7622}"/>
              </a:ext>
            </a:extLst>
          </p:cNvPr>
          <p:cNvSpPr>
            <a:spLocks noGrp="1"/>
          </p:cNvSpPr>
          <p:nvPr/>
        </p:nvSpPr>
        <p:spPr>
          <a:xfrm>
            <a:off x="1771650" y="4438650"/>
            <a:ext cx="133350" cy="114300"/>
          </a:xfrm>
          <a:prstGeom prst="rect">
            <a:avLst/>
          </a:prstGeom>
          <a:solidFill>
            <a:srgbClr val="E2E8F0"/>
          </a:solidFill>
          <a:ln w="0">
            <a:solidFill>
              <a:srgbClr val="000000">
                <a:alpha val="0"/>
              </a:srgbClr>
            </a:solidFill>
            <a:prstDash val="solid"/>
          </a:ln>
        </p:spPr>
      </p:sp>
      <p:sp>
        <p:nvSpPr>
          <p:cNvPr id="69" name="">
            <a:extLst>
              <a:ext uri="{FF2B5EF4-FFF2-40B4-BE49-F238E27FC236}">
                <a16:creationId id="{4CA00DCB-6616-4D31-82AE-8C46C25C1579}"/>
              </a:ext>
            </a:extLst>
          </p:cNvPr>
          <p:cNvSpPr>
            <a:spLocks noGrp="1"/>
          </p:cNvSpPr>
          <p:nvPr/>
        </p:nvSpPr>
        <p:spPr>
          <a:xfrm>
            <a:off x="1952625" y="4438650"/>
            <a:ext cx="133350" cy="114300"/>
          </a:xfrm>
          <a:prstGeom prst="rect">
            <a:avLst/>
          </a:prstGeom>
          <a:solidFill>
            <a:srgbClr val="2B6CB0"/>
          </a:solidFill>
          <a:ln w="0">
            <a:solidFill>
              <a:srgbClr val="000000">
                <a:alpha val="0"/>
              </a:srgbClr>
            </a:solidFill>
            <a:prstDash val="solid"/>
          </a:ln>
        </p:spPr>
      </p:sp>
      <p:sp>
        <p:nvSpPr>
          <p:cNvPr id="70" name="">
            <a:extLst>
              <a:ext uri="{FF2B5EF4-FFF2-40B4-BE49-F238E27FC236}">
                <a16:creationId id="{00B87423-9E36-4948-97FD-CA1716F3B979}"/>
              </a:ext>
            </a:extLst>
          </p:cNvPr>
          <p:cNvSpPr>
            <a:spLocks noGrp="1"/>
          </p:cNvSpPr>
          <p:nvPr/>
        </p:nvSpPr>
        <p:spPr>
          <a:xfrm>
            <a:off x="2133600" y="4438650"/>
            <a:ext cx="133350" cy="114300"/>
          </a:xfrm>
          <a:prstGeom prst="rect">
            <a:avLst/>
          </a:prstGeom>
          <a:solidFill>
            <a:srgbClr val="2B6CB0"/>
          </a:solidFill>
          <a:ln w="0">
            <a:solidFill>
              <a:srgbClr val="000000">
                <a:alpha val="0"/>
              </a:srgbClr>
            </a:solidFill>
            <a:prstDash val="solid"/>
          </a:ln>
        </p:spPr>
      </p:sp>
      <p:sp>
        <p:nvSpPr>
          <p:cNvPr id="71" name="">
            <a:extLst>
              <a:ext uri="{FF2B5EF4-FFF2-40B4-BE49-F238E27FC236}">
                <a16:creationId id="{C8358073-549A-49C9-AEFC-D1BB5C12A606}"/>
              </a:ext>
            </a:extLst>
          </p:cNvPr>
          <p:cNvSpPr>
            <a:spLocks noGrp="1"/>
          </p:cNvSpPr>
          <p:nvPr/>
        </p:nvSpPr>
        <p:spPr>
          <a:xfrm>
            <a:off x="2314575" y="4438650"/>
            <a:ext cx="133350" cy="114300"/>
          </a:xfrm>
          <a:prstGeom prst="rect">
            <a:avLst/>
          </a:prstGeom>
          <a:solidFill>
            <a:srgbClr val="E2E8F0"/>
          </a:solidFill>
          <a:ln w="0">
            <a:solidFill>
              <a:srgbClr val="000000">
                <a:alpha val="0"/>
              </a:srgbClr>
            </a:solidFill>
            <a:prstDash val="solid"/>
          </a:ln>
        </p:spPr>
      </p:sp>
      <p:sp>
        <p:nvSpPr>
          <p:cNvPr id="72" name="">
            <a:extLst>
              <a:ext uri="{FF2B5EF4-FFF2-40B4-BE49-F238E27FC236}">
                <a16:creationId id="{E7770A10-89BD-4A44-83DC-72919BA89799}"/>
              </a:ext>
            </a:extLst>
          </p:cNvPr>
          <p:cNvSpPr>
            <a:spLocks noGrp="1"/>
          </p:cNvSpPr>
          <p:nvPr/>
        </p:nvSpPr>
        <p:spPr>
          <a:xfrm>
            <a:off x="2495550" y="4438650"/>
            <a:ext cx="133350" cy="114300"/>
          </a:xfrm>
          <a:prstGeom prst="rect">
            <a:avLst/>
          </a:prstGeom>
          <a:solidFill>
            <a:srgbClr val="2B6CB0"/>
          </a:solidFill>
          <a:ln w="0">
            <a:solidFill>
              <a:srgbClr val="000000">
                <a:alpha val="0"/>
              </a:srgbClr>
            </a:solidFill>
            <a:prstDash val="solid"/>
          </a:ln>
        </p:spPr>
      </p:sp>
      <p:sp>
        <p:nvSpPr>
          <p:cNvPr id="73" name="">
            <a:extLst>
              <a:ext uri="{FF2B5EF4-FFF2-40B4-BE49-F238E27FC236}">
                <a16:creationId id="{1479181A-ACBC-4D65-A68C-2B75964607EC}"/>
              </a:ext>
            </a:extLst>
          </p:cNvPr>
          <p:cNvSpPr>
            <a:spLocks noGrp="1"/>
          </p:cNvSpPr>
          <p:nvPr/>
        </p:nvSpPr>
        <p:spPr>
          <a:xfrm>
            <a:off x="2676525" y="4438650"/>
            <a:ext cx="133350" cy="114300"/>
          </a:xfrm>
          <a:prstGeom prst="rect">
            <a:avLst/>
          </a:prstGeom>
          <a:solidFill>
            <a:srgbClr val="2B6CB0"/>
          </a:solidFill>
          <a:ln w="0">
            <a:solidFill>
              <a:srgbClr val="000000">
                <a:alpha val="0"/>
              </a:srgbClr>
            </a:solidFill>
            <a:prstDash val="solid"/>
          </a:ln>
        </p:spPr>
      </p:sp>
      <p:sp>
        <p:nvSpPr>
          <p:cNvPr id="74" name="">
            <a:extLst>
              <a:ext uri="{FF2B5EF4-FFF2-40B4-BE49-F238E27FC236}">
                <a16:creationId id="{D1617161-600F-4F14-9B7A-97E4ED213592}"/>
              </a:ext>
            </a:extLst>
          </p:cNvPr>
          <p:cNvSpPr>
            <a:spLocks noGrp="1"/>
          </p:cNvSpPr>
          <p:nvPr/>
        </p:nvSpPr>
        <p:spPr>
          <a:xfrm>
            <a:off x="1047750" y="4600575"/>
            <a:ext cx="133350" cy="114300"/>
          </a:xfrm>
          <a:prstGeom prst="rect">
            <a:avLst/>
          </a:prstGeom>
          <a:solidFill>
            <a:srgbClr val="2B6CB0"/>
          </a:solidFill>
          <a:ln w="0">
            <a:solidFill>
              <a:srgbClr val="000000">
                <a:alpha val="0"/>
              </a:srgbClr>
            </a:solidFill>
            <a:prstDash val="solid"/>
          </a:ln>
        </p:spPr>
      </p:sp>
      <p:sp>
        <p:nvSpPr>
          <p:cNvPr id="75" name="">
            <a:extLst>
              <a:ext uri="{FF2B5EF4-FFF2-40B4-BE49-F238E27FC236}">
                <a16:creationId id="{29B06A02-D5C5-4DD3-8C2F-60191B9129D8}"/>
              </a:ext>
            </a:extLst>
          </p:cNvPr>
          <p:cNvSpPr>
            <a:spLocks noGrp="1"/>
          </p:cNvSpPr>
          <p:nvPr/>
        </p:nvSpPr>
        <p:spPr>
          <a:xfrm>
            <a:off x="1228725" y="4600575"/>
            <a:ext cx="133350" cy="114300"/>
          </a:xfrm>
          <a:prstGeom prst="rect">
            <a:avLst/>
          </a:prstGeom>
          <a:solidFill>
            <a:srgbClr val="2B6CB0"/>
          </a:solidFill>
          <a:ln w="0">
            <a:solidFill>
              <a:srgbClr val="000000">
                <a:alpha val="0"/>
              </a:srgbClr>
            </a:solidFill>
            <a:prstDash val="solid"/>
          </a:ln>
        </p:spPr>
      </p:sp>
      <p:sp>
        <p:nvSpPr>
          <p:cNvPr id="76" name="">
            <a:extLst>
              <a:ext uri="{FF2B5EF4-FFF2-40B4-BE49-F238E27FC236}">
                <a16:creationId id="{E9328D4B-4C08-47E2-8AE6-0F0DD6A465AB}"/>
              </a:ext>
            </a:extLst>
          </p:cNvPr>
          <p:cNvSpPr>
            <a:spLocks noGrp="1"/>
          </p:cNvSpPr>
          <p:nvPr/>
        </p:nvSpPr>
        <p:spPr>
          <a:xfrm>
            <a:off x="1409700" y="4600575"/>
            <a:ext cx="133350" cy="114300"/>
          </a:xfrm>
          <a:prstGeom prst="rect">
            <a:avLst/>
          </a:prstGeom>
          <a:solidFill>
            <a:srgbClr val="E2E8F0"/>
          </a:solidFill>
          <a:ln w="0">
            <a:solidFill>
              <a:srgbClr val="000000">
                <a:alpha val="0"/>
              </a:srgbClr>
            </a:solidFill>
            <a:prstDash val="solid"/>
          </a:ln>
        </p:spPr>
      </p:sp>
      <p:sp>
        <p:nvSpPr>
          <p:cNvPr id="77" name="">
            <a:extLst>
              <a:ext uri="{FF2B5EF4-FFF2-40B4-BE49-F238E27FC236}">
                <a16:creationId id="{9A3CAF6B-E13C-4A64-8AD5-6DDB1B62D0BD}"/>
              </a:ext>
            </a:extLst>
          </p:cNvPr>
          <p:cNvSpPr>
            <a:spLocks noGrp="1"/>
          </p:cNvSpPr>
          <p:nvPr/>
        </p:nvSpPr>
        <p:spPr>
          <a:xfrm>
            <a:off x="1590675" y="4600575"/>
            <a:ext cx="133350" cy="114300"/>
          </a:xfrm>
          <a:prstGeom prst="rect">
            <a:avLst/>
          </a:prstGeom>
          <a:solidFill>
            <a:srgbClr val="2B6CB0"/>
          </a:solidFill>
          <a:ln w="0">
            <a:solidFill>
              <a:srgbClr val="000000">
                <a:alpha val="0"/>
              </a:srgbClr>
            </a:solidFill>
            <a:prstDash val="solid"/>
          </a:ln>
        </p:spPr>
      </p:sp>
      <p:sp>
        <p:nvSpPr>
          <p:cNvPr id="78" name="">
            <a:extLst>
              <a:ext uri="{FF2B5EF4-FFF2-40B4-BE49-F238E27FC236}">
                <a16:creationId id="{60A70BC6-24E7-47E9-AEB2-AD8764981C3C}"/>
              </a:ext>
            </a:extLst>
          </p:cNvPr>
          <p:cNvSpPr>
            <a:spLocks noGrp="1"/>
          </p:cNvSpPr>
          <p:nvPr/>
        </p:nvSpPr>
        <p:spPr>
          <a:xfrm>
            <a:off x="1771650" y="4600575"/>
            <a:ext cx="133350" cy="114300"/>
          </a:xfrm>
          <a:prstGeom prst="rect">
            <a:avLst/>
          </a:prstGeom>
          <a:solidFill>
            <a:srgbClr val="2B6CB0"/>
          </a:solidFill>
          <a:ln w="0">
            <a:solidFill>
              <a:srgbClr val="000000">
                <a:alpha val="0"/>
              </a:srgbClr>
            </a:solidFill>
            <a:prstDash val="solid"/>
          </a:ln>
        </p:spPr>
      </p:sp>
      <p:sp>
        <p:nvSpPr>
          <p:cNvPr id="79" name="">
            <a:extLst>
              <a:ext uri="{FF2B5EF4-FFF2-40B4-BE49-F238E27FC236}">
                <a16:creationId id="{38E0EAE9-94D3-4C6C-BCFC-77863B7D3C4D}"/>
              </a:ext>
            </a:extLst>
          </p:cNvPr>
          <p:cNvSpPr>
            <a:spLocks noGrp="1"/>
          </p:cNvSpPr>
          <p:nvPr/>
        </p:nvSpPr>
        <p:spPr>
          <a:xfrm>
            <a:off x="1952625" y="4600575"/>
            <a:ext cx="133350" cy="114300"/>
          </a:xfrm>
          <a:prstGeom prst="rect">
            <a:avLst/>
          </a:prstGeom>
          <a:solidFill>
            <a:srgbClr val="E2E8F0"/>
          </a:solidFill>
          <a:ln w="0">
            <a:solidFill>
              <a:srgbClr val="000000">
                <a:alpha val="0"/>
              </a:srgbClr>
            </a:solidFill>
            <a:prstDash val="solid"/>
          </a:ln>
        </p:spPr>
      </p:sp>
      <p:sp>
        <p:nvSpPr>
          <p:cNvPr id="80" name="">
            <a:extLst>
              <a:ext uri="{FF2B5EF4-FFF2-40B4-BE49-F238E27FC236}">
                <a16:creationId id="{06B4E1C7-7270-4091-A9EA-90612B597397}"/>
              </a:ext>
            </a:extLst>
          </p:cNvPr>
          <p:cNvSpPr>
            <a:spLocks noGrp="1"/>
          </p:cNvSpPr>
          <p:nvPr/>
        </p:nvSpPr>
        <p:spPr>
          <a:xfrm>
            <a:off x="2133600" y="4600575"/>
            <a:ext cx="133350" cy="114300"/>
          </a:xfrm>
          <a:prstGeom prst="rect">
            <a:avLst/>
          </a:prstGeom>
          <a:solidFill>
            <a:srgbClr val="2B6CB0"/>
          </a:solidFill>
          <a:ln w="0">
            <a:solidFill>
              <a:srgbClr val="000000">
                <a:alpha val="0"/>
              </a:srgbClr>
            </a:solidFill>
            <a:prstDash val="solid"/>
          </a:ln>
        </p:spPr>
      </p:sp>
      <p:sp>
        <p:nvSpPr>
          <p:cNvPr id="81" name="">
            <a:extLst>
              <a:ext uri="{FF2B5EF4-FFF2-40B4-BE49-F238E27FC236}">
                <a16:creationId id="{B8D306CB-5C96-4BCC-AB75-1713AE0E06EA}"/>
              </a:ext>
            </a:extLst>
          </p:cNvPr>
          <p:cNvSpPr>
            <a:spLocks noGrp="1"/>
          </p:cNvSpPr>
          <p:nvPr/>
        </p:nvSpPr>
        <p:spPr>
          <a:xfrm>
            <a:off x="2314575" y="4600575"/>
            <a:ext cx="133350" cy="114300"/>
          </a:xfrm>
          <a:prstGeom prst="rect">
            <a:avLst/>
          </a:prstGeom>
          <a:solidFill>
            <a:srgbClr val="2B6CB0"/>
          </a:solidFill>
          <a:ln w="0">
            <a:solidFill>
              <a:srgbClr val="000000">
                <a:alpha val="0"/>
              </a:srgbClr>
            </a:solidFill>
            <a:prstDash val="solid"/>
          </a:ln>
        </p:spPr>
      </p:sp>
      <p:sp>
        <p:nvSpPr>
          <p:cNvPr id="82" name="">
            <a:extLst>
              <a:ext uri="{FF2B5EF4-FFF2-40B4-BE49-F238E27FC236}">
                <a16:creationId id="{92B6C1A1-391E-4EC0-B0A8-B9CB665D8994}"/>
              </a:ext>
            </a:extLst>
          </p:cNvPr>
          <p:cNvSpPr>
            <a:spLocks noGrp="1"/>
          </p:cNvSpPr>
          <p:nvPr/>
        </p:nvSpPr>
        <p:spPr>
          <a:xfrm>
            <a:off x="2495550" y="4600575"/>
            <a:ext cx="133350" cy="114300"/>
          </a:xfrm>
          <a:prstGeom prst="rect">
            <a:avLst/>
          </a:prstGeom>
          <a:solidFill>
            <a:srgbClr val="E2E8F0"/>
          </a:solidFill>
          <a:ln w="0">
            <a:solidFill>
              <a:srgbClr val="000000">
                <a:alpha val="0"/>
              </a:srgbClr>
            </a:solidFill>
            <a:prstDash val="solid"/>
          </a:ln>
        </p:spPr>
      </p:sp>
      <p:sp>
        <p:nvSpPr>
          <p:cNvPr id="83" name="">
            <a:extLst>
              <a:ext uri="{FF2B5EF4-FFF2-40B4-BE49-F238E27FC236}">
                <a16:creationId id="{3B0AEC4C-47B4-4D97-8A4C-E48E9552704E}"/>
              </a:ext>
            </a:extLst>
          </p:cNvPr>
          <p:cNvSpPr>
            <a:spLocks noGrp="1"/>
          </p:cNvSpPr>
          <p:nvPr/>
        </p:nvSpPr>
        <p:spPr>
          <a:xfrm>
            <a:off x="2676525" y="4600575"/>
            <a:ext cx="133350" cy="114300"/>
          </a:xfrm>
          <a:prstGeom prst="rect">
            <a:avLst/>
          </a:prstGeom>
          <a:solidFill>
            <a:srgbClr val="2B6CB0"/>
          </a:solidFill>
          <a:ln w="0">
            <a:solidFill>
              <a:srgbClr val="000000">
                <a:alpha val="0"/>
              </a:srgbClr>
            </a:solidFill>
            <a:prstDash val="solid"/>
          </a:ln>
        </p:spPr>
      </p:sp>
      <p:sp>
        <p:nvSpPr>
          <p:cNvPr id="84" name="">
            <a:extLst>
              <a:ext uri="{FF2B5EF4-FFF2-40B4-BE49-F238E27FC236}">
                <a16:creationId id="{1BE422C8-DABE-4C81-8D00-AB9894488FF6}"/>
              </a:ext>
            </a:extLst>
          </p:cNvPr>
          <p:cNvSpPr>
            <a:spLocks noGrp="1"/>
          </p:cNvSpPr>
          <p:nvPr/>
        </p:nvSpPr>
        <p:spPr>
          <a:xfrm>
            <a:off x="704850" y="4933950"/>
            <a:ext cx="2762250" cy="342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0">
                <a:solidFill>
                  <a:srgbClr val="64748B"/>
                </a:solidFill>
                <a:latin typeface="Aptos"/>
                <a:ea typeface="Aptos"/>
                <a:cs typeface="Aptos"/>
              </a:defRPr>
            </a:pPr>
            <a:r>
              <a:rPr sz="938" b="0">
                <a:solidFill>
                  <a:srgbClr val="64748B"/>
                </a:solidFill>
                <a:latin typeface="Aptos"/>
                <a:ea typeface="Aptos"/>
                <a:cs typeface="Aptos"/>
              </a:rPr>
              <a:t>Rows are episode-level isolates; columns are VF genes detected from current selected assemblies.</a:t>
            </a:r>
          </a:p>
        </p:txBody>
      </p:sp>
      <p:sp>
        <p:nvSpPr>
          <p:cNvPr id="85" name="">
            <a:extLst>
              <a:ext uri="{FF2B5EF4-FFF2-40B4-BE49-F238E27FC236}">
                <a16:creationId id="{15C34848-E50B-44EA-B8F4-A3FA1EB13489}"/>
              </a:ext>
            </a:extLst>
          </p:cNvPr>
          <p:cNvSpPr>
            <a:spLocks noGrp="1"/>
          </p:cNvSpPr>
          <p:nvPr/>
        </p:nvSpPr>
        <p:spPr>
          <a:xfrm>
            <a:off x="4838700" y="3676650"/>
            <a:ext cx="1162050" cy="266700"/>
          </a:xfrm>
          <a:prstGeom prst="roundRect">
            <a:avLst>
              <a:gd name="adj" fmla="val 28571"/>
            </a:avLst>
          </a:prstGeom>
          <a:solidFill>
            <a:srgbClr val="EAF7EF"/>
          </a:solidFill>
          <a:ln w="9525">
            <a:solidFill>
              <a:srgbClr val="D8DEE8"/>
            </a:solidFill>
            <a:prstDash val="solid"/>
          </a:ln>
        </p:spPr>
      </p:sp>
      <p:sp>
        <p:nvSpPr>
          <p:cNvPr id="86" name="">
            <a:extLst>
              <a:ext uri="{FF2B5EF4-FFF2-40B4-BE49-F238E27FC236}">
                <a16:creationId id="{2F791C56-CBE4-458C-92A6-C56473705BA3}"/>
              </a:ext>
            </a:extLst>
          </p:cNvPr>
          <p:cNvSpPr>
            <a:spLocks noGrp="1"/>
          </p:cNvSpPr>
          <p:nvPr/>
        </p:nvSpPr>
        <p:spPr>
          <a:xfrm>
            <a:off x="4914900" y="3743325"/>
            <a:ext cx="10096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2F855A"/>
                </a:solidFill>
                <a:latin typeface="Aptos"/>
                <a:ea typeface="Aptos"/>
                <a:cs typeface="Aptos"/>
              </a:defRPr>
            </a:pPr>
            <a:r>
              <a:rPr sz="788" b="1">
                <a:solidFill>
                  <a:srgbClr val="2F855A"/>
                </a:solidFill>
                <a:latin typeface="Aptos"/>
                <a:ea typeface="Aptos"/>
                <a:cs typeface="Aptos"/>
              </a:rPr>
              <a:t>Adhesion</a:t>
            </a:r>
          </a:p>
        </p:txBody>
      </p:sp>
      <p:sp>
        <p:nvSpPr>
          <p:cNvPr id="87" name="">
            <a:extLst>
              <a:ext uri="{FF2B5EF4-FFF2-40B4-BE49-F238E27FC236}">
                <a16:creationId id="{C5B234BE-F777-4F7A-92EE-B2BAE9579985}"/>
              </a:ext>
            </a:extLst>
          </p:cNvPr>
          <p:cNvSpPr>
            <a:spLocks noGrp="1"/>
          </p:cNvSpPr>
          <p:nvPr/>
        </p:nvSpPr>
        <p:spPr>
          <a:xfrm>
            <a:off x="6191250" y="3676650"/>
            <a:ext cx="1162050" cy="266700"/>
          </a:xfrm>
          <a:prstGeom prst="roundRect">
            <a:avLst>
              <a:gd name="adj" fmla="val 28571"/>
            </a:avLst>
          </a:prstGeom>
          <a:solidFill>
            <a:srgbClr val="EAF7EF"/>
          </a:solidFill>
          <a:ln w="9525">
            <a:solidFill>
              <a:srgbClr val="D8DEE8"/>
            </a:solidFill>
            <a:prstDash val="solid"/>
          </a:ln>
        </p:spPr>
      </p:sp>
      <p:sp>
        <p:nvSpPr>
          <p:cNvPr id="88" name="">
            <a:extLst>
              <a:ext uri="{FF2B5EF4-FFF2-40B4-BE49-F238E27FC236}">
                <a16:creationId id="{9C5E115F-9FC2-4ECC-87CC-64F87BC46A92}"/>
              </a:ext>
            </a:extLst>
          </p:cNvPr>
          <p:cNvSpPr>
            <a:spLocks noGrp="1"/>
          </p:cNvSpPr>
          <p:nvPr/>
        </p:nvSpPr>
        <p:spPr>
          <a:xfrm>
            <a:off x="6267450" y="3743325"/>
            <a:ext cx="10096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2F855A"/>
                </a:solidFill>
                <a:latin typeface="Aptos"/>
                <a:ea typeface="Aptos"/>
                <a:cs typeface="Aptos"/>
              </a:defRPr>
            </a:pPr>
            <a:r>
              <a:rPr sz="788" b="1">
                <a:solidFill>
                  <a:srgbClr val="2F855A"/>
                </a:solidFill>
                <a:latin typeface="Aptos"/>
                <a:ea typeface="Aptos"/>
                <a:cs typeface="Aptos"/>
              </a:rPr>
              <a:t>Iron acquisition</a:t>
            </a:r>
          </a:p>
        </p:txBody>
      </p:sp>
      <p:sp>
        <p:nvSpPr>
          <p:cNvPr id="89" name="">
            <a:extLst>
              <a:ext uri="{FF2B5EF4-FFF2-40B4-BE49-F238E27FC236}">
                <a16:creationId id="{6D6E95BF-A9E3-4342-BE0F-DEDAA3AB1972}"/>
              </a:ext>
            </a:extLst>
          </p:cNvPr>
          <p:cNvSpPr>
            <a:spLocks noGrp="1"/>
          </p:cNvSpPr>
          <p:nvPr/>
        </p:nvSpPr>
        <p:spPr>
          <a:xfrm>
            <a:off x="4838700" y="4095750"/>
            <a:ext cx="1162050" cy="266700"/>
          </a:xfrm>
          <a:prstGeom prst="roundRect">
            <a:avLst>
              <a:gd name="adj" fmla="val 28571"/>
            </a:avLst>
          </a:prstGeom>
          <a:solidFill>
            <a:srgbClr val="EAF7EF"/>
          </a:solidFill>
          <a:ln w="9525">
            <a:solidFill>
              <a:srgbClr val="D8DEE8"/>
            </a:solidFill>
            <a:prstDash val="solid"/>
          </a:ln>
        </p:spPr>
      </p:sp>
      <p:sp>
        <p:nvSpPr>
          <p:cNvPr id="90" name="">
            <a:extLst>
              <a:ext uri="{FF2B5EF4-FFF2-40B4-BE49-F238E27FC236}">
                <a16:creationId id="{6F78BCF0-FBBD-4A0E-A325-BFAE77D20F8A}"/>
              </a:ext>
            </a:extLst>
          </p:cNvPr>
          <p:cNvSpPr>
            <a:spLocks noGrp="1"/>
          </p:cNvSpPr>
          <p:nvPr/>
        </p:nvSpPr>
        <p:spPr>
          <a:xfrm>
            <a:off x="4914900" y="4162425"/>
            <a:ext cx="10096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2F855A"/>
                </a:solidFill>
                <a:latin typeface="Aptos"/>
                <a:ea typeface="Aptos"/>
                <a:cs typeface="Aptos"/>
              </a:defRPr>
            </a:pPr>
            <a:r>
              <a:rPr sz="788" b="1">
                <a:solidFill>
                  <a:srgbClr val="2F855A"/>
                </a:solidFill>
                <a:latin typeface="Aptos"/>
                <a:ea typeface="Aptos"/>
                <a:cs typeface="Aptos"/>
              </a:rPr>
              <a:t>Secretion</a:t>
            </a:r>
          </a:p>
        </p:txBody>
      </p:sp>
      <p:sp>
        <p:nvSpPr>
          <p:cNvPr id="91" name="">
            <a:extLst>
              <a:ext uri="{FF2B5EF4-FFF2-40B4-BE49-F238E27FC236}">
                <a16:creationId id="{16A6D958-A7A2-44FB-BE81-CE44CD7A926A}"/>
              </a:ext>
            </a:extLst>
          </p:cNvPr>
          <p:cNvSpPr>
            <a:spLocks noGrp="1"/>
          </p:cNvSpPr>
          <p:nvPr/>
        </p:nvSpPr>
        <p:spPr>
          <a:xfrm>
            <a:off x="6191250" y="4095750"/>
            <a:ext cx="1162050" cy="266700"/>
          </a:xfrm>
          <a:prstGeom prst="roundRect">
            <a:avLst>
              <a:gd name="adj" fmla="val 28571"/>
            </a:avLst>
          </a:prstGeom>
          <a:solidFill>
            <a:srgbClr val="EAF7EF"/>
          </a:solidFill>
          <a:ln w="9525">
            <a:solidFill>
              <a:srgbClr val="D8DEE8"/>
            </a:solidFill>
            <a:prstDash val="solid"/>
          </a:ln>
        </p:spPr>
      </p:sp>
      <p:sp>
        <p:nvSpPr>
          <p:cNvPr id="92" name="">
            <a:extLst>
              <a:ext uri="{FF2B5EF4-FFF2-40B4-BE49-F238E27FC236}">
                <a16:creationId id="{1F488A58-7DFF-4B3E-AF48-0055E1F6B1CA}"/>
              </a:ext>
            </a:extLst>
          </p:cNvPr>
          <p:cNvSpPr>
            <a:spLocks noGrp="1"/>
          </p:cNvSpPr>
          <p:nvPr/>
        </p:nvSpPr>
        <p:spPr>
          <a:xfrm>
            <a:off x="6267450" y="4162425"/>
            <a:ext cx="10096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2F855A"/>
                </a:solidFill>
                <a:latin typeface="Aptos"/>
                <a:ea typeface="Aptos"/>
                <a:cs typeface="Aptos"/>
              </a:defRPr>
            </a:pPr>
            <a:r>
              <a:rPr sz="788" b="1">
                <a:solidFill>
                  <a:srgbClr val="2F855A"/>
                </a:solidFill>
                <a:latin typeface="Aptos"/>
                <a:ea typeface="Aptos"/>
                <a:cs typeface="Aptos"/>
              </a:rPr>
              <a:t>Toxin</a:t>
            </a:r>
          </a:p>
        </p:txBody>
      </p:sp>
      <p:sp>
        <p:nvSpPr>
          <p:cNvPr id="93" name="">
            <a:extLst>
              <a:ext uri="{FF2B5EF4-FFF2-40B4-BE49-F238E27FC236}">
                <a16:creationId id="{2F40FEBB-EAE5-46F7-B2CE-814870E53F0B}"/>
              </a:ext>
            </a:extLst>
          </p:cNvPr>
          <p:cNvSpPr>
            <a:spLocks noGrp="1"/>
          </p:cNvSpPr>
          <p:nvPr/>
        </p:nvSpPr>
        <p:spPr>
          <a:xfrm>
            <a:off x="4838700" y="4514850"/>
            <a:ext cx="1162050" cy="266700"/>
          </a:xfrm>
          <a:prstGeom prst="roundRect">
            <a:avLst>
              <a:gd name="adj" fmla="val 28571"/>
            </a:avLst>
          </a:prstGeom>
          <a:solidFill>
            <a:srgbClr val="EAF7EF"/>
          </a:solidFill>
          <a:ln w="9525">
            <a:solidFill>
              <a:srgbClr val="D8DEE8"/>
            </a:solidFill>
            <a:prstDash val="solid"/>
          </a:ln>
        </p:spPr>
      </p:sp>
      <p:sp>
        <p:nvSpPr>
          <p:cNvPr id="94" name="">
            <a:extLst>
              <a:ext uri="{FF2B5EF4-FFF2-40B4-BE49-F238E27FC236}">
                <a16:creationId id="{A51F00F1-48C9-4D9B-9E37-14D1DC6E6DDB}"/>
              </a:ext>
            </a:extLst>
          </p:cNvPr>
          <p:cNvSpPr>
            <a:spLocks noGrp="1"/>
          </p:cNvSpPr>
          <p:nvPr/>
        </p:nvSpPr>
        <p:spPr>
          <a:xfrm>
            <a:off x="4914900" y="4581525"/>
            <a:ext cx="10096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2F855A"/>
                </a:solidFill>
                <a:latin typeface="Aptos"/>
                <a:ea typeface="Aptos"/>
                <a:cs typeface="Aptos"/>
              </a:defRPr>
            </a:pPr>
            <a:r>
              <a:rPr sz="788" b="1">
                <a:solidFill>
                  <a:srgbClr val="2F855A"/>
                </a:solidFill>
                <a:latin typeface="Aptos"/>
                <a:ea typeface="Aptos"/>
                <a:cs typeface="Aptos"/>
              </a:rPr>
              <a:t>Capsule</a:t>
            </a:r>
          </a:p>
        </p:txBody>
      </p:sp>
      <p:sp>
        <p:nvSpPr>
          <p:cNvPr id="95" name="">
            <a:extLst>
              <a:ext uri="{FF2B5EF4-FFF2-40B4-BE49-F238E27FC236}">
                <a16:creationId id="{92ABD8AD-A2ED-4D8E-9A5E-2A795AD8301E}"/>
              </a:ext>
            </a:extLst>
          </p:cNvPr>
          <p:cNvSpPr>
            <a:spLocks noGrp="1"/>
          </p:cNvSpPr>
          <p:nvPr/>
        </p:nvSpPr>
        <p:spPr>
          <a:xfrm>
            <a:off x="6191250" y="4514850"/>
            <a:ext cx="1162050" cy="266700"/>
          </a:xfrm>
          <a:prstGeom prst="roundRect">
            <a:avLst>
              <a:gd name="adj" fmla="val 28571"/>
            </a:avLst>
          </a:prstGeom>
          <a:solidFill>
            <a:srgbClr val="EEF3F8"/>
          </a:solidFill>
          <a:ln w="9525">
            <a:solidFill>
              <a:srgbClr val="D8DEE8"/>
            </a:solidFill>
            <a:prstDash val="solid"/>
          </a:ln>
        </p:spPr>
      </p:sp>
      <p:sp>
        <p:nvSpPr>
          <p:cNvPr id="96" name="">
            <a:extLst>
              <a:ext uri="{FF2B5EF4-FFF2-40B4-BE49-F238E27FC236}">
                <a16:creationId id="{B1AFEE8F-9BCE-45AF-89B8-260407EB4E14}"/>
              </a:ext>
            </a:extLst>
          </p:cNvPr>
          <p:cNvSpPr>
            <a:spLocks noGrp="1"/>
          </p:cNvSpPr>
          <p:nvPr/>
        </p:nvSpPr>
        <p:spPr>
          <a:xfrm>
            <a:off x="6267450" y="4581525"/>
            <a:ext cx="1009650"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64748B"/>
                </a:solidFill>
                <a:latin typeface="Aptos"/>
                <a:ea typeface="Aptos"/>
                <a:cs typeface="Aptos"/>
              </a:defRPr>
            </a:pPr>
            <a:r>
              <a:rPr sz="788" b="1">
                <a:solidFill>
                  <a:srgbClr val="64748B"/>
                </a:solidFill>
                <a:latin typeface="Aptos"/>
                <a:ea typeface="Aptos"/>
                <a:cs typeface="Aptos"/>
              </a:rPr>
              <a:t>Unassigned</a:t>
            </a:r>
          </a:p>
        </p:txBody>
      </p:sp>
      <p:sp>
        <p:nvSpPr>
          <p:cNvPr id="97" name="">
            <a:extLst>
              <a:ext uri="{FF2B5EF4-FFF2-40B4-BE49-F238E27FC236}">
                <a16:creationId id="{D33ACC44-56AB-49CD-83F0-F0FA9A14AE91}"/>
              </a:ext>
            </a:extLst>
          </p:cNvPr>
          <p:cNvSpPr>
            <a:spLocks noGrp="1"/>
          </p:cNvSpPr>
          <p:nvPr/>
        </p:nvSpPr>
        <p:spPr>
          <a:xfrm>
            <a:off x="8591550" y="3619500"/>
            <a:ext cx="2857500" cy="1390650"/>
          </a:xfrm>
          <a:prstGeom prst="roundRect">
            <a:avLst>
              <a:gd name="adj" fmla="val 5479"/>
            </a:avLst>
          </a:prstGeom>
          <a:solidFill>
            <a:srgbClr val="FFF7ED"/>
          </a:solidFill>
          <a:ln w="9525">
            <a:solidFill>
              <a:srgbClr val="FED7AA"/>
            </a:solidFill>
            <a:prstDash val="solid"/>
          </a:ln>
        </p:spPr>
      </p:sp>
      <p:sp>
        <p:nvSpPr>
          <p:cNvPr id="98" name="">
            <a:extLst>
              <a:ext uri="{FF2B5EF4-FFF2-40B4-BE49-F238E27FC236}">
                <a16:creationId id="{A03B1396-DD9D-4C6F-A00E-ACC4A1CD0D9F}"/>
              </a:ext>
            </a:extLst>
          </p:cNvPr>
          <p:cNvSpPr>
            <a:spLocks noGrp="1"/>
          </p:cNvSpPr>
          <p:nvPr/>
        </p:nvSpPr>
        <p:spPr>
          <a:xfrm>
            <a:off x="8763000" y="3790950"/>
            <a:ext cx="2514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D97706"/>
                </a:solidFill>
                <a:latin typeface="Aptos"/>
                <a:ea typeface="Aptos"/>
                <a:cs typeface="Aptos"/>
              </a:defRPr>
            </a:pPr>
            <a:r>
              <a:rPr sz="1350" b="1">
                <a:solidFill>
                  <a:srgbClr val="D97706"/>
                </a:solidFill>
                <a:latin typeface="Aptos"/>
                <a:ea typeface="Aptos"/>
                <a:cs typeface="Aptos"/>
              </a:rPr>
              <a:t>Interpretation caution</a:t>
            </a:r>
          </a:p>
        </p:txBody>
      </p:sp>
      <p:sp>
        <p:nvSpPr>
          <p:cNvPr id="99" name="">
            <a:extLst>
              <a:ext uri="{FF2B5EF4-FFF2-40B4-BE49-F238E27FC236}">
                <a16:creationId id="{3ACD23EF-3FB3-40E1-894D-B2AEFD230095}"/>
              </a:ext>
            </a:extLst>
          </p:cNvPr>
          <p:cNvSpPr>
            <a:spLocks noGrp="1"/>
          </p:cNvSpPr>
          <p:nvPr/>
        </p:nvSpPr>
        <p:spPr>
          <a:xfrm>
            <a:off x="8763000" y="4076700"/>
            <a:ext cx="2514600" cy="800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13" b="0">
                <a:solidFill>
                  <a:srgbClr val="64748B"/>
                </a:solidFill>
                <a:latin typeface="Aptos"/>
                <a:ea typeface="Aptos"/>
                <a:cs typeface="Aptos"/>
              </a:defRPr>
            </a:pPr>
            <a:r>
              <a:rPr sz="1013" b="0">
                <a:solidFill>
                  <a:srgbClr val="64748B"/>
                </a:solidFill>
                <a:latin typeface="Aptos"/>
                <a:ea typeface="Aptos"/>
                <a:cs typeface="Aptos"/>
              </a:rPr>
              <a:t>Unassigned genes are 25.1% of the VF matrix. Interpret total burden separately from curated and UPEC-candidate summaries.</a:t>
            </a:r>
          </a:p>
        </p:txBody>
      </p:sp>
      <p:sp>
        <p:nvSpPr>
          <p:cNvPr id="100" name="">
            <a:extLst>
              <a:ext uri="{FF2B5EF4-FFF2-40B4-BE49-F238E27FC236}">
                <a16:creationId id="{565FACFA-8ABE-413F-A896-78447FFE7795}"/>
              </a:ext>
            </a:extLst>
          </p:cNvPr>
          <p:cNvSpPr>
            <a:spLocks noGrp="1"/>
          </p:cNvSpPr>
          <p:nvPr/>
        </p:nvSpPr>
        <p:spPr>
          <a:xfrm>
            <a:off x="8705850" y="5219700"/>
            <a:ext cx="1905000" cy="247650"/>
          </a:xfrm>
          <a:prstGeom prst="rect">
            <a:avLst/>
          </a:prstGeom>
          <a:solidFill>
            <a:srgbClr val="EEF3F8"/>
          </a:solidFill>
          <a:ln w="0">
            <a:solidFill>
              <a:srgbClr val="EEF3F8"/>
            </a:solidFill>
            <a:prstDash val="solid"/>
          </a:ln>
        </p:spPr>
      </p:sp>
      <p:sp>
        <p:nvSpPr>
          <p:cNvPr id="101" name="">
            <a:extLst>
              <a:ext uri="{FF2B5EF4-FFF2-40B4-BE49-F238E27FC236}">
                <a16:creationId id="{A1236F98-9501-4647-93D3-47ED7E7EBF34}"/>
              </a:ext>
            </a:extLst>
          </p:cNvPr>
          <p:cNvSpPr>
            <a:spLocks noGrp="1"/>
          </p:cNvSpPr>
          <p:nvPr/>
        </p:nvSpPr>
        <p:spPr>
          <a:xfrm>
            <a:off x="8801100" y="5267325"/>
            <a:ext cx="1714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64748B"/>
                </a:solidFill>
                <a:latin typeface="Aptos"/>
                <a:ea typeface="Aptos"/>
                <a:cs typeface="Aptos"/>
              </a:defRPr>
            </a:pPr>
            <a:r>
              <a:rPr sz="788" b="1">
                <a:solidFill>
                  <a:srgbClr val="64748B"/>
                </a:solidFill>
                <a:latin typeface="Aptos"/>
                <a:ea typeface="Aptos"/>
                <a:cs typeface="Aptos"/>
              </a:rPr>
              <a:t>Descriptive framework</a:t>
            </a:r>
          </a:p>
        </p:txBody>
      </p:sp>
    </p:spTree>
    <p:extLst>
      <p:ext uri="{BB962C8B-B14F-4D97-AF65-F5344CB8AC3E}">
        <p14:creationId val="820982902"/>
      </p:ext>
    </p:extLst>
  </p:cSld>
</p:sld>
</file>

<file path=ppt/slides/slide6.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p:grpSpPr>
      <p:sp>
        <p:nvSpPr>
          <p:cNvPr id="2" name="">
            <a:extLst>
              <a:ext uri="{FF2B5EF4-FFF2-40B4-BE49-F238E27FC236}">
                <a16:creationId id="{C7032162-867A-4015-9F1A-A7B2D4221265}"/>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9EBBEB8E-351E-4646-889F-846D4AF4E19C}"/>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EF74CC57-74A9-4DDB-8CAC-0423FC16DFF0}"/>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VF REPERTOIRE</a:t>
            </a:r>
          </a:p>
        </p:txBody>
      </p:sp>
      <p:sp>
        <p:nvSpPr>
          <p:cNvPr id="5" name="">
            <a:extLst>
              <a:ext uri="{FF2B5EF4-FFF2-40B4-BE49-F238E27FC236}">
                <a16:creationId id="{AF05FCB3-BB3F-4E0C-B994-9EA94705406F}"/>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Common VF genes describe the observed repertoire, not disease association</a:t>
            </a:r>
          </a:p>
        </p:txBody>
      </p:sp>
      <p:sp>
        <p:nvSpPr>
          <p:cNvPr id="6" name="">
            <a:extLst>
              <a:ext uri="{FF2B5EF4-FFF2-40B4-BE49-F238E27FC236}">
                <a16:creationId id="{87018773-3FA0-423A-96A5-CEDE9C89AFED}"/>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Top-gene prevalence across 556 VF/WGS-linked urinary E. coli isolates.</a:t>
            </a:r>
          </a:p>
        </p:txBody>
      </p:sp>
      <p:sp>
        <p:nvSpPr>
          <p:cNvPr id="7" name="">
            <a:extLst>
              <a:ext uri="{FF2B5EF4-FFF2-40B4-BE49-F238E27FC236}">
                <a16:creationId id="{9A13C79E-65EE-4D0C-893C-4AD70DAF984C}"/>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05171788-62DD-410B-9309-FE5EF6822155}"/>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4A389B42-27E7-4F63-A324-7D216C5F9747}"/>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4790990F-22B8-4F57-B86D-EE519E022D78}"/>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06</a:t>
            </a:r>
          </a:p>
        </p:txBody>
      </p:sp>
      <p:sp>
        <p:nvSpPr>
          <p:cNvPr id="11" name="">
            <a:extLst>
              <a:ext uri="{FF2B5EF4-FFF2-40B4-BE49-F238E27FC236}">
                <a16:creationId id="{1C8FD3EC-2954-4ED9-B188-AB05C0435B81}"/>
              </a:ext>
            </a:extLst>
          </p:cNvPr>
          <p:cNvSpPr>
            <a:spLocks noGrp="1"/>
          </p:cNvSpPr>
          <p:nvPr/>
        </p:nvSpPr>
        <p:spPr>
          <a:xfrm>
            <a:off x="514350" y="1428750"/>
            <a:ext cx="8724900" cy="4648200"/>
          </a:xfrm>
          <a:prstGeom prst="rect">
            <a:avLst/>
          </a:prstGeom>
          <a:solidFill>
            <a:srgbClr val="FFFFFF"/>
          </a:solidFill>
          <a:ln w="9525">
            <a:solidFill>
              <a:srgbClr val="E5E7EB"/>
            </a:solidFill>
            <a:prstDash val="solid"/>
          </a:ln>
        </p:spPr>
      </p:sp>
      <p:pic>
        <p:nvPicPr>
          <p:cNvPr id="12" name=""/>
          <p:cNvPicPr>
            <a:picLocks noChangeAspect="1"/>
          </p:cNvPicPr>
          <p:nvPr/>
        </p:nvPicPr>
        <p:blipFill>
          <a:blip r:embed="Rd279362720fc4317"/>
          <a:stretch/>
        </p:blipFill>
        <p:spPr>
          <a:xfrm>
            <a:off x="2878667" y="1504950"/>
            <a:ext cx="3996267" cy="4495800"/>
          </a:xfrm>
          <a:prstGeom prst="rect">
            <a:avLst/>
          </a:prstGeom>
        </p:spPr>
      </p:pic>
      <p:sp>
        <p:nvSpPr>
          <p:cNvPr id="13" name="">
            <a:extLst>
              <a:ext uri="{FF2B5EF4-FFF2-40B4-BE49-F238E27FC236}">
                <a16:creationId id="{C5F9BCD6-A0EE-4B8E-B449-BA078F5BC249}"/>
              </a:ext>
            </a:extLst>
          </p:cNvPr>
          <p:cNvSpPr>
            <a:spLocks noGrp="1"/>
          </p:cNvSpPr>
          <p:nvPr/>
        </p:nvSpPr>
        <p:spPr>
          <a:xfrm>
            <a:off x="9620250" y="1771650"/>
            <a:ext cx="1714500" cy="1619250"/>
          </a:xfrm>
          <a:prstGeom prst="roundRect">
            <a:avLst>
              <a:gd name="adj" fmla="val 4706"/>
            </a:avLst>
          </a:prstGeom>
          <a:solidFill>
            <a:srgbClr val="E8F1FA"/>
          </a:solidFill>
          <a:ln w="9525">
            <a:solidFill>
              <a:srgbClr val="B9D5F0"/>
            </a:solidFill>
            <a:prstDash val="solid"/>
          </a:ln>
        </p:spPr>
      </p:sp>
      <p:sp>
        <p:nvSpPr>
          <p:cNvPr id="14" name="">
            <a:extLst>
              <a:ext uri="{FF2B5EF4-FFF2-40B4-BE49-F238E27FC236}">
                <a16:creationId id="{0CE60D44-3355-4B36-9190-34E6971CE42F}"/>
              </a:ext>
            </a:extLst>
          </p:cNvPr>
          <p:cNvSpPr>
            <a:spLocks noGrp="1"/>
          </p:cNvSpPr>
          <p:nvPr/>
        </p:nvSpPr>
        <p:spPr>
          <a:xfrm>
            <a:off x="9791700" y="1943100"/>
            <a:ext cx="1371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2B6CB0"/>
                </a:solidFill>
                <a:latin typeface="Aptos"/>
                <a:ea typeface="Aptos"/>
                <a:cs typeface="Aptos"/>
              </a:defRPr>
            </a:pPr>
            <a:r>
              <a:rPr sz="1350" b="1">
                <a:solidFill>
                  <a:srgbClr val="2B6CB0"/>
                </a:solidFill>
                <a:latin typeface="Aptos"/>
                <a:ea typeface="Aptos"/>
                <a:cs typeface="Aptos"/>
              </a:rPr>
              <a:t>Read as</a:t>
            </a:r>
          </a:p>
        </p:txBody>
      </p:sp>
      <p:sp>
        <p:nvSpPr>
          <p:cNvPr id="15" name="">
            <a:extLst>
              <a:ext uri="{FF2B5EF4-FFF2-40B4-BE49-F238E27FC236}">
                <a16:creationId id="{DBBC5C7F-B5B5-4090-9AC3-ACE016B19C7B}"/>
              </a:ext>
            </a:extLst>
          </p:cNvPr>
          <p:cNvSpPr>
            <a:spLocks noGrp="1"/>
          </p:cNvSpPr>
          <p:nvPr/>
        </p:nvSpPr>
        <p:spPr>
          <a:xfrm>
            <a:off x="9791700" y="2228850"/>
            <a:ext cx="1371600" cy="1028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0">
                <a:solidFill>
                  <a:srgbClr val="64748B"/>
                </a:solidFill>
                <a:latin typeface="Aptos"/>
                <a:ea typeface="Aptos"/>
                <a:cs typeface="Aptos"/>
              </a:defRPr>
            </a:pPr>
            <a:r>
              <a:rPr sz="938" b="0">
                <a:solidFill>
                  <a:srgbClr val="64748B"/>
                </a:solidFill>
                <a:latin typeface="Aptos"/>
                <a:ea typeface="Aptos"/>
                <a:cs typeface="Aptos"/>
              </a:rPr>
              <a:t>Descriptive prevalence ranking only. Gene presence does not imply expression, function, or UTI association.</a:t>
            </a:r>
          </a:p>
        </p:txBody>
      </p:sp>
      <p:sp>
        <p:nvSpPr>
          <p:cNvPr id="16" name="">
            <a:extLst>
              <a:ext uri="{FF2B5EF4-FFF2-40B4-BE49-F238E27FC236}">
                <a16:creationId id="{D0241D1E-9EB8-4814-8056-6B08856B1736}"/>
              </a:ext>
            </a:extLst>
          </p:cNvPr>
          <p:cNvSpPr>
            <a:spLocks noGrp="1"/>
          </p:cNvSpPr>
          <p:nvPr/>
        </p:nvSpPr>
        <p:spPr>
          <a:xfrm>
            <a:off x="9620250" y="1524000"/>
            <a:ext cx="1695450" cy="247650"/>
          </a:xfrm>
          <a:prstGeom prst="rect">
            <a:avLst/>
          </a:prstGeom>
          <a:solidFill>
            <a:srgbClr val="E8F1FA"/>
          </a:solidFill>
          <a:ln w="0">
            <a:solidFill>
              <a:srgbClr val="E8F1FA"/>
            </a:solidFill>
            <a:prstDash val="solid"/>
          </a:ln>
        </p:spPr>
      </p:sp>
      <p:sp>
        <p:nvSpPr>
          <p:cNvPr id="17" name="">
            <a:extLst>
              <a:ext uri="{FF2B5EF4-FFF2-40B4-BE49-F238E27FC236}">
                <a16:creationId id="{8AF1AE97-A287-4516-9BE6-48D1FE19FC80}"/>
              </a:ext>
            </a:extLst>
          </p:cNvPr>
          <p:cNvSpPr>
            <a:spLocks noGrp="1"/>
          </p:cNvSpPr>
          <p:nvPr/>
        </p:nvSpPr>
        <p:spPr>
          <a:xfrm>
            <a:off x="9715500" y="1571625"/>
            <a:ext cx="15049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2B6CB0"/>
                </a:solidFill>
                <a:latin typeface="Aptos"/>
                <a:ea typeface="Aptos"/>
                <a:cs typeface="Aptos"/>
              </a:defRPr>
            </a:pPr>
            <a:r>
              <a:rPr sz="788" b="1">
                <a:solidFill>
                  <a:srgbClr val="2B6CB0"/>
                </a:solidFill>
                <a:latin typeface="Aptos"/>
                <a:ea typeface="Aptos"/>
                <a:cs typeface="Aptos"/>
              </a:rPr>
              <a:t>Descriptive</a:t>
            </a:r>
          </a:p>
        </p:txBody>
      </p:sp>
    </p:spTree>
    <p:extLst>
      <p:ext uri="{BB962C8B-B14F-4D97-AF65-F5344CB8AC3E}">
        <p14:creationId val="662108410"/>
      </p:ext>
    </p:extLst>
  </p:cSld>
</p:sld>
</file>

<file path=ppt/slides/slide7.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p:grpSpPr>
      <p:sp>
        <p:nvSpPr>
          <p:cNvPr id="2" name="">
            <a:extLst>
              <a:ext uri="{FF2B5EF4-FFF2-40B4-BE49-F238E27FC236}">
                <a16:creationId id="{43392DAB-E8A8-4977-8AD4-CE6CB9F83B88}"/>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9441C690-71E5-4D77-AA08-6E876C5DF505}"/>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702AC83E-83DB-4DE6-A8FF-6CBFD4331D3A}"/>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VF FRAMEWORK</a:t>
            </a:r>
          </a:p>
        </p:txBody>
      </p:sp>
      <p:sp>
        <p:nvSpPr>
          <p:cNvPr id="5" name="">
            <a:extLst>
              <a:ext uri="{FF2B5EF4-FFF2-40B4-BE49-F238E27FC236}">
                <a16:creationId id="{D44DCE9D-CB43-4340-8340-11CBFFEF78A9}"/>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Curated modules organise genes into interpretable biological systems</a:t>
            </a:r>
          </a:p>
        </p:txBody>
      </p:sp>
      <p:sp>
        <p:nvSpPr>
          <p:cNvPr id="6" name="">
            <a:extLst>
              <a:ext uri="{FF2B5EF4-FFF2-40B4-BE49-F238E27FC236}">
                <a16:creationId id="{A313FE4B-EC8C-416C-993F-52A7AC629D1B}"/>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Modules are curation units for navigation; they are not validated disease-causality scores.</a:t>
            </a:r>
          </a:p>
        </p:txBody>
      </p:sp>
      <p:sp>
        <p:nvSpPr>
          <p:cNvPr id="7" name="">
            <a:extLst>
              <a:ext uri="{FF2B5EF4-FFF2-40B4-BE49-F238E27FC236}">
                <a16:creationId id="{27368397-13A8-438B-A597-02CCD8966958}"/>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12581E5C-BAA2-42FB-8445-51FC5CDDA7D1}"/>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A3CB860E-A93A-4CBD-AAED-2424FB3D56B6}"/>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6474F3DA-77A4-45E6-8292-3B0F994652F3}"/>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07</a:t>
            </a:r>
          </a:p>
        </p:txBody>
      </p:sp>
      <p:sp>
        <p:nvSpPr>
          <p:cNvPr id="11" name="">
            <a:extLst>
              <a:ext uri="{FF2B5EF4-FFF2-40B4-BE49-F238E27FC236}">
                <a16:creationId id="{F694BD5B-7E10-47EF-855C-3565070A68C4}"/>
              </a:ext>
            </a:extLst>
          </p:cNvPr>
          <p:cNvSpPr>
            <a:spLocks noGrp="1"/>
          </p:cNvSpPr>
          <p:nvPr/>
        </p:nvSpPr>
        <p:spPr>
          <a:xfrm>
            <a:off x="514350" y="1428750"/>
            <a:ext cx="8439150" cy="4724400"/>
          </a:xfrm>
          <a:prstGeom prst="rect">
            <a:avLst/>
          </a:prstGeom>
          <a:solidFill>
            <a:srgbClr val="FFFFFF"/>
          </a:solidFill>
          <a:ln w="9525">
            <a:solidFill>
              <a:srgbClr val="E5E7EB"/>
            </a:solidFill>
            <a:prstDash val="solid"/>
          </a:ln>
        </p:spPr>
      </p:sp>
      <p:pic>
        <p:nvPicPr>
          <p:cNvPr id="12" name=""/>
          <p:cNvPicPr>
            <a:picLocks noChangeAspect="1"/>
          </p:cNvPicPr>
          <p:nvPr/>
        </p:nvPicPr>
        <p:blipFill>
          <a:blip r:embed="Rf1f13ed1d2694a25"/>
          <a:stretch/>
        </p:blipFill>
        <p:spPr>
          <a:xfrm>
            <a:off x="2352675" y="1504950"/>
            <a:ext cx="4762500" cy="4572000"/>
          </a:xfrm>
          <a:prstGeom prst="rect">
            <a:avLst/>
          </a:prstGeom>
        </p:spPr>
      </p:pic>
      <p:sp>
        <p:nvSpPr>
          <p:cNvPr id="13" name="">
            <a:extLst>
              <a:ext uri="{FF2B5EF4-FFF2-40B4-BE49-F238E27FC236}">
                <a16:creationId id="{879B758F-BC89-4DFB-A79C-AEF190664056}"/>
              </a:ext>
            </a:extLst>
          </p:cNvPr>
          <p:cNvSpPr>
            <a:spLocks noGrp="1"/>
          </p:cNvSpPr>
          <p:nvPr/>
        </p:nvSpPr>
        <p:spPr>
          <a:xfrm>
            <a:off x="9429750" y="1790700"/>
            <a:ext cx="1952625" cy="1857375"/>
          </a:xfrm>
          <a:prstGeom prst="roundRect">
            <a:avLst>
              <a:gd name="adj" fmla="val 4103"/>
            </a:avLst>
          </a:prstGeom>
          <a:solidFill>
            <a:srgbClr val="EAF7EF"/>
          </a:solidFill>
          <a:ln w="9525">
            <a:solidFill>
              <a:srgbClr val="BCE4C9"/>
            </a:solidFill>
            <a:prstDash val="solid"/>
          </a:ln>
        </p:spPr>
      </p:sp>
      <p:sp>
        <p:nvSpPr>
          <p:cNvPr id="14" name="">
            <a:extLst>
              <a:ext uri="{FF2B5EF4-FFF2-40B4-BE49-F238E27FC236}">
                <a16:creationId id="{5766CCDF-D4DF-4CC7-9193-8F87A3128568}"/>
              </a:ext>
            </a:extLst>
          </p:cNvPr>
          <p:cNvSpPr>
            <a:spLocks noGrp="1"/>
          </p:cNvSpPr>
          <p:nvPr/>
        </p:nvSpPr>
        <p:spPr>
          <a:xfrm>
            <a:off x="9601200" y="1962150"/>
            <a:ext cx="1609725"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2F855A"/>
                </a:solidFill>
                <a:latin typeface="Aptos"/>
                <a:ea typeface="Aptos"/>
                <a:cs typeface="Aptos"/>
              </a:defRPr>
            </a:pPr>
            <a:r>
              <a:rPr sz="1350" b="1">
                <a:solidFill>
                  <a:srgbClr val="2F855A"/>
                </a:solidFill>
                <a:latin typeface="Aptos"/>
                <a:ea typeface="Aptos"/>
                <a:cs typeface="Aptos"/>
              </a:rPr>
              <a:t>Why it matters</a:t>
            </a:r>
          </a:p>
        </p:txBody>
      </p:sp>
      <p:sp>
        <p:nvSpPr>
          <p:cNvPr id="15" name="">
            <a:extLst>
              <a:ext uri="{FF2B5EF4-FFF2-40B4-BE49-F238E27FC236}">
                <a16:creationId id="{F38D73B5-1B15-47A6-8433-31ADE187A3A1}"/>
              </a:ext>
            </a:extLst>
          </p:cNvPr>
          <p:cNvSpPr>
            <a:spLocks noGrp="1"/>
          </p:cNvSpPr>
          <p:nvPr/>
        </p:nvSpPr>
        <p:spPr>
          <a:xfrm>
            <a:off x="9601200" y="2247900"/>
            <a:ext cx="1609725" cy="126682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0">
                <a:solidFill>
                  <a:srgbClr val="64748B"/>
                </a:solidFill>
                <a:latin typeface="Aptos"/>
                <a:ea typeface="Aptos"/>
                <a:cs typeface="Aptos"/>
              </a:defRPr>
            </a:pPr>
            <a:r>
              <a:rPr sz="938" b="0">
                <a:solidFill>
                  <a:srgbClr val="64748B"/>
                </a:solidFill>
                <a:latin typeface="Aptos"/>
                <a:ea typeface="Aptos"/>
                <a:cs typeface="Aptos"/>
              </a:rPr>
              <a:t>The framework separates adhesion, iron acquisition, secretion, capsule/surface, toxin and unassigned material before longitudinal or clinical overlays.</a:t>
            </a:r>
          </a:p>
        </p:txBody>
      </p:sp>
      <p:sp>
        <p:nvSpPr>
          <p:cNvPr id="16" name="">
            <a:extLst>
              <a:ext uri="{FF2B5EF4-FFF2-40B4-BE49-F238E27FC236}">
                <a16:creationId id="{4105CE1F-C7D7-4CB3-8D39-4FF5E145F715}"/>
              </a:ext>
            </a:extLst>
          </p:cNvPr>
          <p:cNvSpPr>
            <a:spLocks noGrp="1"/>
          </p:cNvSpPr>
          <p:nvPr/>
        </p:nvSpPr>
        <p:spPr>
          <a:xfrm>
            <a:off x="9620250" y="1524000"/>
            <a:ext cx="1924050" cy="247650"/>
          </a:xfrm>
          <a:prstGeom prst="rect">
            <a:avLst/>
          </a:prstGeom>
          <a:solidFill>
            <a:srgbClr val="EAF7EF"/>
          </a:solidFill>
          <a:ln w="0">
            <a:solidFill>
              <a:srgbClr val="EAF7EF"/>
            </a:solidFill>
            <a:prstDash val="solid"/>
          </a:ln>
        </p:spPr>
      </p:sp>
      <p:sp>
        <p:nvSpPr>
          <p:cNvPr id="17" name="">
            <a:extLst>
              <a:ext uri="{FF2B5EF4-FFF2-40B4-BE49-F238E27FC236}">
                <a16:creationId id="{2BED9B68-6863-4533-ADED-9DCE19ED06EE}"/>
              </a:ext>
            </a:extLst>
          </p:cNvPr>
          <p:cNvSpPr>
            <a:spLocks noGrp="1"/>
          </p:cNvSpPr>
          <p:nvPr/>
        </p:nvSpPr>
        <p:spPr>
          <a:xfrm>
            <a:off x="9715500" y="1571625"/>
            <a:ext cx="17335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2F855A"/>
                </a:solidFill>
                <a:latin typeface="Aptos"/>
                <a:ea typeface="Aptos"/>
                <a:cs typeface="Aptos"/>
              </a:defRPr>
            </a:pPr>
            <a:r>
              <a:rPr sz="788" b="1">
                <a:solidFill>
                  <a:srgbClr val="2F855A"/>
                </a:solidFill>
                <a:latin typeface="Aptos"/>
                <a:ea typeface="Aptos"/>
                <a:cs typeface="Aptos"/>
              </a:rPr>
              <a:t>Descriptive framework</a:t>
            </a:r>
          </a:p>
        </p:txBody>
      </p:sp>
    </p:spTree>
    <p:extLst>
      <p:ext uri="{BB962C8B-B14F-4D97-AF65-F5344CB8AC3E}">
        <p14:creationId val="480621846"/>
      </p:ext>
    </p:extLst>
  </p:cSld>
</p:sld>
</file>

<file path=ppt/slides/slide8.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p:grpSpPr>
      <p:sp>
        <p:nvSpPr>
          <p:cNvPr id="2" name="">
            <a:extLst>
              <a:ext uri="{FF2B5EF4-FFF2-40B4-BE49-F238E27FC236}">
                <a16:creationId id="{64AB1565-098A-4AE1-B934-375015CED489}"/>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175D795A-3CD6-41C3-A2CB-2A1FF52C4EF9}"/>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AD79DEB8-1A03-4CE5-BE32-F979CAD6EB70}"/>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LONGITUDINAL STABILITY</a:t>
            </a:r>
          </a:p>
        </p:txBody>
      </p:sp>
      <p:sp>
        <p:nvSpPr>
          <p:cNvPr id="5" name="">
            <a:extLst>
              <a:ext uri="{FF2B5EF4-FFF2-40B4-BE49-F238E27FC236}">
                <a16:creationId id="{7588136F-68EB-4FAE-8A2C-8F1A8C79FDD7}"/>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Most repeated within-resident VF profiles are highly stable</a:t>
            </a:r>
          </a:p>
        </p:txBody>
      </p:sp>
      <p:sp>
        <p:nvSpPr>
          <p:cNvPr id="6" name="">
            <a:extLst>
              <a:ext uri="{FF2B5EF4-FFF2-40B4-BE49-F238E27FC236}">
                <a16:creationId id="{481B0FD1-485C-471D-8430-C317B801CAAC}"/>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394 consecutive comparisons from 144 participants; median Jaccard similarity 1.000; 62.4% no VF change.</a:t>
            </a:r>
          </a:p>
        </p:txBody>
      </p:sp>
      <p:sp>
        <p:nvSpPr>
          <p:cNvPr id="7" name="">
            <a:extLst>
              <a:ext uri="{FF2B5EF4-FFF2-40B4-BE49-F238E27FC236}">
                <a16:creationId id="{9B4DAB9E-E25E-48B9-AF38-DD309F0E3AD4}"/>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9BF4075A-2FCC-4D63-9548-11E462562311}"/>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94F5C0BC-7442-4487-A44F-FA822506D8E3}"/>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7ABE84A9-3928-40AB-9D52-A3015AAC4307}"/>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08</a:t>
            </a:r>
          </a:p>
        </p:txBody>
      </p:sp>
      <p:sp>
        <p:nvSpPr>
          <p:cNvPr id="11" name="">
            <a:extLst>
              <a:ext uri="{FF2B5EF4-FFF2-40B4-BE49-F238E27FC236}">
                <a16:creationId id="{104DF006-76DF-4E57-B336-68C676E8EF92}"/>
              </a:ext>
            </a:extLst>
          </p:cNvPr>
          <p:cNvSpPr>
            <a:spLocks noGrp="1"/>
          </p:cNvSpPr>
          <p:nvPr/>
        </p:nvSpPr>
        <p:spPr>
          <a:xfrm>
            <a:off x="514350" y="1428750"/>
            <a:ext cx="8772525" cy="4629150"/>
          </a:xfrm>
          <a:prstGeom prst="rect">
            <a:avLst/>
          </a:prstGeom>
          <a:solidFill>
            <a:srgbClr val="FFFFFF"/>
          </a:solidFill>
          <a:ln w="9525">
            <a:solidFill>
              <a:srgbClr val="E5E7EB"/>
            </a:solidFill>
            <a:prstDash val="solid"/>
          </a:ln>
        </p:spPr>
      </p:sp>
      <p:pic>
        <p:nvPicPr>
          <p:cNvPr id="12" name=""/>
          <p:cNvPicPr>
            <a:picLocks noChangeAspect="1"/>
          </p:cNvPicPr>
          <p:nvPr/>
        </p:nvPicPr>
        <p:blipFill>
          <a:blip r:embed="Rcc3b52eb40eb42fc"/>
          <a:stretch/>
        </p:blipFill>
        <p:spPr>
          <a:xfrm>
            <a:off x="1791758" y="1504950"/>
            <a:ext cx="6217708" cy="4476750"/>
          </a:xfrm>
          <a:prstGeom prst="rect">
            <a:avLst/>
          </a:prstGeom>
        </p:spPr>
      </p:pic>
      <p:sp>
        <p:nvSpPr>
          <p:cNvPr id="13" name="">
            <a:extLst>
              <a:ext uri="{FF2B5EF4-FFF2-40B4-BE49-F238E27FC236}">
                <a16:creationId id="{7A4AF113-644A-4980-8C13-46AED3F8D3FB}"/>
              </a:ext>
            </a:extLst>
          </p:cNvPr>
          <p:cNvSpPr>
            <a:spLocks noGrp="1"/>
          </p:cNvSpPr>
          <p:nvPr/>
        </p:nvSpPr>
        <p:spPr>
          <a:xfrm>
            <a:off x="9572625" y="1790700"/>
            <a:ext cx="1809750" cy="1809750"/>
          </a:xfrm>
          <a:prstGeom prst="roundRect">
            <a:avLst>
              <a:gd name="adj" fmla="val 4211"/>
            </a:avLst>
          </a:prstGeom>
          <a:solidFill>
            <a:srgbClr val="EAF7EF"/>
          </a:solidFill>
          <a:ln w="9525">
            <a:solidFill>
              <a:srgbClr val="BCE4C9"/>
            </a:solidFill>
            <a:prstDash val="solid"/>
          </a:ln>
        </p:spPr>
      </p:sp>
      <p:sp>
        <p:nvSpPr>
          <p:cNvPr id="14" name="">
            <a:extLst>
              <a:ext uri="{FF2B5EF4-FFF2-40B4-BE49-F238E27FC236}">
                <a16:creationId id="{17C71D0B-E9A8-4911-A9D7-F14B5714FC35}"/>
              </a:ext>
            </a:extLst>
          </p:cNvPr>
          <p:cNvSpPr>
            <a:spLocks noGrp="1"/>
          </p:cNvSpPr>
          <p:nvPr/>
        </p:nvSpPr>
        <p:spPr>
          <a:xfrm>
            <a:off x="9744075" y="1962150"/>
            <a:ext cx="1466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2F855A"/>
                </a:solidFill>
                <a:latin typeface="Aptos"/>
                <a:ea typeface="Aptos"/>
                <a:cs typeface="Aptos"/>
              </a:defRPr>
            </a:pPr>
            <a:r>
              <a:rPr sz="1350" b="1">
                <a:solidFill>
                  <a:srgbClr val="2F855A"/>
                </a:solidFill>
                <a:latin typeface="Aptos"/>
                <a:ea typeface="Aptos"/>
                <a:cs typeface="Aptos"/>
              </a:rPr>
              <a:t>Central finding</a:t>
            </a:r>
          </a:p>
        </p:txBody>
      </p:sp>
      <p:sp>
        <p:nvSpPr>
          <p:cNvPr id="15" name="">
            <a:extLst>
              <a:ext uri="{FF2B5EF4-FFF2-40B4-BE49-F238E27FC236}">
                <a16:creationId id="{A8B34F58-F3CA-4EBE-8C09-D4D6CFB4DA24}"/>
              </a:ext>
            </a:extLst>
          </p:cNvPr>
          <p:cNvSpPr>
            <a:spLocks noGrp="1"/>
          </p:cNvSpPr>
          <p:nvPr/>
        </p:nvSpPr>
        <p:spPr>
          <a:xfrm>
            <a:off x="9744075" y="2247900"/>
            <a:ext cx="1466850" cy="12192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0">
                <a:solidFill>
                  <a:srgbClr val="64748B"/>
                </a:solidFill>
                <a:latin typeface="Aptos"/>
                <a:ea typeface="Aptos"/>
                <a:cs typeface="Aptos"/>
              </a:defRPr>
            </a:pPr>
            <a:r>
              <a:rPr sz="938" b="0">
                <a:solidFill>
                  <a:srgbClr val="64748B"/>
                </a:solidFill>
                <a:latin typeface="Aptos"/>
                <a:ea typeface="Aptos"/>
                <a:cs typeface="Aptos"/>
              </a:rPr>
              <a:t>The dominant pattern is VF profile conservation across repeated urinary E. coli isolates from the same resident.</a:t>
            </a:r>
          </a:p>
        </p:txBody>
      </p:sp>
      <p:sp>
        <p:nvSpPr>
          <p:cNvPr id="16" name="">
            <a:extLst>
              <a:ext uri="{FF2B5EF4-FFF2-40B4-BE49-F238E27FC236}">
                <a16:creationId id="{EB395775-FF69-4FE7-8115-904114C75855}"/>
              </a:ext>
            </a:extLst>
          </p:cNvPr>
          <p:cNvSpPr>
            <a:spLocks noGrp="1"/>
          </p:cNvSpPr>
          <p:nvPr/>
        </p:nvSpPr>
        <p:spPr>
          <a:xfrm>
            <a:off x="9620250" y="1524000"/>
            <a:ext cx="2000250" cy="247650"/>
          </a:xfrm>
          <a:prstGeom prst="rect">
            <a:avLst/>
          </a:prstGeom>
          <a:solidFill>
            <a:srgbClr val="EAF7EF"/>
          </a:solidFill>
          <a:ln w="0">
            <a:solidFill>
              <a:srgbClr val="EAF7EF"/>
            </a:solidFill>
            <a:prstDash val="solid"/>
          </a:ln>
        </p:spPr>
      </p:sp>
      <p:sp>
        <p:nvSpPr>
          <p:cNvPr id="17" name="">
            <a:extLst>
              <a:ext uri="{FF2B5EF4-FFF2-40B4-BE49-F238E27FC236}">
                <a16:creationId id="{D6B8B9BB-8CE2-412E-8C92-D8251777415F}"/>
              </a:ext>
            </a:extLst>
          </p:cNvPr>
          <p:cNvSpPr>
            <a:spLocks noGrp="1"/>
          </p:cNvSpPr>
          <p:nvPr/>
        </p:nvSpPr>
        <p:spPr>
          <a:xfrm>
            <a:off x="9715500" y="1571625"/>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2F855A"/>
                </a:solidFill>
                <a:latin typeface="Aptos"/>
                <a:ea typeface="Aptos"/>
                <a:cs typeface="Aptos"/>
              </a:defRPr>
            </a:pPr>
            <a:r>
              <a:rPr sz="788" b="1">
                <a:solidFill>
                  <a:srgbClr val="2F855A"/>
                </a:solidFill>
                <a:latin typeface="Aptos"/>
                <a:ea typeface="Aptos"/>
                <a:cs typeface="Aptos"/>
              </a:rPr>
              <a:t>Descriptive longitudinal</a:t>
            </a:r>
          </a:p>
        </p:txBody>
      </p:sp>
    </p:spTree>
    <p:extLst>
      <p:ext uri="{BB962C8B-B14F-4D97-AF65-F5344CB8AC3E}">
        <p14:creationId val="1897942421"/>
      </p:ext>
    </p:extLst>
  </p:cSld>
</p:sld>
</file>

<file path=ppt/slides/slide9.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p:grpSpPr>
      <p:sp>
        <p:nvSpPr>
          <p:cNvPr id="2" name="">
            <a:extLst>
              <a:ext uri="{FF2B5EF4-FFF2-40B4-BE49-F238E27FC236}">
                <a16:creationId id="{21253280-7512-42B3-926F-1606984C073B}"/>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C66D7F1E-5967-42AB-8F95-3F3D3F983922}"/>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9FD12ECB-EE46-4E0D-8ECA-CA5EDA0819FB}"/>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LONGITUDINAL CHANGE</a:t>
            </a:r>
          </a:p>
        </p:txBody>
      </p:sp>
      <p:sp>
        <p:nvSpPr>
          <p:cNvPr id="5" name="">
            <a:extLst>
              <a:ext uri="{FF2B5EF4-FFF2-40B4-BE49-F238E27FC236}">
                <a16:creationId id="{284807B2-A84F-482B-A9BC-73772796C5C8}"/>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When profiles change, gain/loss summaries flag candidates for follow-up</a:t>
            </a:r>
          </a:p>
        </p:txBody>
      </p:sp>
      <p:sp>
        <p:nvSpPr>
          <p:cNvPr id="6" name="">
            <a:extLst>
              <a:ext uri="{FF2B5EF4-FFF2-40B4-BE49-F238E27FC236}">
                <a16:creationId id="{F5E1942D-5D27-4144-8687-E6CB6531B3E6}"/>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Observed gain/loss may reflect replacement, assembly/calling differences, or true gene-content change.</a:t>
            </a:r>
          </a:p>
        </p:txBody>
      </p:sp>
      <p:sp>
        <p:nvSpPr>
          <p:cNvPr id="7" name="">
            <a:extLst>
              <a:ext uri="{FF2B5EF4-FFF2-40B4-BE49-F238E27FC236}">
                <a16:creationId id="{70A73BCD-5DF2-41C5-BACC-8AF9763D55F6}"/>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FC1092FB-6DBD-4FBF-BCED-D1C8655AEB21}"/>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BC87EB60-8E62-4251-B59F-1420E5EC756F}"/>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FEE77E67-CAE7-47F7-9FC8-0FB70C4F486F}"/>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09</a:t>
            </a:r>
          </a:p>
        </p:txBody>
      </p:sp>
      <p:sp>
        <p:nvSpPr>
          <p:cNvPr id="11" name="">
            <a:extLst>
              <a:ext uri="{FF2B5EF4-FFF2-40B4-BE49-F238E27FC236}">
                <a16:creationId id="{BB7322A9-14C6-4F2F-A187-6B243DD4E5E4}"/>
              </a:ext>
            </a:extLst>
          </p:cNvPr>
          <p:cNvSpPr>
            <a:spLocks noGrp="1"/>
          </p:cNvSpPr>
          <p:nvPr/>
        </p:nvSpPr>
        <p:spPr>
          <a:xfrm>
            <a:off x="476250" y="1409700"/>
            <a:ext cx="9963150" cy="4743450"/>
          </a:xfrm>
          <a:prstGeom prst="rect">
            <a:avLst/>
          </a:prstGeom>
          <a:solidFill>
            <a:srgbClr val="FFFFFF"/>
          </a:solidFill>
          <a:ln w="9525">
            <a:solidFill>
              <a:srgbClr val="E5E7EB"/>
            </a:solidFill>
            <a:prstDash val="solid"/>
          </a:ln>
        </p:spPr>
      </p:sp>
      <p:pic>
        <p:nvPicPr>
          <p:cNvPr id="12" name=""/>
          <p:cNvPicPr>
            <a:picLocks noChangeAspect="1"/>
          </p:cNvPicPr>
          <p:nvPr/>
        </p:nvPicPr>
        <p:blipFill>
          <a:blip r:embed="Re0bc24fbf5ee4c41"/>
          <a:stretch/>
        </p:blipFill>
        <p:spPr>
          <a:xfrm>
            <a:off x="2178504" y="1485900"/>
            <a:ext cx="6558643" cy="4591050"/>
          </a:xfrm>
          <a:prstGeom prst="rect">
            <a:avLst/>
          </a:prstGeom>
        </p:spPr>
      </p:pic>
      <p:sp>
        <p:nvSpPr>
          <p:cNvPr id="13" name="">
            <a:extLst>
              <a:ext uri="{FF2B5EF4-FFF2-40B4-BE49-F238E27FC236}">
                <a16:creationId id="{F171671D-21C5-482C-B55B-0DE1A2F505FA}"/>
              </a:ext>
            </a:extLst>
          </p:cNvPr>
          <p:cNvSpPr>
            <a:spLocks noGrp="1"/>
          </p:cNvSpPr>
          <p:nvPr/>
        </p:nvSpPr>
        <p:spPr>
          <a:xfrm>
            <a:off x="10496550" y="1771650"/>
            <a:ext cx="1123950" cy="2076450"/>
          </a:xfrm>
          <a:prstGeom prst="roundRect">
            <a:avLst>
              <a:gd name="adj" fmla="val 6780"/>
            </a:avLst>
          </a:prstGeom>
          <a:solidFill>
            <a:srgbClr val="EEF3F8"/>
          </a:solidFill>
          <a:ln w="9525">
            <a:solidFill>
              <a:srgbClr val="CBD5E1"/>
            </a:solidFill>
            <a:prstDash val="solid"/>
          </a:ln>
        </p:spPr>
      </p:sp>
      <p:sp>
        <p:nvSpPr>
          <p:cNvPr id="14" name="">
            <a:extLst>
              <a:ext uri="{FF2B5EF4-FFF2-40B4-BE49-F238E27FC236}">
                <a16:creationId id="{65EAE719-2C48-4714-B166-294D5EA57EC4}"/>
              </a:ext>
            </a:extLst>
          </p:cNvPr>
          <p:cNvSpPr>
            <a:spLocks noGrp="1"/>
          </p:cNvSpPr>
          <p:nvPr/>
        </p:nvSpPr>
        <p:spPr>
          <a:xfrm>
            <a:off x="10668000" y="1943100"/>
            <a:ext cx="7810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111827"/>
                </a:solidFill>
                <a:latin typeface="Aptos"/>
                <a:ea typeface="Aptos"/>
                <a:cs typeface="Aptos"/>
              </a:defRPr>
            </a:pPr>
            <a:r>
              <a:rPr sz="1350" b="1">
                <a:solidFill>
                  <a:srgbClr val="111827"/>
                </a:solidFill>
                <a:latin typeface="Aptos"/>
                <a:ea typeface="Aptos"/>
                <a:cs typeface="Aptos"/>
              </a:rPr>
              <a:t>Caution</a:t>
            </a:r>
          </a:p>
        </p:txBody>
      </p:sp>
      <p:sp>
        <p:nvSpPr>
          <p:cNvPr id="15" name="">
            <a:extLst>
              <a:ext uri="{FF2B5EF4-FFF2-40B4-BE49-F238E27FC236}">
                <a16:creationId id="{F29C8BCA-CBB3-4B27-905D-87A19DB566A9}"/>
              </a:ext>
            </a:extLst>
          </p:cNvPr>
          <p:cNvSpPr>
            <a:spLocks noGrp="1"/>
          </p:cNvSpPr>
          <p:nvPr/>
        </p:nvSpPr>
        <p:spPr>
          <a:xfrm>
            <a:off x="10668000" y="2228850"/>
            <a:ext cx="781050" cy="14859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64748B"/>
                </a:solidFill>
                <a:latin typeface="Aptos"/>
                <a:ea typeface="Aptos"/>
                <a:cs typeface="Aptos"/>
              </a:defRPr>
            </a:pPr>
            <a:r>
              <a:rPr sz="863" b="0">
                <a:solidFill>
                  <a:srgbClr val="64748B"/>
                </a:solidFill>
                <a:latin typeface="Aptos"/>
                <a:ea typeface="Aptos"/>
                <a:cs typeface="Aptos"/>
              </a:rPr>
              <a:t>Do not overread gain/loss without lineage and genome-distance context.</a:t>
            </a:r>
          </a:p>
        </p:txBody>
      </p:sp>
      <p:sp>
        <p:nvSpPr>
          <p:cNvPr id="16" name="">
            <a:extLst>
              <a:ext uri="{FF2B5EF4-FFF2-40B4-BE49-F238E27FC236}">
                <a16:creationId id="{F8A40583-3F2C-42A7-9BC5-3473A21911AD}"/>
              </a:ext>
            </a:extLst>
          </p:cNvPr>
          <p:cNvSpPr>
            <a:spLocks noGrp="1"/>
          </p:cNvSpPr>
          <p:nvPr/>
        </p:nvSpPr>
        <p:spPr>
          <a:xfrm>
            <a:off x="10439400" y="4000500"/>
            <a:ext cx="1181100" cy="247650"/>
          </a:xfrm>
          <a:prstGeom prst="rect">
            <a:avLst/>
          </a:prstGeom>
          <a:solidFill>
            <a:srgbClr val="EEF3F8"/>
          </a:solidFill>
          <a:ln w="0">
            <a:solidFill>
              <a:srgbClr val="EEF3F8"/>
            </a:solidFill>
            <a:prstDash val="solid"/>
          </a:ln>
        </p:spPr>
      </p:sp>
      <p:sp>
        <p:nvSpPr>
          <p:cNvPr id="17" name="">
            <a:extLst>
              <a:ext uri="{FF2B5EF4-FFF2-40B4-BE49-F238E27FC236}">
                <a16:creationId id="{B3CBED6F-8E53-4593-B424-1675382583FA}"/>
              </a:ext>
            </a:extLst>
          </p:cNvPr>
          <p:cNvSpPr>
            <a:spLocks noGrp="1"/>
          </p:cNvSpPr>
          <p:nvPr/>
        </p:nvSpPr>
        <p:spPr>
          <a:xfrm>
            <a:off x="10534650" y="4048125"/>
            <a:ext cx="9906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64748B"/>
                </a:solidFill>
                <a:latin typeface="Aptos"/>
                <a:ea typeface="Aptos"/>
                <a:cs typeface="Aptos"/>
              </a:defRPr>
            </a:pPr>
            <a:r>
              <a:rPr sz="788" b="1">
                <a:solidFill>
                  <a:srgbClr val="64748B"/>
                </a:solidFill>
                <a:latin typeface="Aptos"/>
                <a:ea typeface="Aptos"/>
                <a:cs typeface="Aptos"/>
              </a:rPr>
              <a:t>Descriptive</a:t>
            </a:r>
          </a:p>
        </p:txBody>
      </p:sp>
    </p:spTree>
    <p:extLst>
      <p:ext uri="{BB962C8B-B14F-4D97-AF65-F5344CB8AC3E}">
        <p14:creationId val="1490517865"/>
      </p:ext>
    </p:extLst>
  </p:cSld>
</p:sld>
</file>

<file path=ppt/slides/slide10.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p:grpSpPr>
      <p:sp>
        <p:nvSpPr>
          <p:cNvPr id="2" name="">
            <a:extLst>
              <a:ext uri="{FF2B5EF4-FFF2-40B4-BE49-F238E27FC236}">
                <a16:creationId id="{E0EB02AC-582E-4176-A320-3550360FA07A}"/>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CCDFF969-568D-47FB-984E-9CB80DD4F056}"/>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7E4106BE-D2CF-4B2E-8729-DC8DA4DE1BFD}"/>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LINEAGE CONTEXT</a:t>
            </a:r>
          </a:p>
        </p:txBody>
      </p:sp>
      <p:sp>
        <p:nvSpPr>
          <p:cNvPr id="5" name="">
            <a:extLst>
              <a:ext uri="{FF2B5EF4-FFF2-40B4-BE49-F238E27FC236}">
                <a16:creationId id="{E115FB90-BEB1-4336-BB00-53EE14695A96}"/>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Sequence-type consistency helps interpret VF stability</a:t>
            </a:r>
          </a:p>
        </p:txBody>
      </p:sp>
      <p:sp>
        <p:nvSpPr>
          <p:cNvPr id="6" name="">
            <a:extLst>
              <a:ext uri="{FF2B5EF4-FFF2-40B4-BE49-F238E27FC236}">
                <a16:creationId id="{F16BF10A-5732-4774-BA6F-2F462565E982}"/>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Same-ST comparisons support persistent-lineage context, but ST agreement alone does not prove same strain.</a:t>
            </a:r>
          </a:p>
        </p:txBody>
      </p:sp>
      <p:sp>
        <p:nvSpPr>
          <p:cNvPr id="7" name="">
            <a:extLst>
              <a:ext uri="{FF2B5EF4-FFF2-40B4-BE49-F238E27FC236}">
                <a16:creationId id="{B8D3439A-70E0-46CE-8D55-7D01785D4737}"/>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7E1BF93F-A63E-4252-AD59-3E9AAB679613}"/>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12587B1E-EF1D-41ED-8D58-6870C15D3B1A}"/>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AD0231EF-91F6-4CC9-A993-9F66328E0877}"/>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10</a:t>
            </a:r>
          </a:p>
        </p:txBody>
      </p:sp>
      <p:sp>
        <p:nvSpPr>
          <p:cNvPr id="11" name="">
            <a:extLst>
              <a:ext uri="{FF2B5EF4-FFF2-40B4-BE49-F238E27FC236}">
                <a16:creationId id="{24681AD5-3E47-4BBB-A382-E383987A3B01}"/>
              </a:ext>
            </a:extLst>
          </p:cNvPr>
          <p:cNvSpPr>
            <a:spLocks noGrp="1"/>
          </p:cNvSpPr>
          <p:nvPr/>
        </p:nvSpPr>
        <p:spPr>
          <a:xfrm>
            <a:off x="514350" y="1428750"/>
            <a:ext cx="8724900" cy="4629150"/>
          </a:xfrm>
          <a:prstGeom prst="rect">
            <a:avLst/>
          </a:prstGeom>
          <a:solidFill>
            <a:srgbClr val="FFFFFF"/>
          </a:solidFill>
          <a:ln w="9525">
            <a:solidFill>
              <a:srgbClr val="E5E7EB"/>
            </a:solidFill>
            <a:prstDash val="solid"/>
          </a:ln>
        </p:spPr>
      </p:sp>
      <p:pic>
        <p:nvPicPr>
          <p:cNvPr id="12" name=""/>
          <p:cNvPicPr>
            <a:picLocks noChangeAspect="1"/>
          </p:cNvPicPr>
          <p:nvPr/>
        </p:nvPicPr>
        <p:blipFill>
          <a:blip r:embed="Rf3393908a140467f"/>
          <a:stretch/>
        </p:blipFill>
        <p:spPr>
          <a:xfrm>
            <a:off x="2078831" y="1504950"/>
            <a:ext cx="5595938" cy="4476750"/>
          </a:xfrm>
          <a:prstGeom prst="rect">
            <a:avLst/>
          </a:prstGeom>
        </p:spPr>
      </p:pic>
      <p:sp>
        <p:nvSpPr>
          <p:cNvPr id="13" name="">
            <a:extLst>
              <a:ext uri="{FF2B5EF4-FFF2-40B4-BE49-F238E27FC236}">
                <a16:creationId id="{7E41A097-C44E-44AD-B5D4-BCC91F61691C}"/>
              </a:ext>
            </a:extLst>
          </p:cNvPr>
          <p:cNvSpPr>
            <a:spLocks noGrp="1"/>
          </p:cNvSpPr>
          <p:nvPr/>
        </p:nvSpPr>
        <p:spPr>
          <a:xfrm>
            <a:off x="9572625" y="1771650"/>
            <a:ext cx="1809750" cy="1962150"/>
          </a:xfrm>
          <a:prstGeom prst="roundRect">
            <a:avLst>
              <a:gd name="adj" fmla="val 4211"/>
            </a:avLst>
          </a:prstGeom>
          <a:solidFill>
            <a:srgbClr val="EEF3F8"/>
          </a:solidFill>
          <a:ln w="9525">
            <a:solidFill>
              <a:srgbClr val="CBD5E1"/>
            </a:solidFill>
            <a:prstDash val="solid"/>
          </a:ln>
        </p:spPr>
      </p:sp>
      <p:sp>
        <p:nvSpPr>
          <p:cNvPr id="14" name="">
            <a:extLst>
              <a:ext uri="{FF2B5EF4-FFF2-40B4-BE49-F238E27FC236}">
                <a16:creationId id="{AD306515-3DAA-4D13-9BE3-7BCA48C1DC38}"/>
              </a:ext>
            </a:extLst>
          </p:cNvPr>
          <p:cNvSpPr>
            <a:spLocks noGrp="1"/>
          </p:cNvSpPr>
          <p:nvPr/>
        </p:nvSpPr>
        <p:spPr>
          <a:xfrm>
            <a:off x="9744075" y="1943100"/>
            <a:ext cx="14668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111827"/>
                </a:solidFill>
                <a:latin typeface="Aptos"/>
                <a:ea typeface="Aptos"/>
                <a:cs typeface="Aptos"/>
              </a:defRPr>
            </a:pPr>
            <a:r>
              <a:rPr sz="1350" b="1">
                <a:solidFill>
                  <a:srgbClr val="111827"/>
                </a:solidFill>
                <a:latin typeface="Aptos"/>
                <a:ea typeface="Aptos"/>
                <a:cs typeface="Aptos"/>
              </a:rPr>
              <a:t>Use as diagnostic</a:t>
            </a:r>
          </a:p>
        </p:txBody>
      </p:sp>
      <p:sp>
        <p:nvSpPr>
          <p:cNvPr id="15" name="">
            <a:extLst>
              <a:ext uri="{FF2B5EF4-FFF2-40B4-BE49-F238E27FC236}">
                <a16:creationId id="{2D8E7F2E-EB60-461A-9B7B-1D1D9A5C59B8}"/>
              </a:ext>
            </a:extLst>
          </p:cNvPr>
          <p:cNvSpPr>
            <a:spLocks noGrp="1"/>
          </p:cNvSpPr>
          <p:nvPr/>
        </p:nvSpPr>
        <p:spPr>
          <a:xfrm>
            <a:off x="9744075" y="2228850"/>
            <a:ext cx="1466850" cy="1371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0">
                <a:solidFill>
                  <a:srgbClr val="64748B"/>
                </a:solidFill>
                <a:latin typeface="Aptos"/>
                <a:ea typeface="Aptos"/>
                <a:cs typeface="Aptos"/>
              </a:defRPr>
            </a:pPr>
            <a:r>
              <a:rPr sz="938" b="0">
                <a:solidFill>
                  <a:srgbClr val="64748B"/>
                </a:solidFill>
                <a:latin typeface="Aptos"/>
                <a:ea typeface="Aptos"/>
                <a:cs typeface="Aptos"/>
              </a:rPr>
              <a:t>Lineage context is essential before interpreting profile changes or clinical-status contrasts.</a:t>
            </a:r>
          </a:p>
        </p:txBody>
      </p:sp>
      <p:sp>
        <p:nvSpPr>
          <p:cNvPr id="16" name="">
            <a:extLst>
              <a:ext uri="{FF2B5EF4-FFF2-40B4-BE49-F238E27FC236}">
                <a16:creationId id="{EE70F8BC-811B-4EEE-8496-C610A181E6E4}"/>
              </a:ext>
            </a:extLst>
          </p:cNvPr>
          <p:cNvSpPr>
            <a:spLocks noGrp="1"/>
          </p:cNvSpPr>
          <p:nvPr/>
        </p:nvSpPr>
        <p:spPr>
          <a:xfrm>
            <a:off x="9620250" y="1524000"/>
            <a:ext cx="2095500" cy="247650"/>
          </a:xfrm>
          <a:prstGeom prst="rect">
            <a:avLst/>
          </a:prstGeom>
          <a:solidFill>
            <a:srgbClr val="EEF3F8"/>
          </a:solidFill>
          <a:ln w="0">
            <a:solidFill>
              <a:srgbClr val="EEF3F8"/>
            </a:solidFill>
            <a:prstDash val="solid"/>
          </a:ln>
        </p:spPr>
      </p:sp>
      <p:sp>
        <p:nvSpPr>
          <p:cNvPr id="17" name="">
            <a:extLst>
              <a:ext uri="{FF2B5EF4-FFF2-40B4-BE49-F238E27FC236}">
                <a16:creationId id="{A5088D2E-C87D-47BA-AFB2-E543DFA68FE2}"/>
              </a:ext>
            </a:extLst>
          </p:cNvPr>
          <p:cNvSpPr>
            <a:spLocks noGrp="1"/>
          </p:cNvSpPr>
          <p:nvPr/>
        </p:nvSpPr>
        <p:spPr>
          <a:xfrm>
            <a:off x="9715500" y="1571625"/>
            <a:ext cx="19050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64748B"/>
                </a:solidFill>
                <a:latin typeface="Aptos"/>
                <a:ea typeface="Aptos"/>
                <a:cs typeface="Aptos"/>
              </a:defRPr>
            </a:pPr>
            <a:r>
              <a:rPr sz="788" b="1">
                <a:solidFill>
                  <a:srgbClr val="64748B"/>
                </a:solidFill>
                <a:latin typeface="Aptos"/>
                <a:ea typeface="Aptos"/>
                <a:cs typeface="Aptos"/>
              </a:rPr>
              <a:t>Diagnostic / descriptive</a:t>
            </a:r>
          </a:p>
        </p:txBody>
      </p:sp>
    </p:spTree>
    <p:extLst>
      <p:ext uri="{BB962C8B-B14F-4D97-AF65-F5344CB8AC3E}">
        <p14:creationId val="1515536870"/>
      </p:ext>
    </p:extLst>
  </p:cSld>
</p:sld>
</file>

<file path=ppt/slides/slide1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p:grpSpPr>
      <p:sp>
        <p:nvSpPr>
          <p:cNvPr id="2" name="">
            <a:extLst>
              <a:ext uri="{FF2B5EF4-FFF2-40B4-BE49-F238E27FC236}">
                <a16:creationId id="{8CD6462A-9ED3-4049-AEB3-1C11C5EDE1FC}"/>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F961CF39-C56C-448C-B399-71C62C892404}"/>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C9E03DBB-5B14-46A2-8F8D-04878CCDE1C7}"/>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CLINICAL ANNOTATION APPLICATION 1</a:t>
            </a:r>
          </a:p>
        </p:txBody>
      </p:sp>
      <p:sp>
        <p:nvSpPr>
          <p:cNvPr id="5" name="">
            <a:extLst>
              <a:ext uri="{FF2B5EF4-FFF2-40B4-BE49-F238E27FC236}">
                <a16:creationId id="{87523DB9-7F6C-48F5-BFC5-629820A31462}"/>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UTI status overlay remains exploratory under the sparse denominator</a:t>
            </a:r>
          </a:p>
        </p:txBody>
      </p:sp>
      <p:sp>
        <p:nvSpPr>
          <p:cNvPr id="6" name="">
            <a:extLst>
              <a:ext uri="{FF2B5EF4-FFF2-40B4-BE49-F238E27FC236}">
                <a16:creationId id="{7BE72F2C-1BCF-466C-AE9B-9DC5C4E3ED9C}"/>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556 model-ready episodes: 17 UTI and 539 Not_UTI; no global VF association remains significant after FDR correction.</a:t>
            </a:r>
          </a:p>
        </p:txBody>
      </p:sp>
      <p:sp>
        <p:nvSpPr>
          <p:cNvPr id="7" name="">
            <a:extLst>
              <a:ext uri="{FF2B5EF4-FFF2-40B4-BE49-F238E27FC236}">
                <a16:creationId id="{5D9324F7-812A-4F76-9572-7E4B5F669CAD}"/>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D478756A-F6C3-4FB4-A92E-BF275F567AB6}"/>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11A22AAF-C39D-474A-B910-F39F7A8F81CD}"/>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F20EB977-899F-4687-8A63-8A9C7579EBE4}"/>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11</a:t>
            </a:r>
          </a:p>
        </p:txBody>
      </p:sp>
      <p:sp>
        <p:nvSpPr>
          <p:cNvPr id="11" name="">
            <a:extLst>
              <a:ext uri="{FF2B5EF4-FFF2-40B4-BE49-F238E27FC236}">
                <a16:creationId id="{45DE253B-52C4-4206-A966-F280471F5DEC}"/>
              </a:ext>
            </a:extLst>
          </p:cNvPr>
          <p:cNvSpPr>
            <a:spLocks noGrp="1"/>
          </p:cNvSpPr>
          <p:nvPr/>
        </p:nvSpPr>
        <p:spPr>
          <a:xfrm>
            <a:off x="514350" y="1428750"/>
            <a:ext cx="8629650" cy="4629150"/>
          </a:xfrm>
          <a:prstGeom prst="rect">
            <a:avLst/>
          </a:prstGeom>
          <a:solidFill>
            <a:srgbClr val="FFFFFF"/>
          </a:solidFill>
          <a:ln w="9525">
            <a:solidFill>
              <a:srgbClr val="E5E7EB"/>
            </a:solidFill>
            <a:prstDash val="solid"/>
          </a:ln>
        </p:spPr>
      </p:sp>
      <p:pic>
        <p:nvPicPr>
          <p:cNvPr id="12" name=""/>
          <p:cNvPicPr>
            <a:picLocks noChangeAspect="1"/>
          </p:cNvPicPr>
          <p:nvPr/>
        </p:nvPicPr>
        <p:blipFill>
          <a:blip r:embed="Rc0e806cc6d2640f3"/>
          <a:stretch/>
        </p:blipFill>
        <p:spPr>
          <a:xfrm>
            <a:off x="1041156" y="1504950"/>
            <a:ext cx="7576038" cy="4476750"/>
          </a:xfrm>
          <a:prstGeom prst="rect">
            <a:avLst/>
          </a:prstGeom>
        </p:spPr>
      </p:pic>
      <p:sp>
        <p:nvSpPr>
          <p:cNvPr id="13" name="">
            <a:extLst>
              <a:ext uri="{FF2B5EF4-FFF2-40B4-BE49-F238E27FC236}">
                <a16:creationId id="{AD1D9FF3-D5BE-4FC1-8F79-DB821D55D8C2}"/>
              </a:ext>
            </a:extLst>
          </p:cNvPr>
          <p:cNvSpPr>
            <a:spLocks noGrp="1"/>
          </p:cNvSpPr>
          <p:nvPr/>
        </p:nvSpPr>
        <p:spPr>
          <a:xfrm>
            <a:off x="9572625" y="1771650"/>
            <a:ext cx="1847850" cy="2000250"/>
          </a:xfrm>
          <a:prstGeom prst="roundRect">
            <a:avLst>
              <a:gd name="adj" fmla="val 4124"/>
            </a:avLst>
          </a:prstGeom>
          <a:solidFill>
            <a:srgbClr val="FFF4E6"/>
          </a:solidFill>
          <a:ln w="9525">
            <a:solidFill>
              <a:srgbClr val="F4C98A"/>
            </a:solidFill>
            <a:prstDash val="solid"/>
          </a:ln>
        </p:spPr>
      </p:sp>
      <p:sp>
        <p:nvSpPr>
          <p:cNvPr id="14" name="">
            <a:extLst>
              <a:ext uri="{FF2B5EF4-FFF2-40B4-BE49-F238E27FC236}">
                <a16:creationId id="{98C9F687-559E-4C33-BCFB-C04358B9E81B}"/>
              </a:ext>
            </a:extLst>
          </p:cNvPr>
          <p:cNvSpPr>
            <a:spLocks noGrp="1"/>
          </p:cNvSpPr>
          <p:nvPr/>
        </p:nvSpPr>
        <p:spPr>
          <a:xfrm>
            <a:off x="9744075" y="1943100"/>
            <a:ext cx="15049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D97706"/>
                </a:solidFill>
                <a:latin typeface="Aptos"/>
                <a:ea typeface="Aptos"/>
                <a:cs typeface="Aptos"/>
              </a:defRPr>
            </a:pPr>
            <a:r>
              <a:rPr sz="1350" b="1">
                <a:solidFill>
                  <a:srgbClr val="D97706"/>
                </a:solidFill>
                <a:latin typeface="Aptos"/>
                <a:ea typeface="Aptos"/>
                <a:cs typeface="Aptos"/>
              </a:rPr>
              <a:t>Safe claim</a:t>
            </a:r>
          </a:p>
        </p:txBody>
      </p:sp>
      <p:sp>
        <p:nvSpPr>
          <p:cNvPr id="15" name="">
            <a:extLst>
              <a:ext uri="{FF2B5EF4-FFF2-40B4-BE49-F238E27FC236}">
                <a16:creationId id="{ADAA03A7-422E-4FE2-B05F-DB6B18D38514}"/>
              </a:ext>
            </a:extLst>
          </p:cNvPr>
          <p:cNvSpPr>
            <a:spLocks noGrp="1"/>
          </p:cNvSpPr>
          <p:nvPr/>
        </p:nvSpPr>
        <p:spPr>
          <a:xfrm>
            <a:off x="9744075" y="2228850"/>
            <a:ext cx="1504950" cy="1409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0">
                <a:solidFill>
                  <a:srgbClr val="64748B"/>
                </a:solidFill>
                <a:latin typeface="Aptos"/>
                <a:ea typeface="Aptos"/>
                <a:cs typeface="Aptos"/>
              </a:defRPr>
            </a:pPr>
            <a:r>
              <a:rPr sz="938" b="0">
                <a:solidFill>
                  <a:srgbClr val="64748B"/>
                </a:solidFill>
                <a:latin typeface="Aptos"/>
                <a:ea typeface="Aptos"/>
                <a:cs typeface="Aptos"/>
              </a:rPr>
              <a:t>Nominal screens and model diagnostics are hypothesis-generating. They do not establish a robust VF status association.</a:t>
            </a:r>
          </a:p>
        </p:txBody>
      </p:sp>
      <p:sp>
        <p:nvSpPr>
          <p:cNvPr id="16" name="">
            <a:extLst>
              <a:ext uri="{FF2B5EF4-FFF2-40B4-BE49-F238E27FC236}">
                <a16:creationId id="{4AD6BE3A-C4E1-4E0F-A9EA-27878169AD09}"/>
              </a:ext>
            </a:extLst>
          </p:cNvPr>
          <p:cNvSpPr>
            <a:spLocks noGrp="1"/>
          </p:cNvSpPr>
          <p:nvPr/>
        </p:nvSpPr>
        <p:spPr>
          <a:xfrm>
            <a:off x="9620250" y="1524000"/>
            <a:ext cx="2190750" cy="247650"/>
          </a:xfrm>
          <a:prstGeom prst="rect">
            <a:avLst/>
          </a:prstGeom>
          <a:solidFill>
            <a:srgbClr val="FFF4E6"/>
          </a:solidFill>
          <a:ln w="0">
            <a:solidFill>
              <a:srgbClr val="FFF4E6"/>
            </a:solidFill>
            <a:prstDash val="solid"/>
          </a:ln>
        </p:spPr>
      </p:sp>
      <p:sp>
        <p:nvSpPr>
          <p:cNvPr id="17" name="">
            <a:extLst>
              <a:ext uri="{FF2B5EF4-FFF2-40B4-BE49-F238E27FC236}">
                <a16:creationId id="{D119E118-8FFD-4E50-9E29-8D99FD688BBD}"/>
              </a:ext>
            </a:extLst>
          </p:cNvPr>
          <p:cNvSpPr>
            <a:spLocks noGrp="1"/>
          </p:cNvSpPr>
          <p:nvPr/>
        </p:nvSpPr>
        <p:spPr>
          <a:xfrm>
            <a:off x="9715500" y="1571625"/>
            <a:ext cx="2000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D97706"/>
                </a:solidFill>
                <a:latin typeface="Aptos"/>
                <a:ea typeface="Aptos"/>
                <a:cs typeface="Aptos"/>
              </a:defRPr>
            </a:pPr>
            <a:r>
              <a:rPr sz="788" b="1">
                <a:solidFill>
                  <a:srgbClr val="D97706"/>
                </a:solidFill>
                <a:latin typeface="Aptos"/>
                <a:ea typeface="Aptos"/>
                <a:cs typeface="Aptos"/>
              </a:rPr>
              <a:t>Exploratory phenotype overlay</a:t>
            </a:r>
          </a:p>
        </p:txBody>
      </p:sp>
    </p:spTree>
    <p:extLst>
      <p:ext uri="{BB962C8B-B14F-4D97-AF65-F5344CB8AC3E}">
        <p14:creationId val="1572542397"/>
      </p:ext>
    </p:extLst>
  </p:cSld>
</p:sld>
</file>

<file path=ppt/slides/slide12.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p:cNvGrpSpPr/>
        <p:nvPr/>
      </p:nvGrpSpPr>
      <p:grpSpPr>
        <a:xfrm/>
      </p:grpSpPr>
      <p:sp>
        <p:nvSpPr>
          <p:cNvPr id="2" name="">
            <a:extLst>
              <a:ext uri="{FF2B5EF4-FFF2-40B4-BE49-F238E27FC236}">
                <a16:creationId id="{1E5C328C-60A0-4050-887F-22341E41A6D6}"/>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3E49D938-DA63-4A11-9CEE-4882EC7D486A}"/>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C1F9142E-C532-4768-9CF5-5EDB8D6C41F7}"/>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CLINICAL ANNOTATION APPLICATION 2</a:t>
            </a:r>
          </a:p>
        </p:txBody>
      </p:sp>
      <p:sp>
        <p:nvSpPr>
          <p:cNvPr id="5" name="">
            <a:extLst>
              <a:ext uri="{FF2B5EF4-FFF2-40B4-BE49-F238E27FC236}">
                <a16:creationId id="{4336BF20-20A4-4291-8AF7-3E32F2B81126}"/>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Participant 20026 illustrates stable VF profile despite symptom emergence</a:t>
            </a:r>
          </a:p>
        </p:txBody>
      </p:sp>
      <p:sp>
        <p:nvSpPr>
          <p:cNvPr id="6" name="">
            <a:extLst>
              <a:ext uri="{FF2B5EF4-FFF2-40B4-BE49-F238E27FC236}">
                <a16:creationId id="{B4D14D46-DB29-42CD-8EE8-F4AE97370CAC}"/>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This is an applied phenotype example, not proof of host-state mechanism.</a:t>
            </a:r>
          </a:p>
        </p:txBody>
      </p:sp>
      <p:sp>
        <p:nvSpPr>
          <p:cNvPr id="7" name="">
            <a:extLst>
              <a:ext uri="{FF2B5EF4-FFF2-40B4-BE49-F238E27FC236}">
                <a16:creationId id="{39254474-9C34-4CD3-B1BC-85BB038E0945}"/>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7BDF2E82-612F-47B7-AE19-9CA8A2729BA4}"/>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116026FD-B328-4E6B-96A7-8FC8A2604F70}"/>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2E85EC68-9794-45BD-B8F6-F09F365FD90B}"/>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12</a:t>
            </a:r>
          </a:p>
        </p:txBody>
      </p:sp>
      <p:sp>
        <p:nvSpPr>
          <p:cNvPr id="11" name="">
            <a:extLst>
              <a:ext uri="{FF2B5EF4-FFF2-40B4-BE49-F238E27FC236}">
                <a16:creationId id="{0193A485-CDBA-4339-9927-E091C963AFA9}"/>
              </a:ext>
            </a:extLst>
          </p:cNvPr>
          <p:cNvSpPr>
            <a:spLocks noGrp="1"/>
          </p:cNvSpPr>
          <p:nvPr/>
        </p:nvSpPr>
        <p:spPr>
          <a:xfrm>
            <a:off x="1143000" y="2971800"/>
            <a:ext cx="9144000" cy="38100"/>
          </a:xfrm>
          <a:prstGeom prst="rect">
            <a:avLst/>
          </a:prstGeom>
          <a:solidFill>
            <a:srgbClr val="94A3B8"/>
          </a:solidFill>
          <a:ln w="0">
            <a:solidFill>
              <a:srgbClr val="000000">
                <a:alpha val="0"/>
              </a:srgbClr>
            </a:solidFill>
            <a:prstDash val="solid"/>
          </a:ln>
        </p:spPr>
      </p:sp>
      <p:sp>
        <p:nvSpPr>
          <p:cNvPr id="12" name="">
            <a:extLst>
              <a:ext uri="{FF2B5EF4-FFF2-40B4-BE49-F238E27FC236}">
                <a16:creationId id="{AD07AD3C-3D25-4B15-B245-C345614B38B0}"/>
              </a:ext>
            </a:extLst>
          </p:cNvPr>
          <p:cNvSpPr>
            <a:spLocks noGrp="1"/>
          </p:cNvSpPr>
          <p:nvPr/>
        </p:nvSpPr>
        <p:spPr>
          <a:xfrm>
            <a:off x="1866900" y="2552700"/>
            <a:ext cx="1466850" cy="914400"/>
          </a:xfrm>
          <a:prstGeom prst="roundRect">
            <a:avLst>
              <a:gd name="adj" fmla="val 8333"/>
            </a:avLst>
          </a:prstGeom>
          <a:solidFill>
            <a:srgbClr val="E8F1FA"/>
          </a:solidFill>
          <a:ln w="19050">
            <a:solidFill>
              <a:srgbClr val="9AC1E6"/>
            </a:solidFill>
            <a:prstDash val="solid"/>
          </a:ln>
        </p:spPr>
      </p:sp>
      <p:sp>
        <p:nvSpPr>
          <p:cNvPr id="13" name="">
            <a:extLst>
              <a:ext uri="{FF2B5EF4-FFF2-40B4-BE49-F238E27FC236}">
                <a16:creationId id="{88DAABB6-076A-4520-8B7C-D66FACC6EBC7}"/>
              </a:ext>
            </a:extLst>
          </p:cNvPr>
          <p:cNvSpPr>
            <a:spLocks noGrp="1"/>
          </p:cNvSpPr>
          <p:nvPr/>
        </p:nvSpPr>
        <p:spPr>
          <a:xfrm>
            <a:off x="2038350" y="2724150"/>
            <a:ext cx="1123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275" b="1">
                <a:solidFill>
                  <a:srgbClr val="2B6CB0"/>
                </a:solidFill>
                <a:latin typeface="Aptos"/>
                <a:ea typeface="Aptos"/>
                <a:cs typeface="Aptos"/>
              </a:defRPr>
            </a:pPr>
            <a:r>
              <a:rPr sz="1275" b="1">
                <a:solidFill>
                  <a:srgbClr val="2B6CB0"/>
                </a:solidFill>
                <a:latin typeface="Aptos"/>
                <a:ea typeface="Aptos"/>
                <a:cs typeface="Aptos"/>
              </a:rPr>
              <a:t>T3</a:t>
            </a:r>
          </a:p>
        </p:txBody>
      </p:sp>
      <p:sp>
        <p:nvSpPr>
          <p:cNvPr id="14" name="">
            <a:extLst>
              <a:ext uri="{FF2B5EF4-FFF2-40B4-BE49-F238E27FC236}">
                <a16:creationId id="{68F00FEA-87E2-478D-8482-B919C5853CC7}"/>
              </a:ext>
            </a:extLst>
          </p:cNvPr>
          <p:cNvSpPr>
            <a:spLocks noGrp="1"/>
          </p:cNvSpPr>
          <p:nvPr/>
        </p:nvSpPr>
        <p:spPr>
          <a:xfrm>
            <a:off x="2038350" y="2971800"/>
            <a:ext cx="1123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050" b="1">
                <a:solidFill>
                  <a:srgbClr val="2B6CB0"/>
                </a:solidFill>
                <a:latin typeface="Aptos"/>
                <a:ea typeface="Aptos"/>
                <a:cs typeface="Aptos"/>
              </a:defRPr>
            </a:pPr>
            <a:r>
              <a:rPr sz="1050" b="1">
                <a:solidFill>
                  <a:srgbClr val="2B6CB0"/>
                </a:solidFill>
                <a:latin typeface="Aptos"/>
                <a:ea typeface="Aptos"/>
                <a:cs typeface="Aptos"/>
              </a:rPr>
              <a:t>Not_UTI</a:t>
            </a:r>
          </a:p>
        </p:txBody>
      </p:sp>
      <p:sp>
        <p:nvSpPr>
          <p:cNvPr id="15" name="">
            <a:extLst>
              <a:ext uri="{FF2B5EF4-FFF2-40B4-BE49-F238E27FC236}">
                <a16:creationId id="{CE101F3C-5FD0-4C9A-AF03-09EA71033415}"/>
              </a:ext>
            </a:extLst>
          </p:cNvPr>
          <p:cNvSpPr>
            <a:spLocks noGrp="1"/>
          </p:cNvSpPr>
          <p:nvPr/>
        </p:nvSpPr>
        <p:spPr>
          <a:xfrm>
            <a:off x="1962150" y="3219450"/>
            <a:ext cx="12573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13" b="0">
                <a:solidFill>
                  <a:srgbClr val="64748B"/>
                </a:solidFill>
                <a:latin typeface="Aptos"/>
                <a:ea typeface="Aptos"/>
                <a:cs typeface="Aptos"/>
              </a:defRPr>
            </a:pPr>
            <a:r>
              <a:rPr sz="713" b="0">
                <a:solidFill>
                  <a:srgbClr val="64748B"/>
                </a:solidFill>
                <a:latin typeface="Aptos"/>
                <a:ea typeface="Aptos"/>
                <a:cs typeface="Aptos"/>
              </a:rPr>
              <a:t>culture-supported bacteriuria</a:t>
            </a:r>
          </a:p>
        </p:txBody>
      </p:sp>
      <p:sp>
        <p:nvSpPr>
          <p:cNvPr id="16" name="">
            <a:extLst>
              <a:ext uri="{FF2B5EF4-FFF2-40B4-BE49-F238E27FC236}">
                <a16:creationId id="{899733B5-98C5-42E0-B79E-122DDFE53681}"/>
              </a:ext>
            </a:extLst>
          </p:cNvPr>
          <p:cNvSpPr>
            <a:spLocks noGrp="1"/>
          </p:cNvSpPr>
          <p:nvPr/>
        </p:nvSpPr>
        <p:spPr>
          <a:xfrm>
            <a:off x="8172450" y="2552700"/>
            <a:ext cx="1466850" cy="914400"/>
          </a:xfrm>
          <a:prstGeom prst="roundRect">
            <a:avLst>
              <a:gd name="adj" fmla="val 8333"/>
            </a:avLst>
          </a:prstGeom>
          <a:solidFill>
            <a:srgbClr val="FFF4E6"/>
          </a:solidFill>
          <a:ln w="19050">
            <a:solidFill>
              <a:srgbClr val="F4B15F"/>
            </a:solidFill>
            <a:prstDash val="solid"/>
          </a:ln>
        </p:spPr>
      </p:sp>
      <p:sp>
        <p:nvSpPr>
          <p:cNvPr id="17" name="">
            <a:extLst>
              <a:ext uri="{FF2B5EF4-FFF2-40B4-BE49-F238E27FC236}">
                <a16:creationId id="{BBA544F7-44D2-49DD-AE7A-46947077821A}"/>
              </a:ext>
            </a:extLst>
          </p:cNvPr>
          <p:cNvSpPr>
            <a:spLocks noGrp="1"/>
          </p:cNvSpPr>
          <p:nvPr/>
        </p:nvSpPr>
        <p:spPr>
          <a:xfrm>
            <a:off x="8343900" y="2724150"/>
            <a:ext cx="1123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275" b="1">
                <a:solidFill>
                  <a:srgbClr val="D97706"/>
                </a:solidFill>
                <a:latin typeface="Aptos"/>
                <a:ea typeface="Aptos"/>
                <a:cs typeface="Aptos"/>
              </a:defRPr>
            </a:pPr>
            <a:r>
              <a:rPr sz="1275" b="1">
                <a:solidFill>
                  <a:srgbClr val="D97706"/>
                </a:solidFill>
                <a:latin typeface="Aptos"/>
                <a:ea typeface="Aptos"/>
                <a:cs typeface="Aptos"/>
              </a:rPr>
              <a:t>UTI-1</a:t>
            </a:r>
          </a:p>
        </p:txBody>
      </p:sp>
      <p:sp>
        <p:nvSpPr>
          <p:cNvPr id="18" name="">
            <a:extLst>
              <a:ext uri="{FF2B5EF4-FFF2-40B4-BE49-F238E27FC236}">
                <a16:creationId id="{40E68BBD-F561-45EC-8096-5B1A2A315732}"/>
              </a:ext>
            </a:extLst>
          </p:cNvPr>
          <p:cNvSpPr>
            <a:spLocks noGrp="1"/>
          </p:cNvSpPr>
          <p:nvPr/>
        </p:nvSpPr>
        <p:spPr>
          <a:xfrm>
            <a:off x="8343900" y="2971800"/>
            <a:ext cx="11239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050" b="1">
                <a:solidFill>
                  <a:srgbClr val="D97706"/>
                </a:solidFill>
                <a:latin typeface="Aptos"/>
                <a:ea typeface="Aptos"/>
                <a:cs typeface="Aptos"/>
              </a:defRPr>
            </a:pPr>
            <a:r>
              <a:rPr sz="1050" b="1">
                <a:solidFill>
                  <a:srgbClr val="D97706"/>
                </a:solidFill>
                <a:latin typeface="Aptos"/>
                <a:ea typeface="Aptos"/>
                <a:cs typeface="Aptos"/>
              </a:rPr>
              <a:t>UTI</a:t>
            </a:r>
          </a:p>
        </p:txBody>
      </p:sp>
      <p:sp>
        <p:nvSpPr>
          <p:cNvPr id="19" name="">
            <a:extLst>
              <a:ext uri="{FF2B5EF4-FFF2-40B4-BE49-F238E27FC236}">
                <a16:creationId id="{BC6AAE9B-CA35-4910-B452-D6503240BEDB}"/>
              </a:ext>
            </a:extLst>
          </p:cNvPr>
          <p:cNvSpPr>
            <a:spLocks noGrp="1"/>
          </p:cNvSpPr>
          <p:nvPr/>
        </p:nvSpPr>
        <p:spPr>
          <a:xfrm>
            <a:off x="8267700" y="3219450"/>
            <a:ext cx="12573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13" b="0">
                <a:solidFill>
                  <a:srgbClr val="64748B"/>
                </a:solidFill>
                <a:latin typeface="Aptos"/>
                <a:ea typeface="Aptos"/>
                <a:cs typeface="Aptos"/>
              </a:defRPr>
            </a:pPr>
            <a:r>
              <a:rPr sz="713" b="0">
                <a:solidFill>
                  <a:srgbClr val="64748B"/>
                </a:solidFill>
                <a:latin typeface="Aptos"/>
                <a:ea typeface="Aptos"/>
                <a:cs typeface="Aptos"/>
              </a:rPr>
              <a:t>symptom emergence</a:t>
            </a:r>
          </a:p>
        </p:txBody>
      </p:sp>
      <p:sp>
        <p:nvSpPr>
          <p:cNvPr id="20" name="">
            <a:extLst>
              <a:ext uri="{FF2B5EF4-FFF2-40B4-BE49-F238E27FC236}">
                <a16:creationId id="{16F38D5F-64CE-4F97-9247-06083F38553B}"/>
              </a:ext>
            </a:extLst>
          </p:cNvPr>
          <p:cNvSpPr>
            <a:spLocks noGrp="1"/>
          </p:cNvSpPr>
          <p:nvPr/>
        </p:nvSpPr>
        <p:spPr>
          <a:xfrm rot="0">
            <a:off x="3429000" y="2981325"/>
            <a:ext cx="4648200" cy="19050"/>
          </a:xfrm>
          <a:prstGeom prst="rect">
            <a:avLst/>
          </a:prstGeom>
          <a:solidFill>
            <a:srgbClr val="94A3B8"/>
          </a:solidFill>
          <a:ln w="0">
            <a:solidFill>
              <a:srgbClr val="000000">
                <a:alpha val="0"/>
              </a:srgbClr>
            </a:solidFill>
            <a:prstDash val="solid"/>
          </a:ln>
        </p:spPr>
      </p:sp>
      <p:sp>
        <p:nvSpPr>
          <p:cNvPr id="21" name="">
            <a:extLst>
              <a:ext uri="{FF2B5EF4-FFF2-40B4-BE49-F238E27FC236}">
                <a16:creationId id="{A67F0ACB-9167-448E-B48D-C5E7CA322BFE}"/>
              </a:ext>
            </a:extLst>
          </p:cNvPr>
          <p:cNvSpPr>
            <a:spLocks noGrp="1"/>
          </p:cNvSpPr>
          <p:nvPr/>
        </p:nvSpPr>
        <p:spPr>
          <a:xfrm rot="5400000">
            <a:off x="8010525" y="2943225"/>
            <a:ext cx="95250" cy="95250"/>
          </a:xfrm>
          <a:prstGeom prst="triangle">
            <a:avLst/>
          </a:prstGeom>
          <a:solidFill>
            <a:srgbClr val="94A3B8"/>
          </a:solidFill>
          <a:ln w="0">
            <a:solidFill>
              <a:srgbClr val="000000">
                <a:alpha val="0"/>
              </a:srgbClr>
            </a:solidFill>
            <a:prstDash val="solid"/>
          </a:ln>
        </p:spPr>
      </p:sp>
      <p:sp>
        <p:nvSpPr>
          <p:cNvPr id="22" name="">
            <a:extLst>
              <a:ext uri="{FF2B5EF4-FFF2-40B4-BE49-F238E27FC236}">
                <a16:creationId id="{432C9480-EF2C-4CA6-BDAD-6F951E86EC92}"/>
              </a:ext>
            </a:extLst>
          </p:cNvPr>
          <p:cNvSpPr>
            <a:spLocks noGrp="1"/>
          </p:cNvSpPr>
          <p:nvPr/>
        </p:nvSpPr>
        <p:spPr>
          <a:xfrm>
            <a:off x="4810125" y="2647950"/>
            <a:ext cx="1143000" cy="247650"/>
          </a:xfrm>
          <a:prstGeom prst="rect">
            <a:avLst/>
          </a:prstGeom>
          <a:solidFill>
            <a:srgbClr val="EEF3F8"/>
          </a:solidFill>
          <a:ln w="0">
            <a:solidFill>
              <a:srgbClr val="EEF3F8"/>
            </a:solidFill>
            <a:prstDash val="solid"/>
          </a:ln>
        </p:spPr>
      </p:sp>
      <p:sp>
        <p:nvSpPr>
          <p:cNvPr id="23" name="">
            <a:extLst>
              <a:ext uri="{FF2B5EF4-FFF2-40B4-BE49-F238E27FC236}">
                <a16:creationId id="{AEAA9196-C0EF-4F60-92AB-70902D13FDD3}"/>
              </a:ext>
            </a:extLst>
          </p:cNvPr>
          <p:cNvSpPr>
            <a:spLocks noGrp="1"/>
          </p:cNvSpPr>
          <p:nvPr/>
        </p:nvSpPr>
        <p:spPr>
          <a:xfrm>
            <a:off x="4905375" y="2695575"/>
            <a:ext cx="952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111827"/>
                </a:solidFill>
                <a:latin typeface="Aptos"/>
                <a:ea typeface="Aptos"/>
                <a:cs typeface="Aptos"/>
              </a:defRPr>
            </a:pPr>
            <a:r>
              <a:rPr sz="788" b="1">
                <a:solidFill>
                  <a:srgbClr val="111827"/>
                </a:solidFill>
                <a:latin typeface="Aptos"/>
                <a:ea typeface="Aptos"/>
                <a:cs typeface="Aptos"/>
              </a:rPr>
              <a:t>42 days</a:t>
            </a:r>
          </a:p>
        </p:txBody>
      </p:sp>
      <p:sp>
        <p:nvSpPr>
          <p:cNvPr id="24" name="">
            <a:extLst>
              <a:ext uri="{FF2B5EF4-FFF2-40B4-BE49-F238E27FC236}">
                <a16:creationId id="{D119B876-2F2D-4D00-BC94-37EF1E75FBBD}"/>
              </a:ext>
            </a:extLst>
          </p:cNvPr>
          <p:cNvSpPr>
            <a:spLocks noGrp="1"/>
          </p:cNvSpPr>
          <p:nvPr/>
        </p:nvSpPr>
        <p:spPr>
          <a:xfrm>
            <a:off x="2000250" y="4114800"/>
            <a:ext cx="1524000" cy="819150"/>
          </a:xfrm>
          <a:prstGeom prst="roundRect">
            <a:avLst>
              <a:gd name="adj" fmla="val 9302"/>
            </a:avLst>
          </a:prstGeom>
          <a:solidFill>
            <a:srgbClr val="EAF7EF"/>
          </a:solidFill>
          <a:ln w="0">
            <a:solidFill>
              <a:srgbClr val="EAF7EF"/>
            </a:solidFill>
            <a:prstDash val="solid"/>
          </a:ln>
        </p:spPr>
      </p:sp>
      <p:sp>
        <p:nvSpPr>
          <p:cNvPr id="25" name="">
            <a:extLst>
              <a:ext uri="{FF2B5EF4-FFF2-40B4-BE49-F238E27FC236}">
                <a16:creationId id="{1625CC10-939B-41FB-AFF2-12AA6DB54AB9}"/>
              </a:ext>
            </a:extLst>
          </p:cNvPr>
          <p:cNvSpPr>
            <a:spLocks noGrp="1"/>
          </p:cNvSpPr>
          <p:nvPr/>
        </p:nvSpPr>
        <p:spPr>
          <a:xfrm>
            <a:off x="2152650" y="4248150"/>
            <a:ext cx="12192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100" b="1">
                <a:solidFill>
                  <a:srgbClr val="2F855A"/>
                </a:solidFill>
                <a:latin typeface="Aptos"/>
                <a:ea typeface="Aptos"/>
                <a:cs typeface="Aptos"/>
              </a:defRPr>
            </a:pPr>
            <a:r>
              <a:rPr sz="2100" b="1">
                <a:solidFill>
                  <a:srgbClr val="2F855A"/>
                </a:solidFill>
                <a:latin typeface="Aptos"/>
                <a:ea typeface="Aptos"/>
                <a:cs typeface="Aptos"/>
              </a:rPr>
              <a:t>5</a:t>
            </a:r>
          </a:p>
        </p:txBody>
      </p:sp>
      <p:sp>
        <p:nvSpPr>
          <p:cNvPr id="26" name="">
            <a:extLst>
              <a:ext uri="{FF2B5EF4-FFF2-40B4-BE49-F238E27FC236}">
                <a16:creationId id="{0F878C15-7ED0-4765-A7F8-1815995A29AF}"/>
              </a:ext>
            </a:extLst>
          </p:cNvPr>
          <p:cNvSpPr>
            <a:spLocks noGrp="1"/>
          </p:cNvSpPr>
          <p:nvPr/>
        </p:nvSpPr>
        <p:spPr>
          <a:xfrm>
            <a:off x="2152650" y="4610100"/>
            <a:ext cx="1219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2F855A"/>
                </a:solidFill>
                <a:latin typeface="Aptos"/>
                <a:ea typeface="Aptos"/>
                <a:cs typeface="Aptos"/>
              </a:defRPr>
            </a:pPr>
            <a:r>
              <a:rPr sz="863" b="0">
                <a:solidFill>
                  <a:srgbClr val="2F855A"/>
                </a:solidFill>
                <a:latin typeface="Aptos"/>
                <a:ea typeface="Aptos"/>
                <a:cs typeface="Aptos"/>
              </a:rPr>
              <a:t>SNPs</a:t>
            </a:r>
          </a:p>
        </p:txBody>
      </p:sp>
      <p:sp>
        <p:nvSpPr>
          <p:cNvPr id="27" name="">
            <a:extLst>
              <a:ext uri="{FF2B5EF4-FFF2-40B4-BE49-F238E27FC236}">
                <a16:creationId id="{951CA528-F87E-465E-8CF2-D7196B92C69A}"/>
              </a:ext>
            </a:extLst>
          </p:cNvPr>
          <p:cNvSpPr>
            <a:spLocks noGrp="1"/>
          </p:cNvSpPr>
          <p:nvPr/>
        </p:nvSpPr>
        <p:spPr>
          <a:xfrm>
            <a:off x="3905250" y="4114800"/>
            <a:ext cx="1524000" cy="819150"/>
          </a:xfrm>
          <a:prstGeom prst="roundRect">
            <a:avLst>
              <a:gd name="adj" fmla="val 9302"/>
            </a:avLst>
          </a:prstGeom>
          <a:solidFill>
            <a:srgbClr val="EAF7EF"/>
          </a:solidFill>
          <a:ln w="0">
            <a:solidFill>
              <a:srgbClr val="EAF7EF"/>
            </a:solidFill>
            <a:prstDash val="solid"/>
          </a:ln>
        </p:spPr>
      </p:sp>
      <p:sp>
        <p:nvSpPr>
          <p:cNvPr id="28" name="">
            <a:extLst>
              <a:ext uri="{FF2B5EF4-FFF2-40B4-BE49-F238E27FC236}">
                <a16:creationId id="{80C48FBC-AFD9-456C-B0FD-293B0A53B2B3}"/>
              </a:ext>
            </a:extLst>
          </p:cNvPr>
          <p:cNvSpPr>
            <a:spLocks noGrp="1"/>
          </p:cNvSpPr>
          <p:nvPr/>
        </p:nvSpPr>
        <p:spPr>
          <a:xfrm>
            <a:off x="4057650" y="4248150"/>
            <a:ext cx="12192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100" b="1">
                <a:solidFill>
                  <a:srgbClr val="2F855A"/>
                </a:solidFill>
                <a:latin typeface="Aptos"/>
                <a:ea typeface="Aptos"/>
                <a:cs typeface="Aptos"/>
              </a:defRPr>
            </a:pPr>
            <a:r>
              <a:rPr sz="2100" b="1">
                <a:solidFill>
                  <a:srgbClr val="2F855A"/>
                </a:solidFill>
                <a:latin typeface="Aptos"/>
                <a:ea typeface="Aptos"/>
                <a:cs typeface="Aptos"/>
              </a:rPr>
              <a:t>+0/-0</a:t>
            </a:r>
          </a:p>
        </p:txBody>
      </p:sp>
      <p:sp>
        <p:nvSpPr>
          <p:cNvPr id="29" name="">
            <a:extLst>
              <a:ext uri="{FF2B5EF4-FFF2-40B4-BE49-F238E27FC236}">
                <a16:creationId id="{9AA3D853-4E5D-4078-9236-86D9AD6B0781}"/>
              </a:ext>
            </a:extLst>
          </p:cNvPr>
          <p:cNvSpPr>
            <a:spLocks noGrp="1"/>
          </p:cNvSpPr>
          <p:nvPr/>
        </p:nvSpPr>
        <p:spPr>
          <a:xfrm>
            <a:off x="4057650" y="4610100"/>
            <a:ext cx="1219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2F855A"/>
                </a:solidFill>
                <a:latin typeface="Aptos"/>
                <a:ea typeface="Aptos"/>
                <a:cs typeface="Aptos"/>
              </a:defRPr>
            </a:pPr>
            <a:r>
              <a:rPr sz="863" b="0">
                <a:solidFill>
                  <a:srgbClr val="2F855A"/>
                </a:solidFill>
                <a:latin typeface="Aptos"/>
                <a:ea typeface="Aptos"/>
                <a:cs typeface="Aptos"/>
              </a:rPr>
              <a:t>VF genes</a:t>
            </a:r>
          </a:p>
        </p:txBody>
      </p:sp>
      <p:sp>
        <p:nvSpPr>
          <p:cNvPr id="30" name="">
            <a:extLst>
              <a:ext uri="{FF2B5EF4-FFF2-40B4-BE49-F238E27FC236}">
                <a16:creationId id="{6CA3D1A1-ED0C-4238-A156-737E8B36CF7E}"/>
              </a:ext>
            </a:extLst>
          </p:cNvPr>
          <p:cNvSpPr>
            <a:spLocks noGrp="1"/>
          </p:cNvSpPr>
          <p:nvPr/>
        </p:nvSpPr>
        <p:spPr>
          <a:xfrm>
            <a:off x="5810250" y="4114800"/>
            <a:ext cx="1524000" cy="819150"/>
          </a:xfrm>
          <a:prstGeom prst="roundRect">
            <a:avLst>
              <a:gd name="adj" fmla="val 9302"/>
            </a:avLst>
          </a:prstGeom>
          <a:solidFill>
            <a:srgbClr val="EAF7EF"/>
          </a:solidFill>
          <a:ln w="0">
            <a:solidFill>
              <a:srgbClr val="EAF7EF"/>
            </a:solidFill>
            <a:prstDash val="solid"/>
          </a:ln>
        </p:spPr>
      </p:sp>
      <p:sp>
        <p:nvSpPr>
          <p:cNvPr id="31" name="">
            <a:extLst>
              <a:ext uri="{FF2B5EF4-FFF2-40B4-BE49-F238E27FC236}">
                <a16:creationId id="{9394C228-0DA6-4E4F-9F06-4CC0BBA83C25}"/>
              </a:ext>
            </a:extLst>
          </p:cNvPr>
          <p:cNvSpPr>
            <a:spLocks noGrp="1"/>
          </p:cNvSpPr>
          <p:nvPr/>
        </p:nvSpPr>
        <p:spPr>
          <a:xfrm>
            <a:off x="5962650" y="4248150"/>
            <a:ext cx="12192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100" b="1">
                <a:solidFill>
                  <a:srgbClr val="2F855A"/>
                </a:solidFill>
                <a:latin typeface="Aptos"/>
                <a:ea typeface="Aptos"/>
                <a:cs typeface="Aptos"/>
              </a:defRPr>
            </a:pPr>
            <a:r>
              <a:rPr sz="2100" b="1">
                <a:solidFill>
                  <a:srgbClr val="2F855A"/>
                </a:solidFill>
                <a:latin typeface="Aptos"/>
                <a:ea typeface="Aptos"/>
                <a:cs typeface="Aptos"/>
              </a:rPr>
              <a:t>stable</a:t>
            </a:r>
          </a:p>
        </p:txBody>
      </p:sp>
      <p:sp>
        <p:nvSpPr>
          <p:cNvPr id="32" name="">
            <a:extLst>
              <a:ext uri="{FF2B5EF4-FFF2-40B4-BE49-F238E27FC236}">
                <a16:creationId id="{D9AAD41A-7F9F-4F45-A316-C06C42F702DC}"/>
              </a:ext>
            </a:extLst>
          </p:cNvPr>
          <p:cNvSpPr>
            <a:spLocks noGrp="1"/>
          </p:cNvSpPr>
          <p:nvPr/>
        </p:nvSpPr>
        <p:spPr>
          <a:xfrm>
            <a:off x="5962650" y="4610100"/>
            <a:ext cx="1219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2F855A"/>
                </a:solidFill>
                <a:latin typeface="Aptos"/>
                <a:ea typeface="Aptos"/>
                <a:cs typeface="Aptos"/>
              </a:defRPr>
            </a:pPr>
            <a:r>
              <a:rPr sz="863" b="0">
                <a:solidFill>
                  <a:srgbClr val="2F855A"/>
                </a:solidFill>
                <a:latin typeface="Aptos"/>
                <a:ea typeface="Aptos"/>
                <a:cs typeface="Aptos"/>
              </a:rPr>
              <a:t>VF modules</a:t>
            </a:r>
          </a:p>
        </p:txBody>
      </p:sp>
      <p:sp>
        <p:nvSpPr>
          <p:cNvPr id="33" name="">
            <a:extLst>
              <a:ext uri="{FF2B5EF4-FFF2-40B4-BE49-F238E27FC236}">
                <a16:creationId id="{923A1B99-9A63-44F7-BE52-1541A27F0AFB}"/>
              </a:ext>
            </a:extLst>
          </p:cNvPr>
          <p:cNvSpPr>
            <a:spLocks noGrp="1"/>
          </p:cNvSpPr>
          <p:nvPr/>
        </p:nvSpPr>
        <p:spPr>
          <a:xfrm>
            <a:off x="7715250" y="4114800"/>
            <a:ext cx="1524000" cy="819150"/>
          </a:xfrm>
          <a:prstGeom prst="roundRect">
            <a:avLst>
              <a:gd name="adj" fmla="val 9302"/>
            </a:avLst>
          </a:prstGeom>
          <a:solidFill>
            <a:srgbClr val="EAF7EF"/>
          </a:solidFill>
          <a:ln w="0">
            <a:solidFill>
              <a:srgbClr val="EAF7EF"/>
            </a:solidFill>
            <a:prstDash val="solid"/>
          </a:ln>
        </p:spPr>
      </p:sp>
      <p:sp>
        <p:nvSpPr>
          <p:cNvPr id="34" name="">
            <a:extLst>
              <a:ext uri="{FF2B5EF4-FFF2-40B4-BE49-F238E27FC236}">
                <a16:creationId id="{4B3A19FD-AE58-4DB0-8601-A197B26FC72D}"/>
              </a:ext>
            </a:extLst>
          </p:cNvPr>
          <p:cNvSpPr>
            <a:spLocks noGrp="1"/>
          </p:cNvSpPr>
          <p:nvPr/>
        </p:nvSpPr>
        <p:spPr>
          <a:xfrm>
            <a:off x="7867650" y="4248150"/>
            <a:ext cx="1219200" cy="3048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2100" b="1">
                <a:solidFill>
                  <a:srgbClr val="2F855A"/>
                </a:solidFill>
                <a:latin typeface="Aptos"/>
                <a:ea typeface="Aptos"/>
                <a:cs typeface="Aptos"/>
              </a:defRPr>
            </a:pPr>
            <a:r>
              <a:rPr sz="2100" b="1">
                <a:solidFill>
                  <a:srgbClr val="2F855A"/>
                </a:solidFill>
                <a:latin typeface="Aptos"/>
                <a:ea typeface="Aptos"/>
                <a:cs typeface="Aptos"/>
              </a:rPr>
              <a:t>strong</a:t>
            </a:r>
          </a:p>
        </p:txBody>
      </p:sp>
      <p:sp>
        <p:nvSpPr>
          <p:cNvPr id="35" name="">
            <a:extLst>
              <a:ext uri="{FF2B5EF4-FFF2-40B4-BE49-F238E27FC236}">
                <a16:creationId id="{A0C60E80-16B5-49D2-9EE9-BA9117C5C5DE}"/>
              </a:ext>
            </a:extLst>
          </p:cNvPr>
          <p:cNvSpPr>
            <a:spLocks noGrp="1"/>
          </p:cNvSpPr>
          <p:nvPr/>
        </p:nvSpPr>
        <p:spPr>
          <a:xfrm>
            <a:off x="7867650" y="4610100"/>
            <a:ext cx="12192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863" b="0">
                <a:solidFill>
                  <a:srgbClr val="2F855A"/>
                </a:solidFill>
                <a:latin typeface="Aptos"/>
                <a:ea typeface="Aptos"/>
                <a:cs typeface="Aptos"/>
              </a:defRPr>
            </a:pPr>
            <a:r>
              <a:rPr sz="863" b="0">
                <a:solidFill>
                  <a:srgbClr val="2F855A"/>
                </a:solidFill>
                <a:latin typeface="Aptos"/>
                <a:ea typeface="Aptos"/>
                <a:cs typeface="Aptos"/>
              </a:rPr>
              <a:t>same-strain evidence</a:t>
            </a:r>
          </a:p>
        </p:txBody>
      </p:sp>
      <p:sp>
        <p:nvSpPr>
          <p:cNvPr id="36" name="">
            <a:extLst>
              <a:ext uri="{FF2B5EF4-FFF2-40B4-BE49-F238E27FC236}">
                <a16:creationId id="{03E834E4-191C-4EEE-B83F-0D1E394227F5}"/>
              </a:ext>
            </a:extLst>
          </p:cNvPr>
          <p:cNvSpPr>
            <a:spLocks noGrp="1"/>
          </p:cNvSpPr>
          <p:nvPr/>
        </p:nvSpPr>
        <p:spPr>
          <a:xfrm>
            <a:off x="762000" y="5410200"/>
            <a:ext cx="4953000" cy="552450"/>
          </a:xfrm>
          <a:prstGeom prst="roundRect">
            <a:avLst>
              <a:gd name="adj" fmla="val 13793"/>
            </a:avLst>
          </a:prstGeom>
          <a:solidFill>
            <a:srgbClr val="F8FAFC"/>
          </a:solidFill>
          <a:ln w="9525">
            <a:solidFill>
              <a:srgbClr val="CBD5E1"/>
            </a:solidFill>
            <a:prstDash val="solid"/>
          </a:ln>
        </p:spPr>
      </p:sp>
      <p:sp>
        <p:nvSpPr>
          <p:cNvPr id="37" name="">
            <a:extLst>
              <a:ext uri="{FF2B5EF4-FFF2-40B4-BE49-F238E27FC236}">
                <a16:creationId id="{836ACA5E-9EA4-4089-9D35-59CC861A356F}"/>
              </a:ext>
            </a:extLst>
          </p:cNvPr>
          <p:cNvSpPr>
            <a:spLocks noGrp="1"/>
          </p:cNvSpPr>
          <p:nvPr/>
        </p:nvSpPr>
        <p:spPr>
          <a:xfrm>
            <a:off x="933450" y="5581650"/>
            <a:ext cx="4610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1">
                <a:solidFill>
                  <a:srgbClr val="111827"/>
                </a:solidFill>
                <a:latin typeface="Aptos"/>
                <a:ea typeface="Aptos"/>
                <a:cs typeface="Aptos"/>
              </a:defRPr>
            </a:pPr>
            <a:r>
              <a:rPr sz="1050" b="1">
                <a:solidFill>
                  <a:srgbClr val="111827"/>
                </a:solidFill>
                <a:latin typeface="Aptos"/>
                <a:ea typeface="Aptos"/>
                <a:cs typeface="Aptos"/>
              </a:rPr>
              <a:t>Transition casebook context</a:t>
            </a:r>
          </a:p>
        </p:txBody>
      </p:sp>
      <p:sp>
        <p:nvSpPr>
          <p:cNvPr id="38" name="">
            <a:extLst>
              <a:ext uri="{FF2B5EF4-FFF2-40B4-BE49-F238E27FC236}">
                <a16:creationId id="{D6F944F1-2A03-4486-8B3B-665DE6EFFB62}"/>
              </a:ext>
            </a:extLst>
          </p:cNvPr>
          <p:cNvSpPr>
            <a:spLocks noGrp="1"/>
          </p:cNvSpPr>
          <p:nvPr/>
        </p:nvSpPr>
        <p:spPr>
          <a:xfrm>
            <a:off x="933450" y="5867400"/>
            <a:ext cx="4610100" cy="-38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64748B"/>
                </a:solidFill>
                <a:latin typeface="Aptos"/>
                <a:ea typeface="Aptos"/>
                <a:cs typeface="Aptos"/>
              </a:defRPr>
            </a:pPr>
            <a:r>
              <a:rPr sz="900" b="0">
                <a:solidFill>
                  <a:srgbClr val="64748B"/>
                </a:solidFill>
                <a:latin typeface="Aptos"/>
                <a:ea typeface="Aptos"/>
                <a:cs typeface="Aptos"/>
              </a:rPr>
              <a:t>11 clinical Not_UTI -&gt; UTI transitions; 10 WGS/VF-linked; 1 missing endpoint.</a:t>
            </a:r>
          </a:p>
        </p:txBody>
      </p:sp>
      <p:sp>
        <p:nvSpPr>
          <p:cNvPr id="39" name="">
            <a:extLst>
              <a:ext uri="{FF2B5EF4-FFF2-40B4-BE49-F238E27FC236}">
                <a16:creationId id="{7F3F0CFE-D7B5-4CED-B584-C4C3EFAE2B7B}"/>
              </a:ext>
            </a:extLst>
          </p:cNvPr>
          <p:cNvSpPr>
            <a:spLocks noGrp="1"/>
          </p:cNvSpPr>
          <p:nvPr/>
        </p:nvSpPr>
        <p:spPr>
          <a:xfrm>
            <a:off x="6191250" y="5410200"/>
            <a:ext cx="4953000" cy="552450"/>
          </a:xfrm>
          <a:prstGeom prst="roundRect">
            <a:avLst>
              <a:gd name="adj" fmla="val 13793"/>
            </a:avLst>
          </a:prstGeom>
          <a:solidFill>
            <a:srgbClr val="F8FAFC"/>
          </a:solidFill>
          <a:ln w="9525">
            <a:solidFill>
              <a:srgbClr val="CBD5E1"/>
            </a:solidFill>
            <a:prstDash val="solid"/>
          </a:ln>
        </p:spPr>
      </p:sp>
      <p:sp>
        <p:nvSpPr>
          <p:cNvPr id="40" name="">
            <a:extLst>
              <a:ext uri="{FF2B5EF4-FFF2-40B4-BE49-F238E27FC236}">
                <a16:creationId id="{42C4EC22-1722-4B0A-882F-D4B7F615345A}"/>
              </a:ext>
            </a:extLst>
          </p:cNvPr>
          <p:cNvSpPr>
            <a:spLocks noGrp="1"/>
          </p:cNvSpPr>
          <p:nvPr/>
        </p:nvSpPr>
        <p:spPr>
          <a:xfrm>
            <a:off x="6362700" y="5581650"/>
            <a:ext cx="46101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1">
                <a:solidFill>
                  <a:srgbClr val="111827"/>
                </a:solidFill>
                <a:latin typeface="Aptos"/>
                <a:ea typeface="Aptos"/>
                <a:cs typeface="Aptos"/>
              </a:defRPr>
            </a:pPr>
            <a:r>
              <a:rPr sz="1050" b="1">
                <a:solidFill>
                  <a:srgbClr val="111827"/>
                </a:solidFill>
                <a:latin typeface="Aptos"/>
                <a:ea typeface="Aptos"/>
                <a:cs typeface="Aptos"/>
              </a:rPr>
              <a:t>Mechanism summary</a:t>
            </a:r>
          </a:p>
        </p:txBody>
      </p:sp>
      <p:sp>
        <p:nvSpPr>
          <p:cNvPr id="41" name="">
            <a:extLst>
              <a:ext uri="{FF2B5EF4-FFF2-40B4-BE49-F238E27FC236}">
                <a16:creationId id="{DEE5713D-0E0D-427E-9D9A-CA5001325A6F}"/>
              </a:ext>
            </a:extLst>
          </p:cNvPr>
          <p:cNvSpPr>
            <a:spLocks noGrp="1"/>
          </p:cNvSpPr>
          <p:nvPr/>
        </p:nvSpPr>
        <p:spPr>
          <a:xfrm>
            <a:off x="6362700" y="5867400"/>
            <a:ext cx="4610100" cy="-38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64748B"/>
                </a:solidFill>
                <a:latin typeface="Aptos"/>
                <a:ea typeface="Aptos"/>
                <a:cs typeface="Aptos"/>
              </a:defRPr>
            </a:pPr>
            <a:r>
              <a:rPr sz="900" b="0">
                <a:solidFill>
                  <a:srgbClr val="64748B"/>
                </a:solidFill>
                <a:latin typeface="Aptos"/>
                <a:ea typeface="Aptos"/>
                <a:cs typeface="Aptos"/>
              </a:rPr>
              <a:t>4 stable-profile transitions and 3 replacement-consistent transitions; buckets organise evidence, not mechanism proof.</a:t>
            </a:r>
          </a:p>
        </p:txBody>
      </p:sp>
    </p:spTree>
    <p:extLst>
      <p:ext uri="{BB962C8B-B14F-4D97-AF65-F5344CB8AC3E}">
        <p14:creationId val="1178400387"/>
      </p:ext>
    </p:extLst>
  </p:cSld>
</p:sld>
</file>

<file path=ppt/slides/slide13.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p:cNvGrpSpPr/>
        <p:nvPr/>
      </p:nvGrpSpPr>
      <p:grpSpPr>
        <a:xfrm/>
      </p:grpSpPr>
      <p:sp>
        <p:nvSpPr>
          <p:cNvPr id="2" name="">
            <a:extLst>
              <a:ext uri="{FF2B5EF4-FFF2-40B4-BE49-F238E27FC236}">
                <a16:creationId id="{C1516035-C677-4180-B2B5-E7904697570F}"/>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CA57F2C9-83B5-4730-A7D6-7C5C300D2B5E}"/>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CE0C6F87-1DCE-482A-ACE5-A46A1AFB3654}"/>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CLOSE</a:t>
            </a:r>
          </a:p>
        </p:txBody>
      </p:sp>
      <p:sp>
        <p:nvSpPr>
          <p:cNvPr id="5" name="">
            <a:extLst>
              <a:ext uri="{FF2B5EF4-FFF2-40B4-BE49-F238E27FC236}">
                <a16:creationId id="{A45207F9-116D-4445-9C70-C93F3AAB34EA}"/>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What this VF-first review establishes and what remains uncertain</a:t>
            </a:r>
          </a:p>
        </p:txBody>
      </p:sp>
      <p:sp>
        <p:nvSpPr>
          <p:cNvPr id="6" name="">
            <a:extLst>
              <a:ext uri="{FF2B5EF4-FFF2-40B4-BE49-F238E27FC236}">
                <a16:creationId id="{F1963871-32FD-4471-8CE6-50954AB7DEA8}"/>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Use these as discussion prompts and handover priorities.</a:t>
            </a:r>
          </a:p>
        </p:txBody>
      </p:sp>
      <p:sp>
        <p:nvSpPr>
          <p:cNvPr id="7" name="">
            <a:extLst>
              <a:ext uri="{FF2B5EF4-FFF2-40B4-BE49-F238E27FC236}">
                <a16:creationId id="{8ED16965-2AD2-4522-91F5-1DBB6A2F1760}"/>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D6CDDC75-0095-4170-A906-BA7928C94C17}"/>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B00367BA-BAFA-4028-AC32-4881FAF81C8F}"/>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6F1ABAF6-DD8D-4381-8227-8EF207922FE6}"/>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13</a:t>
            </a:r>
          </a:p>
        </p:txBody>
      </p:sp>
      <p:sp>
        <p:nvSpPr>
          <p:cNvPr id="11" name="">
            <a:extLst>
              <a:ext uri="{FF2B5EF4-FFF2-40B4-BE49-F238E27FC236}">
                <a16:creationId id="{D6D91BEE-6D98-48FC-8306-7EEC467E6D74}"/>
              </a:ext>
            </a:extLst>
          </p:cNvPr>
          <p:cNvSpPr>
            <a:spLocks noGrp="1"/>
          </p:cNvSpPr>
          <p:nvPr/>
        </p:nvSpPr>
        <p:spPr>
          <a:xfrm>
            <a:off x="781050" y="1752600"/>
            <a:ext cx="3143250" cy="2819400"/>
          </a:xfrm>
          <a:prstGeom prst="roundRect">
            <a:avLst>
              <a:gd name="adj" fmla="val 2703"/>
            </a:avLst>
          </a:prstGeom>
          <a:solidFill>
            <a:srgbClr val="E8F1FA"/>
          </a:solidFill>
          <a:ln w="9525">
            <a:solidFill>
              <a:srgbClr val="B9D5F0"/>
            </a:solidFill>
            <a:prstDash val="solid"/>
          </a:ln>
        </p:spPr>
      </p:sp>
      <p:sp>
        <p:nvSpPr>
          <p:cNvPr id="12" name="">
            <a:extLst>
              <a:ext uri="{FF2B5EF4-FFF2-40B4-BE49-F238E27FC236}">
                <a16:creationId id="{38DE36D6-0217-427D-847F-98ABA76A5D53}"/>
              </a:ext>
            </a:extLst>
          </p:cNvPr>
          <p:cNvSpPr>
            <a:spLocks noGrp="1"/>
          </p:cNvSpPr>
          <p:nvPr/>
        </p:nvSpPr>
        <p:spPr>
          <a:xfrm>
            <a:off x="952500" y="1924050"/>
            <a:ext cx="2800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2B6CB0"/>
                </a:solidFill>
                <a:latin typeface="Aptos"/>
                <a:ea typeface="Aptos"/>
                <a:cs typeface="Aptos"/>
              </a:defRPr>
            </a:pPr>
            <a:r>
              <a:rPr sz="1350" b="1">
                <a:solidFill>
                  <a:srgbClr val="2B6CB0"/>
                </a:solidFill>
                <a:latin typeface="Aptos"/>
                <a:ea typeface="Aptos"/>
                <a:cs typeface="Aptos"/>
              </a:rPr>
              <a:t>Evidence</a:t>
            </a:r>
          </a:p>
        </p:txBody>
      </p:sp>
      <p:sp>
        <p:nvSpPr>
          <p:cNvPr id="13" name="">
            <a:extLst>
              <a:ext uri="{FF2B5EF4-FFF2-40B4-BE49-F238E27FC236}">
                <a16:creationId id="{4DCCF24B-42F8-4368-94A2-9DF297679B20}"/>
              </a:ext>
            </a:extLst>
          </p:cNvPr>
          <p:cNvSpPr>
            <a:spLocks noGrp="1"/>
          </p:cNvSpPr>
          <p:nvPr/>
        </p:nvSpPr>
        <p:spPr>
          <a:xfrm>
            <a:off x="952500" y="2209800"/>
            <a:ext cx="2800350" cy="2228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64748B"/>
                </a:solidFill>
                <a:latin typeface="Aptos"/>
                <a:ea typeface="Aptos"/>
                <a:cs typeface="Aptos"/>
              </a:defRPr>
            </a:pPr>
            <a:r>
              <a:rPr sz="1125" b="0">
                <a:solidFill>
                  <a:srgbClr val="64748B"/>
                </a:solidFill>
                <a:latin typeface="Aptos"/>
                <a:ea typeface="Aptos"/>
                <a:cs typeface="Aptos"/>
              </a:rPr>
              <a:t>The current pipeline produces a coherent VF-ready longitudinal dataset: 556 isolate profiles, 227 VF gene columns, 32 modules, and 394 consecutive within-resident comparisons.</a:t>
            </a:r>
          </a:p>
        </p:txBody>
      </p:sp>
      <p:sp>
        <p:nvSpPr>
          <p:cNvPr id="14" name="">
            <a:extLst>
              <a:ext uri="{FF2B5EF4-FFF2-40B4-BE49-F238E27FC236}">
                <a16:creationId id="{EF0CD24E-EB45-464A-8B3F-E60F910D1DE2}"/>
              </a:ext>
            </a:extLst>
          </p:cNvPr>
          <p:cNvSpPr>
            <a:spLocks noGrp="1"/>
          </p:cNvSpPr>
          <p:nvPr/>
        </p:nvSpPr>
        <p:spPr>
          <a:xfrm>
            <a:off x="4514850" y="1752600"/>
            <a:ext cx="3143250" cy="2819400"/>
          </a:xfrm>
          <a:prstGeom prst="roundRect">
            <a:avLst>
              <a:gd name="adj" fmla="val 2703"/>
            </a:avLst>
          </a:prstGeom>
          <a:solidFill>
            <a:srgbClr val="FFF4E6"/>
          </a:solidFill>
          <a:ln w="9525">
            <a:solidFill>
              <a:srgbClr val="F4C98A"/>
            </a:solidFill>
            <a:prstDash val="solid"/>
          </a:ln>
        </p:spPr>
      </p:sp>
      <p:sp>
        <p:nvSpPr>
          <p:cNvPr id="15" name="">
            <a:extLst>
              <a:ext uri="{FF2B5EF4-FFF2-40B4-BE49-F238E27FC236}">
                <a16:creationId id="{D0512172-A10B-4C62-A91D-6E1A5A97D5AD}"/>
              </a:ext>
            </a:extLst>
          </p:cNvPr>
          <p:cNvSpPr>
            <a:spLocks noGrp="1"/>
          </p:cNvSpPr>
          <p:nvPr/>
        </p:nvSpPr>
        <p:spPr>
          <a:xfrm>
            <a:off x="4686300" y="1924050"/>
            <a:ext cx="2800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D97706"/>
                </a:solidFill>
                <a:latin typeface="Aptos"/>
                <a:ea typeface="Aptos"/>
                <a:cs typeface="Aptos"/>
              </a:defRPr>
            </a:pPr>
            <a:r>
              <a:rPr sz="1350" b="1">
                <a:solidFill>
                  <a:srgbClr val="D97706"/>
                </a:solidFill>
                <a:latin typeface="Aptos"/>
                <a:ea typeface="Aptos"/>
                <a:cs typeface="Aptos"/>
              </a:rPr>
              <a:t>Boundary</a:t>
            </a:r>
          </a:p>
        </p:txBody>
      </p:sp>
      <p:sp>
        <p:nvSpPr>
          <p:cNvPr id="16" name="">
            <a:extLst>
              <a:ext uri="{FF2B5EF4-FFF2-40B4-BE49-F238E27FC236}">
                <a16:creationId id="{F0A13232-CDFB-4BDC-B77C-B60E98BCDDA9}"/>
              </a:ext>
            </a:extLst>
          </p:cNvPr>
          <p:cNvSpPr>
            <a:spLocks noGrp="1"/>
          </p:cNvSpPr>
          <p:nvPr/>
        </p:nvSpPr>
        <p:spPr>
          <a:xfrm>
            <a:off x="4686300" y="2209800"/>
            <a:ext cx="2800350" cy="2228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64748B"/>
                </a:solidFill>
                <a:latin typeface="Aptos"/>
                <a:ea typeface="Aptos"/>
                <a:cs typeface="Aptos"/>
              </a:defRPr>
            </a:pPr>
            <a:r>
              <a:rPr sz="1125" b="0">
                <a:solidFill>
                  <a:srgbClr val="64748B"/>
                </a:solidFill>
                <a:latin typeface="Aptos"/>
                <a:ea typeface="Aptos"/>
                <a:cs typeface="Aptos"/>
              </a:rPr>
              <a:t>VF profiles are often stable, but presence/absence does not measure expression or activity. Clinical status associations are exploratory because UTI counts are sparse.</a:t>
            </a:r>
          </a:p>
        </p:txBody>
      </p:sp>
      <p:sp>
        <p:nvSpPr>
          <p:cNvPr id="17" name="">
            <a:extLst>
              <a:ext uri="{FF2B5EF4-FFF2-40B4-BE49-F238E27FC236}">
                <a16:creationId id="{C90EC794-ED7B-4836-9E07-64798DA82280}"/>
              </a:ext>
            </a:extLst>
          </p:cNvPr>
          <p:cNvSpPr>
            <a:spLocks noGrp="1"/>
          </p:cNvSpPr>
          <p:nvPr/>
        </p:nvSpPr>
        <p:spPr>
          <a:xfrm>
            <a:off x="8248650" y="1752600"/>
            <a:ext cx="3143250" cy="2819400"/>
          </a:xfrm>
          <a:prstGeom prst="roundRect">
            <a:avLst>
              <a:gd name="adj" fmla="val 2703"/>
            </a:avLst>
          </a:prstGeom>
          <a:solidFill>
            <a:srgbClr val="EAF7EF"/>
          </a:solidFill>
          <a:ln w="9525">
            <a:solidFill>
              <a:srgbClr val="BCE4C9"/>
            </a:solidFill>
            <a:prstDash val="solid"/>
          </a:ln>
        </p:spPr>
      </p:sp>
      <p:sp>
        <p:nvSpPr>
          <p:cNvPr id="18" name="">
            <a:extLst>
              <a:ext uri="{FF2B5EF4-FFF2-40B4-BE49-F238E27FC236}">
                <a16:creationId id="{79E121F8-72BA-44B4-AAC3-EF07C4417BE6}"/>
              </a:ext>
            </a:extLst>
          </p:cNvPr>
          <p:cNvSpPr>
            <a:spLocks noGrp="1"/>
          </p:cNvSpPr>
          <p:nvPr/>
        </p:nvSpPr>
        <p:spPr>
          <a:xfrm>
            <a:off x="8420100" y="1924050"/>
            <a:ext cx="28003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2F855A"/>
                </a:solidFill>
                <a:latin typeface="Aptos"/>
                <a:ea typeface="Aptos"/>
                <a:cs typeface="Aptos"/>
              </a:defRPr>
            </a:pPr>
            <a:r>
              <a:rPr sz="1350" b="1">
                <a:solidFill>
                  <a:srgbClr val="2F855A"/>
                </a:solidFill>
                <a:latin typeface="Aptos"/>
                <a:ea typeface="Aptos"/>
                <a:cs typeface="Aptos"/>
              </a:rPr>
              <a:t>Next steps</a:t>
            </a:r>
          </a:p>
        </p:txBody>
      </p:sp>
      <p:sp>
        <p:nvSpPr>
          <p:cNvPr id="19" name="">
            <a:extLst>
              <a:ext uri="{FF2B5EF4-FFF2-40B4-BE49-F238E27FC236}">
                <a16:creationId id="{CAF24F00-1DE3-4338-893E-FB60BF02EDB7}"/>
              </a:ext>
            </a:extLst>
          </p:cNvPr>
          <p:cNvSpPr>
            <a:spLocks noGrp="1"/>
          </p:cNvSpPr>
          <p:nvPr/>
        </p:nvSpPr>
        <p:spPr>
          <a:xfrm>
            <a:off x="8420100" y="2209800"/>
            <a:ext cx="2800350" cy="22288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125" b="0">
                <a:solidFill>
                  <a:srgbClr val="64748B"/>
                </a:solidFill>
                <a:latin typeface="Aptos"/>
                <a:ea typeface="Aptos"/>
                <a:cs typeface="Aptos"/>
              </a:defRPr>
            </a:pPr>
            <a:r>
              <a:rPr sz="1125" b="0">
                <a:solidFill>
                  <a:srgbClr val="64748B"/>
                </a:solidFill>
                <a:latin typeface="Aptos"/>
                <a:ea typeface="Aptos"/>
                <a:cs typeface="Aptos"/>
              </a:rPr>
              <a:t>Use the pipeline outputs to prioritise lineage-aware longitudinal follow-up, expression/regulation hypotheses, and targeted review of transition case studies.</a:t>
            </a:r>
          </a:p>
        </p:txBody>
      </p:sp>
      <p:sp>
        <p:nvSpPr>
          <p:cNvPr id="20" name="">
            <a:extLst>
              <a:ext uri="{FF2B5EF4-FFF2-40B4-BE49-F238E27FC236}">
                <a16:creationId id="{60CCC93A-7888-42CB-B38E-37FC07D5FFD1}"/>
              </a:ext>
            </a:extLst>
          </p:cNvPr>
          <p:cNvSpPr>
            <a:spLocks noGrp="1"/>
          </p:cNvSpPr>
          <p:nvPr/>
        </p:nvSpPr>
        <p:spPr>
          <a:xfrm>
            <a:off x="952500" y="5143500"/>
            <a:ext cx="10287000" cy="24765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1350" b="1">
                <a:solidFill>
                  <a:srgbClr val="111827"/>
                </a:solidFill>
                <a:latin typeface="Aptos"/>
                <a:ea typeface="Aptos"/>
                <a:cs typeface="Aptos"/>
              </a:defRPr>
            </a:pPr>
            <a:r>
              <a:rPr sz="1350" b="1">
                <a:solidFill>
                  <a:srgbClr val="111827"/>
                </a:solidFill>
                <a:latin typeface="Aptos"/>
                <a:ea typeface="Aptos"/>
                <a:cs typeface="Aptos"/>
              </a:rPr>
              <a:t>Main discussion question: what additional evidence would distinguish stable carriage plus host-state change from unmeasured bacterial regulation?</a:t>
            </a:r>
          </a:p>
        </p:txBody>
      </p:sp>
    </p:spTree>
    <p:extLst>
      <p:ext uri="{BB962C8B-B14F-4D97-AF65-F5344CB8AC3E}">
        <p14:creationId val="1590051465"/>
      </p:ext>
    </p:extLst>
  </p:cSld>
</p:sld>
</file>

<file path=ppt/slides/slide14.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p:cNvGrpSpPr/>
        <p:nvPr/>
      </p:nvGrpSpPr>
      <p:grpSpPr>
        <a:xfrm/>
      </p:grpSpPr>
      <p:sp>
        <p:nvSpPr>
          <p:cNvPr id="2" name="">
            <a:extLst>
              <a:ext uri="{FF2B5EF4-FFF2-40B4-BE49-F238E27FC236}">
                <a16:creationId id="{1DEC8008-4E41-43A1-8C75-B97770A5509C}"/>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A65BF0A1-C468-44B4-AF49-3F828B949B27}"/>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CD42244F-BF5C-4F7A-8B5B-99E8DEF44525}"/>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APPENDIX / HANDOVER</a:t>
            </a:r>
          </a:p>
        </p:txBody>
      </p:sp>
      <p:sp>
        <p:nvSpPr>
          <p:cNvPr id="5" name="">
            <a:extLst>
              <a:ext uri="{FF2B5EF4-FFF2-40B4-BE49-F238E27FC236}">
                <a16:creationId id="{EDF095C4-BCCD-436A-B670-B0E90CB5A053}"/>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Practical map: where to enter and rerun the VF pipeline</a:t>
            </a:r>
          </a:p>
        </p:txBody>
      </p:sp>
      <p:sp>
        <p:nvSpPr>
          <p:cNvPr id="6" name="">
            <a:extLst>
              <a:ext uri="{FF2B5EF4-FFF2-40B4-BE49-F238E27FC236}">
                <a16:creationId id="{ECC29480-5B5A-4100-ACBE-E2526E01349E}"/>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Keep this as the operational handover slide for the colleague.</a:t>
            </a:r>
          </a:p>
        </p:txBody>
      </p:sp>
      <p:sp>
        <p:nvSpPr>
          <p:cNvPr id="7" name="">
            <a:extLst>
              <a:ext uri="{FF2B5EF4-FFF2-40B4-BE49-F238E27FC236}">
                <a16:creationId id="{96DA44C9-293A-4525-A4A2-CC9085B24031}"/>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0A1E431D-8904-41CD-A081-3AE48079E537}"/>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56C8107C-1B6E-443A-8AAD-9AA1A1E25CAB}"/>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B70E325C-A0FC-4B31-8E3C-F98935B36D56}"/>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14</a:t>
            </a:r>
          </a:p>
        </p:txBody>
      </p:sp>
      <p:sp>
        <p:nvSpPr>
          <p:cNvPr id="11" name="">
            <a:extLst>
              <a:ext uri="{FF2B5EF4-FFF2-40B4-BE49-F238E27FC236}">
                <a16:creationId id="{20FAFBAC-7D1B-4C3B-9627-D1594D089F99}"/>
              </a:ext>
            </a:extLst>
          </p:cNvPr>
          <p:cNvSpPr>
            <a:spLocks noGrp="1"/>
          </p:cNvSpPr>
          <p:nvPr/>
        </p:nvSpPr>
        <p:spPr>
          <a:xfrm>
            <a:off x="723900" y="1562100"/>
            <a:ext cx="10191750" cy="457200"/>
          </a:xfrm>
          <a:prstGeom prst="rect">
            <a:avLst/>
          </a:prstGeom>
          <a:solidFill>
            <a:srgbClr val="F8FAFC"/>
          </a:solidFill>
          <a:ln w="9525">
            <a:solidFill>
              <a:srgbClr val="E5E7EB"/>
            </a:solidFill>
            <a:prstDash val="solid"/>
          </a:ln>
        </p:spPr>
      </p:sp>
      <p:sp>
        <p:nvSpPr>
          <p:cNvPr id="12" name="">
            <a:extLst>
              <a:ext uri="{FF2B5EF4-FFF2-40B4-BE49-F238E27FC236}">
                <a16:creationId id="{8ABF0561-8B59-482D-A38F-4A10F05FBF75}"/>
              </a:ext>
            </a:extLst>
          </p:cNvPr>
          <p:cNvSpPr>
            <a:spLocks noGrp="1"/>
          </p:cNvSpPr>
          <p:nvPr/>
        </p:nvSpPr>
        <p:spPr>
          <a:xfrm>
            <a:off x="914400" y="164782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2B6CB0"/>
                </a:solidFill>
                <a:latin typeface="Aptos"/>
                <a:ea typeface="Aptos"/>
                <a:cs typeface="Aptos"/>
              </a:defRPr>
            </a:pPr>
            <a:r>
              <a:rPr sz="975" b="1">
                <a:solidFill>
                  <a:srgbClr val="2B6CB0"/>
                </a:solidFill>
                <a:latin typeface="Aptos"/>
                <a:ea typeface="Aptos"/>
                <a:cs typeface="Aptos"/>
              </a:rPr>
              <a:t>Clinical key</a:t>
            </a:r>
          </a:p>
        </p:txBody>
      </p:sp>
      <p:sp>
        <p:nvSpPr>
          <p:cNvPr id="13" name="">
            <a:extLst>
              <a:ext uri="{FF2B5EF4-FFF2-40B4-BE49-F238E27FC236}">
                <a16:creationId id="{471EA0F9-29AE-453C-A163-3EFBBF5D3BFD}"/>
              </a:ext>
            </a:extLst>
          </p:cNvPr>
          <p:cNvSpPr>
            <a:spLocks noGrp="1"/>
          </p:cNvSpPr>
          <p:nvPr/>
        </p:nvSpPr>
        <p:spPr>
          <a:xfrm>
            <a:off x="2571750" y="1647825"/>
            <a:ext cx="3333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results/clinical/status_map.csv</a:t>
            </a:r>
          </a:p>
        </p:txBody>
      </p:sp>
      <p:sp>
        <p:nvSpPr>
          <p:cNvPr id="14" name="">
            <a:extLst>
              <a:ext uri="{FF2B5EF4-FFF2-40B4-BE49-F238E27FC236}">
                <a16:creationId id="{3ECE98B6-9491-4E1B-ADFE-56571A3D2D0F}"/>
              </a:ext>
            </a:extLst>
          </p:cNvPr>
          <p:cNvSpPr>
            <a:spLocks noGrp="1"/>
          </p:cNvSpPr>
          <p:nvPr/>
        </p:nvSpPr>
        <p:spPr>
          <a:xfrm>
            <a:off x="6191250" y="1647825"/>
            <a:ext cx="4476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0">
                <a:solidFill>
                  <a:srgbClr val="64748B"/>
                </a:solidFill>
                <a:latin typeface="Aptos"/>
                <a:ea typeface="Aptos"/>
                <a:cs typeface="Aptos"/>
              </a:defRPr>
            </a:pPr>
            <a:r>
              <a:rPr sz="938" b="0">
                <a:solidFill>
                  <a:srgbClr val="64748B"/>
                </a:solidFill>
                <a:latin typeface="Aptos"/>
                <a:ea typeface="Aptos"/>
                <a:cs typeface="Aptos"/>
              </a:rPr>
              <a:t>Primary UTI_Status annotation and audit fields</a:t>
            </a:r>
          </a:p>
        </p:txBody>
      </p:sp>
      <p:sp>
        <p:nvSpPr>
          <p:cNvPr id="15" name="">
            <a:extLst>
              <a:ext uri="{FF2B5EF4-FFF2-40B4-BE49-F238E27FC236}">
                <a16:creationId id="{F2C70057-E848-4313-B485-D840EB4E5DD4}"/>
              </a:ext>
            </a:extLst>
          </p:cNvPr>
          <p:cNvSpPr>
            <a:spLocks noGrp="1"/>
          </p:cNvSpPr>
          <p:nvPr/>
        </p:nvSpPr>
        <p:spPr>
          <a:xfrm>
            <a:off x="723900" y="2171700"/>
            <a:ext cx="10191750" cy="457200"/>
          </a:xfrm>
          <a:prstGeom prst="rect">
            <a:avLst/>
          </a:prstGeom>
          <a:solidFill>
            <a:srgbClr val="FFFFFF"/>
          </a:solidFill>
          <a:ln w="9525">
            <a:solidFill>
              <a:srgbClr val="E5E7EB"/>
            </a:solidFill>
            <a:prstDash val="solid"/>
          </a:ln>
        </p:spPr>
      </p:sp>
      <p:sp>
        <p:nvSpPr>
          <p:cNvPr id="16" name="">
            <a:extLst>
              <a:ext uri="{FF2B5EF4-FFF2-40B4-BE49-F238E27FC236}">
                <a16:creationId id="{C4FC91C6-32EA-4268-94CE-DB5C8EA8A7F8}"/>
              </a:ext>
            </a:extLst>
          </p:cNvPr>
          <p:cNvSpPr>
            <a:spLocks noGrp="1"/>
          </p:cNvSpPr>
          <p:nvPr/>
        </p:nvSpPr>
        <p:spPr>
          <a:xfrm>
            <a:off x="914400" y="225742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2B6CB0"/>
                </a:solidFill>
                <a:latin typeface="Aptos"/>
                <a:ea typeface="Aptos"/>
                <a:cs typeface="Aptos"/>
              </a:defRPr>
            </a:pPr>
            <a:r>
              <a:rPr sz="975" b="1">
                <a:solidFill>
                  <a:srgbClr val="2B6CB0"/>
                </a:solidFill>
                <a:latin typeface="Aptos"/>
                <a:ea typeface="Aptos"/>
                <a:cs typeface="Aptos"/>
              </a:rPr>
              <a:t>VF matrix</a:t>
            </a:r>
          </a:p>
        </p:txBody>
      </p:sp>
      <p:sp>
        <p:nvSpPr>
          <p:cNvPr id="17" name="">
            <a:extLst>
              <a:ext uri="{FF2B5EF4-FFF2-40B4-BE49-F238E27FC236}">
                <a16:creationId id="{FA563CC1-92ED-41E3-9AE8-8298DE69098F}"/>
              </a:ext>
            </a:extLst>
          </p:cNvPr>
          <p:cNvSpPr>
            <a:spLocks noGrp="1"/>
          </p:cNvSpPr>
          <p:nvPr/>
        </p:nvSpPr>
        <p:spPr>
          <a:xfrm>
            <a:off x="2571750" y="2257425"/>
            <a:ext cx="3333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results/vf/vf_pa_all.csv</a:t>
            </a:r>
          </a:p>
        </p:txBody>
      </p:sp>
      <p:sp>
        <p:nvSpPr>
          <p:cNvPr id="18" name="">
            <a:extLst>
              <a:ext uri="{FF2B5EF4-FFF2-40B4-BE49-F238E27FC236}">
                <a16:creationId id="{E35F3B9B-CAFC-4A60-96C7-F4793311E47E}"/>
              </a:ext>
            </a:extLst>
          </p:cNvPr>
          <p:cNvSpPr>
            <a:spLocks noGrp="1"/>
          </p:cNvSpPr>
          <p:nvPr/>
        </p:nvSpPr>
        <p:spPr>
          <a:xfrm>
            <a:off x="6191250" y="2257425"/>
            <a:ext cx="4476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0">
                <a:solidFill>
                  <a:srgbClr val="64748B"/>
                </a:solidFill>
                <a:latin typeface="Aptos"/>
                <a:ea typeface="Aptos"/>
                <a:cs typeface="Aptos"/>
              </a:defRPr>
            </a:pPr>
            <a:r>
              <a:rPr sz="938" b="0">
                <a:solidFill>
                  <a:srgbClr val="64748B"/>
                </a:solidFill>
                <a:latin typeface="Aptos"/>
                <a:ea typeface="Aptos"/>
                <a:cs typeface="Aptos"/>
              </a:rPr>
              <a:t>Episode-level gene presence/absence rows</a:t>
            </a:r>
          </a:p>
        </p:txBody>
      </p:sp>
      <p:sp>
        <p:nvSpPr>
          <p:cNvPr id="19" name="">
            <a:extLst>
              <a:ext uri="{FF2B5EF4-FFF2-40B4-BE49-F238E27FC236}">
                <a16:creationId id="{316ADAA1-DA79-48F5-8040-EE6A8B931A14}"/>
              </a:ext>
            </a:extLst>
          </p:cNvPr>
          <p:cNvSpPr>
            <a:spLocks noGrp="1"/>
          </p:cNvSpPr>
          <p:nvPr/>
        </p:nvSpPr>
        <p:spPr>
          <a:xfrm>
            <a:off x="723900" y="2781300"/>
            <a:ext cx="10191750" cy="457200"/>
          </a:xfrm>
          <a:prstGeom prst="rect">
            <a:avLst/>
          </a:prstGeom>
          <a:solidFill>
            <a:srgbClr val="F8FAFC"/>
          </a:solidFill>
          <a:ln w="9525">
            <a:solidFill>
              <a:srgbClr val="E5E7EB"/>
            </a:solidFill>
            <a:prstDash val="solid"/>
          </a:ln>
        </p:spPr>
      </p:sp>
      <p:sp>
        <p:nvSpPr>
          <p:cNvPr id="20" name="">
            <a:extLst>
              <a:ext uri="{FF2B5EF4-FFF2-40B4-BE49-F238E27FC236}">
                <a16:creationId id="{0BA06E9A-A2E4-4EAB-AC85-23C0D3368E80}"/>
              </a:ext>
            </a:extLst>
          </p:cNvPr>
          <p:cNvSpPr>
            <a:spLocks noGrp="1"/>
          </p:cNvSpPr>
          <p:nvPr/>
        </p:nvSpPr>
        <p:spPr>
          <a:xfrm>
            <a:off x="914400" y="286702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2B6CB0"/>
                </a:solidFill>
                <a:latin typeface="Aptos"/>
                <a:ea typeface="Aptos"/>
                <a:cs typeface="Aptos"/>
              </a:defRPr>
            </a:pPr>
            <a:r>
              <a:rPr sz="975" b="1">
                <a:solidFill>
                  <a:srgbClr val="2B6CB0"/>
                </a:solidFill>
                <a:latin typeface="Aptos"/>
                <a:ea typeface="Aptos"/>
                <a:cs typeface="Aptos"/>
              </a:rPr>
              <a:t>Analysis dataset</a:t>
            </a:r>
          </a:p>
        </p:txBody>
      </p:sp>
      <p:sp>
        <p:nvSpPr>
          <p:cNvPr id="21" name="">
            <a:extLst>
              <a:ext uri="{FF2B5EF4-FFF2-40B4-BE49-F238E27FC236}">
                <a16:creationId id="{B5C8FB7E-0ADB-4AD1-905F-766CEF3F372D}"/>
              </a:ext>
            </a:extLst>
          </p:cNvPr>
          <p:cNvSpPr>
            <a:spLocks noGrp="1"/>
          </p:cNvSpPr>
          <p:nvPr/>
        </p:nvSpPr>
        <p:spPr>
          <a:xfrm>
            <a:off x="2571750" y="2867025"/>
            <a:ext cx="3333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results/vf/vf_analysis_ready.csv</a:t>
            </a:r>
          </a:p>
        </p:txBody>
      </p:sp>
      <p:sp>
        <p:nvSpPr>
          <p:cNvPr id="22" name="">
            <a:extLst>
              <a:ext uri="{FF2B5EF4-FFF2-40B4-BE49-F238E27FC236}">
                <a16:creationId id="{008918F6-B142-4204-AF78-0CBEA23DDA7D}"/>
              </a:ext>
            </a:extLst>
          </p:cNvPr>
          <p:cNvSpPr>
            <a:spLocks noGrp="1"/>
          </p:cNvSpPr>
          <p:nvPr/>
        </p:nvSpPr>
        <p:spPr>
          <a:xfrm>
            <a:off x="6191250" y="2867025"/>
            <a:ext cx="4476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0">
                <a:solidFill>
                  <a:srgbClr val="64748B"/>
                </a:solidFill>
                <a:latin typeface="Aptos"/>
                <a:ea typeface="Aptos"/>
                <a:cs typeface="Aptos"/>
              </a:defRPr>
            </a:pPr>
            <a:r>
              <a:rPr sz="938" b="0">
                <a:solidFill>
                  <a:srgbClr val="64748B"/>
                </a:solidFill>
                <a:latin typeface="Aptos"/>
                <a:ea typeface="Aptos"/>
                <a:cs typeface="Aptos"/>
              </a:rPr>
              <a:t>Canonical 556-row VF/model-ready table</a:t>
            </a:r>
          </a:p>
        </p:txBody>
      </p:sp>
      <p:sp>
        <p:nvSpPr>
          <p:cNvPr id="23" name="">
            <a:extLst>
              <a:ext uri="{FF2B5EF4-FFF2-40B4-BE49-F238E27FC236}">
                <a16:creationId id="{6564C3E1-0623-4CF8-973B-567D101907AB}"/>
              </a:ext>
            </a:extLst>
          </p:cNvPr>
          <p:cNvSpPr>
            <a:spLocks noGrp="1"/>
          </p:cNvSpPr>
          <p:nvPr/>
        </p:nvSpPr>
        <p:spPr>
          <a:xfrm>
            <a:off x="723900" y="3390900"/>
            <a:ext cx="10191750" cy="457200"/>
          </a:xfrm>
          <a:prstGeom prst="rect">
            <a:avLst/>
          </a:prstGeom>
          <a:solidFill>
            <a:srgbClr val="FFFFFF"/>
          </a:solidFill>
          <a:ln w="9525">
            <a:solidFill>
              <a:srgbClr val="E5E7EB"/>
            </a:solidFill>
            <a:prstDash val="solid"/>
          </a:ln>
        </p:spPr>
      </p:sp>
      <p:sp>
        <p:nvSpPr>
          <p:cNvPr id="24" name="">
            <a:extLst>
              <a:ext uri="{FF2B5EF4-FFF2-40B4-BE49-F238E27FC236}">
                <a16:creationId id="{358F7BCA-DF34-4102-92B4-B072BDC10F54}"/>
              </a:ext>
            </a:extLst>
          </p:cNvPr>
          <p:cNvSpPr>
            <a:spLocks noGrp="1"/>
          </p:cNvSpPr>
          <p:nvPr/>
        </p:nvSpPr>
        <p:spPr>
          <a:xfrm>
            <a:off x="914400" y="347662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2B6CB0"/>
                </a:solidFill>
                <a:latin typeface="Aptos"/>
                <a:ea typeface="Aptos"/>
                <a:cs typeface="Aptos"/>
              </a:defRPr>
            </a:pPr>
            <a:r>
              <a:rPr sz="975" b="1">
                <a:solidFill>
                  <a:srgbClr val="2B6CB0"/>
                </a:solidFill>
                <a:latin typeface="Aptos"/>
                <a:ea typeface="Aptos"/>
                <a:cs typeface="Aptos"/>
              </a:rPr>
              <a:t>Modules</a:t>
            </a:r>
          </a:p>
        </p:txBody>
      </p:sp>
      <p:sp>
        <p:nvSpPr>
          <p:cNvPr id="25" name="">
            <a:extLst>
              <a:ext uri="{FF2B5EF4-FFF2-40B4-BE49-F238E27FC236}">
                <a16:creationId id="{D66B4632-0492-4429-A043-067DDCCD5D4E}"/>
              </a:ext>
            </a:extLst>
          </p:cNvPr>
          <p:cNvSpPr>
            <a:spLocks noGrp="1"/>
          </p:cNvSpPr>
          <p:nvPr/>
        </p:nvSpPr>
        <p:spPr>
          <a:xfrm>
            <a:off x="2571750" y="3476625"/>
            <a:ext cx="3333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results/vf/gene_module_map.csv</a:t>
            </a:r>
          </a:p>
        </p:txBody>
      </p:sp>
      <p:sp>
        <p:nvSpPr>
          <p:cNvPr id="26" name="">
            <a:extLst>
              <a:ext uri="{FF2B5EF4-FFF2-40B4-BE49-F238E27FC236}">
                <a16:creationId id="{4B90A914-354C-42A8-9A90-668770E2BEEA}"/>
              </a:ext>
            </a:extLst>
          </p:cNvPr>
          <p:cNvSpPr>
            <a:spLocks noGrp="1"/>
          </p:cNvSpPr>
          <p:nvPr/>
        </p:nvSpPr>
        <p:spPr>
          <a:xfrm>
            <a:off x="6191250" y="3476625"/>
            <a:ext cx="4476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0">
                <a:solidFill>
                  <a:srgbClr val="64748B"/>
                </a:solidFill>
                <a:latin typeface="Aptos"/>
                <a:ea typeface="Aptos"/>
                <a:cs typeface="Aptos"/>
              </a:defRPr>
            </a:pPr>
            <a:r>
              <a:rPr sz="938" b="0">
                <a:solidFill>
                  <a:srgbClr val="64748B"/>
                </a:solidFill>
                <a:latin typeface="Aptos"/>
                <a:ea typeface="Aptos"/>
                <a:cs typeface="Aptos"/>
              </a:rPr>
              <a:t>Gene-to-module curation and unassigned review</a:t>
            </a:r>
          </a:p>
        </p:txBody>
      </p:sp>
      <p:sp>
        <p:nvSpPr>
          <p:cNvPr id="27" name="">
            <a:extLst>
              <a:ext uri="{FF2B5EF4-FFF2-40B4-BE49-F238E27FC236}">
                <a16:creationId id="{20934045-0AC7-41F6-86F8-AA8D82D53B67}"/>
              </a:ext>
            </a:extLst>
          </p:cNvPr>
          <p:cNvSpPr>
            <a:spLocks noGrp="1"/>
          </p:cNvSpPr>
          <p:nvPr/>
        </p:nvSpPr>
        <p:spPr>
          <a:xfrm>
            <a:off x="723900" y="4000500"/>
            <a:ext cx="10191750" cy="457200"/>
          </a:xfrm>
          <a:prstGeom prst="rect">
            <a:avLst/>
          </a:prstGeom>
          <a:solidFill>
            <a:srgbClr val="F8FAFC"/>
          </a:solidFill>
          <a:ln w="9525">
            <a:solidFill>
              <a:srgbClr val="E5E7EB"/>
            </a:solidFill>
            <a:prstDash val="solid"/>
          </a:ln>
        </p:spPr>
      </p:sp>
      <p:sp>
        <p:nvSpPr>
          <p:cNvPr id="28" name="">
            <a:extLst>
              <a:ext uri="{FF2B5EF4-FFF2-40B4-BE49-F238E27FC236}">
                <a16:creationId id="{519BF58E-F2C1-45DB-A9B8-DDFAD4EA99D2}"/>
              </a:ext>
            </a:extLst>
          </p:cNvPr>
          <p:cNvSpPr>
            <a:spLocks noGrp="1"/>
          </p:cNvSpPr>
          <p:nvPr/>
        </p:nvSpPr>
        <p:spPr>
          <a:xfrm>
            <a:off x="914400" y="408622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2B6CB0"/>
                </a:solidFill>
                <a:latin typeface="Aptos"/>
                <a:ea typeface="Aptos"/>
                <a:cs typeface="Aptos"/>
              </a:defRPr>
            </a:pPr>
            <a:r>
              <a:rPr sz="975" b="1">
                <a:solidFill>
                  <a:srgbClr val="2B6CB0"/>
                </a:solidFill>
                <a:latin typeface="Aptos"/>
                <a:ea typeface="Aptos"/>
                <a:cs typeface="Aptos"/>
              </a:rPr>
              <a:t>Longitudinal</a:t>
            </a:r>
          </a:p>
        </p:txBody>
      </p:sp>
      <p:sp>
        <p:nvSpPr>
          <p:cNvPr id="29" name="">
            <a:extLst>
              <a:ext uri="{FF2B5EF4-FFF2-40B4-BE49-F238E27FC236}">
                <a16:creationId id="{D7F8D1CF-08F4-415E-9EE5-78E6837C8FB4}"/>
              </a:ext>
            </a:extLst>
          </p:cNvPr>
          <p:cNvSpPr>
            <a:spLocks noGrp="1"/>
          </p:cNvSpPr>
          <p:nvPr/>
        </p:nvSpPr>
        <p:spPr>
          <a:xfrm>
            <a:off x="2571750" y="4086225"/>
            <a:ext cx="3333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results/vf/vf_longitudinal_transitions.csv</a:t>
            </a:r>
          </a:p>
        </p:txBody>
      </p:sp>
      <p:sp>
        <p:nvSpPr>
          <p:cNvPr id="30" name="">
            <a:extLst>
              <a:ext uri="{FF2B5EF4-FFF2-40B4-BE49-F238E27FC236}">
                <a16:creationId id="{8F3E4570-82FC-4EA3-8884-CA9F23C7F8E7}"/>
              </a:ext>
            </a:extLst>
          </p:cNvPr>
          <p:cNvSpPr>
            <a:spLocks noGrp="1"/>
          </p:cNvSpPr>
          <p:nvPr/>
        </p:nvSpPr>
        <p:spPr>
          <a:xfrm>
            <a:off x="6191250" y="4086225"/>
            <a:ext cx="4476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0">
                <a:solidFill>
                  <a:srgbClr val="64748B"/>
                </a:solidFill>
                <a:latin typeface="Aptos"/>
                <a:ea typeface="Aptos"/>
                <a:cs typeface="Aptos"/>
              </a:defRPr>
            </a:pPr>
            <a:r>
              <a:rPr sz="938" b="0">
                <a:solidFill>
                  <a:srgbClr val="64748B"/>
                </a:solidFill>
                <a:latin typeface="Aptos"/>
                <a:ea typeface="Aptos"/>
                <a:cs typeface="Aptos"/>
              </a:rPr>
              <a:t>Consecutive within-resident VF comparisons</a:t>
            </a:r>
          </a:p>
        </p:txBody>
      </p:sp>
      <p:sp>
        <p:nvSpPr>
          <p:cNvPr id="31" name="">
            <a:extLst>
              <a:ext uri="{FF2B5EF4-FFF2-40B4-BE49-F238E27FC236}">
                <a16:creationId id="{2F1168CF-FA8A-488F-946B-EBE020A586B6}"/>
              </a:ext>
            </a:extLst>
          </p:cNvPr>
          <p:cNvSpPr>
            <a:spLocks noGrp="1"/>
          </p:cNvSpPr>
          <p:nvPr/>
        </p:nvSpPr>
        <p:spPr>
          <a:xfrm>
            <a:off x="723900" y="4610100"/>
            <a:ext cx="10191750" cy="457200"/>
          </a:xfrm>
          <a:prstGeom prst="rect">
            <a:avLst/>
          </a:prstGeom>
          <a:solidFill>
            <a:srgbClr val="FFFFFF"/>
          </a:solidFill>
          <a:ln w="9525">
            <a:solidFill>
              <a:srgbClr val="E5E7EB"/>
            </a:solidFill>
            <a:prstDash val="solid"/>
          </a:ln>
        </p:spPr>
      </p:sp>
      <p:sp>
        <p:nvSpPr>
          <p:cNvPr id="32" name="">
            <a:extLst>
              <a:ext uri="{FF2B5EF4-FFF2-40B4-BE49-F238E27FC236}">
                <a16:creationId id="{EB5185A8-ECD4-4B4D-A6A4-CB4FE2932B46}"/>
              </a:ext>
            </a:extLst>
          </p:cNvPr>
          <p:cNvSpPr>
            <a:spLocks noGrp="1"/>
          </p:cNvSpPr>
          <p:nvPr/>
        </p:nvSpPr>
        <p:spPr>
          <a:xfrm>
            <a:off x="914400" y="469582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2B6CB0"/>
                </a:solidFill>
                <a:latin typeface="Aptos"/>
                <a:ea typeface="Aptos"/>
                <a:cs typeface="Aptos"/>
              </a:defRPr>
            </a:pPr>
            <a:r>
              <a:rPr sz="975" b="1">
                <a:solidFill>
                  <a:srgbClr val="2B6CB0"/>
                </a:solidFill>
                <a:latin typeface="Aptos"/>
                <a:ea typeface="Aptos"/>
                <a:cs typeface="Aptos"/>
              </a:rPr>
              <a:t>Interpretation</a:t>
            </a:r>
          </a:p>
        </p:txBody>
      </p:sp>
      <p:sp>
        <p:nvSpPr>
          <p:cNvPr id="33" name="">
            <a:extLst>
              <a:ext uri="{FF2B5EF4-FFF2-40B4-BE49-F238E27FC236}">
                <a16:creationId id="{C41EFB79-8AA1-4E14-8FE6-E526389241F8}"/>
              </a:ext>
            </a:extLst>
          </p:cNvPr>
          <p:cNvSpPr>
            <a:spLocks noGrp="1"/>
          </p:cNvSpPr>
          <p:nvPr/>
        </p:nvSpPr>
        <p:spPr>
          <a:xfrm>
            <a:off x="2571750" y="4695825"/>
            <a:ext cx="3333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results/vf/vf_longitudinal_summary.txt</a:t>
            </a:r>
          </a:p>
        </p:txBody>
      </p:sp>
      <p:sp>
        <p:nvSpPr>
          <p:cNvPr id="34" name="">
            <a:extLst>
              <a:ext uri="{FF2B5EF4-FFF2-40B4-BE49-F238E27FC236}">
                <a16:creationId id="{9D641A3D-DDC4-4B57-B073-5F8A2A27F4B0}"/>
              </a:ext>
            </a:extLst>
          </p:cNvPr>
          <p:cNvSpPr>
            <a:spLocks noGrp="1"/>
          </p:cNvSpPr>
          <p:nvPr/>
        </p:nvSpPr>
        <p:spPr>
          <a:xfrm>
            <a:off x="6191250" y="4695825"/>
            <a:ext cx="4476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0">
                <a:solidFill>
                  <a:srgbClr val="64748B"/>
                </a:solidFill>
                <a:latin typeface="Aptos"/>
                <a:ea typeface="Aptos"/>
                <a:cs typeface="Aptos"/>
              </a:defRPr>
            </a:pPr>
            <a:r>
              <a:rPr sz="938" b="0">
                <a:solidFill>
                  <a:srgbClr val="64748B"/>
                </a:solidFill>
                <a:latin typeface="Aptos"/>
                <a:ea typeface="Aptos"/>
                <a:cs typeface="Aptos"/>
              </a:rPr>
              <a:t>Stable-profile and gain/loss summaries</a:t>
            </a:r>
          </a:p>
        </p:txBody>
      </p:sp>
      <p:sp>
        <p:nvSpPr>
          <p:cNvPr id="35" name="">
            <a:extLst>
              <a:ext uri="{FF2B5EF4-FFF2-40B4-BE49-F238E27FC236}">
                <a16:creationId id="{22A8BD16-F2F3-437E-A90B-F21922135371}"/>
              </a:ext>
            </a:extLst>
          </p:cNvPr>
          <p:cNvSpPr>
            <a:spLocks noGrp="1"/>
          </p:cNvSpPr>
          <p:nvPr/>
        </p:nvSpPr>
        <p:spPr>
          <a:xfrm>
            <a:off x="723900" y="5219700"/>
            <a:ext cx="10191750" cy="457200"/>
          </a:xfrm>
          <a:prstGeom prst="rect">
            <a:avLst/>
          </a:prstGeom>
          <a:solidFill>
            <a:srgbClr val="F8FAFC"/>
          </a:solidFill>
          <a:ln w="9525">
            <a:solidFill>
              <a:srgbClr val="E5E7EB"/>
            </a:solidFill>
            <a:prstDash val="solid"/>
          </a:ln>
        </p:spPr>
      </p:sp>
      <p:sp>
        <p:nvSpPr>
          <p:cNvPr id="36" name="">
            <a:extLst>
              <a:ext uri="{FF2B5EF4-FFF2-40B4-BE49-F238E27FC236}">
                <a16:creationId id="{3FF2246E-B86E-40F6-B752-EBBD38185E21}"/>
              </a:ext>
            </a:extLst>
          </p:cNvPr>
          <p:cNvSpPr>
            <a:spLocks noGrp="1"/>
          </p:cNvSpPr>
          <p:nvPr/>
        </p:nvSpPr>
        <p:spPr>
          <a:xfrm>
            <a:off x="914400" y="5305425"/>
            <a:ext cx="1428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75" b="1">
                <a:solidFill>
                  <a:srgbClr val="2B6CB0"/>
                </a:solidFill>
                <a:latin typeface="Aptos"/>
                <a:ea typeface="Aptos"/>
                <a:cs typeface="Aptos"/>
              </a:defRPr>
            </a:pPr>
            <a:r>
              <a:rPr sz="975" b="1">
                <a:solidFill>
                  <a:srgbClr val="2B6CB0"/>
                </a:solidFill>
                <a:latin typeface="Aptos"/>
                <a:ea typeface="Aptos"/>
                <a:cs typeface="Aptos"/>
              </a:rPr>
              <a:t>Final figures</a:t>
            </a:r>
          </a:p>
        </p:txBody>
      </p:sp>
      <p:sp>
        <p:nvSpPr>
          <p:cNvPr id="37" name="">
            <a:extLst>
              <a:ext uri="{FF2B5EF4-FFF2-40B4-BE49-F238E27FC236}">
                <a16:creationId id="{18083514-7596-4027-9DAB-7AAA1323B53F}"/>
              </a:ext>
            </a:extLst>
          </p:cNvPr>
          <p:cNvSpPr>
            <a:spLocks noGrp="1"/>
          </p:cNvSpPr>
          <p:nvPr/>
        </p:nvSpPr>
        <p:spPr>
          <a:xfrm>
            <a:off x="2571750" y="5305425"/>
            <a:ext cx="3333750" cy="1714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111827"/>
                </a:solidFill>
                <a:latin typeface="Aptos Mono"/>
                <a:ea typeface="Aptos Mono"/>
                <a:cs typeface="Aptos Mono"/>
              </a:defRPr>
            </a:pPr>
            <a:r>
              <a:rPr sz="863" b="0">
                <a:solidFill>
                  <a:srgbClr val="111827"/>
                </a:solidFill>
                <a:latin typeface="Aptos Mono"/>
                <a:ea typeface="Aptos Mono"/>
                <a:cs typeface="Aptos Mono"/>
              </a:rPr>
              <a:t>35_final_figure_pack.R</a:t>
            </a:r>
          </a:p>
        </p:txBody>
      </p:sp>
      <p:sp>
        <p:nvSpPr>
          <p:cNvPr id="38" name="">
            <a:extLst>
              <a:ext uri="{FF2B5EF4-FFF2-40B4-BE49-F238E27FC236}">
                <a16:creationId id="{92D9AD9B-01B2-4D75-A41C-8EFF0872FD8A}"/>
              </a:ext>
            </a:extLst>
          </p:cNvPr>
          <p:cNvSpPr>
            <a:spLocks noGrp="1"/>
          </p:cNvSpPr>
          <p:nvPr/>
        </p:nvSpPr>
        <p:spPr>
          <a:xfrm>
            <a:off x="6191250" y="5305425"/>
            <a:ext cx="447675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0">
                <a:solidFill>
                  <a:srgbClr val="64748B"/>
                </a:solidFill>
                <a:latin typeface="Aptos"/>
                <a:ea typeface="Aptos"/>
                <a:cs typeface="Aptos"/>
              </a:defRPr>
            </a:pPr>
            <a:r>
              <a:rPr sz="938" b="0">
                <a:solidFill>
                  <a:srgbClr val="64748B"/>
                </a:solidFill>
                <a:latin typeface="Aptos"/>
                <a:ea typeface="Aptos"/>
                <a:cs typeface="Aptos"/>
              </a:rPr>
              <a:t>Entry point for current final figure pack</a:t>
            </a:r>
          </a:p>
        </p:txBody>
      </p:sp>
    </p:spTree>
    <p:extLst>
      <p:ext uri="{BB962C8B-B14F-4D97-AF65-F5344CB8AC3E}">
        <p14:creationId val="1463633310"/>
      </p:ext>
    </p:extLst>
  </p:cSld>
</p:sld>
</file>

<file path=ppt/slides/slide15.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p:grpSpPr>
      <p:sp>
        <p:nvSpPr>
          <p:cNvPr id="2" name="">
            <a:extLst>
              <a:ext uri="{FF2B5EF4-FFF2-40B4-BE49-F238E27FC236}">
                <a16:creationId id="{CD298997-FB93-48C6-86C4-D4EFBC9B7878}"/>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4114D8C3-3FE7-47B1-806F-FACD44709CB0}"/>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46248B86-5A6F-4B13-A34D-1288788B7ACD}"/>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5" name="">
            <a:extLst>
              <a:ext uri="{FF2B5EF4-FFF2-40B4-BE49-F238E27FC236}">
                <a16:creationId id="{3C93BDB4-9F31-423F-9BB8-5FA06E2340CB}"/>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Clinical phenotype denominator and definition</a:t>
            </a:r>
          </a:p>
        </p:txBody>
      </p:sp>
      <p:sp>
        <p:nvSpPr>
          <p:cNvPr id="6" name="">
            <a:extLst>
              <a:ext uri="{FF2B5EF4-FFF2-40B4-BE49-F238E27FC236}">
                <a16:creationId id="{6E8FE6E5-59DE-4536-8244-17DF5FAC4D3B}"/>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Clinical status is the annotation layer used for later exploratory overlays.</a:t>
            </a:r>
          </a:p>
        </p:txBody>
      </p:sp>
      <p:sp>
        <p:nvSpPr>
          <p:cNvPr id="7" name="">
            <a:extLst>
              <a:ext uri="{FF2B5EF4-FFF2-40B4-BE49-F238E27FC236}">
                <a16:creationId id="{7FFF9C49-E4AB-40DD-BDFF-B4A527F1F761}"/>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EAF5AEE4-E555-4BD6-A424-B1C89A27C284}"/>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94A90137-0797-4465-81F4-F26007BA2BB5}"/>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51B1E6E2-13F7-4793-99F8-4091328F420D}"/>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15</a:t>
            </a:r>
          </a:p>
        </p:txBody>
      </p:sp>
      <p:sp>
        <p:nvSpPr>
          <p:cNvPr id="11" name="">
            <a:extLst>
              <a:ext uri="{FF2B5EF4-FFF2-40B4-BE49-F238E27FC236}">
                <a16:creationId id="{862EE3F1-E4BC-4FF4-81EE-B99A0336E2E2}"/>
              </a:ext>
            </a:extLst>
          </p:cNvPr>
          <p:cNvSpPr>
            <a:spLocks noGrp="1"/>
          </p:cNvSpPr>
          <p:nvPr/>
        </p:nvSpPr>
        <p:spPr>
          <a:xfrm>
            <a:off x="571500" y="1428750"/>
            <a:ext cx="10439400" cy="4743450"/>
          </a:xfrm>
          <a:prstGeom prst="rect">
            <a:avLst/>
          </a:prstGeom>
          <a:solidFill>
            <a:srgbClr val="FFFFFF"/>
          </a:solidFill>
          <a:ln w="9525">
            <a:solidFill>
              <a:srgbClr val="E5E7EB"/>
            </a:solidFill>
            <a:prstDash val="solid"/>
          </a:ln>
        </p:spPr>
      </p:sp>
      <p:pic>
        <p:nvPicPr>
          <p:cNvPr id="12" name=""/>
          <p:cNvPicPr>
            <a:picLocks noChangeAspect="1"/>
          </p:cNvPicPr>
          <p:nvPr/>
        </p:nvPicPr>
        <p:blipFill>
          <a:blip r:embed="R40dba91d60f44995"/>
          <a:stretch/>
        </p:blipFill>
        <p:spPr>
          <a:xfrm>
            <a:off x="647700" y="1811655"/>
            <a:ext cx="10287000" cy="3977640"/>
          </a:xfrm>
          <a:prstGeom prst="rect">
            <a:avLst/>
          </a:prstGeom>
        </p:spPr>
      </p:pic>
      <p:sp>
        <p:nvSpPr>
          <p:cNvPr id="13" name="">
            <a:extLst>
              <a:ext uri="{FF2B5EF4-FFF2-40B4-BE49-F238E27FC236}">
                <a16:creationId id="{0141187E-AE24-4A5E-BB4F-88707E16E3C4}"/>
              </a:ext>
            </a:extLst>
          </p:cNvPr>
          <p:cNvSpPr>
            <a:spLocks noGrp="1"/>
          </p:cNvSpPr>
          <p:nvPr/>
        </p:nvSpPr>
        <p:spPr>
          <a:xfrm>
            <a:off x="9258300" y="1524000"/>
            <a:ext cx="1905000" cy="247650"/>
          </a:xfrm>
          <a:prstGeom prst="rect">
            <a:avLst/>
          </a:prstGeom>
          <a:solidFill>
            <a:srgbClr val="EEF3F8"/>
          </a:solidFill>
          <a:ln w="0">
            <a:solidFill>
              <a:srgbClr val="EEF3F8"/>
            </a:solidFill>
            <a:prstDash val="solid"/>
          </a:ln>
        </p:spPr>
      </p:sp>
      <p:sp>
        <p:nvSpPr>
          <p:cNvPr id="14" name="">
            <a:extLst>
              <a:ext uri="{FF2B5EF4-FFF2-40B4-BE49-F238E27FC236}">
                <a16:creationId id="{853D4987-B998-4640-B0B7-9D1F96A16776}"/>
              </a:ext>
            </a:extLst>
          </p:cNvPr>
          <p:cNvSpPr>
            <a:spLocks noGrp="1"/>
          </p:cNvSpPr>
          <p:nvPr/>
        </p:nvSpPr>
        <p:spPr>
          <a:xfrm>
            <a:off x="9353550" y="1571625"/>
            <a:ext cx="171450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64748B"/>
                </a:solidFill>
                <a:latin typeface="Aptos"/>
                <a:ea typeface="Aptos"/>
                <a:cs typeface="Aptos"/>
              </a:defRPr>
            </a:pPr>
            <a:r>
              <a:rPr sz="788" b="1">
                <a:solidFill>
                  <a:srgbClr val="64748B"/>
                </a:solidFill>
                <a:latin typeface="Aptos"/>
                <a:ea typeface="Aptos"/>
                <a:cs typeface="Aptos"/>
              </a:rPr>
              <a:t>Denominator audit</a:t>
            </a:r>
          </a:p>
        </p:txBody>
      </p:sp>
    </p:spTree>
    <p:extLst>
      <p:ext uri="{BB962C8B-B14F-4D97-AF65-F5344CB8AC3E}">
        <p14:creationId val="1247233926"/>
      </p:ext>
    </p:extLst>
  </p:cSld>
</p:sld>
</file>

<file path=ppt/slides/slide16.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p:grpSpPr>
      <p:sp>
        <p:nvSpPr>
          <p:cNvPr id="2" name="">
            <a:extLst>
              <a:ext uri="{FF2B5EF4-FFF2-40B4-BE49-F238E27FC236}">
                <a16:creationId id="{EFEB60F0-4A64-4393-ADB7-9A1473615D15}"/>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1CEB623F-523E-41ED-9D26-1450D6A2F10B}"/>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308C0F7B-DB77-48D8-8357-73B44E7A3070}"/>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5" name="">
            <a:extLst>
              <a:ext uri="{FF2B5EF4-FFF2-40B4-BE49-F238E27FC236}">
                <a16:creationId id="{1881B7D3-41A6-4724-A64A-48BFD0989F8F}"/>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Module prevalence by status is an exploratory annotation view</a:t>
            </a:r>
          </a:p>
        </p:txBody>
      </p:sp>
      <p:sp>
        <p:nvSpPr>
          <p:cNvPr id="6" name="">
            <a:extLst>
              <a:ext uri="{FF2B5EF4-FFF2-40B4-BE49-F238E27FC236}">
                <a16:creationId id="{A9572559-7507-4063-9AFD-B7C2009B8612}"/>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Read as descriptive status context; repeated measures and lineage are not fully resolved here.</a:t>
            </a:r>
          </a:p>
        </p:txBody>
      </p:sp>
      <p:sp>
        <p:nvSpPr>
          <p:cNvPr id="7" name="">
            <a:extLst>
              <a:ext uri="{FF2B5EF4-FFF2-40B4-BE49-F238E27FC236}">
                <a16:creationId id="{F1945FD1-FB72-434A-BD1D-F95D852B0C79}"/>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B40AE8AE-155E-4231-B956-908D42CD0FBF}"/>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6C1BE322-D669-49CA-9B52-289EEB19CEFA}"/>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896C48F3-1FB5-447E-B4B8-7363AB3F14D5}"/>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16</a:t>
            </a:r>
          </a:p>
        </p:txBody>
      </p:sp>
      <p:sp>
        <p:nvSpPr>
          <p:cNvPr id="11" name="">
            <a:extLst>
              <a:ext uri="{FF2B5EF4-FFF2-40B4-BE49-F238E27FC236}">
                <a16:creationId id="{36B31FAE-BB8D-4F1F-8542-187A35577A56}"/>
              </a:ext>
            </a:extLst>
          </p:cNvPr>
          <p:cNvSpPr>
            <a:spLocks noGrp="1"/>
          </p:cNvSpPr>
          <p:nvPr/>
        </p:nvSpPr>
        <p:spPr>
          <a:xfrm>
            <a:off x="552450" y="1428750"/>
            <a:ext cx="10058400" cy="4724400"/>
          </a:xfrm>
          <a:prstGeom prst="rect">
            <a:avLst/>
          </a:prstGeom>
          <a:solidFill>
            <a:srgbClr val="FFFFFF"/>
          </a:solidFill>
          <a:ln w="9525">
            <a:solidFill>
              <a:srgbClr val="E5E7EB"/>
            </a:solidFill>
            <a:prstDash val="solid"/>
          </a:ln>
        </p:spPr>
      </p:sp>
      <p:pic>
        <p:nvPicPr>
          <p:cNvPr id="12" name=""/>
          <p:cNvPicPr>
            <a:picLocks noChangeAspect="1"/>
          </p:cNvPicPr>
          <p:nvPr/>
        </p:nvPicPr>
        <p:blipFill>
          <a:blip r:embed="R63c18b15eac9401c"/>
          <a:stretch/>
        </p:blipFill>
        <p:spPr>
          <a:xfrm>
            <a:off x="2724150" y="1504950"/>
            <a:ext cx="5715000" cy="4572000"/>
          </a:xfrm>
          <a:prstGeom prst="rect">
            <a:avLst/>
          </a:prstGeom>
        </p:spPr>
      </p:pic>
      <p:sp>
        <p:nvSpPr>
          <p:cNvPr id="13" name="">
            <a:extLst>
              <a:ext uri="{FF2B5EF4-FFF2-40B4-BE49-F238E27FC236}">
                <a16:creationId id="{65977290-02D5-4F6C-B320-DCD83D92936A}"/>
              </a:ext>
            </a:extLst>
          </p:cNvPr>
          <p:cNvSpPr>
            <a:spLocks noGrp="1"/>
          </p:cNvSpPr>
          <p:nvPr/>
        </p:nvSpPr>
        <p:spPr>
          <a:xfrm>
            <a:off x="10668000" y="1809750"/>
            <a:ext cx="952500" cy="1571625"/>
          </a:xfrm>
          <a:prstGeom prst="roundRect">
            <a:avLst>
              <a:gd name="adj" fmla="val 8000"/>
            </a:avLst>
          </a:prstGeom>
          <a:solidFill>
            <a:srgbClr val="FFF4E6"/>
          </a:solidFill>
          <a:ln w="9525">
            <a:solidFill>
              <a:srgbClr val="F4C98A"/>
            </a:solidFill>
            <a:prstDash val="solid"/>
          </a:ln>
        </p:spPr>
      </p:sp>
      <p:sp>
        <p:nvSpPr>
          <p:cNvPr id="14" name="">
            <a:extLst>
              <a:ext uri="{FF2B5EF4-FFF2-40B4-BE49-F238E27FC236}">
                <a16:creationId id="{8FF681B3-1B37-4A6F-8676-B127E9E19BD4}"/>
              </a:ext>
            </a:extLst>
          </p:cNvPr>
          <p:cNvSpPr>
            <a:spLocks noGrp="1"/>
          </p:cNvSpPr>
          <p:nvPr/>
        </p:nvSpPr>
        <p:spPr>
          <a:xfrm>
            <a:off x="10839450" y="1981200"/>
            <a:ext cx="609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D97706"/>
                </a:solidFill>
                <a:latin typeface="Aptos"/>
                <a:ea typeface="Aptos"/>
                <a:cs typeface="Aptos"/>
              </a:defRPr>
            </a:pPr>
            <a:r>
              <a:rPr sz="1350" b="1">
                <a:solidFill>
                  <a:srgbClr val="D97706"/>
                </a:solidFill>
                <a:latin typeface="Aptos"/>
                <a:ea typeface="Aptos"/>
                <a:cs typeface="Aptos"/>
              </a:rPr>
              <a:t>Label</a:t>
            </a:r>
          </a:p>
        </p:txBody>
      </p:sp>
      <p:sp>
        <p:nvSpPr>
          <p:cNvPr id="15" name="">
            <a:extLst>
              <a:ext uri="{FF2B5EF4-FFF2-40B4-BE49-F238E27FC236}">
                <a16:creationId id="{B93B4C25-82FB-4AB7-88DA-0ABFA0FA0A31}"/>
              </a:ext>
            </a:extLst>
          </p:cNvPr>
          <p:cNvSpPr>
            <a:spLocks noGrp="1"/>
          </p:cNvSpPr>
          <p:nvPr/>
        </p:nvSpPr>
        <p:spPr>
          <a:xfrm>
            <a:off x="10839450" y="2266950"/>
            <a:ext cx="609600" cy="981075"/>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25" b="0">
                <a:solidFill>
                  <a:srgbClr val="64748B"/>
                </a:solidFill>
                <a:latin typeface="Aptos"/>
                <a:ea typeface="Aptos"/>
                <a:cs typeface="Aptos"/>
              </a:defRPr>
            </a:pPr>
            <a:r>
              <a:rPr sz="825" b="0">
                <a:solidFill>
                  <a:srgbClr val="64748B"/>
                </a:solidFill>
                <a:latin typeface="Aptos"/>
                <a:ea typeface="Aptos"/>
                <a:cs typeface="Aptos"/>
              </a:rPr>
              <a:t>Exploratory clinical annotation.</a:t>
            </a:r>
          </a:p>
        </p:txBody>
      </p:sp>
    </p:spTree>
    <p:extLst>
      <p:ext uri="{BB962C8B-B14F-4D97-AF65-F5344CB8AC3E}">
        <p14:creationId val="86267485"/>
      </p:ext>
    </p:extLst>
  </p:cSld>
</p:sld>
</file>

<file path=ppt/slides/slide17.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p:grpSpPr>
      <p:sp>
        <p:nvSpPr>
          <p:cNvPr id="2" name="">
            <a:extLst>
              <a:ext uri="{FF2B5EF4-FFF2-40B4-BE49-F238E27FC236}">
                <a16:creationId id="{1AA31543-FC2B-4FCB-9999-68AC1506B2C1}"/>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24430326-CF8A-4E54-A44F-675E5E584ED2}"/>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3501FF2B-A537-4E19-BA56-0BACBC6556DE}"/>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5" name="">
            <a:extLst>
              <a:ext uri="{FF2B5EF4-FFF2-40B4-BE49-F238E27FC236}">
                <a16:creationId id="{2F1C9E30-F07F-4ED7-9EEE-8A1ED1086EDF}"/>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Full transition mechanism casebook</a:t>
            </a:r>
          </a:p>
        </p:txBody>
      </p:sp>
      <p:sp>
        <p:nvSpPr>
          <p:cNvPr id="6" name="">
            <a:extLst>
              <a:ext uri="{FF2B5EF4-FFF2-40B4-BE49-F238E27FC236}">
                <a16:creationId id="{FA61058A-DC4B-4E18-8679-4A5A046C3A50}"/>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Available for questions about Not_UTI -&gt; UTI transitions; buckets organise evidence, not proof.</a:t>
            </a:r>
          </a:p>
        </p:txBody>
      </p:sp>
      <p:sp>
        <p:nvSpPr>
          <p:cNvPr id="7" name="">
            <a:extLst>
              <a:ext uri="{FF2B5EF4-FFF2-40B4-BE49-F238E27FC236}">
                <a16:creationId id="{05406AC6-6362-4366-9B33-62BA7663748E}"/>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2BABA1E0-3175-4B6A-9995-9D8AC1D2257B}"/>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D09B4AC1-9AF4-45AE-8C30-AA54492A3634}"/>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0AC7B21C-AB2A-415C-95A4-4A068E46CF9B}"/>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17</a:t>
            </a:r>
          </a:p>
        </p:txBody>
      </p:sp>
      <p:sp>
        <p:nvSpPr>
          <p:cNvPr id="11" name="">
            <a:extLst>
              <a:ext uri="{FF2B5EF4-FFF2-40B4-BE49-F238E27FC236}">
                <a16:creationId id="{7762FDF3-F3C2-4424-87AF-3B1AF00431EA}"/>
              </a:ext>
            </a:extLst>
          </p:cNvPr>
          <p:cNvSpPr>
            <a:spLocks noGrp="1"/>
          </p:cNvSpPr>
          <p:nvPr/>
        </p:nvSpPr>
        <p:spPr>
          <a:xfrm>
            <a:off x="514350" y="1428750"/>
            <a:ext cx="10725150" cy="4743450"/>
          </a:xfrm>
          <a:prstGeom prst="rect">
            <a:avLst/>
          </a:prstGeom>
          <a:solidFill>
            <a:srgbClr val="FFFFFF"/>
          </a:solidFill>
          <a:ln w="9525">
            <a:solidFill>
              <a:srgbClr val="E5E7EB"/>
            </a:solidFill>
            <a:prstDash val="solid"/>
          </a:ln>
        </p:spPr>
      </p:sp>
      <p:pic>
        <p:nvPicPr>
          <p:cNvPr id="12" name=""/>
          <p:cNvPicPr>
            <a:picLocks noChangeAspect="1"/>
          </p:cNvPicPr>
          <p:nvPr/>
        </p:nvPicPr>
        <p:blipFill>
          <a:blip r:embed="Ra453d312013d48cf"/>
          <a:stretch/>
        </p:blipFill>
        <p:spPr>
          <a:xfrm>
            <a:off x="1397852" y="1504950"/>
            <a:ext cx="8958146" cy="4591050"/>
          </a:xfrm>
          <a:prstGeom prst="rect">
            <a:avLst/>
          </a:prstGeom>
        </p:spPr>
      </p:pic>
      <p:sp>
        <p:nvSpPr>
          <p:cNvPr id="13" name="">
            <a:extLst>
              <a:ext uri="{FF2B5EF4-FFF2-40B4-BE49-F238E27FC236}">
                <a16:creationId id="{8729F5D1-17E1-4C63-987F-90553A7325D7}"/>
              </a:ext>
            </a:extLst>
          </p:cNvPr>
          <p:cNvSpPr>
            <a:spLocks noGrp="1"/>
          </p:cNvSpPr>
          <p:nvPr/>
        </p:nvSpPr>
        <p:spPr>
          <a:xfrm>
            <a:off x="9334500" y="1524000"/>
            <a:ext cx="2000250" cy="247650"/>
          </a:xfrm>
          <a:prstGeom prst="rect">
            <a:avLst/>
          </a:prstGeom>
          <a:solidFill>
            <a:srgbClr val="EEF3F8"/>
          </a:solidFill>
          <a:ln w="0">
            <a:solidFill>
              <a:srgbClr val="EEF3F8"/>
            </a:solidFill>
            <a:prstDash val="solid"/>
          </a:ln>
        </p:spPr>
      </p:sp>
      <p:sp>
        <p:nvSpPr>
          <p:cNvPr id="14" name="">
            <a:extLst>
              <a:ext uri="{FF2B5EF4-FFF2-40B4-BE49-F238E27FC236}">
                <a16:creationId id="{8F5300AF-D54D-45D3-B135-6B627F37279F}"/>
              </a:ext>
            </a:extLst>
          </p:cNvPr>
          <p:cNvSpPr>
            <a:spLocks noGrp="1"/>
          </p:cNvSpPr>
          <p:nvPr/>
        </p:nvSpPr>
        <p:spPr>
          <a:xfrm>
            <a:off x="9429750" y="1571625"/>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64748B"/>
                </a:solidFill>
                <a:latin typeface="Aptos"/>
                <a:ea typeface="Aptos"/>
                <a:cs typeface="Aptos"/>
              </a:defRPr>
            </a:pPr>
            <a:r>
              <a:rPr sz="788" b="1">
                <a:solidFill>
                  <a:srgbClr val="64748B"/>
                </a:solidFill>
                <a:latin typeface="Aptos"/>
                <a:ea typeface="Aptos"/>
                <a:cs typeface="Aptos"/>
              </a:rPr>
              <a:t>Descriptive casebook</a:t>
            </a:r>
          </a:p>
        </p:txBody>
      </p:sp>
    </p:spTree>
    <p:extLst>
      <p:ext uri="{BB962C8B-B14F-4D97-AF65-F5344CB8AC3E}">
        <p14:creationId val="1654606936"/>
      </p:ext>
    </p:extLst>
  </p:cSld>
</p:sld>
</file>

<file path=ppt/slides/slide18.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p:grpSpPr>
      <p:sp>
        <p:nvSpPr>
          <p:cNvPr id="2" name="">
            <a:extLst>
              <a:ext uri="{FF2B5EF4-FFF2-40B4-BE49-F238E27FC236}">
                <a16:creationId id="{673CD2CE-18F5-4798-81A7-BDB2FB95ABD0}"/>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D98C66E5-430A-4F4F-88A9-73ACC4721A2B}"/>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E9456B50-4D5A-463E-9AF6-693AB3172701}"/>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5" name="">
            <a:extLst>
              <a:ext uri="{FF2B5EF4-FFF2-40B4-BE49-F238E27FC236}">
                <a16:creationId id="{25C6FE1E-2E02-42B5-96A2-FA294FDD4DE8}"/>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Stable strain and changing clinical state</a:t>
            </a:r>
          </a:p>
        </p:txBody>
      </p:sp>
      <p:sp>
        <p:nvSpPr>
          <p:cNvPr id="6" name="">
            <a:extLst>
              <a:ext uri="{FF2B5EF4-FFF2-40B4-BE49-F238E27FC236}">
                <a16:creationId id="{8EBF08D3-E571-4266-BBA1-B80B04F0B089}"/>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Low SNP distance and stable VF profiles support, but do not prove, host-state or regulation hypotheses.</a:t>
            </a:r>
          </a:p>
        </p:txBody>
      </p:sp>
      <p:sp>
        <p:nvSpPr>
          <p:cNvPr id="7" name="">
            <a:extLst>
              <a:ext uri="{FF2B5EF4-FFF2-40B4-BE49-F238E27FC236}">
                <a16:creationId id="{00F9B1F3-5BC9-4ADA-AD98-1E090E829339}"/>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2D265D18-E733-44BC-8EFE-E988EA4F7D46}"/>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A167B963-CB3A-4279-8C43-D81FEF67C82C}"/>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28C906EC-4A80-4759-B9B5-DAA5871B04D7}"/>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18</a:t>
            </a:r>
          </a:p>
        </p:txBody>
      </p:sp>
      <p:sp>
        <p:nvSpPr>
          <p:cNvPr id="11" name="">
            <a:extLst>
              <a:ext uri="{FF2B5EF4-FFF2-40B4-BE49-F238E27FC236}">
                <a16:creationId id="{0CCA7828-2411-4B92-BC90-B2A475367EB9}"/>
              </a:ext>
            </a:extLst>
          </p:cNvPr>
          <p:cNvSpPr>
            <a:spLocks noGrp="1"/>
          </p:cNvSpPr>
          <p:nvPr/>
        </p:nvSpPr>
        <p:spPr>
          <a:xfrm>
            <a:off x="514350" y="1428750"/>
            <a:ext cx="10725150" cy="4743450"/>
          </a:xfrm>
          <a:prstGeom prst="rect">
            <a:avLst/>
          </a:prstGeom>
          <a:solidFill>
            <a:srgbClr val="FFFFFF"/>
          </a:solidFill>
          <a:ln w="9525">
            <a:solidFill>
              <a:srgbClr val="E5E7EB"/>
            </a:solidFill>
            <a:prstDash val="solid"/>
          </a:ln>
        </p:spPr>
      </p:sp>
      <p:pic>
        <p:nvPicPr>
          <p:cNvPr id="12" name=""/>
          <p:cNvPicPr>
            <a:picLocks noChangeAspect="1"/>
          </p:cNvPicPr>
          <p:nvPr/>
        </p:nvPicPr>
        <p:blipFill>
          <a:blip r:embed="R6148633044414aea"/>
          <a:stretch/>
        </p:blipFill>
        <p:spPr>
          <a:xfrm>
            <a:off x="1285875" y="1504950"/>
            <a:ext cx="9182100" cy="4591050"/>
          </a:xfrm>
          <a:prstGeom prst="rect">
            <a:avLst/>
          </a:prstGeom>
        </p:spPr>
      </p:pic>
      <p:sp>
        <p:nvSpPr>
          <p:cNvPr id="13" name="">
            <a:extLst>
              <a:ext uri="{FF2B5EF4-FFF2-40B4-BE49-F238E27FC236}">
                <a16:creationId id="{849429D6-9116-454C-AB09-8CA56E586711}"/>
              </a:ext>
            </a:extLst>
          </p:cNvPr>
          <p:cNvSpPr>
            <a:spLocks noGrp="1"/>
          </p:cNvSpPr>
          <p:nvPr/>
        </p:nvSpPr>
        <p:spPr>
          <a:xfrm>
            <a:off x="9105900" y="1524000"/>
            <a:ext cx="2000250" cy="247650"/>
          </a:xfrm>
          <a:prstGeom prst="rect">
            <a:avLst/>
          </a:prstGeom>
          <a:solidFill>
            <a:srgbClr val="EEF3F8"/>
          </a:solidFill>
          <a:ln w="0">
            <a:solidFill>
              <a:srgbClr val="EEF3F8"/>
            </a:solidFill>
            <a:prstDash val="solid"/>
          </a:ln>
        </p:spPr>
      </p:sp>
      <p:sp>
        <p:nvSpPr>
          <p:cNvPr id="14" name="">
            <a:extLst>
              <a:ext uri="{FF2B5EF4-FFF2-40B4-BE49-F238E27FC236}">
                <a16:creationId id="{77F94D81-16FD-4BAC-8642-4277A0037EEC}"/>
              </a:ext>
            </a:extLst>
          </p:cNvPr>
          <p:cNvSpPr>
            <a:spLocks noGrp="1"/>
          </p:cNvSpPr>
          <p:nvPr/>
        </p:nvSpPr>
        <p:spPr>
          <a:xfrm>
            <a:off x="9201150" y="1571625"/>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64748B"/>
                </a:solidFill>
                <a:latin typeface="Aptos"/>
                <a:ea typeface="Aptos"/>
                <a:cs typeface="Aptos"/>
              </a:defRPr>
            </a:pPr>
            <a:r>
              <a:rPr sz="788" b="1">
                <a:solidFill>
                  <a:srgbClr val="64748B"/>
                </a:solidFill>
                <a:latin typeface="Aptos"/>
                <a:ea typeface="Aptos"/>
                <a:cs typeface="Aptos"/>
              </a:rPr>
              <a:t>Transition context</a:t>
            </a:r>
          </a:p>
        </p:txBody>
      </p:sp>
    </p:spTree>
    <p:extLst>
      <p:ext uri="{BB962C8B-B14F-4D97-AF65-F5344CB8AC3E}">
        <p14:creationId val="2544079"/>
      </p:ext>
    </p:extLst>
  </p:cSld>
</p:sld>
</file>

<file path=ppt/slides/slide19.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p:grpSpPr>
      <p:sp>
        <p:nvSpPr>
          <p:cNvPr id="2" name="">
            <a:extLst>
              <a:ext uri="{FF2B5EF4-FFF2-40B4-BE49-F238E27FC236}">
                <a16:creationId id="{B15CD29B-E662-4F1A-879C-2A83873DE478}"/>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822060FF-EA35-4D7D-A5BF-672DDF908693}"/>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360E5349-0E90-468A-9E5D-767D5E2B187B}"/>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5" name="">
            <a:extLst>
              <a:ext uri="{FF2B5EF4-FFF2-40B4-BE49-F238E27FC236}">
                <a16:creationId id="{AAB77C6F-9F8A-44E6-824A-876925FB3553}"/>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Population-level robustness boundary</a:t>
            </a:r>
          </a:p>
        </p:txBody>
      </p:sp>
      <p:sp>
        <p:nvSpPr>
          <p:cNvPr id="6" name="">
            <a:extLst>
              <a:ext uri="{FF2B5EF4-FFF2-40B4-BE49-F238E27FC236}">
                <a16:creationId id="{92986528-46D3-4E9F-8FCE-6FD9938CEFB5}"/>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No adjusted VF association is confirmatory with only 17 VF-ready UTI episodes.</a:t>
            </a:r>
          </a:p>
        </p:txBody>
      </p:sp>
      <p:sp>
        <p:nvSpPr>
          <p:cNvPr id="7" name="">
            <a:extLst>
              <a:ext uri="{FF2B5EF4-FFF2-40B4-BE49-F238E27FC236}">
                <a16:creationId id="{34475E32-57A7-4916-BC2A-ADA300ACCEDC}"/>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43AB849A-6FA2-4A68-B04E-BDEFCB0B303A}"/>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D41E611E-7D9E-4E68-AF13-1801D4B9FBEE}"/>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F5139703-8A12-496D-B49D-FC6DCC7C4E11}"/>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19</a:t>
            </a:r>
          </a:p>
        </p:txBody>
      </p:sp>
      <p:sp>
        <p:nvSpPr>
          <p:cNvPr id="11" name="">
            <a:extLst>
              <a:ext uri="{FF2B5EF4-FFF2-40B4-BE49-F238E27FC236}">
                <a16:creationId id="{F2239614-5DD2-48AC-9230-F056FABD622A}"/>
              </a:ext>
            </a:extLst>
          </p:cNvPr>
          <p:cNvSpPr>
            <a:spLocks noGrp="1"/>
          </p:cNvSpPr>
          <p:nvPr/>
        </p:nvSpPr>
        <p:spPr>
          <a:xfrm>
            <a:off x="514350" y="1428750"/>
            <a:ext cx="10725150" cy="4743450"/>
          </a:xfrm>
          <a:prstGeom prst="rect">
            <a:avLst/>
          </a:prstGeom>
          <a:solidFill>
            <a:srgbClr val="FFFFFF"/>
          </a:solidFill>
          <a:ln w="9525">
            <a:solidFill>
              <a:srgbClr val="E5E7EB"/>
            </a:solidFill>
            <a:prstDash val="solid"/>
          </a:ln>
        </p:spPr>
      </p:sp>
      <p:pic>
        <p:nvPicPr>
          <p:cNvPr id="12" name=""/>
          <p:cNvPicPr>
            <a:picLocks noChangeAspect="1"/>
          </p:cNvPicPr>
          <p:nvPr/>
        </p:nvPicPr>
        <p:blipFill>
          <a:blip r:embed="R1fd6bc3eaaf24f94"/>
          <a:stretch/>
        </p:blipFill>
        <p:spPr>
          <a:xfrm>
            <a:off x="2051050" y="1504950"/>
            <a:ext cx="7651750" cy="4591050"/>
          </a:xfrm>
          <a:prstGeom prst="rect">
            <a:avLst/>
          </a:prstGeom>
        </p:spPr>
      </p:pic>
      <p:sp>
        <p:nvSpPr>
          <p:cNvPr id="13" name="">
            <a:extLst>
              <a:ext uri="{FF2B5EF4-FFF2-40B4-BE49-F238E27FC236}">
                <a16:creationId id="{BCC1B7DA-D270-4B2A-9C8E-B0B2F85C184F}"/>
              </a:ext>
            </a:extLst>
          </p:cNvPr>
          <p:cNvSpPr>
            <a:spLocks noGrp="1"/>
          </p:cNvSpPr>
          <p:nvPr/>
        </p:nvSpPr>
        <p:spPr>
          <a:xfrm>
            <a:off x="9048750" y="1524000"/>
            <a:ext cx="2190750" cy="247650"/>
          </a:xfrm>
          <a:prstGeom prst="rect">
            <a:avLst/>
          </a:prstGeom>
          <a:solidFill>
            <a:srgbClr val="FFF4E6"/>
          </a:solidFill>
          <a:ln w="0">
            <a:solidFill>
              <a:srgbClr val="FFF4E6"/>
            </a:solidFill>
            <a:prstDash val="solid"/>
          </a:ln>
        </p:spPr>
      </p:sp>
      <p:sp>
        <p:nvSpPr>
          <p:cNvPr id="14" name="">
            <a:extLst>
              <a:ext uri="{FF2B5EF4-FFF2-40B4-BE49-F238E27FC236}">
                <a16:creationId id="{FA0E96A0-0E6E-49FA-BFEE-21F433DF8251}"/>
              </a:ext>
            </a:extLst>
          </p:cNvPr>
          <p:cNvSpPr>
            <a:spLocks noGrp="1"/>
          </p:cNvSpPr>
          <p:nvPr/>
        </p:nvSpPr>
        <p:spPr>
          <a:xfrm>
            <a:off x="9144000" y="1571625"/>
            <a:ext cx="2000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D97706"/>
                </a:solidFill>
                <a:latin typeface="Aptos"/>
                <a:ea typeface="Aptos"/>
                <a:cs typeface="Aptos"/>
              </a:defRPr>
            </a:pPr>
            <a:r>
              <a:rPr sz="788" b="1">
                <a:solidFill>
                  <a:srgbClr val="D97706"/>
                </a:solidFill>
                <a:latin typeface="Aptos"/>
                <a:ea typeface="Aptos"/>
                <a:cs typeface="Aptos"/>
              </a:rPr>
              <a:t>Exploratory diagnostics</a:t>
            </a:r>
          </a:p>
        </p:txBody>
      </p:sp>
    </p:spTree>
    <p:extLst>
      <p:ext uri="{BB962C8B-B14F-4D97-AF65-F5344CB8AC3E}">
        <p14:creationId val="1618762244"/>
      </p:ext>
    </p:extLst>
  </p:cSld>
</p:sld>
</file>

<file path=ppt/slides/slide20.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p:grpSpPr>
      <p:sp>
        <p:nvSpPr>
          <p:cNvPr id="2" name="">
            <a:extLst>
              <a:ext uri="{FF2B5EF4-FFF2-40B4-BE49-F238E27FC236}">
                <a16:creationId id="{0F64F74B-5DAC-47ED-9FF4-A8B2A1B3D56A}"/>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3C0B843B-958D-48FE-9AEF-E99B4D2AFF76}"/>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8BB58583-46CB-4143-8E21-251E97766179}"/>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5" name="">
            <a:extLst>
              <a:ext uri="{FF2B5EF4-FFF2-40B4-BE49-F238E27FC236}">
                <a16:creationId id="{D9F766ED-F1ED-47D4-BD53-89E42A9FDECA}"/>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Lineage structure is an interpretation check</a:t>
            </a:r>
          </a:p>
        </p:txBody>
      </p:sp>
      <p:sp>
        <p:nvSpPr>
          <p:cNvPr id="6" name="">
            <a:extLst>
              <a:ext uri="{FF2B5EF4-FFF2-40B4-BE49-F238E27FC236}">
                <a16:creationId id="{91118077-4CA5-4613-94D3-2311822CF4AA}"/>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Jaccard PCoA of module profiles by sequence type flags lineage structure before status claims.</a:t>
            </a:r>
          </a:p>
        </p:txBody>
      </p:sp>
      <p:sp>
        <p:nvSpPr>
          <p:cNvPr id="7" name="">
            <a:extLst>
              <a:ext uri="{FF2B5EF4-FFF2-40B4-BE49-F238E27FC236}">
                <a16:creationId id="{CDCBDC2D-8E96-4181-AAB0-AED388BFBF99}"/>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7E8D2D1E-B1D7-4527-9203-816B66304E72}"/>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8F281126-1A7A-4C19-94CF-E83797133638}"/>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3374CBD4-1D17-4BC2-851A-9ADEC0EF32C0}"/>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20</a:t>
            </a:r>
          </a:p>
        </p:txBody>
      </p:sp>
      <p:sp>
        <p:nvSpPr>
          <p:cNvPr id="11" name="">
            <a:extLst>
              <a:ext uri="{FF2B5EF4-FFF2-40B4-BE49-F238E27FC236}">
                <a16:creationId id="{0C82184A-3FB5-4DDA-BB20-E9081D66D27A}"/>
              </a:ext>
            </a:extLst>
          </p:cNvPr>
          <p:cNvSpPr>
            <a:spLocks noGrp="1"/>
          </p:cNvSpPr>
          <p:nvPr/>
        </p:nvSpPr>
        <p:spPr>
          <a:xfrm>
            <a:off x="571500" y="1428750"/>
            <a:ext cx="9867900" cy="4743450"/>
          </a:xfrm>
          <a:prstGeom prst="rect">
            <a:avLst/>
          </a:prstGeom>
          <a:solidFill>
            <a:srgbClr val="FFFFFF"/>
          </a:solidFill>
          <a:ln w="9525">
            <a:solidFill>
              <a:srgbClr val="E5E7EB"/>
            </a:solidFill>
            <a:prstDash val="solid"/>
          </a:ln>
        </p:spPr>
      </p:sp>
      <p:pic>
        <p:nvPicPr>
          <p:cNvPr id="12" name=""/>
          <p:cNvPicPr>
            <a:picLocks noChangeAspect="1"/>
          </p:cNvPicPr>
          <p:nvPr/>
        </p:nvPicPr>
        <p:blipFill>
          <a:blip r:embed="Rf33bfcf282ae456f"/>
          <a:stretch/>
        </p:blipFill>
        <p:spPr>
          <a:xfrm>
            <a:off x="1973873" y="1504950"/>
            <a:ext cx="7063154" cy="4591050"/>
          </a:xfrm>
          <a:prstGeom prst="rect">
            <a:avLst/>
          </a:prstGeom>
        </p:spPr>
      </p:pic>
      <p:sp>
        <p:nvSpPr>
          <p:cNvPr id="13" name="">
            <a:extLst>
              <a:ext uri="{FF2B5EF4-FFF2-40B4-BE49-F238E27FC236}">
                <a16:creationId id="{6836F60E-4020-44F9-B760-41D233B8B9BC}"/>
              </a:ext>
            </a:extLst>
          </p:cNvPr>
          <p:cNvSpPr>
            <a:spLocks noGrp="1"/>
          </p:cNvSpPr>
          <p:nvPr/>
        </p:nvSpPr>
        <p:spPr>
          <a:xfrm>
            <a:off x="10496550" y="1809750"/>
            <a:ext cx="1123950" cy="1809750"/>
          </a:xfrm>
          <a:prstGeom prst="roundRect">
            <a:avLst>
              <a:gd name="adj" fmla="val 6780"/>
            </a:avLst>
          </a:prstGeom>
          <a:solidFill>
            <a:srgbClr val="EEF3F8"/>
          </a:solidFill>
          <a:ln w="9525">
            <a:solidFill>
              <a:srgbClr val="CBD5E1"/>
            </a:solidFill>
            <a:prstDash val="solid"/>
          </a:ln>
        </p:spPr>
      </p:sp>
      <p:sp>
        <p:nvSpPr>
          <p:cNvPr id="14" name="">
            <a:extLst>
              <a:ext uri="{FF2B5EF4-FFF2-40B4-BE49-F238E27FC236}">
                <a16:creationId id="{2DC54D62-3030-4044-ADDE-0AD82DC4B545}"/>
              </a:ext>
            </a:extLst>
          </p:cNvPr>
          <p:cNvSpPr>
            <a:spLocks noGrp="1"/>
          </p:cNvSpPr>
          <p:nvPr/>
        </p:nvSpPr>
        <p:spPr>
          <a:xfrm>
            <a:off x="10668000" y="1981200"/>
            <a:ext cx="78105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350" b="1">
                <a:solidFill>
                  <a:srgbClr val="111827"/>
                </a:solidFill>
                <a:latin typeface="Aptos"/>
                <a:ea typeface="Aptos"/>
                <a:cs typeface="Aptos"/>
              </a:defRPr>
            </a:pPr>
            <a:r>
              <a:rPr sz="1350" b="1">
                <a:solidFill>
                  <a:srgbClr val="111827"/>
                </a:solidFill>
                <a:latin typeface="Aptos"/>
                <a:ea typeface="Aptos"/>
                <a:cs typeface="Aptos"/>
              </a:rPr>
              <a:t>Use for</a:t>
            </a:r>
          </a:p>
        </p:txBody>
      </p:sp>
      <p:sp>
        <p:nvSpPr>
          <p:cNvPr id="15" name="">
            <a:extLst>
              <a:ext uri="{FF2B5EF4-FFF2-40B4-BE49-F238E27FC236}">
                <a16:creationId id="{1E2BC5A9-D096-44A8-A532-0C26BD49F5CC}"/>
              </a:ext>
            </a:extLst>
          </p:cNvPr>
          <p:cNvSpPr>
            <a:spLocks noGrp="1"/>
          </p:cNvSpPr>
          <p:nvPr/>
        </p:nvSpPr>
        <p:spPr>
          <a:xfrm>
            <a:off x="10668000" y="2266950"/>
            <a:ext cx="781050" cy="12192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863" b="0">
                <a:solidFill>
                  <a:srgbClr val="64748B"/>
                </a:solidFill>
                <a:latin typeface="Aptos"/>
                <a:ea typeface="Aptos"/>
                <a:cs typeface="Aptos"/>
              </a:defRPr>
            </a:pPr>
            <a:r>
              <a:rPr sz="863" b="0">
                <a:solidFill>
                  <a:srgbClr val="64748B"/>
                </a:solidFill>
                <a:latin typeface="Aptos"/>
                <a:ea typeface="Aptos"/>
                <a:cs typeface="Aptos"/>
              </a:rPr>
              <a:t>Questions about ST and VF profile clustering.</a:t>
            </a:r>
          </a:p>
        </p:txBody>
      </p:sp>
    </p:spTree>
    <p:extLst>
      <p:ext uri="{BB962C8B-B14F-4D97-AF65-F5344CB8AC3E}">
        <p14:creationId val="556540290"/>
      </p:ext>
    </p:extLst>
  </p:cSld>
</p:sld>
</file>

<file path=ppt/slides/slide21.xml><?xml version="1.0" encoding="utf-8"?>
<p:sld xmlns:a="http://schemas.openxmlformats.org/drawingml/2006/main" xmlns:a16="http://schemas.microsoft.com/office/drawing/2014/main" xmlns:p="http://schemas.openxmlformats.org/presentationml/2006/main" xmlns:p14="http://schemas.microsoft.com/office/powerpoint/2010/main" xmlns:r="http://schemas.openxmlformats.org/officeDocument/2006/relationships">
  <p:cSld>
    <p:spTree>
      <p:nvGrpSpPr>
        <p:cNvPr id="1" name=""/>
        <p:cNvGrpSpPr/>
        <p:nvPr/>
      </p:nvGrpSpPr>
      <p:grpSpPr>
        <a:xfrm/>
      </p:grpSpPr>
      <p:sp>
        <p:nvSpPr>
          <p:cNvPr id="2" name="">
            <a:extLst>
              <a:ext uri="{FF2B5EF4-FFF2-40B4-BE49-F238E27FC236}">
                <a16:creationId id="{A1BF6A0B-AC12-4BCC-A62F-44035F4D68EA}"/>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D315C90A-4738-4A64-B0B5-0C84AA363188}"/>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F4F91271-DA5B-4E66-AB57-6BE2F096C658}"/>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APPENDIX</a:t>
            </a:r>
          </a:p>
        </p:txBody>
      </p:sp>
      <p:sp>
        <p:nvSpPr>
          <p:cNvPr id="5" name="">
            <a:extLst>
              <a:ext uri="{FF2B5EF4-FFF2-40B4-BE49-F238E27FC236}">
                <a16:creationId id="{DCDCE641-DF56-49A6-BDD1-90B5A2825FE7}"/>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100" b="1">
                <a:solidFill>
                  <a:srgbClr val="111827"/>
                </a:solidFill>
                <a:latin typeface="Aptos Display"/>
                <a:ea typeface="Aptos Display"/>
                <a:cs typeface="Aptos Display"/>
              </a:defRPr>
            </a:pPr>
            <a:r>
              <a:rPr sz="2100" b="1">
                <a:solidFill>
                  <a:srgbClr val="111827"/>
                </a:solidFill>
                <a:latin typeface="Aptos Display"/>
                <a:ea typeface="Aptos Display"/>
                <a:cs typeface="Aptos Display"/>
              </a:rPr>
              <a:t>AMR backup only: exploratory transition-level ResFinder context</a:t>
            </a:r>
          </a:p>
        </p:txBody>
      </p:sp>
      <p:sp>
        <p:nvSpPr>
          <p:cNvPr id="6" name="">
            <a:extLst>
              <a:ext uri="{FF2B5EF4-FFF2-40B4-BE49-F238E27FC236}">
                <a16:creationId id="{8929FFD1-C7D3-4327-B685-429D4B178387}"/>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This is not a global VF-plus-AMR association analysis and should stay in Q&amp;A backup.</a:t>
            </a:r>
          </a:p>
        </p:txBody>
      </p:sp>
      <p:sp>
        <p:nvSpPr>
          <p:cNvPr id="7" name="">
            <a:extLst>
              <a:ext uri="{FF2B5EF4-FFF2-40B4-BE49-F238E27FC236}">
                <a16:creationId id="{932F0AB3-4489-4662-B385-9A70A5B82592}"/>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E0E6500E-836E-4BCC-8F6A-17D1B17E95F5}"/>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852CD2F3-E7D2-495C-B421-5BBDDCFE9329}"/>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32DE1B10-9A79-45D5-8DFF-3985E09020BD}"/>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21</a:t>
            </a:r>
          </a:p>
        </p:txBody>
      </p:sp>
      <p:sp>
        <p:nvSpPr>
          <p:cNvPr id="11" name="">
            <a:extLst>
              <a:ext uri="{FF2B5EF4-FFF2-40B4-BE49-F238E27FC236}">
                <a16:creationId id="{A92AC0DE-D422-4681-AB5B-18F0981ADD08}"/>
              </a:ext>
            </a:extLst>
          </p:cNvPr>
          <p:cNvSpPr>
            <a:spLocks noGrp="1"/>
          </p:cNvSpPr>
          <p:nvPr/>
        </p:nvSpPr>
        <p:spPr>
          <a:xfrm>
            <a:off x="514350" y="1428750"/>
            <a:ext cx="10725150" cy="4743450"/>
          </a:xfrm>
          <a:prstGeom prst="rect">
            <a:avLst/>
          </a:prstGeom>
          <a:solidFill>
            <a:srgbClr val="FFFFFF"/>
          </a:solidFill>
          <a:ln w="9525">
            <a:solidFill>
              <a:srgbClr val="E5E7EB"/>
            </a:solidFill>
            <a:prstDash val="solid"/>
          </a:ln>
        </p:spPr>
      </p:sp>
      <p:pic>
        <p:nvPicPr>
          <p:cNvPr id="12" name=""/>
          <p:cNvPicPr>
            <a:picLocks noChangeAspect="1"/>
          </p:cNvPicPr>
          <p:nvPr/>
        </p:nvPicPr>
        <p:blipFill>
          <a:blip r:embed="Rd99eab6cc8e34158"/>
          <a:stretch/>
        </p:blipFill>
        <p:spPr>
          <a:xfrm>
            <a:off x="1777773" y="1504950"/>
            <a:ext cx="8198304" cy="4591050"/>
          </a:xfrm>
          <a:prstGeom prst="rect">
            <a:avLst/>
          </a:prstGeom>
        </p:spPr>
      </p:pic>
      <p:sp>
        <p:nvSpPr>
          <p:cNvPr id="13" name="">
            <a:extLst>
              <a:ext uri="{FF2B5EF4-FFF2-40B4-BE49-F238E27FC236}">
                <a16:creationId id="{F9F79CFF-D138-4C69-8E74-4B46E9E1811E}"/>
              </a:ext>
            </a:extLst>
          </p:cNvPr>
          <p:cNvSpPr>
            <a:spLocks noGrp="1"/>
          </p:cNvSpPr>
          <p:nvPr/>
        </p:nvSpPr>
        <p:spPr>
          <a:xfrm>
            <a:off x="8477250" y="1524000"/>
            <a:ext cx="1809750" cy="247650"/>
          </a:xfrm>
          <a:prstGeom prst="rect">
            <a:avLst/>
          </a:prstGeom>
          <a:solidFill>
            <a:srgbClr val="FBEDE8"/>
          </a:solidFill>
          <a:ln w="0">
            <a:solidFill>
              <a:srgbClr val="FBEDE8"/>
            </a:solidFill>
            <a:prstDash val="solid"/>
          </a:ln>
        </p:spPr>
      </p:sp>
      <p:sp>
        <p:nvSpPr>
          <p:cNvPr id="14" name="">
            <a:extLst>
              <a:ext uri="{FF2B5EF4-FFF2-40B4-BE49-F238E27FC236}">
                <a16:creationId id="{9E84F440-BE44-4651-AB49-D5728B6B2C56}"/>
              </a:ext>
            </a:extLst>
          </p:cNvPr>
          <p:cNvSpPr>
            <a:spLocks noGrp="1"/>
          </p:cNvSpPr>
          <p:nvPr/>
        </p:nvSpPr>
        <p:spPr>
          <a:xfrm>
            <a:off x="8572500" y="1571625"/>
            <a:ext cx="16192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ctr">
              <a:buNone/>
              <a:defRPr sz="788" b="1">
                <a:solidFill>
                  <a:srgbClr val="B65A3C"/>
                </a:solidFill>
                <a:latin typeface="Aptos"/>
                <a:ea typeface="Aptos"/>
                <a:cs typeface="Aptos"/>
              </a:defRPr>
            </a:pPr>
            <a:r>
              <a:rPr sz="788" b="1">
                <a:solidFill>
                  <a:srgbClr val="B65A3C"/>
                </a:solidFill>
                <a:latin typeface="Aptos"/>
                <a:ea typeface="Aptos"/>
                <a:cs typeface="Aptos"/>
              </a:rPr>
              <a:t>AMR backup only</a:t>
            </a:r>
          </a:p>
        </p:txBody>
      </p:sp>
    </p:spTree>
    <p:extLst>
      <p:ext uri="{BB962C8B-B14F-4D97-AF65-F5344CB8AC3E}">
        <p14:creationId val="1943550564"/>
      </p:ext>
    </p:extLst>
  </p:cSld>
</p:sld>
</file>

<file path=ppt/slides/slide22.xml><?xml version="1.0" encoding="utf-8"?>
<p:sld xmlns:a="http://schemas.openxmlformats.org/drawingml/2006/main" xmlns:a16="http://schemas.microsoft.com/office/drawing/2014/main" xmlns:p="http://schemas.openxmlformats.org/presentationml/2006/main" xmlns:p14="http://schemas.microsoft.com/office/powerpoint/2010/main">
  <p:cSld>
    <p:spTree>
      <p:nvGrpSpPr>
        <p:cNvPr id="1" name=""/>
        <p:cNvGrpSpPr/>
        <p:nvPr/>
      </p:nvGrpSpPr>
      <p:grpSpPr>
        <a:xfrm/>
      </p:grpSpPr>
      <p:sp>
        <p:nvSpPr>
          <p:cNvPr id="2" name="">
            <a:extLst>
              <a:ext uri="{FF2B5EF4-FFF2-40B4-BE49-F238E27FC236}">
                <a16:creationId id="{266B325E-7AE1-4BC4-9FC6-8DD09D8F4A94}"/>
              </a:ext>
            </a:extLst>
          </p:cNvPr>
          <p:cNvSpPr>
            <a:spLocks noGrp="1"/>
          </p:cNvSpPr>
          <p:nvPr/>
        </p:nvSpPr>
        <p:spPr>
          <a:xfrm>
            <a:off x="0" y="0"/>
            <a:ext cx="12192000" cy="6858000"/>
          </a:xfrm>
          <a:prstGeom prst="rect">
            <a:avLst/>
          </a:prstGeom>
          <a:solidFill>
            <a:srgbClr val="FFFFFF"/>
          </a:solidFill>
          <a:ln w="0">
            <a:solidFill>
              <a:srgbClr val="000000">
                <a:alpha val="0"/>
              </a:srgbClr>
            </a:solidFill>
            <a:prstDash val="solid"/>
          </a:ln>
        </p:spPr>
      </p:sp>
      <p:sp>
        <p:nvSpPr>
          <p:cNvPr id="3" name="">
            <a:extLst>
              <a:ext uri="{FF2B5EF4-FFF2-40B4-BE49-F238E27FC236}">
                <a16:creationId id="{7B9880EB-D5BF-48BA-9012-C8C11DE7A533}"/>
              </a:ext>
            </a:extLst>
          </p:cNvPr>
          <p:cNvSpPr>
            <a:spLocks noGrp="1"/>
          </p:cNvSpPr>
          <p:nvPr/>
        </p:nvSpPr>
        <p:spPr>
          <a:xfrm>
            <a:off x="0" y="0"/>
            <a:ext cx="114300" cy="6858000"/>
          </a:xfrm>
          <a:prstGeom prst="rect">
            <a:avLst/>
          </a:prstGeom>
          <a:solidFill>
            <a:srgbClr val="2B6CB0"/>
          </a:solidFill>
          <a:ln w="0">
            <a:solidFill>
              <a:srgbClr val="000000">
                <a:alpha val="0"/>
              </a:srgbClr>
            </a:solidFill>
            <a:prstDash val="solid"/>
          </a:ln>
        </p:spPr>
      </p:sp>
      <p:sp>
        <p:nvSpPr>
          <p:cNvPr id="4" name="">
            <a:extLst>
              <a:ext uri="{FF2B5EF4-FFF2-40B4-BE49-F238E27FC236}">
                <a16:creationId id="{5D05EA34-EE28-4E05-A5A2-A5ED803E844E}"/>
              </a:ext>
            </a:extLst>
          </p:cNvPr>
          <p:cNvSpPr>
            <a:spLocks noGrp="1"/>
          </p:cNvSpPr>
          <p:nvPr/>
        </p:nvSpPr>
        <p:spPr>
          <a:xfrm>
            <a:off x="514350" y="323850"/>
            <a:ext cx="85725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1">
                <a:solidFill>
                  <a:srgbClr val="64748B"/>
                </a:solidFill>
                <a:latin typeface="Aptos"/>
                <a:ea typeface="Aptos"/>
                <a:cs typeface="Aptos"/>
              </a:defRPr>
            </a:pPr>
            <a:r>
              <a:rPr sz="900" b="1">
                <a:solidFill>
                  <a:srgbClr val="64748B"/>
                </a:solidFill>
                <a:latin typeface="Aptos"/>
                <a:ea typeface="Aptos"/>
                <a:cs typeface="Aptos"/>
              </a:rPr>
              <a:t>APPENDIX / EVIDENCE REGISTRY</a:t>
            </a:r>
          </a:p>
        </p:txBody>
      </p:sp>
      <p:sp>
        <p:nvSpPr>
          <p:cNvPr id="5" name="">
            <a:extLst>
              <a:ext uri="{FF2B5EF4-FFF2-40B4-BE49-F238E27FC236}">
                <a16:creationId id="{809A339B-F333-4E84-BF4F-D62BD0B1E532}"/>
              </a:ext>
            </a:extLst>
          </p:cNvPr>
          <p:cNvSpPr>
            <a:spLocks noGrp="1"/>
          </p:cNvSpPr>
          <p:nvPr/>
        </p:nvSpPr>
        <p:spPr>
          <a:xfrm>
            <a:off x="514350" y="552450"/>
            <a:ext cx="10668000" cy="4191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2250" b="1">
                <a:solidFill>
                  <a:srgbClr val="111827"/>
                </a:solidFill>
                <a:latin typeface="Aptos Display"/>
                <a:ea typeface="Aptos Display"/>
                <a:cs typeface="Aptos Display"/>
              </a:defRPr>
            </a:pPr>
            <a:r>
              <a:rPr sz="2250" b="1">
                <a:solidFill>
                  <a:srgbClr val="111827"/>
                </a:solidFill>
                <a:latin typeface="Aptos Display"/>
                <a:ea typeface="Aptos Display"/>
                <a:cs typeface="Aptos Display"/>
              </a:rPr>
              <a:t>Sources of truth and lookup resources for questions</a:t>
            </a:r>
          </a:p>
        </p:txBody>
      </p:sp>
      <p:sp>
        <p:nvSpPr>
          <p:cNvPr id="6" name="">
            <a:extLst>
              <a:ext uri="{FF2B5EF4-FFF2-40B4-BE49-F238E27FC236}">
                <a16:creationId id="{9A8D8480-CD39-45C3-A7E1-F0B185F9D044}"/>
              </a:ext>
            </a:extLst>
          </p:cNvPr>
          <p:cNvSpPr>
            <a:spLocks noGrp="1"/>
          </p:cNvSpPr>
          <p:nvPr/>
        </p:nvSpPr>
        <p:spPr>
          <a:xfrm>
            <a:off x="514350" y="990600"/>
            <a:ext cx="10668000" cy="2667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200" b="0">
                <a:solidFill>
                  <a:srgbClr val="64748B"/>
                </a:solidFill>
                <a:latin typeface="Aptos"/>
                <a:ea typeface="Aptos"/>
                <a:cs typeface="Aptos"/>
              </a:defRPr>
            </a:pPr>
            <a:r>
              <a:rPr sz="1200" b="0">
                <a:solidFill>
                  <a:srgbClr val="64748B"/>
                </a:solidFill>
                <a:latin typeface="Aptos"/>
                <a:ea typeface="Aptos"/>
                <a:cs typeface="Aptos"/>
              </a:rPr>
              <a:t>Open these files when the discussion needs provenance rather than a new analysis.</a:t>
            </a:r>
          </a:p>
        </p:txBody>
      </p:sp>
      <p:sp>
        <p:nvSpPr>
          <p:cNvPr id="7" name="">
            <a:extLst>
              <a:ext uri="{FF2B5EF4-FFF2-40B4-BE49-F238E27FC236}">
                <a16:creationId id="{7A10255D-9F7F-4ABA-8448-B6414DE02B8F}"/>
              </a:ext>
            </a:extLst>
          </p:cNvPr>
          <p:cNvSpPr>
            <a:spLocks noGrp="1"/>
          </p:cNvSpPr>
          <p:nvPr/>
        </p:nvSpPr>
        <p:spPr>
          <a:xfrm>
            <a:off x="514350" y="1333500"/>
            <a:ext cx="11163300" cy="13335"/>
          </a:xfrm>
          <a:prstGeom prst="rect">
            <a:avLst/>
          </a:prstGeom>
          <a:solidFill>
            <a:srgbClr val="CBD5E1"/>
          </a:solidFill>
          <a:ln w="0">
            <a:solidFill>
              <a:srgbClr val="000000">
                <a:alpha val="0"/>
              </a:srgbClr>
            </a:solidFill>
            <a:prstDash val="solid"/>
          </a:ln>
        </p:spPr>
      </p:sp>
      <p:sp>
        <p:nvSpPr>
          <p:cNvPr id="8" name="">
            <a:extLst>
              <a:ext uri="{FF2B5EF4-FFF2-40B4-BE49-F238E27FC236}">
                <a16:creationId id="{584BC926-C690-4762-9BC3-C0C5EF840045}"/>
              </a:ext>
            </a:extLst>
          </p:cNvPr>
          <p:cNvSpPr>
            <a:spLocks noGrp="1"/>
          </p:cNvSpPr>
          <p:nvPr/>
        </p:nvSpPr>
        <p:spPr>
          <a:xfrm>
            <a:off x="514350" y="6419850"/>
            <a:ext cx="11163300" cy="11430"/>
          </a:xfrm>
          <a:prstGeom prst="rect">
            <a:avLst/>
          </a:prstGeom>
          <a:solidFill>
            <a:srgbClr val="CBD5E1"/>
          </a:solidFill>
          <a:ln w="0">
            <a:solidFill>
              <a:srgbClr val="000000">
                <a:alpha val="0"/>
              </a:srgbClr>
            </a:solidFill>
            <a:prstDash val="solid"/>
          </a:ln>
        </p:spPr>
      </p:sp>
      <p:sp>
        <p:nvSpPr>
          <p:cNvPr id="9" name="">
            <a:extLst>
              <a:ext uri="{FF2B5EF4-FFF2-40B4-BE49-F238E27FC236}">
                <a16:creationId id="{03FFB285-1C5D-4F8B-8331-D2FE9B5BCA0A}"/>
              </a:ext>
            </a:extLst>
          </p:cNvPr>
          <p:cNvSpPr>
            <a:spLocks noGrp="1"/>
          </p:cNvSpPr>
          <p:nvPr/>
        </p:nvSpPr>
        <p:spPr>
          <a:xfrm>
            <a:off x="514350" y="6496050"/>
            <a:ext cx="952500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a:ea typeface="Aptos"/>
                <a:cs typeface="Aptos"/>
              </a:defRPr>
            </a:pPr>
            <a:r>
              <a:rPr sz="788" b="0">
                <a:solidFill>
                  <a:srgbClr val="64748B"/>
                </a:solidFill>
                <a:latin typeface="Aptos"/>
                <a:ea typeface="Aptos"/>
                <a:cs typeface="Aptos"/>
              </a:rPr>
              <a:t>Current pipeline outputs | VF analysis of longitudinal urinary E. coli isolates</a:t>
            </a:r>
          </a:p>
        </p:txBody>
      </p:sp>
      <p:sp>
        <p:nvSpPr>
          <p:cNvPr id="10" name="">
            <a:extLst>
              <a:ext uri="{FF2B5EF4-FFF2-40B4-BE49-F238E27FC236}">
                <a16:creationId id="{32D933F6-72E8-4958-881E-EAFED0AC48F7}"/>
              </a:ext>
            </a:extLst>
          </p:cNvPr>
          <p:cNvSpPr>
            <a:spLocks noGrp="1"/>
          </p:cNvSpPr>
          <p:nvPr/>
        </p:nvSpPr>
        <p:spPr>
          <a:xfrm>
            <a:off x="11049000" y="6496050"/>
            <a:ext cx="628650" cy="190500"/>
          </a:xfrm>
          <a:prstGeom prst="rect">
            <a:avLst/>
          </a:prstGeom>
          <a:solidFill>
            <a:srgbClr val="000000">
              <a:alpha val="0"/>
            </a:srgbClr>
          </a:solidFill>
          <a:ln w="0">
            <a:solidFill>
              <a:srgbClr val="000000">
                <a:alpha val="0"/>
              </a:srgbClr>
            </a:solidFill>
            <a:prstDash val="solid"/>
          </a:ln>
        </p:spPr>
        <p:txBody>
          <a:bodyPr lIns="0" tIns="0" rIns="0" bIns="0" anchor="t"/>
          <a:lstStyle/>
          <a:p>
            <a:pPr algn="r">
              <a:buNone/>
              <a:defRPr sz="788" b="0">
                <a:solidFill>
                  <a:srgbClr val="64748B"/>
                </a:solidFill>
                <a:latin typeface="Aptos"/>
                <a:ea typeface="Aptos"/>
                <a:cs typeface="Aptos"/>
              </a:defRPr>
            </a:pPr>
            <a:r>
              <a:rPr sz="788" b="0">
                <a:solidFill>
                  <a:srgbClr val="64748B"/>
                </a:solidFill>
                <a:latin typeface="Aptos"/>
                <a:ea typeface="Aptos"/>
                <a:cs typeface="Aptos"/>
              </a:rPr>
              <a:t>22</a:t>
            </a:r>
          </a:p>
        </p:txBody>
      </p:sp>
      <p:sp>
        <p:nvSpPr>
          <p:cNvPr id="11" name="">
            <a:extLst>
              <a:ext uri="{FF2B5EF4-FFF2-40B4-BE49-F238E27FC236}">
                <a16:creationId id="{F147D288-7FB6-4742-8874-D538043C6D22}"/>
              </a:ext>
            </a:extLst>
          </p:cNvPr>
          <p:cNvSpPr>
            <a:spLocks noGrp="1"/>
          </p:cNvSpPr>
          <p:nvPr/>
        </p:nvSpPr>
        <p:spPr>
          <a:xfrm>
            <a:off x="781050" y="1657350"/>
            <a:ext cx="4762500" cy="514350"/>
          </a:xfrm>
          <a:prstGeom prst="roundRect">
            <a:avLst>
              <a:gd name="adj" fmla="val 14815"/>
            </a:avLst>
          </a:prstGeom>
          <a:solidFill>
            <a:srgbClr val="F8FAFC"/>
          </a:solidFill>
          <a:ln w="9525">
            <a:solidFill>
              <a:srgbClr val="E5E7EB"/>
            </a:solidFill>
            <a:prstDash val="solid"/>
          </a:ln>
        </p:spPr>
      </p:sp>
      <p:sp>
        <p:nvSpPr>
          <p:cNvPr id="12" name="">
            <a:extLst>
              <a:ext uri="{FF2B5EF4-FFF2-40B4-BE49-F238E27FC236}">
                <a16:creationId id="{D0CC9C74-B283-473B-AF1C-41CC74343EF8}"/>
              </a:ext>
            </a:extLst>
          </p:cNvPr>
          <p:cNvSpPr>
            <a:spLocks noGrp="1"/>
          </p:cNvSpPr>
          <p:nvPr/>
        </p:nvSpPr>
        <p:spPr>
          <a:xfrm>
            <a:off x="952500" y="175260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1">
                <a:solidFill>
                  <a:srgbClr val="111827"/>
                </a:solidFill>
                <a:latin typeface="Aptos"/>
                <a:ea typeface="Aptos"/>
                <a:cs typeface="Aptos"/>
              </a:defRPr>
            </a:pPr>
            <a:r>
              <a:rPr sz="938" b="1">
                <a:solidFill>
                  <a:srgbClr val="111827"/>
                </a:solidFill>
                <a:latin typeface="Aptos"/>
                <a:ea typeface="Aptos"/>
                <a:cs typeface="Aptos"/>
              </a:rPr>
              <a:t>Counts and validation</a:t>
            </a:r>
          </a:p>
        </p:txBody>
      </p:sp>
      <p:sp>
        <p:nvSpPr>
          <p:cNvPr id="13" name="">
            <a:extLst>
              <a:ext uri="{FF2B5EF4-FFF2-40B4-BE49-F238E27FC236}">
                <a16:creationId id="{BC53AB4B-CE9D-40AE-9DE3-F39F71937322}"/>
              </a:ext>
            </a:extLst>
          </p:cNvPr>
          <p:cNvSpPr>
            <a:spLocks noGrp="1"/>
          </p:cNvSpPr>
          <p:nvPr/>
        </p:nvSpPr>
        <p:spPr>
          <a:xfrm>
            <a:off x="952500" y="1943100"/>
            <a:ext cx="433387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results/final_figures/final_figure_validation_checks.csv</a:t>
            </a:r>
          </a:p>
        </p:txBody>
      </p:sp>
      <p:sp>
        <p:nvSpPr>
          <p:cNvPr id="14" name="">
            <a:extLst>
              <a:ext uri="{FF2B5EF4-FFF2-40B4-BE49-F238E27FC236}">
                <a16:creationId id="{740479DC-FDD5-4E33-9928-B1078B65B530}"/>
              </a:ext>
            </a:extLst>
          </p:cNvPr>
          <p:cNvSpPr>
            <a:spLocks noGrp="1"/>
          </p:cNvSpPr>
          <p:nvPr/>
        </p:nvSpPr>
        <p:spPr>
          <a:xfrm>
            <a:off x="781050" y="2343150"/>
            <a:ext cx="4762500" cy="514350"/>
          </a:xfrm>
          <a:prstGeom prst="roundRect">
            <a:avLst>
              <a:gd name="adj" fmla="val 14815"/>
            </a:avLst>
          </a:prstGeom>
          <a:solidFill>
            <a:srgbClr val="F8FAFC"/>
          </a:solidFill>
          <a:ln w="9525">
            <a:solidFill>
              <a:srgbClr val="E5E7EB"/>
            </a:solidFill>
            <a:prstDash val="solid"/>
          </a:ln>
        </p:spPr>
      </p:sp>
      <p:sp>
        <p:nvSpPr>
          <p:cNvPr id="15" name="">
            <a:extLst>
              <a:ext uri="{FF2B5EF4-FFF2-40B4-BE49-F238E27FC236}">
                <a16:creationId id="{EBB69835-F40B-44B1-8329-22B1AD657B2A}"/>
              </a:ext>
            </a:extLst>
          </p:cNvPr>
          <p:cNvSpPr>
            <a:spLocks noGrp="1"/>
          </p:cNvSpPr>
          <p:nvPr/>
        </p:nvSpPr>
        <p:spPr>
          <a:xfrm>
            <a:off x="952500" y="243840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1">
                <a:solidFill>
                  <a:srgbClr val="111827"/>
                </a:solidFill>
                <a:latin typeface="Aptos"/>
                <a:ea typeface="Aptos"/>
                <a:cs typeface="Aptos"/>
              </a:defRPr>
            </a:pPr>
            <a:r>
              <a:rPr sz="938" b="1">
                <a:solidFill>
                  <a:srgbClr val="111827"/>
                </a:solidFill>
                <a:latin typeface="Aptos"/>
                <a:ea typeface="Aptos"/>
                <a:cs typeface="Aptos"/>
              </a:rPr>
              <a:t>Denominator flow</a:t>
            </a:r>
          </a:p>
        </p:txBody>
      </p:sp>
      <p:sp>
        <p:nvSpPr>
          <p:cNvPr id="16" name="">
            <a:extLst>
              <a:ext uri="{FF2B5EF4-FFF2-40B4-BE49-F238E27FC236}">
                <a16:creationId id="{461E4039-B539-4C55-B302-B8B37E656F0F}"/>
              </a:ext>
            </a:extLst>
          </p:cNvPr>
          <p:cNvSpPr>
            <a:spLocks noGrp="1"/>
          </p:cNvSpPr>
          <p:nvPr/>
        </p:nvSpPr>
        <p:spPr>
          <a:xfrm>
            <a:off x="952500" y="2628900"/>
            <a:ext cx="433387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results/qc/pipeline_denominator_summary.csv</a:t>
            </a:r>
          </a:p>
        </p:txBody>
      </p:sp>
      <p:sp>
        <p:nvSpPr>
          <p:cNvPr id="17" name="">
            <a:extLst>
              <a:ext uri="{FF2B5EF4-FFF2-40B4-BE49-F238E27FC236}">
                <a16:creationId id="{8425E3BC-2AF7-4846-BBF4-2015F3487553}"/>
              </a:ext>
            </a:extLst>
          </p:cNvPr>
          <p:cNvSpPr>
            <a:spLocks noGrp="1"/>
          </p:cNvSpPr>
          <p:nvPr/>
        </p:nvSpPr>
        <p:spPr>
          <a:xfrm>
            <a:off x="781050" y="3028950"/>
            <a:ext cx="4762500" cy="514350"/>
          </a:xfrm>
          <a:prstGeom prst="roundRect">
            <a:avLst>
              <a:gd name="adj" fmla="val 14815"/>
            </a:avLst>
          </a:prstGeom>
          <a:solidFill>
            <a:srgbClr val="F8FAFC"/>
          </a:solidFill>
          <a:ln w="9525">
            <a:solidFill>
              <a:srgbClr val="E5E7EB"/>
            </a:solidFill>
            <a:prstDash val="solid"/>
          </a:ln>
        </p:spPr>
      </p:sp>
      <p:sp>
        <p:nvSpPr>
          <p:cNvPr id="18" name="">
            <a:extLst>
              <a:ext uri="{FF2B5EF4-FFF2-40B4-BE49-F238E27FC236}">
                <a16:creationId id="{37067C45-1F52-49F6-BCDB-E849B23935CC}"/>
              </a:ext>
            </a:extLst>
          </p:cNvPr>
          <p:cNvSpPr>
            <a:spLocks noGrp="1"/>
          </p:cNvSpPr>
          <p:nvPr/>
        </p:nvSpPr>
        <p:spPr>
          <a:xfrm>
            <a:off x="952500" y="312420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1">
                <a:solidFill>
                  <a:srgbClr val="111827"/>
                </a:solidFill>
                <a:latin typeface="Aptos"/>
                <a:ea typeface="Aptos"/>
                <a:cs typeface="Aptos"/>
              </a:defRPr>
            </a:pPr>
            <a:r>
              <a:rPr sz="938" b="1">
                <a:solidFill>
                  <a:srgbClr val="111827"/>
                </a:solidFill>
                <a:latin typeface="Aptos"/>
                <a:ea typeface="Aptos"/>
                <a:cs typeface="Aptos"/>
              </a:rPr>
              <a:t>VF diagnostics</a:t>
            </a:r>
          </a:p>
        </p:txBody>
      </p:sp>
      <p:sp>
        <p:nvSpPr>
          <p:cNvPr id="19" name="">
            <a:extLst>
              <a:ext uri="{FF2B5EF4-FFF2-40B4-BE49-F238E27FC236}">
                <a16:creationId id="{55313BAD-822F-4BA9-A22A-1730690F949F}"/>
              </a:ext>
            </a:extLst>
          </p:cNvPr>
          <p:cNvSpPr>
            <a:spLocks noGrp="1"/>
          </p:cNvSpPr>
          <p:nvPr/>
        </p:nvSpPr>
        <p:spPr>
          <a:xfrm>
            <a:off x="952500" y="3314700"/>
            <a:ext cx="433387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results/vf/vf_dataset_diagnostics.txt</a:t>
            </a:r>
          </a:p>
        </p:txBody>
      </p:sp>
      <p:sp>
        <p:nvSpPr>
          <p:cNvPr id="20" name="">
            <a:extLst>
              <a:ext uri="{FF2B5EF4-FFF2-40B4-BE49-F238E27FC236}">
                <a16:creationId id="{F5156060-72EF-4251-BF42-422F6B3931FA}"/>
              </a:ext>
            </a:extLst>
          </p:cNvPr>
          <p:cNvSpPr>
            <a:spLocks noGrp="1"/>
          </p:cNvSpPr>
          <p:nvPr/>
        </p:nvSpPr>
        <p:spPr>
          <a:xfrm>
            <a:off x="781050" y="3714750"/>
            <a:ext cx="4762500" cy="514350"/>
          </a:xfrm>
          <a:prstGeom prst="roundRect">
            <a:avLst>
              <a:gd name="adj" fmla="val 14815"/>
            </a:avLst>
          </a:prstGeom>
          <a:solidFill>
            <a:srgbClr val="F8FAFC"/>
          </a:solidFill>
          <a:ln w="9525">
            <a:solidFill>
              <a:srgbClr val="E5E7EB"/>
            </a:solidFill>
            <a:prstDash val="solid"/>
          </a:ln>
        </p:spPr>
      </p:sp>
      <p:sp>
        <p:nvSpPr>
          <p:cNvPr id="21" name="">
            <a:extLst>
              <a:ext uri="{FF2B5EF4-FFF2-40B4-BE49-F238E27FC236}">
                <a16:creationId id="{ED2BD499-89C1-4FE4-8D46-52D2EDD10B5B}"/>
              </a:ext>
            </a:extLst>
          </p:cNvPr>
          <p:cNvSpPr>
            <a:spLocks noGrp="1"/>
          </p:cNvSpPr>
          <p:nvPr/>
        </p:nvSpPr>
        <p:spPr>
          <a:xfrm>
            <a:off x="952500" y="381000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1">
                <a:solidFill>
                  <a:srgbClr val="111827"/>
                </a:solidFill>
                <a:latin typeface="Aptos"/>
                <a:ea typeface="Aptos"/>
                <a:cs typeface="Aptos"/>
              </a:defRPr>
            </a:pPr>
            <a:r>
              <a:rPr sz="938" b="1">
                <a:solidFill>
                  <a:srgbClr val="111827"/>
                </a:solidFill>
                <a:latin typeface="Aptos"/>
                <a:ea typeface="Aptos"/>
                <a:cs typeface="Aptos"/>
              </a:rPr>
              <a:t>VF figure registry</a:t>
            </a:r>
          </a:p>
        </p:txBody>
      </p:sp>
      <p:sp>
        <p:nvSpPr>
          <p:cNvPr id="22" name="">
            <a:extLst>
              <a:ext uri="{FF2B5EF4-FFF2-40B4-BE49-F238E27FC236}">
                <a16:creationId id="{8868B001-3914-4CD0-ACE6-F9E4E504C322}"/>
              </a:ext>
            </a:extLst>
          </p:cNvPr>
          <p:cNvSpPr>
            <a:spLocks noGrp="1"/>
          </p:cNvSpPr>
          <p:nvPr/>
        </p:nvSpPr>
        <p:spPr>
          <a:xfrm>
            <a:off x="952500" y="4000500"/>
            <a:ext cx="433387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results/vf/vf_figure_index.csv</a:t>
            </a:r>
          </a:p>
        </p:txBody>
      </p:sp>
      <p:sp>
        <p:nvSpPr>
          <p:cNvPr id="23" name="">
            <a:extLst>
              <a:ext uri="{FF2B5EF4-FFF2-40B4-BE49-F238E27FC236}">
                <a16:creationId id="{0F38927B-28F6-4954-A380-4FD8BCB3A71A}"/>
              </a:ext>
            </a:extLst>
          </p:cNvPr>
          <p:cNvSpPr>
            <a:spLocks noGrp="1"/>
          </p:cNvSpPr>
          <p:nvPr/>
        </p:nvSpPr>
        <p:spPr>
          <a:xfrm>
            <a:off x="781050" y="4400550"/>
            <a:ext cx="4762500" cy="514350"/>
          </a:xfrm>
          <a:prstGeom prst="roundRect">
            <a:avLst>
              <a:gd name="adj" fmla="val 14815"/>
            </a:avLst>
          </a:prstGeom>
          <a:solidFill>
            <a:srgbClr val="F8FAFC"/>
          </a:solidFill>
          <a:ln w="9525">
            <a:solidFill>
              <a:srgbClr val="E5E7EB"/>
            </a:solidFill>
            <a:prstDash val="solid"/>
          </a:ln>
        </p:spPr>
      </p:sp>
      <p:sp>
        <p:nvSpPr>
          <p:cNvPr id="24" name="">
            <a:extLst>
              <a:ext uri="{FF2B5EF4-FFF2-40B4-BE49-F238E27FC236}">
                <a16:creationId id="{67CD0B07-C3FB-4893-9D60-FD165A69D941}"/>
              </a:ext>
            </a:extLst>
          </p:cNvPr>
          <p:cNvSpPr>
            <a:spLocks noGrp="1"/>
          </p:cNvSpPr>
          <p:nvPr/>
        </p:nvSpPr>
        <p:spPr>
          <a:xfrm>
            <a:off x="952500" y="449580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1">
                <a:solidFill>
                  <a:srgbClr val="111827"/>
                </a:solidFill>
                <a:latin typeface="Aptos"/>
                <a:ea typeface="Aptos"/>
                <a:cs typeface="Aptos"/>
              </a:defRPr>
            </a:pPr>
            <a:r>
              <a:rPr sz="938" b="1">
                <a:solidFill>
                  <a:srgbClr val="111827"/>
                </a:solidFill>
                <a:latin typeface="Aptos"/>
                <a:ea typeface="Aptos"/>
                <a:cs typeface="Aptos"/>
              </a:rPr>
              <a:t>VF visual audit</a:t>
            </a:r>
          </a:p>
        </p:txBody>
      </p:sp>
      <p:sp>
        <p:nvSpPr>
          <p:cNvPr id="25" name="">
            <a:extLst>
              <a:ext uri="{FF2B5EF4-FFF2-40B4-BE49-F238E27FC236}">
                <a16:creationId id="{9802357D-8DA9-4196-8D1C-533E0E4E83D8}"/>
              </a:ext>
            </a:extLst>
          </p:cNvPr>
          <p:cNvSpPr>
            <a:spLocks noGrp="1"/>
          </p:cNvSpPr>
          <p:nvPr/>
        </p:nvSpPr>
        <p:spPr>
          <a:xfrm>
            <a:off x="952500" y="4686300"/>
            <a:ext cx="433387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results/vf/vf_visualisation_audit.csv</a:t>
            </a:r>
          </a:p>
        </p:txBody>
      </p:sp>
      <p:sp>
        <p:nvSpPr>
          <p:cNvPr id="26" name="">
            <a:extLst>
              <a:ext uri="{FF2B5EF4-FFF2-40B4-BE49-F238E27FC236}">
                <a16:creationId id="{102E46A6-0C62-457C-BE25-E6210BC0E664}"/>
              </a:ext>
            </a:extLst>
          </p:cNvPr>
          <p:cNvSpPr>
            <a:spLocks noGrp="1"/>
          </p:cNvSpPr>
          <p:nvPr/>
        </p:nvSpPr>
        <p:spPr>
          <a:xfrm>
            <a:off x="6477000" y="1657350"/>
            <a:ext cx="4762500" cy="514350"/>
          </a:xfrm>
          <a:prstGeom prst="roundRect">
            <a:avLst>
              <a:gd name="adj" fmla="val 14815"/>
            </a:avLst>
          </a:prstGeom>
          <a:solidFill>
            <a:srgbClr val="F8FAFC"/>
          </a:solidFill>
          <a:ln w="9525">
            <a:solidFill>
              <a:srgbClr val="E5E7EB"/>
            </a:solidFill>
            <a:prstDash val="solid"/>
          </a:ln>
        </p:spPr>
      </p:sp>
      <p:sp>
        <p:nvSpPr>
          <p:cNvPr id="27" name="">
            <a:extLst>
              <a:ext uri="{FF2B5EF4-FFF2-40B4-BE49-F238E27FC236}">
                <a16:creationId id="{AD13EEB1-108B-4877-A06E-6051FE5F2CEE}"/>
              </a:ext>
            </a:extLst>
          </p:cNvPr>
          <p:cNvSpPr>
            <a:spLocks noGrp="1"/>
          </p:cNvSpPr>
          <p:nvPr/>
        </p:nvSpPr>
        <p:spPr>
          <a:xfrm>
            <a:off x="6648450" y="175260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1">
                <a:solidFill>
                  <a:srgbClr val="111827"/>
                </a:solidFill>
                <a:latin typeface="Aptos"/>
                <a:ea typeface="Aptos"/>
                <a:cs typeface="Aptos"/>
              </a:defRPr>
            </a:pPr>
            <a:r>
              <a:rPr sz="938" b="1">
                <a:solidFill>
                  <a:srgbClr val="111827"/>
                </a:solidFill>
                <a:latin typeface="Aptos"/>
                <a:ea typeface="Aptos"/>
                <a:cs typeface="Aptos"/>
              </a:rPr>
              <a:t>Longitudinal summary</a:t>
            </a:r>
          </a:p>
        </p:txBody>
      </p:sp>
      <p:sp>
        <p:nvSpPr>
          <p:cNvPr id="28" name="">
            <a:extLst>
              <a:ext uri="{FF2B5EF4-FFF2-40B4-BE49-F238E27FC236}">
                <a16:creationId id="{224C2FE3-DF6E-4325-984B-89B4C76F2693}"/>
              </a:ext>
            </a:extLst>
          </p:cNvPr>
          <p:cNvSpPr>
            <a:spLocks noGrp="1"/>
          </p:cNvSpPr>
          <p:nvPr/>
        </p:nvSpPr>
        <p:spPr>
          <a:xfrm>
            <a:off x="6648450" y="1943100"/>
            <a:ext cx="433387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results/vf/vf_longitudinal_summary.txt</a:t>
            </a:r>
          </a:p>
        </p:txBody>
      </p:sp>
      <p:sp>
        <p:nvSpPr>
          <p:cNvPr id="29" name="">
            <a:extLst>
              <a:ext uri="{FF2B5EF4-FFF2-40B4-BE49-F238E27FC236}">
                <a16:creationId id="{BE29F76A-6CB8-4CCD-9F18-01760440AA84}"/>
              </a:ext>
            </a:extLst>
          </p:cNvPr>
          <p:cNvSpPr>
            <a:spLocks noGrp="1"/>
          </p:cNvSpPr>
          <p:nvPr/>
        </p:nvSpPr>
        <p:spPr>
          <a:xfrm>
            <a:off x="6477000" y="2343150"/>
            <a:ext cx="4762500" cy="514350"/>
          </a:xfrm>
          <a:prstGeom prst="roundRect">
            <a:avLst>
              <a:gd name="adj" fmla="val 14815"/>
            </a:avLst>
          </a:prstGeom>
          <a:solidFill>
            <a:srgbClr val="F8FAFC"/>
          </a:solidFill>
          <a:ln w="9525">
            <a:solidFill>
              <a:srgbClr val="E5E7EB"/>
            </a:solidFill>
            <a:prstDash val="solid"/>
          </a:ln>
        </p:spPr>
      </p:sp>
      <p:sp>
        <p:nvSpPr>
          <p:cNvPr id="30" name="">
            <a:extLst>
              <a:ext uri="{FF2B5EF4-FFF2-40B4-BE49-F238E27FC236}">
                <a16:creationId id="{B1B37A94-596F-49F8-AB97-86C11F244A94}"/>
              </a:ext>
            </a:extLst>
          </p:cNvPr>
          <p:cNvSpPr>
            <a:spLocks noGrp="1"/>
          </p:cNvSpPr>
          <p:nvPr/>
        </p:nvSpPr>
        <p:spPr>
          <a:xfrm>
            <a:off x="6648450" y="243840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1">
                <a:solidFill>
                  <a:srgbClr val="111827"/>
                </a:solidFill>
                <a:latin typeface="Aptos"/>
                <a:ea typeface="Aptos"/>
                <a:cs typeface="Aptos"/>
              </a:defRPr>
            </a:pPr>
            <a:r>
              <a:rPr sz="938" b="1">
                <a:solidFill>
                  <a:srgbClr val="111827"/>
                </a:solidFill>
                <a:latin typeface="Aptos"/>
                <a:ea typeface="Aptos"/>
                <a:cs typeface="Aptos"/>
              </a:rPr>
              <a:t>Module notes</a:t>
            </a:r>
          </a:p>
        </p:txBody>
      </p:sp>
      <p:sp>
        <p:nvSpPr>
          <p:cNvPr id="31" name="">
            <a:extLst>
              <a:ext uri="{FF2B5EF4-FFF2-40B4-BE49-F238E27FC236}">
                <a16:creationId id="{F235D933-9AA3-494E-8559-09FC57BB4444}"/>
              </a:ext>
            </a:extLst>
          </p:cNvPr>
          <p:cNvSpPr>
            <a:spLocks noGrp="1"/>
          </p:cNvSpPr>
          <p:nvPr/>
        </p:nvSpPr>
        <p:spPr>
          <a:xfrm>
            <a:off x="6648450" y="2628900"/>
            <a:ext cx="433387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results/vf/vf_module_definition_notes.md</a:t>
            </a:r>
          </a:p>
        </p:txBody>
      </p:sp>
      <p:sp>
        <p:nvSpPr>
          <p:cNvPr id="32" name="">
            <a:extLst>
              <a:ext uri="{FF2B5EF4-FFF2-40B4-BE49-F238E27FC236}">
                <a16:creationId id="{8E48CB73-B7A3-489C-B7A9-F40FBADE4371}"/>
              </a:ext>
            </a:extLst>
          </p:cNvPr>
          <p:cNvSpPr>
            <a:spLocks noGrp="1"/>
          </p:cNvSpPr>
          <p:nvPr/>
        </p:nvSpPr>
        <p:spPr>
          <a:xfrm>
            <a:off x="6477000" y="3028950"/>
            <a:ext cx="4762500" cy="514350"/>
          </a:xfrm>
          <a:prstGeom prst="roundRect">
            <a:avLst>
              <a:gd name="adj" fmla="val 14815"/>
            </a:avLst>
          </a:prstGeom>
          <a:solidFill>
            <a:srgbClr val="F8FAFC"/>
          </a:solidFill>
          <a:ln w="9525">
            <a:solidFill>
              <a:srgbClr val="E5E7EB"/>
            </a:solidFill>
            <a:prstDash val="solid"/>
          </a:ln>
        </p:spPr>
      </p:sp>
      <p:sp>
        <p:nvSpPr>
          <p:cNvPr id="33" name="">
            <a:extLst>
              <a:ext uri="{FF2B5EF4-FFF2-40B4-BE49-F238E27FC236}">
                <a16:creationId id="{841E59CD-1076-453C-9E36-19131E283D0A}"/>
              </a:ext>
            </a:extLst>
          </p:cNvPr>
          <p:cNvSpPr>
            <a:spLocks noGrp="1"/>
          </p:cNvSpPr>
          <p:nvPr/>
        </p:nvSpPr>
        <p:spPr>
          <a:xfrm>
            <a:off x="6648450" y="312420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1">
                <a:solidFill>
                  <a:srgbClr val="111827"/>
                </a:solidFill>
                <a:latin typeface="Aptos"/>
                <a:ea typeface="Aptos"/>
                <a:cs typeface="Aptos"/>
              </a:defRPr>
            </a:pPr>
            <a:r>
              <a:rPr sz="938" b="1">
                <a:solidFill>
                  <a:srgbClr val="111827"/>
                </a:solidFill>
                <a:latin typeface="Aptos"/>
                <a:ea typeface="Aptos"/>
                <a:cs typeface="Aptos"/>
              </a:rPr>
              <a:t>Casebook</a:t>
            </a:r>
          </a:p>
        </p:txBody>
      </p:sp>
      <p:sp>
        <p:nvSpPr>
          <p:cNvPr id="34" name="">
            <a:extLst>
              <a:ext uri="{FF2B5EF4-FFF2-40B4-BE49-F238E27FC236}">
                <a16:creationId id="{01B93AE1-C4C3-46D4-9DD8-21AAB9A7B824}"/>
              </a:ext>
            </a:extLst>
          </p:cNvPr>
          <p:cNvSpPr>
            <a:spLocks noGrp="1"/>
          </p:cNvSpPr>
          <p:nvPr/>
        </p:nvSpPr>
        <p:spPr>
          <a:xfrm>
            <a:off x="6648450" y="3314700"/>
            <a:ext cx="433387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results/mechanism/not_uti_to_uti_casebook.md</a:t>
            </a:r>
          </a:p>
        </p:txBody>
      </p:sp>
      <p:sp>
        <p:nvSpPr>
          <p:cNvPr id="35" name="">
            <a:extLst>
              <a:ext uri="{FF2B5EF4-FFF2-40B4-BE49-F238E27FC236}">
                <a16:creationId id="{0E768C04-0060-4414-91C5-D6BF12B6B888}"/>
              </a:ext>
            </a:extLst>
          </p:cNvPr>
          <p:cNvSpPr>
            <a:spLocks noGrp="1"/>
          </p:cNvSpPr>
          <p:nvPr/>
        </p:nvSpPr>
        <p:spPr>
          <a:xfrm>
            <a:off x="6477000" y="3714750"/>
            <a:ext cx="4762500" cy="514350"/>
          </a:xfrm>
          <a:prstGeom prst="roundRect">
            <a:avLst>
              <a:gd name="adj" fmla="val 14815"/>
            </a:avLst>
          </a:prstGeom>
          <a:solidFill>
            <a:srgbClr val="F8FAFC"/>
          </a:solidFill>
          <a:ln w="9525">
            <a:solidFill>
              <a:srgbClr val="E5E7EB"/>
            </a:solidFill>
            <a:prstDash val="solid"/>
          </a:ln>
        </p:spPr>
      </p:sp>
      <p:sp>
        <p:nvSpPr>
          <p:cNvPr id="36" name="">
            <a:extLst>
              <a:ext uri="{FF2B5EF4-FFF2-40B4-BE49-F238E27FC236}">
                <a16:creationId id="{C9510C7A-C90B-46D0-AC22-9BB9579CEAD4}"/>
              </a:ext>
            </a:extLst>
          </p:cNvPr>
          <p:cNvSpPr>
            <a:spLocks noGrp="1"/>
          </p:cNvSpPr>
          <p:nvPr/>
        </p:nvSpPr>
        <p:spPr>
          <a:xfrm>
            <a:off x="6648450" y="381000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1">
                <a:solidFill>
                  <a:srgbClr val="111827"/>
                </a:solidFill>
                <a:latin typeface="Aptos"/>
                <a:ea typeface="Aptos"/>
                <a:cs typeface="Aptos"/>
              </a:defRPr>
            </a:pPr>
            <a:r>
              <a:rPr sz="938" b="1">
                <a:solidFill>
                  <a:srgbClr val="111827"/>
                </a:solidFill>
                <a:latin typeface="Aptos"/>
                <a:ea typeface="Aptos"/>
                <a:cs typeface="Aptos"/>
              </a:rPr>
              <a:t>Pipeline explanation</a:t>
            </a:r>
          </a:p>
        </p:txBody>
      </p:sp>
      <p:sp>
        <p:nvSpPr>
          <p:cNvPr id="37" name="">
            <a:extLst>
              <a:ext uri="{FF2B5EF4-FFF2-40B4-BE49-F238E27FC236}">
                <a16:creationId id="{D171B0B2-FE4A-4B9B-B291-6C8C2835B4FB}"/>
              </a:ext>
            </a:extLst>
          </p:cNvPr>
          <p:cNvSpPr>
            <a:spLocks noGrp="1"/>
          </p:cNvSpPr>
          <p:nvPr/>
        </p:nvSpPr>
        <p:spPr>
          <a:xfrm>
            <a:off x="6648450" y="4000500"/>
            <a:ext cx="433387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docs/pipeline_architecture.md</a:t>
            </a:r>
          </a:p>
        </p:txBody>
      </p:sp>
      <p:sp>
        <p:nvSpPr>
          <p:cNvPr id="38" name="">
            <a:extLst>
              <a:ext uri="{FF2B5EF4-FFF2-40B4-BE49-F238E27FC236}">
                <a16:creationId id="{76150FC7-6B30-47B3-ACCF-B71333BD4540}"/>
              </a:ext>
            </a:extLst>
          </p:cNvPr>
          <p:cNvSpPr>
            <a:spLocks noGrp="1"/>
          </p:cNvSpPr>
          <p:nvPr/>
        </p:nvSpPr>
        <p:spPr>
          <a:xfrm>
            <a:off x="6477000" y="4400550"/>
            <a:ext cx="4762500" cy="514350"/>
          </a:xfrm>
          <a:prstGeom prst="roundRect">
            <a:avLst>
              <a:gd name="adj" fmla="val 14815"/>
            </a:avLst>
          </a:prstGeom>
          <a:solidFill>
            <a:srgbClr val="F8FAFC"/>
          </a:solidFill>
          <a:ln w="9525">
            <a:solidFill>
              <a:srgbClr val="E5E7EB"/>
            </a:solidFill>
            <a:prstDash val="solid"/>
          </a:ln>
        </p:spPr>
      </p:sp>
      <p:sp>
        <p:nvSpPr>
          <p:cNvPr id="39" name="">
            <a:extLst>
              <a:ext uri="{FF2B5EF4-FFF2-40B4-BE49-F238E27FC236}">
                <a16:creationId id="{5BA8F1EA-0213-4608-A0DB-49ADC2A502D1}"/>
              </a:ext>
            </a:extLst>
          </p:cNvPr>
          <p:cNvSpPr>
            <a:spLocks noGrp="1"/>
          </p:cNvSpPr>
          <p:nvPr/>
        </p:nvSpPr>
        <p:spPr>
          <a:xfrm>
            <a:off x="6648450" y="4495800"/>
            <a:ext cx="1809750" cy="1524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38" b="1">
                <a:solidFill>
                  <a:srgbClr val="111827"/>
                </a:solidFill>
                <a:latin typeface="Aptos"/>
                <a:ea typeface="Aptos"/>
                <a:cs typeface="Aptos"/>
              </a:defRPr>
            </a:pPr>
            <a:r>
              <a:rPr sz="938" b="1">
                <a:solidFill>
                  <a:srgbClr val="111827"/>
                </a:solidFill>
                <a:latin typeface="Aptos"/>
                <a:ea typeface="Aptos"/>
                <a:cs typeface="Aptos"/>
              </a:rPr>
              <a:t>Dense backup lookup</a:t>
            </a:r>
          </a:p>
        </p:txBody>
      </p:sp>
      <p:sp>
        <p:nvSpPr>
          <p:cNvPr id="40" name="">
            <a:extLst>
              <a:ext uri="{FF2B5EF4-FFF2-40B4-BE49-F238E27FC236}">
                <a16:creationId id="{F05DDFD0-5B30-4D7F-8A81-819112679296}"/>
              </a:ext>
            </a:extLst>
          </p:cNvPr>
          <p:cNvSpPr>
            <a:spLocks noGrp="1"/>
          </p:cNvSpPr>
          <p:nvPr/>
        </p:nvSpPr>
        <p:spPr>
          <a:xfrm>
            <a:off x="6648450" y="4686300"/>
            <a:ext cx="4333875" cy="1333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788" b="0">
                <a:solidFill>
                  <a:srgbClr val="64748B"/>
                </a:solidFill>
                <a:latin typeface="Aptos Mono"/>
                <a:ea typeface="Aptos Mono"/>
                <a:cs typeface="Aptos Mono"/>
              </a:defRPr>
            </a:pPr>
            <a:r>
              <a:rPr sz="788" b="0">
                <a:solidFill>
                  <a:srgbClr val="64748B"/>
                </a:solidFill>
                <a:latin typeface="Aptos Mono"/>
                <a:ea typeface="Aptos Mono"/>
                <a:cs typeface="Aptos Mono"/>
              </a:rPr>
              <a:t>results/longitudinal/swimmer_plot.png</a:t>
            </a:r>
          </a:p>
        </p:txBody>
      </p:sp>
      <p:sp>
        <p:nvSpPr>
          <p:cNvPr id="41" name="">
            <a:extLst>
              <a:ext uri="{FF2B5EF4-FFF2-40B4-BE49-F238E27FC236}">
                <a16:creationId id="{0FF1A630-9A86-4E59-90B5-94EDE3B12919}"/>
              </a:ext>
            </a:extLst>
          </p:cNvPr>
          <p:cNvSpPr>
            <a:spLocks noGrp="1"/>
          </p:cNvSpPr>
          <p:nvPr/>
        </p:nvSpPr>
        <p:spPr>
          <a:xfrm>
            <a:off x="1809750" y="5429250"/>
            <a:ext cx="8572500" cy="533400"/>
          </a:xfrm>
          <a:prstGeom prst="roundRect">
            <a:avLst>
              <a:gd name="adj" fmla="val 14286"/>
            </a:avLst>
          </a:prstGeom>
          <a:solidFill>
            <a:srgbClr val="FFF4E6"/>
          </a:solidFill>
          <a:ln w="9525">
            <a:solidFill>
              <a:srgbClr val="FED7AA"/>
            </a:solidFill>
            <a:prstDash val="solid"/>
          </a:ln>
        </p:spPr>
      </p:sp>
      <p:sp>
        <p:nvSpPr>
          <p:cNvPr id="42" name="">
            <a:extLst>
              <a:ext uri="{FF2B5EF4-FFF2-40B4-BE49-F238E27FC236}">
                <a16:creationId id="{FF4994E8-FD12-491B-907E-B9125AA7B496}"/>
              </a:ext>
            </a:extLst>
          </p:cNvPr>
          <p:cNvSpPr>
            <a:spLocks noGrp="1"/>
          </p:cNvSpPr>
          <p:nvPr/>
        </p:nvSpPr>
        <p:spPr>
          <a:xfrm>
            <a:off x="1981200" y="5600700"/>
            <a:ext cx="8229600" cy="22860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1050" b="1">
                <a:solidFill>
                  <a:srgbClr val="111827"/>
                </a:solidFill>
                <a:latin typeface="Aptos"/>
                <a:ea typeface="Aptos"/>
                <a:cs typeface="Aptos"/>
              </a:defRPr>
            </a:pPr>
            <a:r>
              <a:rPr sz="1050" b="1">
                <a:solidFill>
                  <a:srgbClr val="111827"/>
                </a:solidFill>
                <a:latin typeface="Aptos"/>
                <a:ea typeface="Aptos"/>
                <a:cs typeface="Aptos"/>
              </a:rPr>
              <a:t>Guardrail for Q&amp;A</a:t>
            </a:r>
          </a:p>
        </p:txBody>
      </p:sp>
      <p:sp>
        <p:nvSpPr>
          <p:cNvPr id="43" name="">
            <a:extLst>
              <a:ext uri="{FF2B5EF4-FFF2-40B4-BE49-F238E27FC236}">
                <a16:creationId id="{BD164AED-AC7E-4673-A97A-2E5D2F580DD0}"/>
              </a:ext>
            </a:extLst>
          </p:cNvPr>
          <p:cNvSpPr>
            <a:spLocks noGrp="1"/>
          </p:cNvSpPr>
          <p:nvPr/>
        </p:nvSpPr>
        <p:spPr>
          <a:xfrm>
            <a:off x="1981200" y="5886450"/>
            <a:ext cx="8229600" cy="-57150"/>
          </a:xfrm>
          <a:prstGeom prst="rect">
            <a:avLst/>
          </a:prstGeom>
          <a:solidFill>
            <a:srgbClr val="000000">
              <a:alpha val="0"/>
            </a:srgbClr>
          </a:solidFill>
          <a:ln w="0">
            <a:solidFill>
              <a:srgbClr val="000000">
                <a:alpha val="0"/>
              </a:srgbClr>
            </a:solidFill>
            <a:prstDash val="solid"/>
          </a:ln>
        </p:spPr>
        <p:txBody>
          <a:bodyPr lIns="0" tIns="0" rIns="0" bIns="0" anchor="t"/>
          <a:lstStyle/>
          <a:p>
            <a:pPr algn="l">
              <a:buNone/>
              <a:defRPr sz="900" b="0">
                <a:solidFill>
                  <a:srgbClr val="64748B"/>
                </a:solidFill>
                <a:latin typeface="Aptos"/>
                <a:ea typeface="Aptos"/>
                <a:cs typeface="Aptos"/>
              </a:defRPr>
            </a:pPr>
            <a:r>
              <a:rPr sz="900" b="0">
                <a:solidFill>
                  <a:srgbClr val="64748B"/>
                </a:solidFill>
                <a:latin typeface="Aptos"/>
                <a:ea typeface="Aptos"/>
                <a:cs typeface="Aptos"/>
              </a:rPr>
              <a:t>Use Supplementary Figures S1 and S3-S5 for transition/sensitivity questions; do not convert backup diagnostics into confirmatory VF, AMR, or mechanism claims.</a:t>
            </a:r>
          </a:p>
        </p:txBody>
      </p:sp>
    </p:spTree>
    <p:extLst>
      <p:ext uri="{BB962C8B-B14F-4D97-AF65-F5344CB8AC3E}">
        <p14:creationId val="1675629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solidFill>
          <a:schemeClr val="dk1"/>
        </a:solidFill>
        <a:solidFill>
          <a:schemeClr val="accent1"/>
        </a:soli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2026-05-27T20:35:57.6400000Z</dcterms:created>
  <dcterms:modified xsi:type="dcterms:W3CDTF">2026-05-27T20:35:57.6400000Z</dcterms:modified>
</coreProperties>
</file>