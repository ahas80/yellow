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948c742ef74c50" /><Relationship Type="http://schemas.openxmlformats.org/officeDocument/2006/relationships/extended-properties" Target="/docProps/app.xml" Id="R9d82ae4ae8ec460b" /><Relationship Type="http://schemas.openxmlformats.org/officeDocument/2006/relationships/officeDocument" Target="/ppt/presentation.xml" Id="R13870b7a70da45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0efd25fb1d4696"/>
  </p:sldMasterIdLst>
  <p:notesMasterIdLst>
    <p:notesMasterId xmlns:r="http://schemas.openxmlformats.org/officeDocument/2006/relationships" r:id="Ra6226a0b1b924ec2"/>
  </p:notesMasterIdLst>
  <p:sldIdLst>
    <p:sldId xmlns:r="http://schemas.openxmlformats.org/officeDocument/2006/relationships" id="256" r:id="R3baac646699e4a86"/>
    <p:sldId xmlns:r="http://schemas.openxmlformats.org/officeDocument/2006/relationships" id="257" r:id="Rcf383495eab44d56"/>
    <p:sldId xmlns:r="http://schemas.openxmlformats.org/officeDocument/2006/relationships" id="258" r:id="R8b26fd7d8ba94c84"/>
    <p:sldId xmlns:r="http://schemas.openxmlformats.org/officeDocument/2006/relationships" id="259" r:id="Re6df549b57314bb4"/>
    <p:sldId xmlns:r="http://schemas.openxmlformats.org/officeDocument/2006/relationships" id="260" r:id="Rfc6ae8b9cf6a40eb"/>
    <p:sldId xmlns:r="http://schemas.openxmlformats.org/officeDocument/2006/relationships" id="261" r:id="R1f021522a8bd446d"/>
    <p:sldId xmlns:r="http://schemas.openxmlformats.org/officeDocument/2006/relationships" id="262" r:id="R46c6e037b34f4535"/>
    <p:sldId xmlns:r="http://schemas.openxmlformats.org/officeDocument/2006/relationships" id="263" r:id="R4c3a5fc4d5834d3e"/>
    <p:sldId xmlns:r="http://schemas.openxmlformats.org/officeDocument/2006/relationships" id="264" r:id="R98e1a34b72a1406d"/>
    <p:sldId xmlns:r="http://schemas.openxmlformats.org/officeDocument/2006/relationships" id="265" r:id="R2a21af2ccb3a43fd"/>
    <p:sldId xmlns:r="http://schemas.openxmlformats.org/officeDocument/2006/relationships" id="266" r:id="Rb1cf20088cc8405d"/>
    <p:sldId xmlns:r="http://schemas.openxmlformats.org/officeDocument/2006/relationships" id="267" r:id="R166242e0286146cd"/>
    <p:sldId xmlns:r="http://schemas.openxmlformats.org/officeDocument/2006/relationships" id="268" r:id="R1500a1f771d24e6a"/>
    <p:sldId xmlns:r="http://schemas.openxmlformats.org/officeDocument/2006/relationships" id="269" r:id="Ra724b46fa9df4556"/>
    <p:sldId xmlns:r="http://schemas.openxmlformats.org/officeDocument/2006/relationships" id="270" r:id="Rdcf2f84221ae4851"/>
    <p:sldId xmlns:r="http://schemas.openxmlformats.org/officeDocument/2006/relationships" id="271" r:id="Rd9575570817c4841"/>
    <p:sldId xmlns:r="http://schemas.openxmlformats.org/officeDocument/2006/relationships" id="272" r:id="Rf8ea4f877671489a"/>
    <p:sldId xmlns:r="http://schemas.openxmlformats.org/officeDocument/2006/relationships" id="273" r:id="R47a2a7319a5e4aa2"/>
    <p:sldId xmlns:r="http://schemas.openxmlformats.org/officeDocument/2006/relationships" id="274" r:id="R74baa772db8c488a"/>
    <p:sldId xmlns:r="http://schemas.openxmlformats.org/officeDocument/2006/relationships" id="275" r:id="R513d7dc6c964413f"/>
    <p:sldId xmlns:r="http://schemas.openxmlformats.org/officeDocument/2006/relationships" id="276" r:id="Rc629b50a40d548fe"/>
    <p:sldId xmlns:r="http://schemas.openxmlformats.org/officeDocument/2006/relationships" id="277" r:id="Rb6a8a93a08d94050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d3a90fd7bd4390" /><Relationship Type="http://schemas.openxmlformats.org/officeDocument/2006/relationships/slideMaster" Target="/ppt/slideMasters/slideMaster1.xml" Id="R520efd25fb1d4696" /><Relationship Type="http://schemas.openxmlformats.org/officeDocument/2006/relationships/notesMaster" Target="/ppt/notesMasters/notesMaster1.xml" Id="Ra6226a0b1b924ec2" /><Relationship Type="http://schemas.openxmlformats.org/officeDocument/2006/relationships/presProps" Target="/ppt/presProps.xml" Id="Rb052fbcaa5b14f40" /><Relationship Type="http://schemas.openxmlformats.org/officeDocument/2006/relationships/viewProps" Target="/ppt/viewProps.xml" Id="R8db8f06a0b194255" /><Relationship Type="http://schemas.openxmlformats.org/officeDocument/2006/relationships/tableStyles" Target="/ppt/tableStyles.xml" Id="Rdf3704b69a4a4ade" /><Relationship Type="http://schemas.openxmlformats.org/officeDocument/2006/relationships/slide" Target="/ppt/slides/slide1.xml" Id="R3baac646699e4a86" /><Relationship Type="http://schemas.openxmlformats.org/officeDocument/2006/relationships/slide" Target="/ppt/slides/slide2.xml" Id="Rcf383495eab44d56" /><Relationship Type="http://schemas.openxmlformats.org/officeDocument/2006/relationships/slide" Target="/ppt/slides/slide3.xml" Id="R8b26fd7d8ba94c84" /><Relationship Type="http://schemas.openxmlformats.org/officeDocument/2006/relationships/slide" Target="/ppt/slides/slide4.xml" Id="Re6df549b57314bb4" /><Relationship Type="http://schemas.openxmlformats.org/officeDocument/2006/relationships/slide" Target="/ppt/slides/slide5.xml" Id="Rfc6ae8b9cf6a40eb" /><Relationship Type="http://schemas.openxmlformats.org/officeDocument/2006/relationships/slide" Target="/ppt/slides/slide6.xml" Id="R1f021522a8bd446d" /><Relationship Type="http://schemas.openxmlformats.org/officeDocument/2006/relationships/slide" Target="/ppt/slides/slide7.xml" Id="R46c6e037b34f4535" /><Relationship Type="http://schemas.openxmlformats.org/officeDocument/2006/relationships/slide" Target="/ppt/slides/slide8.xml" Id="R4c3a5fc4d5834d3e" /><Relationship Type="http://schemas.openxmlformats.org/officeDocument/2006/relationships/slide" Target="/ppt/slides/slide9.xml" Id="R98e1a34b72a1406d" /><Relationship Type="http://schemas.openxmlformats.org/officeDocument/2006/relationships/slide" Target="/ppt/slides/slide10.xml" Id="R2a21af2ccb3a43fd" /><Relationship Type="http://schemas.openxmlformats.org/officeDocument/2006/relationships/slide" Target="/ppt/slides/slide11.xml" Id="Rb1cf20088cc8405d" /><Relationship Type="http://schemas.openxmlformats.org/officeDocument/2006/relationships/slide" Target="/ppt/slides/slide12.xml" Id="R166242e0286146cd" /><Relationship Type="http://schemas.openxmlformats.org/officeDocument/2006/relationships/slide" Target="/ppt/slides/slide13.xml" Id="R1500a1f771d24e6a" /><Relationship Type="http://schemas.openxmlformats.org/officeDocument/2006/relationships/slide" Target="/ppt/slides/slide14.xml" Id="Ra724b46fa9df4556" /><Relationship Type="http://schemas.openxmlformats.org/officeDocument/2006/relationships/slide" Target="/ppt/slides/slide15.xml" Id="Rdcf2f84221ae4851" /><Relationship Type="http://schemas.openxmlformats.org/officeDocument/2006/relationships/slide" Target="/ppt/slides/slide16.xml" Id="Rd9575570817c4841" /><Relationship Type="http://schemas.openxmlformats.org/officeDocument/2006/relationships/slide" Target="/ppt/slides/slide17.xml" Id="Rf8ea4f877671489a" /><Relationship Type="http://schemas.openxmlformats.org/officeDocument/2006/relationships/slide" Target="/ppt/slides/slide18.xml" Id="R47a2a7319a5e4aa2" /><Relationship Type="http://schemas.openxmlformats.org/officeDocument/2006/relationships/slide" Target="/ppt/slides/slide19.xml" Id="R74baa772db8c488a" /><Relationship Type="http://schemas.openxmlformats.org/officeDocument/2006/relationships/slide" Target="/ppt/slides/slide20.xml" Id="R513d7dc6c964413f" /><Relationship Type="http://schemas.openxmlformats.org/officeDocument/2006/relationships/slide" Target="/ppt/slides/slide21.xml" Id="Rc629b50a40d548fe" /><Relationship Type="http://schemas.openxmlformats.org/officeDocument/2006/relationships/slide" Target="/ppt/slides/slide22.xml" Id="Rb6a8a93a08d9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0abce41f8b4d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56c1e32b6944b4" /><Relationship Type="http://schemas.openxmlformats.org/officeDocument/2006/relationships/notesMaster" Target="/ppt/notesMasters/notesMaster1.xml" Id="Ra7c984bdefe448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86dc02bc614bbc" /><Relationship Type="http://schemas.openxmlformats.org/officeDocument/2006/relationships/notesMaster" Target="/ppt/notesMasters/notesMaster1.xml" Id="R62c46faa70c444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e54e093a3b4dcd" /><Relationship Type="http://schemas.openxmlformats.org/officeDocument/2006/relationships/notesMaster" Target="/ppt/notesMasters/notesMaster1.xml" Id="Re4849eef8d3241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8398c6df4848f2" /><Relationship Type="http://schemas.openxmlformats.org/officeDocument/2006/relationships/notesMaster" Target="/ppt/notesMasters/notesMaster1.xml" Id="R766e31a66e3e47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84a75aa80d4ae1" /><Relationship Type="http://schemas.openxmlformats.org/officeDocument/2006/relationships/notesMaster" Target="/ppt/notesMasters/notesMaster1.xml" Id="R364b77bbfc5d4e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aab8f972b24688" /><Relationship Type="http://schemas.openxmlformats.org/officeDocument/2006/relationships/notesMaster" Target="/ppt/notesMasters/notesMaster1.xml" Id="Rd4cc91c7839349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b528fa98ed4e5c" /><Relationship Type="http://schemas.openxmlformats.org/officeDocument/2006/relationships/notesMaster" Target="/ppt/notesMasters/notesMaster1.xml" Id="R95b86390074943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b83789e5c44bb2" /><Relationship Type="http://schemas.openxmlformats.org/officeDocument/2006/relationships/notesMaster" Target="/ppt/notesMasters/notesMaster1.xml" Id="Rb9b44571e12c45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eab386895543b7" /><Relationship Type="http://schemas.openxmlformats.org/officeDocument/2006/relationships/notesMaster" Target="/ppt/notesMasters/notesMaster1.xml" Id="R6d93cee888d247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4d4c57a1974a90" /><Relationship Type="http://schemas.openxmlformats.org/officeDocument/2006/relationships/notesMaster" Target="/ppt/notesMasters/notesMaster1.xml" Id="R98a419b6947e4d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69bb1c90db4f4f" /><Relationship Type="http://schemas.openxmlformats.org/officeDocument/2006/relationships/notesMaster" Target="/ppt/notesMasters/notesMaster1.xml" Id="R7519071a03bc4f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918d4a1bb946c2" /><Relationship Type="http://schemas.openxmlformats.org/officeDocument/2006/relationships/notesMaster" Target="/ppt/notesMasters/notesMaster1.xml" Id="Rba66f771b59645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2465bea4f34a88" /><Relationship Type="http://schemas.openxmlformats.org/officeDocument/2006/relationships/notesMaster" Target="/ppt/notesMasters/notesMaster1.xml" Id="R80e42e64ba044a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b2d1626e5a4b2b" /><Relationship Type="http://schemas.openxmlformats.org/officeDocument/2006/relationships/notesMaster" Target="/ppt/notesMasters/notesMaster1.xml" Id="Rd3b2929fa23641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be8be7dbdb457a" /><Relationship Type="http://schemas.openxmlformats.org/officeDocument/2006/relationships/notesMaster" Target="/ppt/notesMasters/notesMaster1.xml" Id="R184f1b88bcda45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2824e4a7b34d5c" /><Relationship Type="http://schemas.openxmlformats.org/officeDocument/2006/relationships/notesMaster" Target="/ppt/notesMasters/notesMaster1.xml" Id="Rb26bfae203604b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dd0f0f8cd94187" /><Relationship Type="http://schemas.openxmlformats.org/officeDocument/2006/relationships/notesMaster" Target="/ppt/notesMasters/notesMaster1.xml" Id="Rc4fc8cba41ed4b9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e8741b6a934de8" /><Relationship Type="http://schemas.openxmlformats.org/officeDocument/2006/relationships/notesMaster" Target="/ppt/notesMasters/notesMaster1.xml" Id="R77249e86783f47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384756577f745b5" /><Relationship Type="http://schemas.openxmlformats.org/officeDocument/2006/relationships/notesMaster" Target="/ppt/notesMasters/notesMaster1.xml" Id="R5ad9af2aff5247d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a081cc91354ac1" /><Relationship Type="http://schemas.openxmlformats.org/officeDocument/2006/relationships/notesMaster" Target="/ppt/notesMasters/notesMaster1.xml" Id="Rb5665d9e3978435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acc6cb234b4de3" /><Relationship Type="http://schemas.openxmlformats.org/officeDocument/2006/relationships/notesMaster" Target="/ppt/notesMasters/notesMaster1.xml" Id="R6449ec6f2fd741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dbbf0dc9ac14598" /><Relationship Type="http://schemas.openxmlformats.org/officeDocument/2006/relationships/notesMaster" Target="/ppt/notesMasters/notesMaster1.xml" Id="Rbc4e160a77e04e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source: /Users/Aamir/Desktop/rUTIs/results/pipeline/longcycler_release_claim_registry.json</a:t>
            </a:r>
          </a:p>
          <a:p xmlns:a="http://schemas.openxmlformats.org/drawingml/2006/main">
            <a:r>
              <a:t>Scope: selected QC-passing Longcycler assemblies only.</a:t>
            </a:r>
          </a:p>
          <a:p xmlns:a="http://schemas.openxmlformats.org/drawingml/2006/main">
            <a:r>
              <a:t>Clinical phenotype: versioned operational UTI phenotype.</a:t>
            </a:r>
          </a:p>
          <a:p xmlns:a="http://schemas.openxmlformats.org/drawingml/2006/main">
            <a:r>
              <a:t>Analytical anchors: 532 episodes; 893 direct pairs; 371 adjacent pairs; RQ01-RQ10.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35eff4b8c4c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74df58af042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3b2bdcd5f41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c243b7e954e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2a981bee245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17b77f0294c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b42057b3f46a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91a8be286414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81b4a72d64d4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b095f112f470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bd211191044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2FBE4E-4632-450D-8EFF-077568A25D3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F6E20E1-6307-405F-B51A-2E701D28FF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7034E0-4B34-4E14-8F07-F73748865B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EFDD7E-F2A1-42A0-B03E-D4B6EEF543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4F7104-DE34-4551-AC50-6833C90427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4FE04E-D81A-4E16-9CE4-A3D5D81B5F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8BEBE7-F5F5-4812-9A54-5279E79191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56BC62-C707-4268-AFF8-8250E93919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9C815B-5BEE-4C31-822D-E752B091CB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D29DEB-BB46-454E-9373-DC4DEAC804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9248A2-F6A0-4CBE-AAB7-5781931A3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E6DD9A-B447-40B8-9AFA-23A870F403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065299-A4C6-4A88-B11F-AFE90AB76D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7DBC7F-E697-47E9-A21A-72968D92D3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F6B092-117E-443A-B535-6D56670A2E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8EE0B0-6535-4ECB-A1A8-F0D688B53D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50762E-4905-4E36-A766-5B4D6C44A8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D3C4BC6-100E-4ADC-A461-6DEFB62E6A2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03B9F24-B096-4FFA-9488-BE80C12941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6D6730-5DDE-4CC3-ADAD-38623F47DA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DC51CFE-838A-4545-86B3-14DB52C4F3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7F595E-4669-4D31-AF7A-78C2EA38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91D423-9F6C-4CCF-AE91-FE775A90A2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5ECEDBE-407F-493D-A416-AFB9DBBAD8E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1AFC811-B68E-4B6E-8F89-31228364443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B0A3A31-BA1C-47FF-8F82-AA827C13D89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A9C6233-4E15-40A7-9299-8F5FB47984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18102F0-0C75-4279-9A49-7448F5FF82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DFC4468-74B7-4EE4-818C-81A5029736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56E293-359C-437C-83B3-44D3D7987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4B55D17-7BFB-4FF8-9035-B6FE85E03A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10CF716-FD1C-42A4-B21D-376B600FFF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D2CAE4F-55CC-4AE5-8048-ED5C4411A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7AC856E-076B-4B24-9DBB-31B2D74ECC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F760085-849F-4718-AFC0-16B6BD02F8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03517E-B94A-4EF2-B13C-F126426BA8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5CF1C79-5FB6-4089-B900-5E94E7D25A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823D19A-ADA4-4AB3-8BF4-B5D950478E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F2ED1E5-F22B-4707-B361-A4C4FD15DD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19FC581-AD36-4FC7-8773-487F97205B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7CFAD6-1823-4332-9071-39257D8A14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AF4BD73-D22C-4C72-9550-74A7B0D396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B5050B-C37A-4AE8-88E3-861E46C9D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0428690-C275-462A-8940-F634A677BBA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B3C5E26-6D81-4877-9325-3A2A261F5C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7840F61-13F7-4580-A588-3A90599CC0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6820CE4-7B13-4665-BA75-F507DE771E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9ECE108-93BB-49D6-8772-D62152833C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10E5D0-3F86-456B-8311-51DF23CA00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118C4B-B266-49C5-92CE-BA0A2B12DB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2F644B-5D26-49C1-B1EF-5BFC10E3EE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0B6C13-05E1-4A53-8E38-AC76E23B56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BFACAA-0A94-44D6-B1A7-C17FD58BE4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F2BCED5-3A5D-47F0-9DF4-6A63AC0FA9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7DC90D-B8AC-4453-9186-2BDA81724E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4D2B21-FDFC-4718-84C9-AE208364D9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93141D-5A70-44CC-8EBB-83AA59BA1A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96E852-DC9D-460C-A799-3EFF5FCEB8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2dc5c6a15f4fb4" /><Relationship Type="http://schemas.openxmlformats.org/officeDocument/2006/relationships/slideLayout" Target="/ppt/slideLayouts/slideLayout1.xml" Id="R0cab71ac26bd4104" /><Relationship Type="http://schemas.openxmlformats.org/officeDocument/2006/relationships/slideLayout" Target="/ppt/slideLayouts/slideLayout2.xml" Id="Rf14435d87e8040e4" /><Relationship Type="http://schemas.openxmlformats.org/officeDocument/2006/relationships/slideLayout" Target="/ppt/slideLayouts/slideLayout3.xml" Id="Rc31ce51b7adc4f2f" /><Relationship Type="http://schemas.openxmlformats.org/officeDocument/2006/relationships/slideLayout" Target="/ppt/slideLayouts/slideLayout4.xml" Id="Reed6145135c34caa" /><Relationship Type="http://schemas.openxmlformats.org/officeDocument/2006/relationships/slideLayout" Target="/ppt/slideLayouts/slideLayout5.xml" Id="Rcb54c0a9653c49cc" /><Relationship Type="http://schemas.openxmlformats.org/officeDocument/2006/relationships/slideLayout" Target="/ppt/slideLayouts/slideLayout6.xml" Id="R3150022f267348ba" /><Relationship Type="http://schemas.openxmlformats.org/officeDocument/2006/relationships/slideLayout" Target="/ppt/slideLayouts/slideLayout7.xml" Id="R197b99d4f0a94d41" /><Relationship Type="http://schemas.openxmlformats.org/officeDocument/2006/relationships/slideLayout" Target="/ppt/slideLayouts/slideLayout8.xml" Id="Re9a382b0faec4094" /><Relationship Type="http://schemas.openxmlformats.org/officeDocument/2006/relationships/slideLayout" Target="/ppt/slideLayouts/slideLayout9.xml" Id="Rb921f91d9f9a4c2b" /><Relationship Type="http://schemas.openxmlformats.org/officeDocument/2006/relationships/slideLayout" Target="/ppt/slideLayouts/slideLayout10.xml" Id="Rd9619a162f18423c" /><Relationship Type="http://schemas.openxmlformats.org/officeDocument/2006/relationships/slideLayout" Target="/ppt/slideLayouts/slideLayout11.xml" Id="Rd936a5434f154c6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943012E-CC8A-4264-B498-B2465CAE3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881B2B-24FC-4446-8134-BBE40C5AD0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CC79DD-89CE-48C6-AB04-D3409D6215A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C75F3B-5B40-449D-A827-CB8ABAD8573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5D9971-2BD1-4A2B-B2F6-1A75DE5972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ab71ac26bd4104"/>
    <p:sldLayoutId xmlns:r="http://schemas.openxmlformats.org/officeDocument/2006/relationships" id="2147483650" r:id="Rf14435d87e8040e4"/>
    <p:sldLayoutId xmlns:r="http://schemas.openxmlformats.org/officeDocument/2006/relationships" id="2147483651" r:id="Rc31ce51b7adc4f2f"/>
    <p:sldLayoutId xmlns:r="http://schemas.openxmlformats.org/officeDocument/2006/relationships" id="2147483652" r:id="Reed6145135c34caa"/>
    <p:sldLayoutId xmlns:r="http://schemas.openxmlformats.org/officeDocument/2006/relationships" id="2147483653" r:id="Rcb54c0a9653c49cc"/>
    <p:sldLayoutId xmlns:r="http://schemas.openxmlformats.org/officeDocument/2006/relationships" id="2147483654" r:id="R3150022f267348ba"/>
    <p:sldLayoutId xmlns:r="http://schemas.openxmlformats.org/officeDocument/2006/relationships" id="2147483655" r:id="R197b99d4f0a94d41"/>
    <p:sldLayoutId xmlns:r="http://schemas.openxmlformats.org/officeDocument/2006/relationships" id="2147483656" r:id="Re9a382b0faec4094"/>
    <p:sldLayoutId xmlns:r="http://schemas.openxmlformats.org/officeDocument/2006/relationships" id="2147483657" r:id="Rb921f91d9f9a4c2b"/>
    <p:sldLayoutId xmlns:r="http://schemas.openxmlformats.org/officeDocument/2006/relationships" id="2147483658" r:id="Rd9619a162f18423c"/>
    <p:sldLayoutId xmlns:r="http://schemas.openxmlformats.org/officeDocument/2006/relationships" id="2147483659" r:id="Rd936a5434f154c61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989bed5f94df2" /><Relationship Type="http://schemas.openxmlformats.org/officeDocument/2006/relationships/notesSlide" Target="/ppt/notesSlides/notesSlide1.xml" Id="Rf9dc833fdbed4d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d96a70ccfd4f62" /><Relationship Type="http://schemas.openxmlformats.org/officeDocument/2006/relationships/notesSlide" Target="/ppt/notesSlides/notesSlide2.xml" Id="R79c7a5eb6ade45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737a4915f84b5f" /><Relationship Type="http://schemas.openxmlformats.org/officeDocument/2006/relationships/notesSlide" Target="/ppt/notesSlides/notesSlide3.xml" Id="R8dfea14414d34d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d4be0f58242e0" /><Relationship Type="http://schemas.openxmlformats.org/officeDocument/2006/relationships/image" Target="/ppt/media/image.png" Id="R6b39c144c8254abb" /><Relationship Type="http://schemas.openxmlformats.org/officeDocument/2006/relationships/notesSlide" Target="/ppt/notesSlides/notesSlide4.xml" Id="Rd9d979cf60eb40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9ef2d06bbd42ed" /><Relationship Type="http://schemas.openxmlformats.org/officeDocument/2006/relationships/image" Target="/ppt/media/image2.png" Id="R2ab35ab09729431a" /><Relationship Type="http://schemas.openxmlformats.org/officeDocument/2006/relationships/notesSlide" Target="/ppt/notesSlides/notesSlide5.xml" Id="R719fdf8dd30945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31ff9d2431407a" /><Relationship Type="http://schemas.openxmlformats.org/officeDocument/2006/relationships/image" Target="/ppt/media/image3.png" Id="R84fbe0e165044a1e" /><Relationship Type="http://schemas.openxmlformats.org/officeDocument/2006/relationships/notesSlide" Target="/ppt/notesSlides/notesSlide6.xml" Id="Re5051c81b89f44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398440d3e442f2" /><Relationship Type="http://schemas.openxmlformats.org/officeDocument/2006/relationships/image" Target="/ppt/media/image4.png" Id="R1c378e05aee54735" /><Relationship Type="http://schemas.openxmlformats.org/officeDocument/2006/relationships/notesSlide" Target="/ppt/notesSlides/notesSlide7.xml" Id="Rd90a534c225448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adf2fc78d54fe8" /><Relationship Type="http://schemas.openxmlformats.org/officeDocument/2006/relationships/image" Target="/ppt/media/image5.png" Id="R6a603cdb9cbb4c54" /><Relationship Type="http://schemas.openxmlformats.org/officeDocument/2006/relationships/notesSlide" Target="/ppt/notesSlides/notesSlide8.xml" Id="Re43ad12c915a43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ba76041f04444d" /><Relationship Type="http://schemas.openxmlformats.org/officeDocument/2006/relationships/image" Target="/ppt/media/image6.png" Id="R79099a28041f4462" /><Relationship Type="http://schemas.openxmlformats.org/officeDocument/2006/relationships/notesSlide" Target="/ppt/notesSlides/notesSlide9.xml" Id="R84a1e79d0d364c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a71633aa9f4abb" /><Relationship Type="http://schemas.openxmlformats.org/officeDocument/2006/relationships/image" Target="/ppt/media/image7.png" Id="R00229c0d9af544cf" /><Relationship Type="http://schemas.openxmlformats.org/officeDocument/2006/relationships/notesSlide" Target="/ppt/notesSlides/notesSlide10.xml" Id="R9af17a5ff2454e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a12a2b88984276" /><Relationship Type="http://schemas.openxmlformats.org/officeDocument/2006/relationships/notesSlide" Target="/ppt/notesSlides/notesSlide11.xml" Id="Rb8a5e073c29a48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189e99982d4e0a" /><Relationship Type="http://schemas.openxmlformats.org/officeDocument/2006/relationships/notesSlide" Target="/ppt/notesSlides/notesSlide12.xml" Id="Re64b0834ab624d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9fa2f2b088432a" /><Relationship Type="http://schemas.openxmlformats.org/officeDocument/2006/relationships/notesSlide" Target="/ppt/notesSlides/notesSlide13.xml" Id="Raf338f884cc84c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0081bb19334c2b" /><Relationship Type="http://schemas.openxmlformats.org/officeDocument/2006/relationships/image" Target="/ppt/media/image8.png" Id="Rbb66cf6271124b00" /><Relationship Type="http://schemas.openxmlformats.org/officeDocument/2006/relationships/notesSlide" Target="/ppt/notesSlides/notesSlide14.xml" Id="Rb18ba6b5d92843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50cc7c47f441a3" /><Relationship Type="http://schemas.openxmlformats.org/officeDocument/2006/relationships/image" Target="/ppt/media/image9.png" Id="R80985c7280574ed0" /><Relationship Type="http://schemas.openxmlformats.org/officeDocument/2006/relationships/notesSlide" Target="/ppt/notesSlides/notesSlide15.xml" Id="R54d36f07395549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0865cce052445e" /><Relationship Type="http://schemas.openxmlformats.org/officeDocument/2006/relationships/image" Target="/ppt/media/image10.png" Id="Rde42192578ec4fda" /><Relationship Type="http://schemas.openxmlformats.org/officeDocument/2006/relationships/notesSlide" Target="/ppt/notesSlides/notesSlide16.xml" Id="Rd95f8b2cec6c4c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03817958a94983" /><Relationship Type="http://schemas.openxmlformats.org/officeDocument/2006/relationships/image" Target="/ppt/media/image11.png" Id="Rf4e4d32d8a204e51" /><Relationship Type="http://schemas.openxmlformats.org/officeDocument/2006/relationships/notesSlide" Target="/ppt/notesSlides/notesSlide17.xml" Id="Rfd816bfdaa144f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e17fb26c74391" /><Relationship Type="http://schemas.openxmlformats.org/officeDocument/2006/relationships/image" Target="/ppt/media/image12.png" Id="R1ff6d42cf4e04cf1" /><Relationship Type="http://schemas.openxmlformats.org/officeDocument/2006/relationships/notesSlide" Target="/ppt/notesSlides/notesSlide18.xml" Id="R1f10b4d0a40943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9b2a708089467a" /><Relationship Type="http://schemas.openxmlformats.org/officeDocument/2006/relationships/image" Target="/ppt/media/image13.png" Id="R359df932e3f749f3" /><Relationship Type="http://schemas.openxmlformats.org/officeDocument/2006/relationships/notesSlide" Target="/ppt/notesSlides/notesSlide19.xml" Id="R8e89104bc02442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ed1403716f4297" /><Relationship Type="http://schemas.openxmlformats.org/officeDocument/2006/relationships/image" Target="/ppt/media/image14.png" Id="R90bcf2085b9b4cc2" /><Relationship Type="http://schemas.openxmlformats.org/officeDocument/2006/relationships/notesSlide" Target="/ppt/notesSlides/notesSlide20.xml" Id="R89ee3bce161842b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64556c9f6e4bf3" /><Relationship Type="http://schemas.openxmlformats.org/officeDocument/2006/relationships/image" Target="/ppt/media/image15.png" Id="Rae87107161704ff6" /><Relationship Type="http://schemas.openxmlformats.org/officeDocument/2006/relationships/notesSlide" Target="/ppt/notesSlides/notesSlide21.xml" Id="R6d49816af2b940e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bdacb3a0d34327" /><Relationship Type="http://schemas.openxmlformats.org/officeDocument/2006/relationships/notesSlide" Target="/ppt/notesSlides/notesSlide22.xml" Id="R9b671ea7c7944b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56EF04-1557-405A-8CDA-529C2A7C196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50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rUTI Clinical-to-Genomic Analysis: Longcycler-Only Operational UTI Evidence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61B178F-4ADE-4014-ABCC-BB09D6E430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566D7C"/>
                </a:solidFill>
                <a:latin typeface="Arial"/>
                <a:ea typeface="Arial"/>
                <a:cs typeface="Arial"/>
              </a:rPr>
              <a:t>Selected cohort: 532 episodes from 161 residents | RQ01-RQ10 scientific review and handover</a:t>
            </a:r>
          </a:p>
        </p:txBody>
      </p:sp>
    </p:spTree>
    <p:extLst>
      <p:ext uri="{BB962C8B-B14F-4D97-AF65-F5344CB8AC3E}">
        <p14:creationId xmlns:p14="http://schemas.microsoft.com/office/powerpoint/2010/main" val="17745442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4D5AD8-4107-413B-B88D-5160E9EEFF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3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Clinical motivation: bacteriuria is not synonymous with symptomatic UTI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DE2F5B-B368-4590-9A6B-D92233E6A5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Repeated bacteriuria does not automatically indicate symptomatic infection.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UTI | Versioned operational phenotype: culture support plus compatible, catheter-aware symptoms.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Not_UTI | Comparator state; clinically heterogeneous by design.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Longitudinal sampling asks what changes before symptoms emerge.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Primary analysis throughout: operational UTI versus Not_UTI in selected Longcycler-linked episodes.</a:t>
            </a:r>
          </a:p>
        </p:txBody>
      </p:sp>
    </p:spTree>
    <p:extLst>
      <p:ext uri="{BB962C8B-B14F-4D97-AF65-F5344CB8AC3E}">
        <p14:creationId xmlns:p14="http://schemas.microsoft.com/office/powerpoint/2010/main" val="13252596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E8EF39-1CAF-4FB6-BD1F-BDB98260B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3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Longitudinal study design: clinical episodes connected to bacterial genomes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1579E1-66D1-41BB-A780-3B23DA877F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The selected cohort contains 532 episodes from 161 residents.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Clinical lane: culture, symptoms and catheter context establish the operational phenotype.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Genomic lane: one QC-passing Longcycler assembly per episode supplies VF, SNP/ST and accessory context.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Direct pair evidence comprises 893 within-resident pairs and 371 adjacent pairs.</a:t>
            </a:r>
          </a:p>
        </p:txBody>
      </p:sp>
    </p:spTree>
    <p:extLst>
      <p:ext uri="{BB962C8B-B14F-4D97-AF65-F5344CB8AC3E}">
        <p14:creationId xmlns:p14="http://schemas.microsoft.com/office/powerpoint/2010/main" val="8303165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C2D4A3-2CE6-45B8-9357-C6483185FD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Current analytical denominator: establish the boundary before interpreting biology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908C8F5-024D-4B72-A816-EEF0AF0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75">
                <a:solidFill>
                  <a:srgbClr val="566D7C"/>
                </a:solidFill>
                <a:latin typeface="Arial"/>
                <a:ea typeface="Arial"/>
                <a:cs typeface="Arial"/>
              </a:rPr>
              <a:t>ANALYTICAL | Selected cohort: 532 episodes (16 operational UTI; 516 Not_UTI) from 161 residents.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9c144c8254abb"/>
          <a:stretch xmlns:a="http://schemas.openxmlformats.org/drawingml/2006/main"/>
        </p:blipFill>
        <p:spPr>
          <a:xfrm xmlns:a="http://schemas.openxmlformats.org/drawingml/2006/main" flipH="0" flipV="0">
            <a:off x="742950" y="2281809"/>
            <a:ext cx="7658100" cy="29611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078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C2D4A3-2CE6-45B8-9357-C6483185FD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Operational UTI phenotype: culture support plus catheter-aware compatible symptoms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908C8F5-024D-4B72-A816-EEF0AF0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75">
                <a:solidFill>
                  <a:srgbClr val="566D7C"/>
                </a:solidFill>
                <a:latin typeface="Arial"/>
                <a:ea typeface="Arial"/>
                <a:cs typeface="Arial"/>
              </a:rPr>
              <a:t>DESCRIPTIVE | Versioned operational rule applied to 532 selected episodes; Not_UTI remains heterogeneous.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35ab09729431a"/>
          <a:stretch xmlns:a="http://schemas.openxmlformats.org/drawingml/2006/main"/>
        </p:blipFill>
        <p:spPr>
          <a:xfrm xmlns:a="http://schemas.openxmlformats.org/drawingml/2006/main" flipH="0" flipV="0">
            <a:off x="742950" y="1524000"/>
            <a:ext cx="765810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078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C2D4A3-2CE6-45B8-9357-C6483185FD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Selected clinical status and direct genomic evidence meet at transition analysis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908C8F5-024D-4B72-A816-EEF0AF0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75">
                <a:solidFill>
                  <a:srgbClr val="566D7C"/>
                </a:solidFill>
                <a:latin typeface="Arial"/>
                <a:ea typeface="Arial"/>
                <a:cs typeface="Arial"/>
              </a:rPr>
              <a:t>WORKFLOW | 532 selected episodes -&gt; 893 direct pairs -&gt; 371 adjacent pairs -&gt; RQ01-RQ10.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be0e165044a1e"/>
          <a:stretch xmlns:a="http://schemas.openxmlformats.org/drawingml/2006/main"/>
        </p:blipFill>
        <p:spPr>
          <a:xfrm xmlns:a="http://schemas.openxmlformats.org/drawingml/2006/main" flipH="0" flipV="0">
            <a:off x="742950" y="1524000"/>
            <a:ext cx="7658100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lc-native-connector-1">
            <a:extLst xmlns:a="http://schemas.openxmlformats.org/drawingml/2006/main">
              <a:ext uri="{FF2B5EF4-FFF2-40B4-BE49-F238E27FC236}">
                <a16:creationId xmlns:a16="http://schemas.microsoft.com/office/drawing/2014/main" id="{77C8E62A-E4F0-4D86-BF61-FC6D574A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47950"/>
            <a:ext cx="142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8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c-native-connector-2">
            <a:extLst xmlns:a="http://schemas.openxmlformats.org/drawingml/2006/main">
              <a:ext uri="{FF2B5EF4-FFF2-40B4-BE49-F238E27FC236}">
                <a16:creationId xmlns:a16="http://schemas.microsoft.com/office/drawing/2014/main" id="{7E81545B-3210-478D-9BD7-962A9137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142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8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c-native-connector-3">
            <a:extLst xmlns:a="http://schemas.openxmlformats.org/drawingml/2006/main">
              <a:ext uri="{FF2B5EF4-FFF2-40B4-BE49-F238E27FC236}">
                <a16:creationId xmlns:a16="http://schemas.microsoft.com/office/drawing/2014/main" id="{4713530C-92F6-4205-9DDE-821CE67B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47950"/>
            <a:ext cx="142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8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c-native-cohort">
            <a:extLst xmlns:a="http://schemas.openxmlformats.org/drawingml/2006/main">
              <a:ext uri="{FF2B5EF4-FFF2-40B4-BE49-F238E27FC236}">
                <a16:creationId xmlns:a16="http://schemas.microsoft.com/office/drawing/2014/main" id="{D42106FC-07F1-4F5F-83B6-89DDE5B5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13335">
            <a:solidFill>
              <a:srgbClr val="2C7F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SELECTED COHORT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532 episodes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161 residents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16/516 UTI/Not_UTI</a:t>
            </a:r>
          </a:p>
        </p:txBody>
      </p:sp>
      <p:sp>
        <p:nvSpPr>
          <p:cNvPr id="11" name="lc-native-genomes">
            <a:extLst xmlns:a="http://schemas.openxmlformats.org/drawingml/2006/main">
              <a:ext uri="{FF2B5EF4-FFF2-40B4-BE49-F238E27FC236}">
                <a16:creationId xmlns:a16="http://schemas.microsoft.com/office/drawing/2014/main" id="{820D142C-C283-4D8C-9723-DDA9D90A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47875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4EE"/>
          </a:solidFill>
          <a:ln xmlns:a="http://schemas.openxmlformats.org/drawingml/2006/main" w="13335">
            <a:solidFill>
              <a:srgbClr val="2E8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SELECTED GENOMES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532 QC-passing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Longcycler assemblies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one per episode</a:t>
            </a:r>
          </a:p>
        </p:txBody>
      </p:sp>
      <p:sp>
        <p:nvSpPr>
          <p:cNvPr id="12" name="lc-native-pairs">
            <a:extLst xmlns:a="http://schemas.openxmlformats.org/drawingml/2006/main">
              <a:ext uri="{FF2B5EF4-FFF2-40B4-BE49-F238E27FC236}">
                <a16:creationId xmlns:a16="http://schemas.microsoft.com/office/drawing/2014/main" id="{89ECCF4C-B385-4332-A8A1-0253C02F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47875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13335">
            <a:solidFill>
              <a:srgbClr val="6B7C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DIRECT EVIDENCE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893 resident pairs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371 adjacent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140 &lt;=25 SNPs</a:t>
            </a:r>
          </a:p>
        </p:txBody>
      </p:sp>
      <p:sp>
        <p:nvSpPr>
          <p:cNvPr id="13" name="lc-native-cases">
            <a:extLst xmlns:a="http://schemas.openxmlformats.org/drawingml/2006/main">
              <a:ext uri="{FF2B5EF4-FFF2-40B4-BE49-F238E27FC236}">
                <a16:creationId xmlns:a16="http://schemas.microsoft.com/office/drawing/2014/main" id="{2BD07311-DB17-476A-9CF0-04795895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47875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3335">
            <a:solidFill>
              <a:srgbClr val="D95F0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FOCUSED CASEBOOK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9/9/0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cases/linked/missing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5/9 &lt;=25 SNPs</a:t>
            </a:r>
          </a:p>
        </p:txBody>
      </p:sp>
      <p:sp>
        <p:nvSpPr>
          <p:cNvPr id="14" name="lc-native-release-banner">
            <a:extLst xmlns:a="http://schemas.openxmlformats.org/drawingml/2006/main">
              <a:ext uri="{FF2B5EF4-FFF2-40B4-BE49-F238E27FC236}">
                <a16:creationId xmlns:a16="http://schemas.microsoft.com/office/drawing/2014/main" id="{D177B737-2D6B-4B20-A58A-CA67FCA3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7324725" cy="762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D3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Release layer: operational phenotype -&gt; direct pairs -&gt; adjacent transitions -&gt; RQ01-RQ10</a:t>
            </a:r>
          </a:p>
        </p:txBody>
      </p:sp>
    </p:spTree>
    <p:extLst>
      <p:ext uri="{BB962C8B-B14F-4D97-AF65-F5344CB8AC3E}">
        <p14:creationId xmlns:p14="http://schemas.microsoft.com/office/powerpoint/2010/main" val="18206078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C2D4A3-2CE6-45B8-9357-C6483185FD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9 operational Not_UTI-to-UTI transitions are all genomically linked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908C8F5-024D-4B72-A816-EEF0AF0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75">
                <a:solidFill>
                  <a:srgbClr val="566D7C"/>
                </a:solidFill>
                <a:latin typeface="Arial"/>
                <a:ea typeface="Arial"/>
                <a:cs typeface="Arial"/>
              </a:rPr>
              <a:t>DESCRIPTIVE | 5 of 9 focused direct pairs are at or below 25 SNPs; no mechanism is proved.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78e05aee54735"/>
          <a:stretch xmlns:a="http://schemas.openxmlformats.org/drawingml/2006/main"/>
        </p:blipFill>
        <p:spPr>
          <a:xfrm xmlns:a="http://schemas.openxmlformats.org/drawingml/2006/main" flipH="0" flipV="0">
            <a:off x="742950" y="1524000"/>
            <a:ext cx="765810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078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C2D4A3-2CE6-45B8-9357-C6483185FD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Transition mechanism casebook: the route into UTI is biologically heterogeneous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908C8F5-024D-4B72-A816-EEF0AF0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75">
                <a:solidFill>
                  <a:srgbClr val="566D7C"/>
                </a:solidFill>
                <a:latin typeface="Arial"/>
                <a:ea typeface="Arial"/>
                <a:cs typeface="Arial"/>
              </a:rPr>
              <a:t>DESCRIPTIVE | 9 operational transitions; 9/9 genomically linked; 0 missing endpoint; 5 &lt;=25 SNPs.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03cdb9cbb4c54"/>
          <a:stretch xmlns:a="http://schemas.openxmlformats.org/drawingml/2006/main"/>
        </p:blipFill>
        <p:spPr>
          <a:xfrm xmlns:a="http://schemas.openxmlformats.org/drawingml/2006/main" flipH="0" flipV="0">
            <a:off x="742950" y="1799987"/>
            <a:ext cx="7658100" cy="39247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078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C2D4A3-2CE6-45B8-9357-C6483185FD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Direct paired evidence distinguishes close from distant clinical transitions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908C8F5-024D-4B72-A816-EEF0AF0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75">
                <a:solidFill>
                  <a:srgbClr val="566D7C"/>
                </a:solidFill>
                <a:latin typeface="Arial"/>
                <a:ea typeface="Arial"/>
                <a:cs typeface="Arial"/>
              </a:rPr>
              <a:t>DESCRIPTIVE | 140/371 adjacent pairs are &lt;=25 SNPs; focused transitions: 5/9.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99a28041f4462"/>
          <a:stretch xmlns:a="http://schemas.openxmlformats.org/drawingml/2006/main"/>
        </p:blipFill>
        <p:spPr>
          <a:xfrm xmlns:a="http://schemas.openxmlformats.org/drawingml/2006/main" flipH="0" flipV="0">
            <a:off x="742950" y="1847850"/>
            <a:ext cx="7658100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078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C2D4A3-2CE6-45B8-9357-C6483185FD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Population-level VF analysis remains exploratory with 16 operational UTI episodes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908C8F5-024D-4B72-A816-EEF0AF0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975">
                <a:solidFill>
                  <a:srgbClr val="566D7C"/>
                </a:solidFill>
                <a:latin typeface="Arial"/>
                <a:ea typeface="Arial"/>
                <a:cs typeface="Arial"/>
              </a:rPr>
              <a:t>EXPLORATORY | Participant-aware models and robustness panels are descriptive and do not support causal inference.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29c0d9af544cf"/>
          <a:stretch xmlns:a="http://schemas.openxmlformats.org/drawingml/2006/main"/>
        </p:blipFill>
        <p:spPr>
          <a:xfrm xmlns:a="http://schemas.openxmlformats.org/drawingml/2006/main" flipH="0" flipV="0">
            <a:off x="841375" y="1524000"/>
            <a:ext cx="746125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078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4CB704-DF65-4FC9-9BAB-131CC95DF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250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Evidence boundary: strong descriptive transitions, limited population-wide inference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C2B2A7-BCF0-4955-A406-74B54E4FD4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DESCRIPTIVE DIRECT EVIDENCE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893 within-resident pairs; 371 adjacent pairs from 139 residents.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140/371 adjacent pairs and 5/9 focused pairs are &lt;=25 SNPs.</a:t>
            </a:r>
          </a:p>
          <a:p xmlns:a="http://schemas.openxmlformats.org/drawingml/2006/main">
            <a:pPr>
              <a:buNone/>
              <a:defRPr sz="2400"/>
            </a:pPr>
            <a:r>
              <a:t>Casebook: 9/9/0 cases/linked/missing.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EXPLORATORY POPULATION EVIDENCE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16 operational UTI episodes constrain precision.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17 near-miss rows remain sensitivity-only; RQ01-RQ10 reports guardrails.</a:t>
            </a:r>
          </a:p>
        </p:txBody>
      </p:sp>
    </p:spTree>
    <p:extLst>
      <p:ext uri="{BB962C8B-B14F-4D97-AF65-F5344CB8AC3E}">
        <p14:creationId xmlns:p14="http://schemas.microsoft.com/office/powerpoint/2010/main" val="5533666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4CB704-DF65-4FC9-9BAB-131CC95DF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250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Interpretation and limitations: a plausible biological direction, not a proved mechanism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C2B2A7-BCF0-4955-A406-74B54E4FD4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WHAT THE DATA SUPPORT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Direct genomic distance can identify close and distant clinical transitions.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WHAT THEY DO NOT PROVE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Host state, bacterial regulation/expression and unmeasured changes remain alternatives.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PRIMARY LIMITATIONS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16 operational UTI episodes; observational design; sparse outcome.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All 9 focused transitions are linked, but repeated measures restrict population-level inference.</a:t>
            </a:r>
          </a:p>
        </p:txBody>
      </p:sp>
    </p:spTree>
    <p:extLst>
      <p:ext uri="{BB962C8B-B14F-4D97-AF65-F5344CB8AC3E}">
        <p14:creationId xmlns:p14="http://schemas.microsoft.com/office/powerpoint/2010/main" val="55336666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4CB704-DF65-4FC9-9BAB-131CC95DFD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3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Next research decisions and discussion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C2B2A7-BCF0-4955-A406-74B54E4FD4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EVIDENCE | Preserve the direct-pair and transition-focused narrative.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NEXT ANALYSIS | Prioritise close within-strain pairs and clinically grounded host/context variables.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DESIGN | Analyse distant replacement-consistent pairs separately.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REPORTING | Keep VF and AMR results exploratory; use RQ01-RQ10 as the release index.</a:t>
            </a:r>
          </a:p>
          <a:p xmlns:a="http://schemas.openxmlformats.org/drawingml/2006/main">
            <a:pPr>
              <a:buNone/>
              <a:defRPr sz="2400"/>
            </a:pPr>
            <a:r>
              <a:t/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DISCUSSION | What should become the next confirmatory question?</a:t>
            </a:r>
          </a:p>
        </p:txBody>
      </p:sp>
    </p:spTree>
    <p:extLst>
      <p:ext uri="{BB962C8B-B14F-4D97-AF65-F5344CB8AC3E}">
        <p14:creationId xmlns:p14="http://schemas.microsoft.com/office/powerpoint/2010/main" val="5533666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188963-13AF-4067-84A2-8820B0DE1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APPENDIX 1 | Practical handover: current outputs and rerun entry point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6cf6271124b00"/>
          <a:stretch xmlns:a="http://schemas.openxmlformats.org/drawingml/2006/main"/>
        </p:blipFill>
        <p:spPr>
          <a:xfrm xmlns:a="http://schemas.openxmlformats.org/drawingml/2006/main" flipH="0" flipV="0">
            <a:off x="647700" y="1524000"/>
            <a:ext cx="7848600" cy="4991100"/>
          </a:xfrm>
          <a:prstGeom xmlns:a="http://schemas.openxmlformats.org/drawingml/2006/main" prst="rect">
            <a:avLst/>
          </a:prstGeom>
        </p:spPr>
      </p:pic>
      <p:sp>
        <p:nvSpPr>
          <p:cNvPr id="4" name="lc-native-connector-1">
            <a:extLst xmlns:a="http://schemas.openxmlformats.org/drawingml/2006/main">
              <a:ext uri="{FF2B5EF4-FFF2-40B4-BE49-F238E27FC236}">
                <a16:creationId xmlns:a16="http://schemas.microsoft.com/office/drawing/2014/main" id="{58347019-C859-4625-B2DF-30A3DFCD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8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c-native-connector-2">
            <a:extLst xmlns:a="http://schemas.openxmlformats.org/drawingml/2006/main">
              <a:ext uri="{FF2B5EF4-FFF2-40B4-BE49-F238E27FC236}">
                <a16:creationId xmlns:a16="http://schemas.microsoft.com/office/drawing/2014/main" id="{17744A79-2139-4D2D-926A-EE09A891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8B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c-native-registry">
            <a:extLst xmlns:a="http://schemas.openxmlformats.org/drawingml/2006/main">
              <a:ext uri="{FF2B5EF4-FFF2-40B4-BE49-F238E27FC236}">
                <a16:creationId xmlns:a16="http://schemas.microsoft.com/office/drawing/2014/main" id="{8549AD7B-1D1B-4154-8CF5-E5BBEDA8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13335">
            <a:solidFill>
              <a:srgbClr val="2C7F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1 | CLAIM REGISTRY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Validated counts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plot inventory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source hashes</a:t>
            </a:r>
          </a:p>
        </p:txBody>
      </p:sp>
      <p:sp>
        <p:nvSpPr>
          <p:cNvPr id="7" name="lc-native-evidence">
            <a:extLst xmlns:a="http://schemas.openxmlformats.org/drawingml/2006/main">
              <a:ext uri="{FF2B5EF4-FFF2-40B4-BE49-F238E27FC236}">
                <a16:creationId xmlns:a16="http://schemas.microsoft.com/office/drawing/2014/main" id="{77069166-C1FF-426C-B5A6-82BF94A9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8F4EE"/>
          </a:solidFill>
          <a:ln xmlns:a="http://schemas.openxmlformats.org/drawingml/2006/main" w="13335">
            <a:solidFill>
              <a:srgbClr val="2E8B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2 | EVIDENCE TABLES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893 direct pairs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371 adjacent pairs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9 linked cases</a:t>
            </a:r>
          </a:p>
        </p:txBody>
      </p:sp>
      <p:sp>
        <p:nvSpPr>
          <p:cNvPr id="8" name="lc-native-release">
            <a:extLst xmlns:a="http://schemas.openxmlformats.org/drawingml/2006/main">
              <a:ext uri="{FF2B5EF4-FFF2-40B4-BE49-F238E27FC236}">
                <a16:creationId xmlns:a16="http://schemas.microsoft.com/office/drawing/2014/main" id="{4F2CD2DB-8223-4857-82EB-A5B59B16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BEDE5"/>
          </a:solidFill>
          <a:ln xmlns:a="http://schemas.openxmlformats.org/drawingml/2006/main" w="13335">
            <a:solidFill>
              <a:srgbClr val="D95F0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3 | RELEASE OUTPUTS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RQ01-RQ10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current final plots</a:t>
            </a:r>
          </a:p>
          <a:p xmlns:a="http://schemas.openxmlformats.org/drawingml/2006/main">
            <a:pPr>
              <a:buNone/>
              <a:defRPr sz="12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regenerated decks</a:t>
            </a:r>
          </a:p>
        </p:txBody>
      </p:sp>
      <p:sp>
        <p:nvSpPr>
          <p:cNvPr id="9" name="lc-native-runner">
            <a:extLst xmlns:a="http://schemas.openxmlformats.org/drawingml/2006/main">
              <a:ext uri="{FF2B5EF4-FFF2-40B4-BE49-F238E27FC236}">
                <a16:creationId xmlns:a16="http://schemas.microsoft.com/office/drawing/2014/main" id="{B17D9BC4-7EF0-4C9E-8CC2-32E75C03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71437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D3DC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Single entry point: RUN_COMPLETE_ANALYSIS.sh</a:t>
            </a:r>
          </a:p>
        </p:txBody>
      </p:sp>
    </p:spTree>
    <p:extLst>
      <p:ext uri="{BB962C8B-B14F-4D97-AF65-F5344CB8AC3E}">
        <p14:creationId xmlns:p14="http://schemas.microsoft.com/office/powerpoint/2010/main" val="133599853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188963-13AF-4067-84A2-8820B0DE1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APPENDIX 2 | Clinical rule audit detail (current status definition)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85c7280574ed0"/>
          <a:stretch xmlns:a="http://schemas.openxmlformats.org/drawingml/2006/main"/>
        </p:blipFill>
        <p:spPr>
          <a:xfrm xmlns:a="http://schemas.openxmlformats.org/drawingml/2006/main" flipH="0" flipV="0">
            <a:off x="647700" y="1743456"/>
            <a:ext cx="7848600" cy="4552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9853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188963-13AF-4067-84A2-8820B0DE1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APPENDIX 3 | Transition comparisons (descriptive)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2192578ec4fda"/>
          <a:stretch xmlns:a="http://schemas.openxmlformats.org/drawingml/2006/main"/>
        </p:blipFill>
        <p:spPr>
          <a:xfrm xmlns:a="http://schemas.openxmlformats.org/drawingml/2006/main" flipH="0" flipV="0">
            <a:off x="1062633" y="1524000"/>
            <a:ext cx="7018734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9853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188963-13AF-4067-84A2-8820B0DE1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APPENDIX 4 | Accessory, plasmid and AMR context (exploratory only)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4d32d8a204e51"/>
          <a:stretch xmlns:a="http://schemas.openxmlformats.org/drawingml/2006/main"/>
        </p:blipFill>
        <p:spPr>
          <a:xfrm xmlns:a="http://schemas.openxmlformats.org/drawingml/2006/main" flipH="0" flipV="0">
            <a:off x="647700" y="1821942"/>
            <a:ext cx="7848600" cy="4395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985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188963-13AF-4067-84A2-8820B0DE1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APPENDIX 5 | Near-miss and sparse precision (sensitivity analysis)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6d42cf4e04cf1"/>
          <a:stretch xmlns:a="http://schemas.openxmlformats.org/drawingml/2006/main"/>
        </p:blipFill>
        <p:spPr>
          <a:xfrm xmlns:a="http://schemas.openxmlformats.org/drawingml/2006/main" flipH="0" flipV="0">
            <a:off x="647700" y="1743456"/>
            <a:ext cx="7848600" cy="4552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9853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188963-13AF-4067-84A2-8820B0DE1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APPENDIX 6 | Leave-one-UTI-out stability (sensitivity analysis)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df932e3f749f3"/>
          <a:stretch xmlns:a="http://schemas.openxmlformats.org/drawingml/2006/main"/>
        </p:blipFill>
        <p:spPr>
          <a:xfrm xmlns:a="http://schemas.openxmlformats.org/drawingml/2006/main" flipH="0" flipV="0">
            <a:off x="647700" y="2188210"/>
            <a:ext cx="7848600" cy="3662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9853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188963-13AF-4067-84A2-8820B0DE1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APPENDIX 7 | Prioritised variant follow-up (descriptive)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cf2085b9b4cc2"/>
          <a:stretch xmlns:a="http://schemas.openxmlformats.org/drawingml/2006/main"/>
        </p:blipFill>
        <p:spPr>
          <a:xfrm xmlns:a="http://schemas.openxmlformats.org/drawingml/2006/main" flipH="0" flipV="0">
            <a:off x="647700" y="1966839"/>
            <a:ext cx="7848600" cy="410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9853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FE7F8F-FD69-4EEA-A079-BED8993D9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025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APPENDIX 8 | Full longitudinal lookup (contextual backup only)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7107161704ff6"/>
          <a:stretch xmlns:a="http://schemas.openxmlformats.org/drawingml/2006/main"/>
        </p:blipFill>
        <p:spPr>
          <a:xfrm xmlns:a="http://schemas.openxmlformats.org/drawingml/2006/main" flipH="0" flipV="0">
            <a:off x="2492375" y="1524000"/>
            <a:ext cx="4159250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0500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A3A378-7B42-47CD-88BC-E1826F1B2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/>
            </a:pPr>
            <a:r>
              <a:rPr sz="2250" b="1">
                <a:solidFill>
                  <a:srgbClr val="162832"/>
                </a:solidFill>
                <a:latin typeface="Arial"/>
                <a:ea typeface="Arial"/>
                <a:cs typeface="Arial"/>
              </a:rPr>
              <a:t>APPENDIX 9 | Evidence registry and interpretation guardrails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86BB130-A8E0-4F1D-9DC2-78B0207C0B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CURRENT SOURCES OF TRUTH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longcycler_release_claim_registry.json | validated claims and plot inventory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analysis_cohort_longcycler.csv | 532 selected episodes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pairwise_metrics.csv | 893 direct pairs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longcycler_transitions.csv | 371 adjacent pairs from 139 residents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not_uti_to_uti_casebook.csv | 9/9/0 cases/linked/missing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RUN_COMPLETE.txt | RQ01-RQ10 complete</a:t>
            </a:r>
          </a:p>
          <a:p xmlns:a="http://schemas.openxmlformats.org/drawingml/2006/main">
            <a:pPr algn="l">
              <a:buNone/>
              <a:defRPr sz="2400"/>
            </a:pPr>
            <a:r>
              <a:rPr sz="1425">
                <a:solidFill>
                  <a:srgbClr val="162832"/>
                </a:solidFill>
                <a:latin typeface="Arial"/>
                <a:ea typeface="Arial"/>
                <a:cs typeface="Arial"/>
              </a:rPr>
              <a:t>GUARDRAILS | Operational UTI phenotype; Longcycler-only analytics; VF and AMR are exploratory.</a:t>
            </a:r>
          </a:p>
        </p:txBody>
      </p:sp>
    </p:spTree>
    <p:extLst>
      <p:ext uri="{BB962C8B-B14F-4D97-AF65-F5344CB8AC3E}">
        <p14:creationId xmlns:p14="http://schemas.microsoft.com/office/powerpoint/2010/main" val="928524106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2026-07-15T07:26:15.7050000Z</dcterms:created>
  <dcterms:modified xsi:type="dcterms:W3CDTF">2026-07-15T07:26:15.7050000Z</dcterms:modified>
</coreProperties>
</file>