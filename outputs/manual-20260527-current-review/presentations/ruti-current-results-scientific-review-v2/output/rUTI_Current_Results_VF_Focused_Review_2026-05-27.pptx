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e2c769aa5e4311" /><Relationship Type="http://schemas.openxmlformats.org/officeDocument/2006/relationships/extended-properties" Target="/docProps/app.xml" Id="Rfab8405701ce498f" /><Relationship Type="http://schemas.openxmlformats.org/officeDocument/2006/relationships/officeDocument" Target="/ppt/presentation.xml" Id="R5ccdd8b0cfe7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a2053fccb24a47"/>
  </p:sldMasterIdLst>
  <p:notesMasterIdLst>
    <p:notesMasterId xmlns:r="http://schemas.openxmlformats.org/officeDocument/2006/relationships" r:id="R59db73e82b4d41a3"/>
  </p:notesMasterIdLst>
  <p:sldIdLst>
    <p:sldId xmlns:r="http://schemas.openxmlformats.org/officeDocument/2006/relationships" id="256" r:id="Rca868f79c9cc471d"/>
    <p:sldId xmlns:r="http://schemas.openxmlformats.org/officeDocument/2006/relationships" id="257" r:id="R042841a8506e4f41"/>
    <p:sldId xmlns:r="http://schemas.openxmlformats.org/officeDocument/2006/relationships" id="258" r:id="Re5269786aef743dd"/>
    <p:sldId xmlns:r="http://schemas.openxmlformats.org/officeDocument/2006/relationships" id="259" r:id="Rdd0a292f49924851"/>
    <p:sldId xmlns:r="http://schemas.openxmlformats.org/officeDocument/2006/relationships" id="260" r:id="R21a45ec12a8a4909"/>
    <p:sldId xmlns:r="http://schemas.openxmlformats.org/officeDocument/2006/relationships" id="261" r:id="R044627e28a2d43d2"/>
    <p:sldId xmlns:r="http://schemas.openxmlformats.org/officeDocument/2006/relationships" id="262" r:id="Radac9870ba4e4c03"/>
    <p:sldId xmlns:r="http://schemas.openxmlformats.org/officeDocument/2006/relationships" id="263" r:id="Rb27e8f3f88ab4f4f"/>
    <p:sldId xmlns:r="http://schemas.openxmlformats.org/officeDocument/2006/relationships" id="264" r:id="Rd424141cec6f4373"/>
    <p:sldId xmlns:r="http://schemas.openxmlformats.org/officeDocument/2006/relationships" id="265" r:id="Ra690ff62fdae418b"/>
    <p:sldId xmlns:r="http://schemas.openxmlformats.org/officeDocument/2006/relationships" id="266" r:id="R6caba10a1ee54b2b"/>
    <p:sldId xmlns:r="http://schemas.openxmlformats.org/officeDocument/2006/relationships" id="267" r:id="Rc67ada9c5aa348a3"/>
    <p:sldId xmlns:r="http://schemas.openxmlformats.org/officeDocument/2006/relationships" id="268" r:id="R9029b006006a4560"/>
    <p:sldId xmlns:r="http://schemas.openxmlformats.org/officeDocument/2006/relationships" id="269" r:id="R28fe10364ac04c3d"/>
    <p:sldId xmlns:r="http://schemas.openxmlformats.org/officeDocument/2006/relationships" id="270" r:id="R29003732fc8e45c9"/>
    <p:sldId xmlns:r="http://schemas.openxmlformats.org/officeDocument/2006/relationships" id="271" r:id="Ref47dde2ec704535"/>
    <p:sldId xmlns:r="http://schemas.openxmlformats.org/officeDocument/2006/relationships" id="272" r:id="R44a728b0213e4db8"/>
    <p:sldId xmlns:r="http://schemas.openxmlformats.org/officeDocument/2006/relationships" id="273" r:id="R81dd8614944945af"/>
    <p:sldId xmlns:r="http://schemas.openxmlformats.org/officeDocument/2006/relationships" id="274" r:id="R2d23fc65a880411b"/>
    <p:sldId xmlns:r="http://schemas.openxmlformats.org/officeDocument/2006/relationships" id="275" r:id="R254b819542a34ea8"/>
    <p:sldId xmlns:r="http://schemas.openxmlformats.org/officeDocument/2006/relationships" id="276" r:id="R0c5f6023d7b94e7c"/>
    <p:sldId xmlns:r="http://schemas.openxmlformats.org/officeDocument/2006/relationships" id="277" r:id="Rf0fed490dab14b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2053fccb24a47" /><Relationship Type="http://schemas.openxmlformats.org/officeDocument/2006/relationships/theme" Target="/ppt/theme/theme1.xml" Id="R6ce0c989729743be" /><Relationship Type="http://schemas.openxmlformats.org/officeDocument/2006/relationships/notesMaster" Target="/ppt/notesMasters/notesMaster1.xml" Id="R59db73e82b4d41a3" /><Relationship Type="http://schemas.openxmlformats.org/officeDocument/2006/relationships/presProps" Target="/ppt/presProps.xml" Id="Rf4b8dd85a86143e1" /><Relationship Type="http://schemas.openxmlformats.org/officeDocument/2006/relationships/viewProps" Target="/ppt/viewProps.xml" Id="R7bf01d2d968848dc" /><Relationship Type="http://schemas.openxmlformats.org/officeDocument/2006/relationships/tableStyles" Target="/ppt/tableStyles.xml" Id="R235bc8ad663c48e6" /><Relationship Type="http://schemas.openxmlformats.org/officeDocument/2006/relationships/slide" Target="/ppt/slides/slide1.xml" Id="Rca868f79c9cc471d" /><Relationship Type="http://schemas.openxmlformats.org/officeDocument/2006/relationships/slide" Target="/ppt/slides/slide2.xml" Id="R042841a8506e4f41" /><Relationship Type="http://schemas.openxmlformats.org/officeDocument/2006/relationships/slide" Target="/ppt/slides/slide3.xml" Id="Re5269786aef743dd" /><Relationship Type="http://schemas.openxmlformats.org/officeDocument/2006/relationships/slide" Target="/ppt/slides/slide4.xml" Id="Rdd0a292f49924851" /><Relationship Type="http://schemas.openxmlformats.org/officeDocument/2006/relationships/slide" Target="/ppt/slides/slide5.xml" Id="R21a45ec12a8a4909" /><Relationship Type="http://schemas.openxmlformats.org/officeDocument/2006/relationships/slide" Target="/ppt/slides/slide6.xml" Id="R044627e28a2d43d2" /><Relationship Type="http://schemas.openxmlformats.org/officeDocument/2006/relationships/slide" Target="/ppt/slides/slide7.xml" Id="Radac9870ba4e4c03" /><Relationship Type="http://schemas.openxmlformats.org/officeDocument/2006/relationships/slide" Target="/ppt/slides/slide8.xml" Id="Rb27e8f3f88ab4f4f" /><Relationship Type="http://schemas.openxmlformats.org/officeDocument/2006/relationships/slide" Target="/ppt/slides/slide9.xml" Id="Rd424141cec6f4373" /><Relationship Type="http://schemas.openxmlformats.org/officeDocument/2006/relationships/slide" Target="/ppt/slides/slide10.xml" Id="Ra690ff62fdae418b" /><Relationship Type="http://schemas.openxmlformats.org/officeDocument/2006/relationships/slide" Target="/ppt/slides/slide11.xml" Id="R6caba10a1ee54b2b" /><Relationship Type="http://schemas.openxmlformats.org/officeDocument/2006/relationships/slide" Target="/ppt/slides/slide12.xml" Id="Rc67ada9c5aa348a3" /><Relationship Type="http://schemas.openxmlformats.org/officeDocument/2006/relationships/slide" Target="/ppt/slides/slide13.xml" Id="R9029b006006a4560" /><Relationship Type="http://schemas.openxmlformats.org/officeDocument/2006/relationships/slide" Target="/ppt/slides/slide14.xml" Id="R28fe10364ac04c3d" /><Relationship Type="http://schemas.openxmlformats.org/officeDocument/2006/relationships/slide" Target="/ppt/slides/slide15.xml" Id="R29003732fc8e45c9" /><Relationship Type="http://schemas.openxmlformats.org/officeDocument/2006/relationships/slide" Target="/ppt/slides/slide16.xml" Id="Ref47dde2ec704535" /><Relationship Type="http://schemas.openxmlformats.org/officeDocument/2006/relationships/slide" Target="/ppt/slides/slide17.xml" Id="R44a728b0213e4db8" /><Relationship Type="http://schemas.openxmlformats.org/officeDocument/2006/relationships/slide" Target="/ppt/slides/slide18.xml" Id="R81dd8614944945af" /><Relationship Type="http://schemas.openxmlformats.org/officeDocument/2006/relationships/slide" Target="/ppt/slides/slide19.xml" Id="R2d23fc65a880411b" /><Relationship Type="http://schemas.openxmlformats.org/officeDocument/2006/relationships/slide" Target="/ppt/slides/slide20.xml" Id="R254b819542a34ea8" /><Relationship Type="http://schemas.openxmlformats.org/officeDocument/2006/relationships/slide" Target="/ppt/slides/slide21.xml" Id="R0c5f6023d7b94e7c" /><Relationship Type="http://schemas.openxmlformats.org/officeDocument/2006/relationships/slide" Target="/ppt/slides/slide22.xml" Id="Rf0fed490dab1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104eb1adb5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6e79067124e20" /><Relationship Type="http://schemas.openxmlformats.org/officeDocument/2006/relationships/notesMaster" Target="/ppt/notesMasters/notesMaster1.xml" Id="R8a36a6eca97547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85fc0ebdb4424" /><Relationship Type="http://schemas.openxmlformats.org/officeDocument/2006/relationships/notesMaster" Target="/ppt/notesMasters/notesMaster1.xml" Id="Rdf2fd692159c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fc0b78f8248a6" /><Relationship Type="http://schemas.openxmlformats.org/officeDocument/2006/relationships/notesMaster" Target="/ppt/notesMasters/notesMaster1.xml" Id="R083d0bfe96f140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f0670107d24d19" /><Relationship Type="http://schemas.openxmlformats.org/officeDocument/2006/relationships/notesMaster" Target="/ppt/notesMasters/notesMaster1.xml" Id="R9443db1515d047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422e7c6814ee1" /><Relationship Type="http://schemas.openxmlformats.org/officeDocument/2006/relationships/notesMaster" Target="/ppt/notesMasters/notesMaster1.xml" Id="Rcb688c1d997a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fec40f02a4c62" /><Relationship Type="http://schemas.openxmlformats.org/officeDocument/2006/relationships/notesMaster" Target="/ppt/notesMasters/notesMaster1.xml" Id="R54f3878ba42449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e45985f974dfa" /><Relationship Type="http://schemas.openxmlformats.org/officeDocument/2006/relationships/notesMaster" Target="/ppt/notesMasters/notesMaster1.xml" Id="Rfe9556029d3c40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aff3e590604a12" /><Relationship Type="http://schemas.openxmlformats.org/officeDocument/2006/relationships/notesMaster" Target="/ppt/notesMasters/notesMaster1.xml" Id="R8075465fc2ee48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f1cc99ec714d72" /><Relationship Type="http://schemas.openxmlformats.org/officeDocument/2006/relationships/notesMaster" Target="/ppt/notesMasters/notesMaster1.xml" Id="R07786c544349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43cb2da146429e" /><Relationship Type="http://schemas.openxmlformats.org/officeDocument/2006/relationships/notesMaster" Target="/ppt/notesMasters/notesMaster1.xml" Id="Rfee946292cf046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7a535c2fd842c6" /><Relationship Type="http://schemas.openxmlformats.org/officeDocument/2006/relationships/notesMaster" Target="/ppt/notesMasters/notesMaster1.xml" Id="R1376a0ccd28b48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91f334c74a4570" /><Relationship Type="http://schemas.openxmlformats.org/officeDocument/2006/relationships/notesMaster" Target="/ppt/notesMasters/notesMaster1.xml" Id="Rf13265525dc14d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ca70853c814b1f" /><Relationship Type="http://schemas.openxmlformats.org/officeDocument/2006/relationships/notesMaster" Target="/ppt/notesMasters/notesMaster1.xml" Id="R41b9a94b1e1945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851b54074247ce" /><Relationship Type="http://schemas.openxmlformats.org/officeDocument/2006/relationships/notesMaster" Target="/ppt/notesMasters/notesMaster1.xml" Id="Ref61f5bfa805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aff4e320e24d3b" /><Relationship Type="http://schemas.openxmlformats.org/officeDocument/2006/relationships/notesMaster" Target="/ppt/notesMasters/notesMaster1.xml" Id="R8e35b5db66864b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a59d6e6af94990" /><Relationship Type="http://schemas.openxmlformats.org/officeDocument/2006/relationships/notesMaster" Target="/ppt/notesMasters/notesMaster1.xml" Id="Rab1f4e600f7a40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fc2d9ca24f4439" /><Relationship Type="http://schemas.openxmlformats.org/officeDocument/2006/relationships/notesMaster" Target="/ppt/notesMasters/notesMaster1.xml" Id="Raf857a348edb4c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dfc61500f14c1e" /><Relationship Type="http://schemas.openxmlformats.org/officeDocument/2006/relationships/notesMaster" Target="/ppt/notesMasters/notesMaster1.xml" Id="Rad8e40b32e9f46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d2b5df42a54f8c" /><Relationship Type="http://schemas.openxmlformats.org/officeDocument/2006/relationships/notesMaster" Target="/ppt/notesMasters/notesMaster1.xml" Id="Rc46b6a5eb23641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c91551cd50435d" /><Relationship Type="http://schemas.openxmlformats.org/officeDocument/2006/relationships/notesMaster" Target="/ppt/notesMasters/notesMaster1.xml" Id="R63bbc7b73c2048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82d70d46fb486c" /><Relationship Type="http://schemas.openxmlformats.org/officeDocument/2006/relationships/notesMaster" Target="/ppt/notesMasters/notesMaster1.xml" Id="Raeb4a52bbc8141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2b0ddcd35cd4a01" /><Relationship Type="http://schemas.openxmlformats.org/officeDocument/2006/relationships/notesMaster" Target="/ppt/notesMasters/notesMaster1.xml" Id="R264c95173c1f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1813e63074e6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57ff511c664b2d" /><Relationship Type="http://schemas.openxmlformats.org/officeDocument/2006/relationships/slideLayout" Target="/ppt/slideLayouts/slideLayout2.xml" Id="R404516bf1d1146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516bf1d1146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97a50eb92a47b3" /><Relationship Type="http://schemas.openxmlformats.org/officeDocument/2006/relationships/notesSlide" Target="/ppt/notesSlides/notesSlide1.xml" Id="R439c7cf156fb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a0fd9a28f6452a" /><Relationship Type="http://schemas.openxmlformats.org/officeDocument/2006/relationships/notesSlide" Target="/ppt/notesSlides/notesSlide2.xml" Id="Re873713b80e0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6d2b0086341ba" /><Relationship Type="http://schemas.openxmlformats.org/officeDocument/2006/relationships/notesSlide" Target="/ppt/notesSlides/notesSlide3.xml" Id="Rae0e6758f94a47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c4443fe9a4140" /><Relationship Type="http://schemas.openxmlformats.org/officeDocument/2006/relationships/image" Target="/ppt/media/image.png" Id="R4abd6bf865ad4b3f" /><Relationship Type="http://schemas.openxmlformats.org/officeDocument/2006/relationships/notesSlide" Target="/ppt/notesSlides/notesSlide4.xml" Id="Rbf18e4367134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039122d8994721" /><Relationship Type="http://schemas.openxmlformats.org/officeDocument/2006/relationships/notesSlide" Target="/ppt/notesSlides/notesSlide5.xml" Id="R35638ef335f2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30eeeceb16438b" /><Relationship Type="http://schemas.openxmlformats.org/officeDocument/2006/relationships/notesSlide" Target="/ppt/notesSlides/notesSlide6.xml" Id="Re9f3175ef34f4e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f81988f4c4491" /><Relationship Type="http://schemas.openxmlformats.org/officeDocument/2006/relationships/image" Target="/ppt/media/image2.png" Id="R1cd202bfbcc8429b" /><Relationship Type="http://schemas.openxmlformats.org/officeDocument/2006/relationships/notesSlide" Target="/ppt/notesSlides/notesSlide7.xml" Id="Rf92be8b664544f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5e7f06385649ba" /><Relationship Type="http://schemas.openxmlformats.org/officeDocument/2006/relationships/image" Target="/ppt/media/image3.png" Id="R39f6aad7a2f64cd0" /><Relationship Type="http://schemas.openxmlformats.org/officeDocument/2006/relationships/notesSlide" Target="/ppt/notesSlides/notesSlide8.xml" Id="R65d87e8791ec40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ca0957872e49f3" /><Relationship Type="http://schemas.openxmlformats.org/officeDocument/2006/relationships/notesSlide" Target="/ppt/notesSlides/notesSlide9.xml" Id="Ra4e9739b282847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3ff8cc588c45d9" /><Relationship Type="http://schemas.openxmlformats.org/officeDocument/2006/relationships/image" Target="/ppt/media/image4.png" Id="R783cd20e8c8441ef" /><Relationship Type="http://schemas.openxmlformats.org/officeDocument/2006/relationships/notesSlide" Target="/ppt/notesSlides/notesSlide10.xml" Id="R9429b0ebb9fe45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00f08ce944c81" /><Relationship Type="http://schemas.openxmlformats.org/officeDocument/2006/relationships/image" Target="/ppt/media/image5.png" Id="R6d1786e48bca4b9a" /><Relationship Type="http://schemas.openxmlformats.org/officeDocument/2006/relationships/notesSlide" Target="/ppt/notesSlides/notesSlide11.xml" Id="R85aa1c5c39f547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5686460f484e37" /><Relationship Type="http://schemas.openxmlformats.org/officeDocument/2006/relationships/image" Target="/ppt/media/image6.png" Id="R6147d443c30a4859" /><Relationship Type="http://schemas.openxmlformats.org/officeDocument/2006/relationships/notesSlide" Target="/ppt/notesSlides/notesSlide12.xml" Id="Rc754fc2d832a4b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bce7b09c04d85" /><Relationship Type="http://schemas.openxmlformats.org/officeDocument/2006/relationships/notesSlide" Target="/ppt/notesSlides/notesSlide13.xml" Id="Rde4abfa043f44d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61555251c74d34" /><Relationship Type="http://schemas.openxmlformats.org/officeDocument/2006/relationships/notesSlide" Target="/ppt/notesSlides/notesSlide14.xml" Id="R5aef7fbe526947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7fe970f284fd0" /><Relationship Type="http://schemas.openxmlformats.org/officeDocument/2006/relationships/image" Target="/ppt/media/image7.png" Id="Rb97470f5edea4ad2" /><Relationship Type="http://schemas.openxmlformats.org/officeDocument/2006/relationships/notesSlide" Target="/ppt/notesSlides/notesSlide15.xml" Id="R9503f62a585e43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3f8e98a4ce4028" /><Relationship Type="http://schemas.openxmlformats.org/officeDocument/2006/relationships/image" Target="/ppt/media/image8.png" Id="Rb68fb53a28164458" /><Relationship Type="http://schemas.openxmlformats.org/officeDocument/2006/relationships/notesSlide" Target="/ppt/notesSlides/notesSlide16.xml" Id="R7bd1168427514c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85e90dbf04dc3" /><Relationship Type="http://schemas.openxmlformats.org/officeDocument/2006/relationships/image" Target="/ppt/media/image9.png" Id="R6a96378d10e748e6" /><Relationship Type="http://schemas.openxmlformats.org/officeDocument/2006/relationships/notesSlide" Target="/ppt/notesSlides/notesSlide17.xml" Id="Rf834cb5cee084c2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3f87c268934d90" /><Relationship Type="http://schemas.openxmlformats.org/officeDocument/2006/relationships/image" Target="/ppt/media/image10.png" Id="R776d1fa9f3364a52" /><Relationship Type="http://schemas.openxmlformats.org/officeDocument/2006/relationships/notesSlide" Target="/ppt/notesSlides/notesSlide18.xml" Id="Rd99bb757317c41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a487fded0414d" /><Relationship Type="http://schemas.openxmlformats.org/officeDocument/2006/relationships/image" Target="/ppt/media/image11.png" Id="Rade515f5b6e24a99" /><Relationship Type="http://schemas.openxmlformats.org/officeDocument/2006/relationships/notesSlide" Target="/ppt/notesSlides/notesSlide19.xml" Id="Rcf002020a1fb42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2b0dfed674a13" /><Relationship Type="http://schemas.openxmlformats.org/officeDocument/2006/relationships/image" Target="/ppt/media/image12.png" Id="R0b2291a1b57f4f17" /><Relationship Type="http://schemas.openxmlformats.org/officeDocument/2006/relationships/notesSlide" Target="/ppt/notesSlides/notesSlide20.xml" Id="Rb9167551bf864b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ee11f82434612" /><Relationship Type="http://schemas.openxmlformats.org/officeDocument/2006/relationships/image" Target="/ppt/media/image13.png" Id="Rc7efc54b940240fc" /><Relationship Type="http://schemas.openxmlformats.org/officeDocument/2006/relationships/notesSlide" Target="/ppt/notesSlides/notesSlide21.xml" Id="R793fb0d04c4746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0581417c64eef" /><Relationship Type="http://schemas.openxmlformats.org/officeDocument/2006/relationships/notesSlide" Target="/ppt/notesSlides/notesSlide22.xml" Id="R644d816ec98d41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9D8A7-E96A-4617-AFEF-80B7CED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2627F-5714-456A-9908-6628E57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732CF-D4B1-42F1-A298-61C46D5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RESULTS REVIEW  /  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4EF6D-B37F-4D2D-BB3A-B556427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Recurrent UTI: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C1038-0FDC-4B17-98BF-B0B2F1B1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971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0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clinical state and genomic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DE23B-186C-49D7-AE65-BD72658E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current UTI versus Not_UTI review for a new project colleague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2AD7-FAB1-4B8A-8758-50F02C3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6EF9-4A4F-4BAE-9C9F-D87A968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THREE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C3C8E-7445-40EE-9DA5-031FE4B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3487C-CB1D-4FF0-9444-F71CE46F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6717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Which isolates persist across changing clinical states?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76490-FE4D-413A-A2DC-07A3856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1B256-1D4F-43FD-817B-D2868398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Does symptom emergence require a new measured VF profile?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27FC0-15D9-4163-A43C-19DFBC7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D21FB-D2D5-4A73-A405-0D80134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72075"/>
            <a:ext cx="76200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What can the sparse UTI denominator support responsibly?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47D8B-62D9-42EB-A29A-EEE97E3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100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BACA9-007D-4DCF-AE31-8CC8D029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957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ABA2B-A80C-4187-9AFA-5072C089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10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6E7DC-6091-4F4C-9960-F32E881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195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79EE6-2E21-41DC-B5F8-6F198FFB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Primary comparison throughout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131F2-9B19-48BD-B53A-B4AB702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Prepared for scientific review and practical handover  |  27 May 2026</a:t>
            </a:r>
          </a:p>
        </p:txBody>
      </p:sp>
    </p:spTree>
    <p:extLst>
      <p:ext uri="{BB962C8B-B14F-4D97-AF65-F5344CB8AC3E}">
        <p14:creationId xmlns:p14="http://schemas.microsoft.com/office/powerpoint/2010/main" val="12452576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A3523CF4-7D2E-4883-8E87-0049656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1B626A3E-E37F-49F7-94F9-F9D00A0E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7E62-C6EB-4E48-89A8-3C97FC7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RATIONALE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00074-605B-45A3-93B8-6B423F17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Repeated bacteriuria is not equivalent to symptomatic UTI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F4DDC-C0F9-4E7E-9582-FF411923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27801-32AE-4F71-8ED7-697D315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primary comparison separates culture-supported symptomatic episodes from a heterogeneous remainder.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FFED-CE56-43B9-8813-EC8641FF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6C4A4-B9E6-4658-BEBA-FE6FE25D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FD9B1-88A4-4056-A497-94A338A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3D0BE-7512-4510-88EC-A638A0A6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PRIMARY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FF90A-8B87-420D-B579-8FFDF603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914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C85E-2E92-43F2-B7AD-BFC16F1F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621E5-D9A2-44B0-A23F-DB2EA9A2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5DD6E-F6E3-47C9-8645-084E4640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19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 support plus compatible symptoms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C358D-AE02-4E5E-8148-C5A1208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clinically interpretable symptomatic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1BB6E-1DC2-4C66-8BBA-775F31E5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914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1A6BE-40AC-41C4-8C87-82B756E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2615D-A9E1-4167-AE8E-3B03ECB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3C001-E5A0-47F2-8D3F-C550C8B2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417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Not a single biological 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2F9FE-3230-47CA-86AA-2169386F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May include bacteriuria without compatible symptoms,</a:t>
            </a:r>
          </a:p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negative cultures, or other clinically non-UTI episodes.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34FD8-77E5-4420-97F4-5CB8EB2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WHY LONGITUDINAL SAMPLING?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FA9D9-8C45-45F3-9047-DB2150D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03F95-7A18-47BF-B2CD-CFA2865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Follow the same resident across 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1F9AE-10D2-427A-BD9F-9EFFCDA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089EE-DECA-45D0-BA26-AC01035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765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BDFBA-4E27-42DA-8890-BA1CC571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Separate persistence from replacement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E8B33-92F5-4241-B275-064275B3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8081C-BA78-4B00-A2B3-85FF7421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14775"/>
            <a:ext cx="419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BECD0-1AE4-47F9-AB83-68F99806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14775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Ask whether symptoms emerge without VF gain/loss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98933-CA5A-4D8E-B9F5-F4CD48B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14900"/>
            <a:ext cx="4991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B0ECE-8DB6-4A85-BBFE-077D8A0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96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Clinical status is the outcome; genomics helps explain transitions.</a:t>
            </a:r>
          </a:p>
        </p:txBody>
      </p:sp>
    </p:spTree>
    <p:extLst>
      <p:ext uri="{BB962C8B-B14F-4D97-AF65-F5344CB8AC3E}">
        <p14:creationId xmlns:p14="http://schemas.microsoft.com/office/powerpoint/2010/main" val="10106127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0BEAFF2-0332-4116-95B3-7605FEB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E7825CD8-71A9-491B-B2E8-FCA2F80E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8FC1E-B3B3-4CD8-839B-F16D91D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DESIGN AND STATUS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334AF-77DC-4FFF-9FD5-2E906C7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Repeated clinical episodes link directly to isolate genomes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4DC0F-B253-40BD-BBC0-7C06FA2E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CBDFA-265D-44F8-A31F-B34C5EA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same sampling structure supports both clinical classification and VF/WGS comparisons.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C663-6EED-49DF-B155-FC48DE5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FC2A5-71F9-4DF5-A2B3-D7D95AC9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B71C7-642D-4EE4-9039-F2A003A6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2475-7538-410B-A1D8-463B7C79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LONGITUDINAL STUDY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75F04-726C-47C0-AA2E-8C09753E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47D32-5E82-4FF5-80A4-1628254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55D5F-60A7-4655-8C5A-4C70A9A7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T0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F250D-A7A4-4D17-96A5-597838C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4A77A-5CE3-4FC0-A63F-CAC2349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0A02F-236E-4038-8B77-A46C35B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6A6B1-0BF7-47BE-AEA9-09A50B6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29206-6314-4D43-B7F1-D8F74F60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T3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BE776-04DE-4A44-9B20-91DCDA8E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5B7D3-81C8-4786-A640-09B63FDE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B1340-BD89-4A7B-B8BF-5AFA6055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7EC4C-36AE-48D3-B8B5-EF4117B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03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14A29-570E-452F-9164-12C69F3F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UTI-1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C2702-8195-409C-A608-7B7CE32B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527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symptoms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00D01-4D9D-4B6B-A5C7-935D8A07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209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6BC81-2CBC-4912-B358-73BE36C9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3E1F2-F127-4748-9A87-1F1DE42C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A4CE2-8DBC-43BF-B3D0-6563AE31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DC0FC-FD89-4B93-AB85-366C0D01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381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9A9FD-DFA0-4D8F-B261-F65F16F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4905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Link episode status to WGS and virulence-factor profiles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4BF7E-D03A-4BCE-9076-F3D3668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4762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Then evaluate persistence, replacement and profile stability.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67329-0716-4530-961B-2D903EB9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PRIMARY STATUS RULE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540C6-8196-4E38-A6E2-456D0D84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453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BCE9CC-F8F4-44BC-8749-AD2CFCE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1562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9EB9E-6E1C-4F0F-96B0-2CCC0CC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4315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&gt;=10^3 CFU/mL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44190-BD73-43AB-A44D-3C6B1D4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81325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9A7FA0-AC3D-4EA0-8D0B-C33C0E84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4533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71D694-0138-4D36-B361-36B849B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Compatible symptoms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58A8D-3938-49F3-9BA6-C031799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390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catheter-aware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EF1388-3726-4365-A340-CF1C963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9DF9F-08C1-49DE-9788-AAF2D70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339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557414-C21F-4E27-B559-064AE5E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6A27A-850C-42DF-A08E-0B10F7C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both present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EF7739-9168-4FC3-88BE-F72C0FC4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43425"/>
            <a:ext cx="2076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758875-B1EA-4955-88E0-49DF8293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33925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4B2745-9E81-428E-B33D-5025189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434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42EC08-0FCD-4310-B1CE-08BC351B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101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otherwise</a:t>
            </a:r>
          </a:p>
        </p:txBody>
      </p:sp>
    </p:spTree>
    <p:extLst>
      <p:ext uri="{BB962C8B-B14F-4D97-AF65-F5344CB8AC3E}">
        <p14:creationId xmlns:p14="http://schemas.microsoft.com/office/powerpoint/2010/main" val="16355530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80A1AE14-7F05-4083-BC70-AC286CD1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D7A2DBD2-A06C-4072-B3B1-BFC325DC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56AC-A762-436F-A4B8-1382CED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VALIDATED DENOMINATOR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6D9D4-55D4-4667-87A0-A04EB79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The primary UTI denominator is deliberately narrow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05B1B-45D7-448E-908E-B2927C6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8C07E-D449-476B-A971-90A5331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Episode-level counts define the interpretation boundary before any biological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E074-E045-46C6-94D6-A3398B4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89A2-A611-4C4C-8E49-7919A98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DENOMINATOR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F6943-A0FA-4F2E-AACF-D62BF2D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2C19F-3FF7-4D43-A760-4E4607E8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17A9D-DF9C-4EB5-B8FC-9133E3B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57D86-190F-4A57-9267-EDF1E2C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715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d6bf865ad4b3f"/>
          <a:stretch xmlns:a="http://schemas.openxmlformats.org/drawingml/2006/main"/>
        </p:blipFill>
        <p:spPr>
          <a:xfrm xmlns:a="http://schemas.openxmlformats.org/drawingml/2006/main">
            <a:off x="781050" y="1834452"/>
            <a:ext cx="10563225" cy="408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23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BF532F0A-1230-4DB4-BEF0-CA6884E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6CE3B76-4341-424E-972F-A4FA25F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FBB6-98EB-4067-AD26-7168B2B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PIPELINE WITH 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C662-8215-4DB2-A22A-4E3EC0E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From clinical episodes to virulence-factor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9563F-DF92-4783-9AEB-761275E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4764-EA3F-442E-BC05-7504BF5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Counts are shown at their analytical level: assembly-level QC is not an episode denominator.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D997F-253B-46A5-A686-F3913E7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C5665-4187-4823-966A-D9A0FDC1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NUMBERED PROCESS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D146B-5A75-4E96-8415-51DCE46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B8D0-9A6D-45A9-9431-F4E5B1E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4104-0FC7-4DE3-9A28-C8E8438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B0403-6814-4FB6-BDBB-DAAEE6F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238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63E06-1263-4650-91A1-BF6E9DED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441F4-6976-451D-814B-EA5EB0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106B-106F-4ED2-8337-6E2A1F6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FED2-0359-4CF4-9E52-25DCC208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Episodes classified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3AC21-0801-4F58-B6CD-09ABFB96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E1BBA-EA63-4932-BF55-38B04EEA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before primary manual exclusions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3536-DB4B-4C34-A1AC-9E693D8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00a / 00b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7730C-D9E5-40DE-9201-A6958897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2886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16986-57B7-4DE6-87A1-D113DEA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8B267-CD48-404B-B7A1-D298EDE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7772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39210-332F-4F91-AE40-8E5AD3D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09775"/>
            <a:ext cx="22002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Primary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7367F-F10E-4E06-AAB0-1C3B23C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5812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583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9955E-F485-431E-93C5-BE195CE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62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UTI  |  565 Not_UTI  |  2 excluded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3307E-3DB5-48D1-85E7-9EA282A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6003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00b status_map_primary_included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DCACA-B55B-4680-8AF0-88A9DA3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628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GENOMIC PROCESSING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FFDF8-B313-4004-857E-22481B5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2457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8EB2D-D195-4A34-A2AC-760EB93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2FE22-C1C3-4741-A4F2-9C536E39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CD7BA-2709-4876-8318-963EA39C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09775"/>
            <a:ext cx="1771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Assembly QC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3B316-12F5-4FA6-A407-121FD68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33625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1,291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CD5F6-DE58-43E5-A450-E075870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includes assembler alternatives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028DF-083B-4049-855B-296DAB9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33700"/>
            <a:ext cx="2171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12a_wgs_qc.R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C2EDC2-2BB0-4DA0-ABC9-25CFE41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468FAC-8C98-46DF-9B89-74C5425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D25FA-A084-47A6-BC5D-F1DE114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09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678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B943A8-F2EA-4281-812D-2960607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09775"/>
            <a:ext cx="1714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Canonical episodes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BA0-FF21-4266-BC2D-BC79675E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33625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BCDCE2-DAE9-4627-8D58-3EF6075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860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one selected assembly per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AC735-F23E-4F9C-A73B-7534FE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2114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canonical selection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063CA-096B-4505-938B-82483A5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56ADC-8747-45E8-83D2-9865390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90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VF ANALYSIS AND LONGITUDINAL OUTPUTS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902A3-523C-4D27-82A0-65C58B5B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4765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3F14C-8ED3-45A2-805E-B73E5EB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8E6E0-13C4-4E41-B7DE-0E65D4F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5A7356-7FF2-4DE4-9E2C-2904696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17907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presence/absence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334E9-D7E2-4272-9980-44CE6166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1717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BC6ED1-B375-4EFD-A866-0119E03C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episode-level VF rows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386F1D-A5E8-4B4B-B894-270DF7A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2190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02_gene_presence_analysis.R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27D298-3868-4608-ABE9-6653AC3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7241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E2A88-0852-4A7D-B3D2-726F5D3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2EABAF-81F7-426C-9F3A-638791C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0A19E2-87B1-408E-87FD-C5E5237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71925"/>
            <a:ext cx="2038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Model-ready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0D974-100C-44C6-B0BA-FBA17F4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95775"/>
            <a:ext cx="2419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2C9AF-DCFE-4ED1-A388-B9A3052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48200"/>
            <a:ext cx="2400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17 UTI  |  539 Not_UTI</a:t>
            </a:r>
          </a:p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27 clinical episodes lack VF-ready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804C14-9638-4CB1-A3BF-B36EC9B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43525"/>
            <a:ext cx="2438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22_vf_build_analysis_dataset.R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2AC699-B45F-4B50-892F-39EFCA31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5241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DB7C01-2699-4BD2-9E60-8FF4FA8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7FE1B0-F7BA-46EF-B02D-8A2A2C3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03B176-65E6-41ED-9DE8-FFF9A72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383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 feature space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5483FD-06BE-440C-B3DE-16FDA961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22193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227 -&gt; 32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B35DE6-77A4-4EA2-B930-A5EFE832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48200"/>
            <a:ext cx="22002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genes -&gt; modules</a:t>
            </a:r>
          </a:p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UPEC-candidate modules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9A9ACC-1300-4FBD-AA78-C40DF95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43525"/>
            <a:ext cx="2238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26_vf_define_gene_modules.R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35B1BC-C7B0-4A8C-B30E-EB143B7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26670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445B1E-C215-4B4C-96E1-F06592C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4810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846B76-10E4-4C7B-9F6D-631B441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7529BD-4372-4F9E-A896-CE1DC93D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971925"/>
            <a:ext cx="1981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Transitions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5B1235-532F-45DB-8B68-176F118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95775"/>
            <a:ext cx="2362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11 -&gt; 10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06D14-1BC6-46C1-90D9-DD57E48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2343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transitions -&gt; WGS/VF-linked</a:t>
            </a:r>
          </a:p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 endpoint missing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5866B8-BAC7-4DA9-992A-0B2954B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34352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mechanism casebook</a:t>
            </a:r>
          </a:p>
        </p:txBody>
      </p:sp>
    </p:spTree>
    <p:extLst>
      <p:ext uri="{BB962C8B-B14F-4D97-AF65-F5344CB8AC3E}">
        <p14:creationId xmlns:p14="http://schemas.microsoft.com/office/powerpoint/2010/main" val="8209829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EE72C8B-0B7D-4E76-81DC-BA11E449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4AF1D010-064C-4AF0-B36E-70DD62C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1EDBB-8E3E-45FD-94EC-D6531A34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VF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2AF9-17B3-4008-A25F-5071F21D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What the virulence-factor analysis actually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69EA6-33ED-4F01-9C72-B11D5BB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3EA37-4ED8-4CF0-B6E5-10D09E8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Presence/absence features describe measured genomic potential, not expression or host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32E3-4D11-4355-8DDF-DD190B4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0E939-E93E-4602-951F-9CD38206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ANALYSIS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75FAF-80D1-4E88-8B67-35248BD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41242-AC1C-45E8-A33A-F3220AB7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92A56-5606-4864-8CA5-FED29612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D57A4-C0FA-4E93-B1FA-B8DEFD7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2FA16-06F3-4F86-A514-35526AD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9526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582F8-100C-4B26-A4C8-B6FC068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140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rPr>
              <a:t>556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47C14-6743-4948-989E-9BA3C036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VF/WGS-linked</a:t>
            </a:r>
          </a:p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0394E-992D-4443-9157-82076BC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4330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binary presence / absence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A13E2-9D71-40F2-B648-54AFCAA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716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REPRESENTATION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BDE41-7E4F-4687-BAA9-B769BF8D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24075"/>
            <a:ext cx="223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FD635-51E5-41D2-A2FC-E012FB3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227 VF genes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18659-734F-426D-AE48-3CBEF4F0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38425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detected feature columns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9C4C7-32E2-4C0C-BF12-08AE8C7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95625"/>
            <a:ext cx="223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5BCAC-C1F4-45F3-88E1-6AD3321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480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32 modules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666D4-67CA-48A9-A338-534AAD6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18 UPEC-candidate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C0E16-2DF7-4DE5-BD85-EF6D313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716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QUESTIONS ANSWERED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33EA8-EEC7-4FA1-89F1-8A84ED56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E6FB7-CFF2-4BEB-A657-FEF5129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CFB43-10F5-4A43-BFBC-8B90D56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Burden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C97D4-6852-4CD1-9C98-BB3F607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How many detected VF genes?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4D493-75EA-4AAA-ACB4-4025D78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4317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62B6D8-3EBC-4E87-8AE0-D8F1CFA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1942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48A11-B348-4C58-8043-02458CB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1942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A4EF8-96C3-4E7E-81D3-927BCC4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Similarity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3E9FE-B42E-43F9-B6F0-A63CA91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Is the profile stable over time?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3F54B-5FBC-47BD-9771-7FC1657A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B0B46C-35FC-4157-ACC0-BF0CE82C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14775"/>
            <a:ext cx="520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911E5-DA8F-4B62-9F3C-B27EB06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1477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DC2D5A-035E-4BFC-94D5-2A7CF276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Association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16B17-ECE2-4A7B-B3AC-B8F8F5E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2876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Does status track VF signals?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894B5E-A050-4C06-A0EA-F36308AD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3875"/>
            <a:ext cx="2876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/ FDR-controlled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695257-CBB3-47A6-9984-1A29F46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573352-5AD5-4185-836C-CC4AF92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962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Interpretation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91517F-D9FA-4909-B67B-F096B89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52975"/>
            <a:ext cx="764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Stable measured VF does not rule out altered expression, regulation, inoculum or host state.</a:t>
            </a:r>
          </a:p>
        </p:txBody>
      </p:sp>
    </p:spTree>
    <p:extLst>
      <p:ext uri="{BB962C8B-B14F-4D97-AF65-F5344CB8AC3E}">
        <p14:creationId xmlns:p14="http://schemas.microsoft.com/office/powerpoint/2010/main" val="6621084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31B8E2F-186E-4F48-9AD5-41BE5E3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5A02A546-EE58-4160-B53B-3831D3EA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4368-04C1-4A52-AEA1-92FD7C7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E920-E7BF-454E-BB50-675EB824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Observed VF burden overlaps strongly across status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451EC-9165-40F0-9C6F-9B245A79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AE48C-5479-45B4-9FBB-2FED8B1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UTI group is sparse (n=17), so this is descriptive distributional evidence rather than a causal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78BFE-86C6-480E-AD40-14E5B54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61976-2AB0-45E9-9714-28C96974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25D15-48ED-4AB5-9299-F11925C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E2485-773A-46F9-986F-F783DA0A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8BB97-D692-4CE4-8891-DA87DA7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B41AF-A67D-4C09-A6D5-598C564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9725"/>
            <a:ext cx="101727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202bfbcc8429b"/>
          <a:stretch xmlns:a="http://schemas.openxmlformats.org/drawingml/2006/main"/>
        </p:blipFill>
        <p:spPr>
          <a:xfrm xmlns:a="http://schemas.openxmlformats.org/drawingml/2006/main">
            <a:off x="3406009" y="1685925"/>
            <a:ext cx="5379983" cy="445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218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41BD3A68-6800-4DC1-8BDD-8326A8A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D0FF4191-5902-4F27-91B9-7CCD488F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CE936-C318-426E-8077-D5BBB046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14DBA-9577-436F-9325-C060BBBD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Nominal VF screens do not become confirmed associations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2492A-EEBC-414B-9F1A-DF0B633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E2A9-7593-4605-960E-16C6745C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Participant-aware modelling and FDR correction define the evidential limit of the current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06AE1-F92D-4727-8D64-938B054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C158A-1B35-4967-B400-F1BD9D0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/ FDR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35F6-6C8C-4AA3-BF8B-6F32773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74E02-45FE-4944-BC2B-C97589E9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51F87-4266-4C1C-B347-79B8133D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F1851-C831-4A7B-AEA1-A5AC5B9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7251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6aad7a2f64cd0"/>
          <a:stretch xmlns:a="http://schemas.openxmlformats.org/drawingml/2006/main"/>
        </p:blipFill>
        <p:spPr>
          <a:xfrm xmlns:a="http://schemas.openxmlformats.org/drawingml/2006/main">
            <a:off x="2398102" y="1695450"/>
            <a:ext cx="7414846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424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C9336D56-CC8E-45A0-A4CA-F60E53AD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2B1F5543-C3E5-4A2E-99A6-F846B79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00D59-A12D-405B-B2FE-2B8A912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LONGITUDINAL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1A6A5-9FBB-46B5-88B9-912E80B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Participant 20026: symptoms emerge with a stable VF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245B8-E626-4ED3-84C2-33095034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AF0B1-F04C-4B5F-A825-8ED050E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A concrete transition clarifies what same-strain, stable-profile evidence means.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27933-269E-4442-8510-9A5BD2CC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265A0-3B75-4955-895E-2A16112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786D5-9DCB-446D-A912-F23E4F6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B6DAD-C67E-4662-A041-5E6A313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16C2F-7FA8-4F7E-8CD6-252E8740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A11CA-BD50-4732-ABF6-F44E737E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3F5DC-C90F-4ED5-B443-5C26875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288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78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8B8"/>
                </a:solidFill>
                <a:latin typeface="Aptos"/>
                <a:ea typeface="Aptos"/>
                <a:cs typeface="Aptos"/>
              </a:rPr>
              <a:t>NOT_UTI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A1E1D-6DAE-4CDD-A708-208EE6D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D9186-8453-41F9-BCBB-6913E56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28825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UTI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F685A-EC92-4D74-A2C7-E869758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678B8"/>
                </a:solidFill>
                <a:latin typeface="Aptos Display"/>
                <a:ea typeface="Aptos Display"/>
                <a:cs typeface="Aptos Display"/>
              </a:rPr>
              <a:t>T3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F63F9-2956-4992-A595-1189711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152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culture-supported episode</a:t>
            </a:r>
          </a:p>
          <a:p xmlns:a="http://schemas.openxmlformats.org/drawingml/2006/main">
            <a:pPr algn="l"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without UTI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602EE-4A1A-4AC9-A540-AE721B51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UTI-1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0DFC3-1A10-42D8-BF7E-C94D9F8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9875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symptom emergence on</a:t>
            </a:r>
          </a:p>
          <a:p xmlns:a="http://schemas.openxmlformats.org/drawingml/2006/main">
            <a:pPr algn="l">
              <a:defRPr sz="120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culture-supported bacteriuria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1714A-5614-45D9-9F08-05A82E3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3367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F4AC7-196D-47C9-92E4-EA63393A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8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E9463-D1EC-46FE-8169-3403C955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A3A0-5A6D-42FA-8FB6-BE2FE812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38375"/>
            <a:ext cx="3105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09976-4C0B-4D91-BE2F-0DA14B2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781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855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7855B"/>
                </a:solidFill>
                <a:latin typeface="Aptos Mono"/>
                <a:ea typeface="Aptos Mono"/>
                <a:cs typeface="Aptos Mono"/>
              </a:rPr>
              <a:t>42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2BD14-0761-4B31-82F2-01777BA1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5 SNPs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8CD86-D208-4B72-AE7E-A8EA7281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strong same-strain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DCDE7-D68E-4607-95C2-C3A2260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2324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MEASURED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D2B98-A7B8-47C7-8B63-521360C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B872C-837F-4B35-B156-4D1B784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A3297-7C28-4181-B9D5-512948A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VF 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077BA-56BA-4B6A-A41E-5D370573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+0 / -0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51481B-4333-45CB-82E2-F57FB089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1524C-9E9C-4AD5-8542-18CEC56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F59E9-68CA-4259-8770-1377787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8B9A98-09CE-4D81-8369-D6A2C00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SNP DISTANCE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47316-97DA-438E-9B9A-7E1EAAB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855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07F4B-B181-46C9-8952-C73386F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EB1210-8281-46F3-9F1E-0C5B6A1A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3067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7368CD-0962-4F71-AD2C-3DE8DC2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5E2E6-BEDF-4516-BFEC-EE83653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76725"/>
            <a:ext cx="2667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CLINICAL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7AF15C-560D-42EC-9DED-ACF4828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2705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7772F"/>
                </a:solidFill>
                <a:latin typeface="Aptos Display"/>
                <a:ea typeface="Aptos Display"/>
                <a:cs typeface="Aptos Display"/>
              </a:rPr>
              <a:t>Not_UTI -&gt; UTI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AA12DA-BBC8-4E92-9B46-E8FFE57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changed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74281C-AFA8-49C1-901C-A207E68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88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A56C4-74CD-4187-B0D5-D67EAC3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9429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Supports a host-state or unmeasured-regulation hypothesis; it does not prove mechanism.</a:t>
            </a:r>
          </a:p>
        </p:txBody>
      </p:sp>
    </p:spTree>
    <p:extLst>
      <p:ext uri="{BB962C8B-B14F-4D97-AF65-F5344CB8AC3E}">
        <p14:creationId xmlns:p14="http://schemas.microsoft.com/office/powerpoint/2010/main" val="14905178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2BBE8D9-2B86-4ED6-8F56-643BEF4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B09F477A-36C4-4FC7-A050-268F240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EFF51-F750-4748-B2DC-C6963D5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TRANSITION CASEBOOK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6EBBE-0C12-44DE-84BE-C93EF326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Not_UTI-to-UTI transitions are biologically heterogeneous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AD151-F908-4CA7-8C42-40F6717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38DA5-277D-4BE9-BD9D-06517E57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Eleven clinical transitions include ten with linked WGS/VF evidence and one missing endpoint.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EA04C-C9F9-49FD-9864-F3E5E71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1026-402C-4321-A373-EFD21BA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CASEBOOK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4E317-71D4-49DB-9117-6AC70660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B1F92-21A7-4D75-8857-33CEA447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207C-E288-4D71-B43A-26493A46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462C6-279B-4A22-A0FE-41F84F54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06870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cd20e8c8441ef"/>
          <a:stretch xmlns:a="http://schemas.openxmlformats.org/drawingml/2006/main"/>
        </p:blipFill>
        <p:spPr>
          <a:xfrm xmlns:a="http://schemas.openxmlformats.org/drawingml/2006/main">
            <a:off x="1774205" y="1685925"/>
            <a:ext cx="8586439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368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5CC1E6C2-71C1-422B-A40C-7294F641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5C1A90DC-E9BA-4627-AB7F-A236D38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9E02E-A41D-474E-9EC5-A705F7D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CENTRAL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2A438-6146-4E22-97F0-21B30D3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Stable measured profiles can accompany changing clinical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67B58-42F8-4E63-AFE5-5A712F1D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C2D5E-AB5A-4890-84B1-55FB2DB4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Four transitions show same-strain stable profiles; three are consistent with strain replacement.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4730B-5CC6-4EF5-8886-0D87721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1E967-99FD-4AE1-8321-A4C7923B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TRANSITION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7B68E-9984-4223-84C8-1DC887FF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FA83A-9464-4E4A-AA99-0E22D78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0AC50-2338-4EED-BFFA-2F33C5AA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4D82A-7FA0-4B7A-B331-D2668316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782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786e48bca4b9a"/>
          <a:stretch xmlns:a="http://schemas.openxmlformats.org/drawingml/2006/main"/>
        </p:blipFill>
        <p:spPr>
          <a:xfrm xmlns:a="http://schemas.openxmlformats.org/drawingml/2006/main">
            <a:off x="1657350" y="1676400"/>
            <a:ext cx="8839200" cy="441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423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331509BF-1378-4ABF-9F55-2838B3D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03584B28-C3B3-4D76-A5D8-E6238DC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1EB4C-CD8D-46D2-B454-F0E14F88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POPULATION-LEVEL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EC34E-0BF5-4701-B6FB-DD260E39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No global VF association remains significant after FDR correction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6A161-83EB-4FF8-8356-6297AE4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22B69-3BED-48CC-A381-C76D4B6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With only 17 primary UTI VF-ready episodes, global signals remain exploratory.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4D58-550D-4286-9015-993709D3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5578-CBB8-4DA0-9AC1-AE6C56D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ROBUSTNESS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F6FA1-0915-490C-8E48-9B8EFA2A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8BCFA-93DE-4C84-8833-F4E9E95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BC62C-CD2E-47E1-8D69-5FDF2C8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F4FBA-DF30-4FFF-8E66-AB190FE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0572750" cy="454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7d443c30a4859"/>
          <a:stretch xmlns:a="http://schemas.openxmlformats.org/drawingml/2006/main"/>
        </p:blipFill>
        <p:spPr>
          <a:xfrm xmlns:a="http://schemas.openxmlformats.org/drawingml/2006/main">
            <a:off x="2427288" y="1685925"/>
            <a:ext cx="7318375" cy="4391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003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F317D745-004E-4F8D-813B-E1BFDC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3DB5052A-4F59-4D56-9B38-12AA268F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3C-016E-48EE-AF03-8E722FFC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C084E-AC66-4F1D-A164-DEC7895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What is known, what is limited, what comes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3B05-585D-4717-8022-B0E1014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8BD9B-369C-491E-AC47-C8EAA120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The current evidence supports a focused next phase rather than a broad association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FB9B-32CC-42D3-9115-863B03F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7C7C7-1082-47D0-A0B6-098BBCD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3AF1-B996-4781-8412-7CE611B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B5437-0959-4E66-8FA0-AA3E446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AF946-282C-4424-B208-2ACE5B7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5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F24AE-5046-4113-8139-6B22F93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71F0-2986-4497-A96D-3AEA7D9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Stable VF profiles occur across some symptom-emergence transitions.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31F7F-6D94-4EE9-A35D-A5777C2B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1A3F9-4DCF-4287-932C-89967EDE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Replacement is also present; no single mechanism fits all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7EB8E-2250-42E5-8A97-8AA3049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FAC01-6E25-4E9E-906C-25EFF48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5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AE16FE-FA39-43BC-BB2F-B6DD4136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23B0-D38F-4590-B374-FDC3E9CA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Only 17 UTI episodes are VF/model-ready.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638C0-AA51-4309-AF1C-F1810663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C940-41C3-49B9-BBF9-7091BA1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Presence/absence cannot measure expression or host state.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314F-885E-454E-959B-0FDBC393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F99F-EE3C-4C80-9E33-3EC0C8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28800"/>
            <a:ext cx="3314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8F0CB-CFDC-493B-9DB5-852F6F29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33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7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772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0E9A9-BCC0-45D1-B835-B801914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09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Prioritise within-strain cases for deeper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FE5D4-B329-491D-AB2E-42858D1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8818B-00B3-4761-8D81-DB84657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Pair bacterial genomic hypotheses with host/context data.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15320-B426-4BB4-9FC0-30560A9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Discussion prompt: which transition-level experiment would most sharply distinguish host context from unmeasured bacterial regulation?</a:t>
            </a:r>
          </a:p>
        </p:txBody>
      </p:sp>
    </p:spTree>
    <p:extLst>
      <p:ext uri="{BB962C8B-B14F-4D97-AF65-F5344CB8AC3E}">
        <p14:creationId xmlns:p14="http://schemas.microsoft.com/office/powerpoint/2010/main" val="15900514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780197B-444F-4200-B9AF-263A537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07C80554-5009-43DE-80C0-2DDAC63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023C-4157-4638-A437-EA2A0B7F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HANDOVER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2BED8-3396-440F-A52A-FA722633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Canonical outputs and rerun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48B32-F1B6-4D38-9047-621C5B54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57C54-1A81-43F5-9B8E-57E92B0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Use these files as current sources of truth when navigating or reproducing the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B0B61-8D30-47CA-884A-680A916B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6886E-C34A-4C2C-B734-4EAA977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60C02-1666-4123-AE4E-F2F3F004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B3E72-CB8C-418E-8A1D-35094D46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59ED5-D344-4AAE-8E89-D381FD8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62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SOURCE OF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41A26-49A4-4EC6-B4D6-48866BC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F9B84-3AA3-4D1A-9CCF-8314FB3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Headline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964C9-B64F-493F-9919-05AC6107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results/summary/final_key_results_summary.md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E2DF9-80D4-4C71-8506-6004877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0FF22-FACA-42ED-9626-8DCA466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A12CC-0761-4F2A-A705-BC7F0887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results/final_figures/final_figure_captions.md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B6853-FBBE-42A1-B20A-0B324E6E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EBA27-9046-46DF-9430-DFB42837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Validated inventory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57396-F301-48D5-8FEA-E6016D4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385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results/final_figures/final_figure_manifest.csv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3BADA-76EF-44A4-822E-D60DAAA7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3E903-B50C-4909-877E-729DCBED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Transition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C6F11-3F68-48EC-A040-5428E4B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results/mechanism/not_uti_to_uti_casebook.md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74267-299D-4D88-B437-1BC1755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731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FFD7B-1123-4238-AD17-E3505CBF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00C23-723C-41A2-B64C-D9405DC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487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docs/pipeline_architecture.md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C9C70-E100-4A8D-B533-36E6433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781300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79A57-2DBB-477B-9CB2-44B8BAE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97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6D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C6D2"/>
                </a:solidFill>
                <a:latin typeface="Aptos"/>
                <a:ea typeface="Aptos"/>
                <a:cs typeface="Aptos"/>
              </a:rPr>
              <a:t>RERUN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6CBB07-DF05-477E-B2E3-6F8835A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  Validate upstream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D3583-5758-42AC-897A-99B5EF9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  Confirm status_map.csv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0A244-AC22-495E-951D-6F55242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  Confirm vf_analysis_ready.csv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93246-A02A-4EE4-9506-CF01BE2B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  Refresh casebook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B5411-334D-477D-9805-57DEB6C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  Render final figures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6332B-E813-4B72-A585-5C314C3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386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DC3EC6-641D-46E3-95DE-E8A36609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ENTRY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140FCE-1362-4447-A681-A4B5AAD4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24375"/>
            <a:ext cx="2362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35_final_figure_pack.R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563A4-3EFA-472F-A177-59981E31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49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BD178-F838-41AF-BC07-4F01CFDC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Operational note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20DB6-1BAB-46EB-8C93-9F21383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10200"/>
            <a:ext cx="7962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Keep primary UTI_Status outputs separate from superseded legacy labels.</a:t>
            </a:r>
          </a:p>
        </p:txBody>
      </p:sp>
    </p:spTree>
    <p:extLst>
      <p:ext uri="{BB962C8B-B14F-4D97-AF65-F5344CB8AC3E}">
        <p14:creationId xmlns:p14="http://schemas.microsoft.com/office/powerpoint/2010/main" val="14636333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A9312346-58F0-418F-83F7-B722AB72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B1801B1E-9B3F-40ED-BC9E-89EBC9D1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A841D-B177-4DCC-8AE5-4049D41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CLINICAL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8DDB1-C8E0-41C6-B765-0E8F0093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Current UTI classification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0E6C-5087-406B-A5B6-4E0BE981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2732A-79A6-4401-83BB-C7BF61B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Current catheter-aware symptom and culture-support rule; diagnostic context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393D-14BC-4A1D-9F9A-B90AED3B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CBDA7-7989-4806-B6EC-4AB1873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B89DB-54B6-4815-8871-B940AC16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5D152-F4BC-4C8B-ADB5-64CAE72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B7B4F-C15E-4DDE-A024-E4DF091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3AFDA-8C6C-40E0-84FB-EA11EF0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66875"/>
            <a:ext cx="95059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470f5edea4ad2"/>
          <a:stretch xmlns:a="http://schemas.openxmlformats.org/drawingml/2006/main"/>
        </p:blipFill>
        <p:spPr>
          <a:xfrm xmlns:a="http://schemas.openxmlformats.org/drawingml/2006/main">
            <a:off x="2509016" y="1743075"/>
            <a:ext cx="7193017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3392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465C70DA-39BF-4803-8D08-0894606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8476D33D-987B-4260-B4F9-5B438BA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5A9A6-3F69-4F3A-80B3-8A48638B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VIRULENCE FACTORS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2AF3-936B-494A-B2AC-A156E98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VF module prevalence across current clinical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8432D-CE9C-4E2E-A932-2464F01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35CD-F524-424A-BB20-7603023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Module presence is exploratory and does not account for repeated measures or lineage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356B5-EC3C-4620-83A9-D523F2B4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C9D4B-BBCE-466A-A440-E4248839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C0E94-0D74-4B6C-8043-752D399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13EBA-D31B-4AE8-91A5-D9BC7F9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7554A-0DA2-4C3E-81C1-02199E3F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6930-8E87-4444-B9A8-7AA9AFDE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52575"/>
            <a:ext cx="102870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fb53a28164458"/>
          <a:stretch xmlns:a="http://schemas.openxmlformats.org/drawingml/2006/main"/>
        </p:blipFill>
        <p:spPr>
          <a:xfrm xmlns:a="http://schemas.openxmlformats.org/drawingml/2006/main">
            <a:off x="3290888" y="1628775"/>
            <a:ext cx="5667375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74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9820EF5-CAAF-4079-9568-FEC680F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16CEDBEF-5995-4717-A632-658CCC8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B53E3-DED1-4EF5-9A30-9BBE3B3D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MECHANISMS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0E428-9F2E-4697-A270-F1F68D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Mechanism composition across transition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EC2A-0E87-4A2F-8257-3E42F73A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B376A-E668-49D7-A425-785755A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Unequal transition denominators prevent inferential comparison of proportions.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DAB77-1188-4B7D-95C5-D62F56FC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B59BC-2442-46A7-822B-1B99F4F4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3A730-A1FF-4909-B9D1-C4BAC0F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A4352-125F-48C6-B8BB-736977DE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36967-3F90-4456-AC50-B1056524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971A-5A20-4E73-862B-D802B141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10096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378d10e748e6"/>
          <a:stretch xmlns:a="http://schemas.openxmlformats.org/drawingml/2006/main"/>
        </p:blipFill>
        <p:spPr>
          <a:xfrm xmlns:a="http://schemas.openxmlformats.org/drawingml/2006/main">
            <a:off x="3095625" y="1743075"/>
            <a:ext cx="6000750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069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9D006933-27DD-441F-850F-36E8490D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96F8B2B2-B568-4749-A375-7859DDD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A61DD-8006-42DD-BB0A-74585FC2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EXPLORATORY BACKUP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88117-5800-4B61-86DD-469FA1D7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Accessory, plasmid and ResFinder context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B8D0C-D219-4F65-8F5D-167DDAC0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D562D-A4D3-423A-816F-903938C6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transition-level context; not a global VF-plus-AMR association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1217-EE35-46B8-872B-B7FB500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6E9DF-C3C8-4BDD-B562-24AB1BBE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EXPLORATORY AMR BACKUP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AFE19-8D5F-43B8-90EF-2D28956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FC2E7-A77F-4097-A5A9-D9E2775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DE3BA-8222-4A1D-B33B-1C254EE1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DE9A-9E04-4306-93C7-99922A5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0668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1fa9f3364a52"/>
          <a:stretch xmlns:a="http://schemas.openxmlformats.org/drawingml/2006/main"/>
        </p:blipFill>
        <p:spPr>
          <a:xfrm xmlns:a="http://schemas.openxmlformats.org/drawingml/2006/main">
            <a:off x="2200955" y="1714500"/>
            <a:ext cx="7790089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8179DE7-D588-4603-916A-9B3EE58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0C49B40-6D06-4A32-9F93-3F34FC8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4C9CA-73C8-40C8-A1C3-3E980EC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C42CF-E074-444B-9FE0-93B37AA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Near-miss audit and sparse-count precision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E6DD-0431-42D7-A9A6-6A685A67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90867-707F-46E6-B7EC-ACA28F9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Near-miss episodes remain sensitivity-only and do not enter the primary UTI group.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E17B0-B1B2-48E9-AFA1-8EEACC0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D8ABC-A89F-4B3C-8A32-4C732500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SENSITIVITY DIAGNOSTIC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CC1D6-7AE5-4E14-AF28-7E312693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6E3E-5E19-4E89-8104-2B9B98C6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0D099-2394-4B99-9F2F-D5D55A58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8507A-AE0F-4E0E-ADB9-CD306E9B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10810875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515f5b6e24a99"/>
          <a:stretch xmlns:a="http://schemas.openxmlformats.org/drawingml/2006/main"/>
        </p:blipFill>
        <p:spPr>
          <a:xfrm xmlns:a="http://schemas.openxmlformats.org/drawingml/2006/main">
            <a:off x="2316710" y="1704975"/>
            <a:ext cx="7587155" cy="4400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7622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102B7A6B-D078-43C3-A861-03E20310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75C41BAB-9F84-40E6-9580-926CE36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86274-D704-4DF4-B746-F54337B3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C53CE-808A-4D6C-86FD-455B769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Leave-one-UTI-out stability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2C1CC-6129-4525-B44F-B3124001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DCF80-41F0-45F2-8147-70ADA33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Instability is expected with 17 VF-ready UTI episodes and is not association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B1FE7-7CB6-4674-B773-D4BF35E7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47531-285B-485C-8B50-171F797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SPARSE-CASE DIAGNOSTIC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A68E6-6F62-4399-A8B8-F978F68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B1C1B-3631-4D78-A1CD-6B66EB3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879E2-1FF8-4FC2-9D8A-7E1D2515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26EB8-3E53-4C24-BDBB-F59CB88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06394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291a1b57f4f17"/>
          <a:stretch xmlns:a="http://schemas.openxmlformats.org/drawingml/2006/main"/>
        </p:blipFill>
        <p:spPr>
          <a:xfrm xmlns:a="http://schemas.openxmlformats.org/drawingml/2006/main">
            <a:off x="1445759" y="1714500"/>
            <a:ext cx="9348107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4029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301841DF-54F9-412A-A778-20383BA7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8053327-9CC5-4F9C-B3FC-0B3CA5BC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A6B65-2D45-4874-A9AF-28D60C5B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46FF6-8130-4AE2-8A08-8FFA32AD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Prioritised within-strain variant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28C0-950A-4670-B74B-6FA6EF1D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059A-C6D9-4620-8232-06AF302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Candidate annotated comparisons only; absence from the panel is not absence of genomic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AC262-EF09-42D6-9CC1-4F3CEF5A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430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B682-463C-409E-83C3-FC244F9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1525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DESCRIPTIVE PRIORITISATION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C0354-F8FA-4763-B306-52C8064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EC82-94DF-4CD3-BC90-19CBC84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E20DF-BE59-4078-9306-3B8892D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EC50A-E8A8-40C4-A341-22B487C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68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fc54b940240fc"/>
          <a:stretch xmlns:a="http://schemas.openxmlformats.org/drawingml/2006/main"/>
        </p:blipFill>
        <p:spPr>
          <a:xfrm xmlns:a="http://schemas.openxmlformats.org/drawingml/2006/main">
            <a:off x="1945061" y="1714500"/>
            <a:ext cx="8339978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505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per">
            <a:extLst xmlns:a="http://schemas.openxmlformats.org/drawingml/2006/main">
              <a:ext uri="{FF2B5EF4-FFF2-40B4-BE49-F238E27FC236}">
                <a16:creationId xmlns:a16="http://schemas.microsoft.com/office/drawing/2014/main" id="{72DBF30B-06F6-4D77-99C0-5BC73C4D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ail">
            <a:extLst xmlns:a="http://schemas.openxmlformats.org/drawingml/2006/main">
              <a:ext uri="{FF2B5EF4-FFF2-40B4-BE49-F238E27FC236}">
                <a16:creationId xmlns:a16="http://schemas.microsoft.com/office/drawing/2014/main" id="{A5B18D2B-FB5A-43A5-A9AE-C8F1E071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323F9-EEFD-42B6-8A41-C5855764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APPENDIX / EVIDENCE REGISTRY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775F-C1F8-43A0-9E3C-3DC9CB0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2533"/>
                </a:solidFill>
                <a:latin typeface="Aptos Display"/>
                <a:ea typeface="Aptos Display"/>
                <a:cs typeface="Aptos Display"/>
              </a:rPr>
              <a:t>Interpretation guardrails and lookup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981B7-3E4A-44EF-8B5E-6FAADA7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4981-E47F-4523-A95E-20DD2C1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Keep current denominators, evidence labels and exploratory boundaries visible when extending this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8096-9B44-4BC6-B4D1-25A9757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ED38F-0B53-4887-8BF6-E2D5637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587"/>
                </a:solidFill>
                <a:latin typeface="Aptos"/>
                <a:ea typeface="Aptos"/>
                <a:cs typeface="Aptos"/>
              </a:rPr>
              <a:t>rUTI clinical-to-genomic review  |  current UTI_Status analysis  |  27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BDE89-0CFB-40EB-89BB-F3F700AE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07587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D938E-A8CB-4087-8647-994BAB17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85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55B"/>
                </a:solidFill>
                <a:latin typeface="Aptos"/>
                <a:ea typeface="Aptos"/>
                <a:cs typeface="Aptos"/>
              </a:rPr>
              <a:t>DO SAY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BED88-00C7-4F5E-8F75-CCB9387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48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45B4E-3B3A-41AA-A017-162B3527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95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583 clinical episodes: 18 UTI / 565 Not_UTI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BA8FA-1D3F-4019-B3F4-D40B9443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556 VF-ready episodes: 17 UTI / 539 Not_UTI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31336-481F-4515-AF81-DA868949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7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11 clinical transitions; 10 WGS/VF-linked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F256E-34AA-4C1B-A1AF-4B720A9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533"/>
                </a:solidFill>
                <a:latin typeface="Aptos"/>
                <a:ea typeface="Aptos"/>
                <a:cs typeface="Aptos"/>
              </a:rPr>
              <a:t>-  No global VF association significant after FDR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BB621-CF58-4842-A665-715AB3A8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430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583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5836"/>
                </a:solidFill>
                <a:latin typeface="Aptos"/>
                <a:ea typeface="Aptos"/>
                <a:cs typeface="Aptos"/>
              </a:rPr>
              <a:t>DO NOT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55502-B0EE-4D21-8799-94B56212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5048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55544-125A-42C2-8107-A4CD90A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95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ASB-versus-UTI as the current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A240D-2A1C-47C6-8420-886CD8FD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76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significant lpf findings as current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13753-3C3C-400C-B5C5-0BEB1C8E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57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global VF-plus-AMR association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551C-279D-4B1C-8EEA-0FCECE0E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38525"/>
            <a:ext cx="4591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533"/>
                </a:solidFill>
                <a:latin typeface="Aptos"/>
                <a:ea typeface="Aptos"/>
                <a:cs typeface="Aptos"/>
              </a:rPr>
              <a:t>-  mechanistic proof from stable VF profiles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609B8-69B5-47A3-B352-75B32ED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58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587"/>
                </a:solidFill>
                <a:latin typeface="Aptos"/>
                <a:ea typeface="Aptos"/>
                <a:cs typeface="Aptos"/>
              </a:rPr>
              <a:t>ADDITIONAL LOOKUP VISUALS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70CEB-2330-40A9-9668-4CEBB7D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75A57-3E85-4F1E-85F4-CB51D9C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results/longitudinal/swimmer_plot.png  |  full longitudinal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B13E0-61E8-41CF-864A-F4EA10A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78D83-6745-4893-A408-2E2AC81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plots/vf/vf_jaccard_by_transition.png  |  within-resident VF 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F5B60-D896-4AD9-A96F-BF6E053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7B98C9-07E9-40EB-B233-E600809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10191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152533"/>
                </a:solidFill>
                <a:latin typeface="Aptos Mono"/>
                <a:ea typeface="Aptos Mono"/>
                <a:cs typeface="Aptos Mono"/>
              </a:rPr>
              <a:t>plots/vf/vf_transition_case_timeline.png  |  transition lookup</a:t>
            </a:r>
          </a:p>
        </p:txBody>
      </p:sp>
    </p:spTree>
    <p:extLst>
      <p:ext uri="{BB962C8B-B14F-4D97-AF65-F5344CB8AC3E}">
        <p14:creationId xmlns:p14="http://schemas.microsoft.com/office/powerpoint/2010/main" val="167562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2026-05-27T16:42:29.8910000Z</dcterms:created>
  <dcterms:modified xsi:type="dcterms:W3CDTF">2026-05-27T16:42:29.8910000Z</dcterms:modified>
</coreProperties>
</file>