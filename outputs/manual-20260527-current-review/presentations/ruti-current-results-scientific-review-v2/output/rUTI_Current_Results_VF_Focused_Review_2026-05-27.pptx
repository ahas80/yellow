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50f2e05953349e9" /><Relationship Type="http://schemas.openxmlformats.org/officeDocument/2006/relationships/extended-properties" Target="/docProps/app.xml" Id="R1f7909f9b17b479f" /><Relationship Type="http://schemas.openxmlformats.org/officeDocument/2006/relationships/officeDocument" Target="/ppt/presentation.xml" Id="Rf02687ab1cf6433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96d31d507d7479a"/>
  </p:sldMasterIdLst>
  <p:notesMasterIdLst>
    <p:notesMasterId xmlns:r="http://schemas.openxmlformats.org/officeDocument/2006/relationships" r:id="Re193e927f9c7424b"/>
  </p:notesMasterIdLst>
  <p:sldIdLst>
    <p:sldId xmlns:r="http://schemas.openxmlformats.org/officeDocument/2006/relationships" id="256" r:id="R8fb401f3ec994bee"/>
    <p:sldId xmlns:r="http://schemas.openxmlformats.org/officeDocument/2006/relationships" id="257" r:id="R859f21004de74ef0"/>
    <p:sldId xmlns:r="http://schemas.openxmlformats.org/officeDocument/2006/relationships" id="258" r:id="R5aeb066d0e064ee4"/>
    <p:sldId xmlns:r="http://schemas.openxmlformats.org/officeDocument/2006/relationships" id="259" r:id="Rcd7c78f4e72d4c28"/>
    <p:sldId xmlns:r="http://schemas.openxmlformats.org/officeDocument/2006/relationships" id="260" r:id="R9a86e0c8e7da4437"/>
    <p:sldId xmlns:r="http://schemas.openxmlformats.org/officeDocument/2006/relationships" id="261" r:id="R818853803e1d4c47"/>
    <p:sldId xmlns:r="http://schemas.openxmlformats.org/officeDocument/2006/relationships" id="262" r:id="Rb0bd47c1eebf4e5d"/>
    <p:sldId xmlns:r="http://schemas.openxmlformats.org/officeDocument/2006/relationships" id="263" r:id="R779d3e67f15140c4"/>
    <p:sldId xmlns:r="http://schemas.openxmlformats.org/officeDocument/2006/relationships" id="264" r:id="R72c3ab868f394cd5"/>
    <p:sldId xmlns:r="http://schemas.openxmlformats.org/officeDocument/2006/relationships" id="265" r:id="Rf00e89d6e5d24af8"/>
    <p:sldId xmlns:r="http://schemas.openxmlformats.org/officeDocument/2006/relationships" id="266" r:id="R51e67446ee95421c"/>
    <p:sldId xmlns:r="http://schemas.openxmlformats.org/officeDocument/2006/relationships" id="267" r:id="R84166fd737da4538"/>
    <p:sldId xmlns:r="http://schemas.openxmlformats.org/officeDocument/2006/relationships" id="268" r:id="R76125b865a4e4a05"/>
    <p:sldId xmlns:r="http://schemas.openxmlformats.org/officeDocument/2006/relationships" id="269" r:id="R1f26b52e63f54757"/>
    <p:sldId xmlns:r="http://schemas.openxmlformats.org/officeDocument/2006/relationships" id="270" r:id="R4a8946e118914978"/>
    <p:sldId xmlns:r="http://schemas.openxmlformats.org/officeDocument/2006/relationships" id="271" r:id="Rea89ebc2be904ef1"/>
    <p:sldId xmlns:r="http://schemas.openxmlformats.org/officeDocument/2006/relationships" id="272" r:id="R408e94036a9f48e3"/>
    <p:sldId xmlns:r="http://schemas.openxmlformats.org/officeDocument/2006/relationships" id="273" r:id="Rb44a8ed1826a4bf9"/>
    <p:sldId xmlns:r="http://schemas.openxmlformats.org/officeDocument/2006/relationships" id="274" r:id="R8c859b3b45ee478e"/>
    <p:sldId xmlns:r="http://schemas.openxmlformats.org/officeDocument/2006/relationships" id="275" r:id="R79b23b9a34b34001"/>
    <p:sldId xmlns:r="http://schemas.openxmlformats.org/officeDocument/2006/relationships" id="276" r:id="Ra3054fa3d21046d0"/>
    <p:sldId xmlns:r="http://schemas.openxmlformats.org/officeDocument/2006/relationships" id="277" r:id="R5f19e40bf35b4c66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c0b2aa6455648db" /><Relationship Type="http://schemas.openxmlformats.org/officeDocument/2006/relationships/slideMaster" Target="/ppt/slideMasters/slideMaster1.xml" Id="R096d31d507d7479a" /><Relationship Type="http://schemas.openxmlformats.org/officeDocument/2006/relationships/notesMaster" Target="/ppt/notesMasters/notesMaster1.xml" Id="Re193e927f9c7424b" /><Relationship Type="http://schemas.openxmlformats.org/officeDocument/2006/relationships/presProps" Target="/ppt/presProps.xml" Id="R42e2a4bc71cd42ba" /><Relationship Type="http://schemas.openxmlformats.org/officeDocument/2006/relationships/viewProps" Target="/ppt/viewProps.xml" Id="R94d9802b419a4c20" /><Relationship Type="http://schemas.openxmlformats.org/officeDocument/2006/relationships/tableStyles" Target="/ppt/tableStyles.xml" Id="Rd1cd7d5072ff4902" /><Relationship Type="http://schemas.openxmlformats.org/officeDocument/2006/relationships/slide" Target="/ppt/slides/slide1.xml" Id="R8fb401f3ec994bee" /><Relationship Type="http://schemas.openxmlformats.org/officeDocument/2006/relationships/slide" Target="/ppt/slides/slide2.xml" Id="R859f21004de74ef0" /><Relationship Type="http://schemas.openxmlformats.org/officeDocument/2006/relationships/slide" Target="/ppt/slides/slide3.xml" Id="R5aeb066d0e064ee4" /><Relationship Type="http://schemas.openxmlformats.org/officeDocument/2006/relationships/slide" Target="/ppt/slides/slide4.xml" Id="Rcd7c78f4e72d4c28" /><Relationship Type="http://schemas.openxmlformats.org/officeDocument/2006/relationships/slide" Target="/ppt/slides/slide5.xml" Id="R9a86e0c8e7da4437" /><Relationship Type="http://schemas.openxmlformats.org/officeDocument/2006/relationships/slide" Target="/ppt/slides/slide6.xml" Id="R818853803e1d4c47" /><Relationship Type="http://schemas.openxmlformats.org/officeDocument/2006/relationships/slide" Target="/ppt/slides/slide7.xml" Id="Rb0bd47c1eebf4e5d" /><Relationship Type="http://schemas.openxmlformats.org/officeDocument/2006/relationships/slide" Target="/ppt/slides/slide8.xml" Id="R779d3e67f15140c4" /><Relationship Type="http://schemas.openxmlformats.org/officeDocument/2006/relationships/slide" Target="/ppt/slides/slide9.xml" Id="R72c3ab868f394cd5" /><Relationship Type="http://schemas.openxmlformats.org/officeDocument/2006/relationships/slide" Target="/ppt/slides/slide10.xml" Id="Rf00e89d6e5d24af8" /><Relationship Type="http://schemas.openxmlformats.org/officeDocument/2006/relationships/slide" Target="/ppt/slides/slide11.xml" Id="R51e67446ee95421c" /><Relationship Type="http://schemas.openxmlformats.org/officeDocument/2006/relationships/slide" Target="/ppt/slides/slide12.xml" Id="R84166fd737da4538" /><Relationship Type="http://schemas.openxmlformats.org/officeDocument/2006/relationships/slide" Target="/ppt/slides/slide13.xml" Id="R76125b865a4e4a05" /><Relationship Type="http://schemas.openxmlformats.org/officeDocument/2006/relationships/slide" Target="/ppt/slides/slide14.xml" Id="R1f26b52e63f54757" /><Relationship Type="http://schemas.openxmlformats.org/officeDocument/2006/relationships/slide" Target="/ppt/slides/slide15.xml" Id="R4a8946e118914978" /><Relationship Type="http://schemas.openxmlformats.org/officeDocument/2006/relationships/slide" Target="/ppt/slides/slide16.xml" Id="Rea89ebc2be904ef1" /><Relationship Type="http://schemas.openxmlformats.org/officeDocument/2006/relationships/slide" Target="/ppt/slides/slide17.xml" Id="R408e94036a9f48e3" /><Relationship Type="http://schemas.openxmlformats.org/officeDocument/2006/relationships/slide" Target="/ppt/slides/slide18.xml" Id="Rb44a8ed1826a4bf9" /><Relationship Type="http://schemas.openxmlformats.org/officeDocument/2006/relationships/slide" Target="/ppt/slides/slide19.xml" Id="R8c859b3b45ee478e" /><Relationship Type="http://schemas.openxmlformats.org/officeDocument/2006/relationships/slide" Target="/ppt/slides/slide20.xml" Id="R79b23b9a34b34001" /><Relationship Type="http://schemas.openxmlformats.org/officeDocument/2006/relationships/slide" Target="/ppt/slides/slide21.xml" Id="Ra3054fa3d21046d0" /><Relationship Type="http://schemas.openxmlformats.org/officeDocument/2006/relationships/slide" Target="/ppt/slides/slide22.xml" Id="R5f19e40bf35b4c6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afb05cae10d446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dc190c12cb24801" /><Relationship Type="http://schemas.openxmlformats.org/officeDocument/2006/relationships/notesMaster" Target="/ppt/notesMasters/notesMaster1.xml" Id="Rb34cf37108b34d7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9fc982a8e0242fa" /><Relationship Type="http://schemas.openxmlformats.org/officeDocument/2006/relationships/notesMaster" Target="/ppt/notesMasters/notesMaster1.xml" Id="R689fb2c83c38421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3134ad1675b423a" /><Relationship Type="http://schemas.openxmlformats.org/officeDocument/2006/relationships/notesMaster" Target="/ppt/notesMasters/notesMaster1.xml" Id="R5c80bf0121ad4f4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fcb577a9f0b4ae9" /><Relationship Type="http://schemas.openxmlformats.org/officeDocument/2006/relationships/notesMaster" Target="/ppt/notesMasters/notesMaster1.xml" Id="Rdf683ff5d44543c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92800946c5a4fee" /><Relationship Type="http://schemas.openxmlformats.org/officeDocument/2006/relationships/notesMaster" Target="/ppt/notesMasters/notesMaster1.xml" Id="R166cf53baba3467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2b2d4e776474c97" /><Relationship Type="http://schemas.openxmlformats.org/officeDocument/2006/relationships/notesMaster" Target="/ppt/notesMasters/notesMaster1.xml" Id="R3bb9abe4583a4da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6ad56ce4235403f" /><Relationship Type="http://schemas.openxmlformats.org/officeDocument/2006/relationships/notesMaster" Target="/ppt/notesMasters/notesMaster1.xml" Id="Rd6cd675f093042c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4547a0382b54a84" /><Relationship Type="http://schemas.openxmlformats.org/officeDocument/2006/relationships/notesMaster" Target="/ppt/notesMasters/notesMaster1.xml" Id="Reba406b025cf470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594b019e6424b3f" /><Relationship Type="http://schemas.openxmlformats.org/officeDocument/2006/relationships/notesMaster" Target="/ppt/notesMasters/notesMaster1.xml" Id="R106c90ae69d1431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105065f20fa431e" /><Relationship Type="http://schemas.openxmlformats.org/officeDocument/2006/relationships/notesMaster" Target="/ppt/notesMasters/notesMaster1.xml" Id="R6f4a4582497e4b9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acf98bfe8e3749bf" /><Relationship Type="http://schemas.openxmlformats.org/officeDocument/2006/relationships/notesMaster" Target="/ppt/notesMasters/notesMaster1.xml" Id="R4c8c2c6f9e754e48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bae7b73c663e4e4c" /><Relationship Type="http://schemas.openxmlformats.org/officeDocument/2006/relationships/notesMaster" Target="/ppt/notesMasters/notesMaster1.xml" Id="R57eacfad994b4f9c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af49284341a34198" /><Relationship Type="http://schemas.openxmlformats.org/officeDocument/2006/relationships/notesMaster" Target="/ppt/notesMasters/notesMaster1.xml" Id="R5fe5e4389f464917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ca502d691ff34d47" /><Relationship Type="http://schemas.openxmlformats.org/officeDocument/2006/relationships/notesMaster" Target="/ppt/notesMasters/notesMaster1.xml" Id="R4b3be5138e76469d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1299aa16ba804484" /><Relationship Type="http://schemas.openxmlformats.org/officeDocument/2006/relationships/notesMaster" Target="/ppt/notesMasters/notesMaster1.xml" Id="R6b3cbe52c285444b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2ce9a4e3929d4741" /><Relationship Type="http://schemas.openxmlformats.org/officeDocument/2006/relationships/notesMaster" Target="/ppt/notesMasters/notesMaster1.xml" Id="Rb762c61d446c4c73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3bc63dfffd054f15" /><Relationship Type="http://schemas.openxmlformats.org/officeDocument/2006/relationships/notesMaster" Target="/ppt/notesMasters/notesMaster1.xml" Id="Rb549d61edbcb418a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6cdd495bbdf44f2c" /><Relationship Type="http://schemas.openxmlformats.org/officeDocument/2006/relationships/notesMaster" Target="/ppt/notesMasters/notesMaster1.xml" Id="R41a494d5cfbf4183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c093e24c9fdc4fff" /><Relationship Type="http://schemas.openxmlformats.org/officeDocument/2006/relationships/notesMaster" Target="/ppt/notesMasters/notesMaster1.xml" Id="Rc54a95a1df70421f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fe504c7645de474e" /><Relationship Type="http://schemas.openxmlformats.org/officeDocument/2006/relationships/notesMaster" Target="/ppt/notesMasters/notesMaster1.xml" Id="R412ba894c0844930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40a44455677f47a2" /><Relationship Type="http://schemas.openxmlformats.org/officeDocument/2006/relationships/notesMaster" Target="/ppt/notesMasters/notesMaster1.xml" Id="R24e28fc154ee4929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f6c7bd3a2bb24f08" /><Relationship Type="http://schemas.openxmlformats.org/officeDocument/2006/relationships/notesMaster" Target="/ppt/notesMasters/notesMaster1.xml" Id="R41cf22fa85a94c0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Release source: /Users/Aamir/Desktop/rUTIs/results/pipeline/longcycler_release_claim_registry.json</a:t>
            </a:r>
          </a:p>
          <a:p xmlns:a="http://schemas.openxmlformats.org/drawingml/2006/main">
            <a:r>
              <a:t>Scope: selected QC-passing Longcycler assemblies only.</a:t>
            </a:r>
          </a:p>
          <a:p xmlns:a="http://schemas.openxmlformats.org/drawingml/2006/main">
            <a:r>
              <a:t>Clinical phenotype: versioned operational UTI phenotype.</a:t>
            </a:r>
          </a:p>
          <a:p xmlns:a="http://schemas.openxmlformats.org/drawingml/2006/main">
            <a:r>
              <a:t>Analytical anchors: 532 episodes; 893 direct pairs; 371 adjacent pairs; RQ01-RQ10.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Release source: /Users/Aamir/Desktop/rUTIs/results/pipeline/longcycler_release_claim_registry.json</a:t>
            </a:r>
          </a:p>
          <a:p xmlns:a="http://schemas.openxmlformats.org/drawingml/2006/main">
            <a:r>
              <a:t>Scope: selected QC-passing Longcycler assemblies only.</a:t>
            </a:r>
          </a:p>
          <a:p xmlns:a="http://schemas.openxmlformats.org/drawingml/2006/main">
            <a:r>
              <a:t>Clinical phenotype: versioned operational UTI phenotype.</a:t>
            </a:r>
          </a:p>
          <a:p xmlns:a="http://schemas.openxmlformats.org/drawingml/2006/main">
            <a:r>
              <a:t>Analytical anchors: 532 episodes; 893 direct pairs; 371 adjacent pairs; RQ01-RQ10.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Release source: /Users/Aamir/Desktop/rUTIs/results/pipeline/longcycler_release_claim_registry.json</a:t>
            </a:r>
          </a:p>
          <a:p xmlns:a="http://schemas.openxmlformats.org/drawingml/2006/main">
            <a:r>
              <a:t>Scope: selected QC-passing Longcycler assemblies only.</a:t>
            </a:r>
          </a:p>
          <a:p xmlns:a="http://schemas.openxmlformats.org/drawingml/2006/main">
            <a:r>
              <a:t>Clinical phenotype: versioned operational UTI phenotype.</a:t>
            </a:r>
          </a:p>
          <a:p xmlns:a="http://schemas.openxmlformats.org/drawingml/2006/main">
            <a:r>
              <a:t>Analytical anchors: 532 episodes; 893 direct pairs; 371 adjacent pairs; RQ01-RQ10.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Release source: /Users/Aamir/Desktop/rUTIs/results/pipeline/longcycler_release_claim_registry.json</a:t>
            </a:r>
          </a:p>
          <a:p xmlns:a="http://schemas.openxmlformats.org/drawingml/2006/main">
            <a:r>
              <a:t>Scope: selected QC-passing Longcycler assemblies only.</a:t>
            </a:r>
          </a:p>
          <a:p xmlns:a="http://schemas.openxmlformats.org/drawingml/2006/main">
            <a:r>
              <a:t>Clinical phenotype: versioned operational UTI phenotype.</a:t>
            </a:r>
          </a:p>
          <a:p xmlns:a="http://schemas.openxmlformats.org/drawingml/2006/main">
            <a:r>
              <a:t>Analytical anchors: 532 episodes; 893 direct pairs; 371 adjacent pairs; RQ01-RQ10.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Release source: /Users/Aamir/Desktop/rUTIs/results/pipeline/longcycler_release_claim_registry.json</a:t>
            </a:r>
          </a:p>
          <a:p xmlns:a="http://schemas.openxmlformats.org/drawingml/2006/main">
            <a:r>
              <a:t>Scope: selected QC-passing Longcycler assemblies only.</a:t>
            </a:r>
          </a:p>
          <a:p xmlns:a="http://schemas.openxmlformats.org/drawingml/2006/main">
            <a:r>
              <a:t>Clinical phenotype: versioned operational UTI phenotype.</a:t>
            </a:r>
          </a:p>
          <a:p xmlns:a="http://schemas.openxmlformats.org/drawingml/2006/main">
            <a:r>
              <a:t>Analytical anchors: 532 episodes; 893 direct pairs; 371 adjacent pairs; RQ01-RQ10.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Release source: /Users/Aamir/Desktop/rUTIs/results/pipeline/longcycler_release_claim_registry.json</a:t>
            </a:r>
          </a:p>
          <a:p xmlns:a="http://schemas.openxmlformats.org/drawingml/2006/main">
            <a:r>
              <a:t>Scope: selected QC-passing Longcycler assemblies only.</a:t>
            </a:r>
          </a:p>
          <a:p xmlns:a="http://schemas.openxmlformats.org/drawingml/2006/main">
            <a:r>
              <a:t>Clinical phenotype: versioned operational UTI phenotype.</a:t>
            </a:r>
          </a:p>
          <a:p xmlns:a="http://schemas.openxmlformats.org/drawingml/2006/main">
            <a:r>
              <a:t>Analytical anchors: 532 episodes; 893 direct pairs; 371 adjacent pairs; RQ01-RQ10.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Release source: /Users/Aamir/Desktop/rUTIs/results/pipeline/longcycler_release_claim_registry.json</a:t>
            </a:r>
          </a:p>
          <a:p xmlns:a="http://schemas.openxmlformats.org/drawingml/2006/main">
            <a:r>
              <a:t>Scope: selected QC-passing Longcycler assemblies only.</a:t>
            </a:r>
          </a:p>
          <a:p xmlns:a="http://schemas.openxmlformats.org/drawingml/2006/main">
            <a:r>
              <a:t>Clinical phenotype: versioned operational UTI phenotype.</a:t>
            </a:r>
          </a:p>
          <a:p xmlns:a="http://schemas.openxmlformats.org/drawingml/2006/main">
            <a:r>
              <a:t>Analytical anchors: 532 episodes; 893 direct pairs; 371 adjacent pairs; RQ01-RQ10.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Release source: /Users/Aamir/Desktop/rUTIs/results/pipeline/longcycler_release_claim_registry.json</a:t>
            </a:r>
          </a:p>
          <a:p xmlns:a="http://schemas.openxmlformats.org/drawingml/2006/main">
            <a:r>
              <a:t>Scope: selected QC-passing Longcycler assemblies only.</a:t>
            </a:r>
          </a:p>
          <a:p xmlns:a="http://schemas.openxmlformats.org/drawingml/2006/main">
            <a:r>
              <a:t>Clinical phenotype: versioned operational UTI phenotype.</a:t>
            </a:r>
          </a:p>
          <a:p xmlns:a="http://schemas.openxmlformats.org/drawingml/2006/main">
            <a:r>
              <a:t>Analytical anchors: 532 episodes; 893 direct pairs; 371 adjacent pairs; RQ01-RQ10.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Release source: /Users/Aamir/Desktop/rUTIs/results/pipeline/longcycler_release_claim_registry.json</a:t>
            </a:r>
          </a:p>
          <a:p xmlns:a="http://schemas.openxmlformats.org/drawingml/2006/main">
            <a:r>
              <a:t>Scope: selected QC-passing Longcycler assemblies only.</a:t>
            </a:r>
          </a:p>
          <a:p xmlns:a="http://schemas.openxmlformats.org/drawingml/2006/main">
            <a:r>
              <a:t>Clinical phenotype: versioned operational UTI phenotype.</a:t>
            </a:r>
          </a:p>
          <a:p xmlns:a="http://schemas.openxmlformats.org/drawingml/2006/main">
            <a:r>
              <a:t>Analytical anchors: 532 episodes; 893 direct pairs; 371 adjacent pairs; RQ01-RQ10.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Release source: /Users/Aamir/Desktop/rUTIs/results/pipeline/longcycler_release_claim_registry.json</a:t>
            </a:r>
          </a:p>
          <a:p xmlns:a="http://schemas.openxmlformats.org/drawingml/2006/main">
            <a:r>
              <a:t>Scope: selected QC-passing Longcycler assemblies only.</a:t>
            </a:r>
          </a:p>
          <a:p xmlns:a="http://schemas.openxmlformats.org/drawingml/2006/main">
            <a:r>
              <a:t>Clinical phenotype: versioned operational UTI phenotype.</a:t>
            </a:r>
          </a:p>
          <a:p xmlns:a="http://schemas.openxmlformats.org/drawingml/2006/main">
            <a:r>
              <a:t>Analytical anchors: 532 episodes; 893 direct pairs; 371 adjacent pairs; RQ01-RQ10.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Release source: /Users/Aamir/Desktop/rUTIs/results/pipeline/longcycler_release_claim_registry.json</a:t>
            </a:r>
          </a:p>
          <a:p xmlns:a="http://schemas.openxmlformats.org/drawingml/2006/main">
            <a:r>
              <a:t>Scope: selected QC-passing Longcycler assemblies only.</a:t>
            </a:r>
          </a:p>
          <a:p xmlns:a="http://schemas.openxmlformats.org/drawingml/2006/main">
            <a:r>
              <a:t>Clinical phenotype: versioned operational UTI phenotype.</a:t>
            </a:r>
          </a:p>
          <a:p xmlns:a="http://schemas.openxmlformats.org/drawingml/2006/main">
            <a:r>
              <a:t>Analytical anchors: 532 episodes; 893 direct pairs; 371 adjacent pairs; RQ01-RQ10.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Release source: /Users/Aamir/Desktop/rUTIs/results/pipeline/longcycler_release_claim_registry.json</a:t>
            </a:r>
          </a:p>
          <a:p xmlns:a="http://schemas.openxmlformats.org/drawingml/2006/main">
            <a:r>
              <a:t>Scope: selected QC-passing Longcycler assemblies only.</a:t>
            </a:r>
          </a:p>
          <a:p xmlns:a="http://schemas.openxmlformats.org/drawingml/2006/main">
            <a:r>
              <a:t>Clinical phenotype: versioned operational UTI phenotype.</a:t>
            </a:r>
          </a:p>
          <a:p xmlns:a="http://schemas.openxmlformats.org/drawingml/2006/main">
            <a:r>
              <a:t>Analytical anchors: 532 episodes; 893 direct pairs; 371 adjacent pairs; RQ01-RQ10.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Release source: /Users/Aamir/Desktop/rUTIs/results/pipeline/longcycler_release_claim_registry.json</a:t>
            </a:r>
          </a:p>
          <a:p xmlns:a="http://schemas.openxmlformats.org/drawingml/2006/main">
            <a:r>
              <a:t>Scope: selected QC-passing Longcycler assemblies only.</a:t>
            </a:r>
          </a:p>
          <a:p xmlns:a="http://schemas.openxmlformats.org/drawingml/2006/main">
            <a:r>
              <a:t>Clinical phenotype: versioned operational UTI phenotype.</a:t>
            </a:r>
          </a:p>
          <a:p xmlns:a="http://schemas.openxmlformats.org/drawingml/2006/main">
            <a:r>
              <a:t>Analytical anchors: 532 episodes; 893 direct pairs; 371 adjacent pairs; RQ01-RQ10.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Release source: /Users/Aamir/Desktop/rUTIs/results/pipeline/longcycler_release_claim_registry.json</a:t>
            </a:r>
          </a:p>
          <a:p xmlns:a="http://schemas.openxmlformats.org/drawingml/2006/main">
            <a:r>
              <a:t>Scope: selected QC-passing Longcycler assemblies only.</a:t>
            </a:r>
          </a:p>
          <a:p xmlns:a="http://schemas.openxmlformats.org/drawingml/2006/main">
            <a:r>
              <a:t>Clinical phenotype: versioned operational UTI phenotype.</a:t>
            </a:r>
          </a:p>
          <a:p xmlns:a="http://schemas.openxmlformats.org/drawingml/2006/main">
            <a:r>
              <a:t>Analytical anchors: 532 episodes; 893 direct pairs; 371 adjacent pairs; RQ01-RQ10.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Release source: /Users/Aamir/Desktop/rUTIs/results/pipeline/longcycler_release_claim_registry.json</a:t>
            </a:r>
          </a:p>
          <a:p xmlns:a="http://schemas.openxmlformats.org/drawingml/2006/main">
            <a:r>
              <a:t>Scope: selected QC-passing Longcycler assemblies only.</a:t>
            </a:r>
          </a:p>
          <a:p xmlns:a="http://schemas.openxmlformats.org/drawingml/2006/main">
            <a:r>
              <a:t>Clinical phenotype: versioned operational UTI phenotype.</a:t>
            </a:r>
          </a:p>
          <a:p xmlns:a="http://schemas.openxmlformats.org/drawingml/2006/main">
            <a:r>
              <a:t>Analytical anchors: 532 episodes; 893 direct pairs; 371 adjacent pairs; RQ01-RQ10.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Release source: /Users/Aamir/Desktop/rUTIs/results/pipeline/longcycler_release_claim_registry.json</a:t>
            </a:r>
          </a:p>
          <a:p xmlns:a="http://schemas.openxmlformats.org/drawingml/2006/main">
            <a:r>
              <a:t>Scope: selected QC-passing Longcycler assemblies only.</a:t>
            </a:r>
          </a:p>
          <a:p xmlns:a="http://schemas.openxmlformats.org/drawingml/2006/main">
            <a:r>
              <a:t>Clinical phenotype: versioned operational UTI phenotype.</a:t>
            </a:r>
          </a:p>
          <a:p xmlns:a="http://schemas.openxmlformats.org/drawingml/2006/main">
            <a:r>
              <a:t>Analytical anchors: 532 episodes; 893 direct pairs; 371 adjacent pairs; RQ01-RQ10.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Release source: /Users/Aamir/Desktop/rUTIs/results/pipeline/longcycler_release_claim_registry.json</a:t>
            </a:r>
          </a:p>
          <a:p xmlns:a="http://schemas.openxmlformats.org/drawingml/2006/main">
            <a:r>
              <a:t>Scope: selected QC-passing Longcycler assemblies only.</a:t>
            </a:r>
          </a:p>
          <a:p xmlns:a="http://schemas.openxmlformats.org/drawingml/2006/main">
            <a:r>
              <a:t>Clinical phenotype: versioned operational UTI phenotype.</a:t>
            </a:r>
          </a:p>
          <a:p xmlns:a="http://schemas.openxmlformats.org/drawingml/2006/main">
            <a:r>
              <a:t>Analytical anchors: 532 episodes; 893 direct pairs; 371 adjacent pairs; RQ01-RQ10.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Release source: /Users/Aamir/Desktop/rUTIs/results/pipeline/longcycler_release_claim_registry.json</a:t>
            </a:r>
          </a:p>
          <a:p xmlns:a="http://schemas.openxmlformats.org/drawingml/2006/main">
            <a:r>
              <a:t>Scope: selected QC-passing Longcycler assemblies only.</a:t>
            </a:r>
          </a:p>
          <a:p xmlns:a="http://schemas.openxmlformats.org/drawingml/2006/main">
            <a:r>
              <a:t>Clinical phenotype: versioned operational UTI phenotype.</a:t>
            </a:r>
          </a:p>
          <a:p xmlns:a="http://schemas.openxmlformats.org/drawingml/2006/main">
            <a:r>
              <a:t>Analytical anchors: 532 episodes; 893 direct pairs; 371 adjacent pairs; RQ01-RQ10.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Release source: /Users/Aamir/Desktop/rUTIs/results/pipeline/longcycler_release_claim_registry.json</a:t>
            </a:r>
          </a:p>
          <a:p xmlns:a="http://schemas.openxmlformats.org/drawingml/2006/main">
            <a:r>
              <a:t>Scope: selected QC-passing Longcycler assemblies only.</a:t>
            </a:r>
          </a:p>
          <a:p xmlns:a="http://schemas.openxmlformats.org/drawingml/2006/main">
            <a:r>
              <a:t>Clinical phenotype: versioned operational UTI phenotype.</a:t>
            </a:r>
          </a:p>
          <a:p xmlns:a="http://schemas.openxmlformats.org/drawingml/2006/main">
            <a:r>
              <a:t>Analytical anchors: 532 episodes; 893 direct pairs; 371 adjacent pairs; RQ01-RQ10.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Release source: /Users/Aamir/Desktop/rUTIs/results/pipeline/longcycler_release_claim_registry.json</a:t>
            </a:r>
          </a:p>
          <a:p xmlns:a="http://schemas.openxmlformats.org/drawingml/2006/main">
            <a:r>
              <a:t>Scope: selected QC-passing Longcycler assemblies only.</a:t>
            </a:r>
          </a:p>
          <a:p xmlns:a="http://schemas.openxmlformats.org/drawingml/2006/main">
            <a:r>
              <a:t>Clinical phenotype: versioned operational UTI phenotype.</a:t>
            </a:r>
          </a:p>
          <a:p xmlns:a="http://schemas.openxmlformats.org/drawingml/2006/main">
            <a:r>
              <a:t>Analytical anchors: 532 episodes; 893 direct pairs; 371 adjacent pairs; RQ01-RQ10.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Release source: /Users/Aamir/Desktop/rUTIs/results/pipeline/longcycler_release_claim_registry.json</a:t>
            </a:r>
          </a:p>
          <a:p xmlns:a="http://schemas.openxmlformats.org/drawingml/2006/main">
            <a:r>
              <a:t>Scope: selected QC-passing Longcycler assemblies only.</a:t>
            </a:r>
          </a:p>
          <a:p xmlns:a="http://schemas.openxmlformats.org/drawingml/2006/main">
            <a:r>
              <a:t>Clinical phenotype: versioned operational UTI phenotype.</a:t>
            </a:r>
          </a:p>
          <a:p xmlns:a="http://schemas.openxmlformats.org/drawingml/2006/main">
            <a:r>
              <a:t>Analytical anchors: 532 episodes; 893 direct pairs; 371 adjacent pairs; RQ01-RQ10.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Release source: /Users/Aamir/Desktop/rUTIs/results/pipeline/longcycler_release_claim_registry.json</a:t>
            </a:r>
          </a:p>
          <a:p xmlns:a="http://schemas.openxmlformats.org/drawingml/2006/main">
            <a:r>
              <a:t>Scope: selected QC-passing Longcycler assemblies only.</a:t>
            </a:r>
          </a:p>
          <a:p xmlns:a="http://schemas.openxmlformats.org/drawingml/2006/main">
            <a:r>
              <a:t>Clinical phenotype: versioned operational UTI phenotype.</a:t>
            </a:r>
          </a:p>
          <a:p xmlns:a="http://schemas.openxmlformats.org/drawingml/2006/main">
            <a:r>
              <a:t>Analytical anchors: 532 episodes; 893 direct pairs; 371 adjacent pairs; RQ01-RQ10.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4ffd002f2db40f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a6e0ffe2d2641a8" /><Relationship Type="http://schemas.openxmlformats.org/officeDocument/2006/relationships/slideLayout" Target="/ppt/slideLayouts/slideLayout1.xml" Id="Rf9a35cf63f04459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9a35cf63f04459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78b5b187b0431d" /><Relationship Type="http://schemas.openxmlformats.org/officeDocument/2006/relationships/notesSlide" Target="/ppt/notesSlides/notesSlide1.xml" Id="R9022539df36f4b4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d60291ab5b4ddf" /><Relationship Type="http://schemas.openxmlformats.org/officeDocument/2006/relationships/notesSlide" Target="/ppt/notesSlides/notesSlide2.xml" Id="R5eb0e43b283f467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a6014625444e50" /><Relationship Type="http://schemas.openxmlformats.org/officeDocument/2006/relationships/notesSlide" Target="/ppt/notesSlides/notesSlide3.xml" Id="R69d9f5b6c02e432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8ef54957234b96" /><Relationship Type="http://schemas.openxmlformats.org/officeDocument/2006/relationships/image" Target="/ppt/media/image.png" Id="R3a7650fcb489441e" /><Relationship Type="http://schemas.openxmlformats.org/officeDocument/2006/relationships/notesSlide" Target="/ppt/notesSlides/notesSlide4.xml" Id="R2b9db53999724d7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a6f4663dde4c6e" /><Relationship Type="http://schemas.openxmlformats.org/officeDocument/2006/relationships/notesSlide" Target="/ppt/notesSlides/notesSlide5.xml" Id="Rcd38c78a84bb490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12e2fd198a4d41" /><Relationship Type="http://schemas.openxmlformats.org/officeDocument/2006/relationships/notesSlide" Target="/ppt/notesSlides/notesSlide6.xml" Id="R91b928c58fd6460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405101e5884088" /><Relationship Type="http://schemas.openxmlformats.org/officeDocument/2006/relationships/image" Target="/ppt/media/image2.png" Id="R389a7e1be61c41ff" /><Relationship Type="http://schemas.openxmlformats.org/officeDocument/2006/relationships/notesSlide" Target="/ppt/notesSlides/notesSlide7.xml" Id="R8fa049ca1e1446b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f56ce451cc4348" /><Relationship Type="http://schemas.openxmlformats.org/officeDocument/2006/relationships/image" Target="/ppt/media/image3.png" Id="Re14396b2278d460b" /><Relationship Type="http://schemas.openxmlformats.org/officeDocument/2006/relationships/notesSlide" Target="/ppt/notesSlides/notesSlide8.xml" Id="Rdc4c6638ac184c9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54d32f59904821" /><Relationship Type="http://schemas.openxmlformats.org/officeDocument/2006/relationships/notesSlide" Target="/ppt/notesSlides/notesSlide9.xml" Id="R9290c96574004fe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409c62966e40b2" /><Relationship Type="http://schemas.openxmlformats.org/officeDocument/2006/relationships/image" Target="/ppt/media/image4.png" Id="Rc2bee4e453724cad" /><Relationship Type="http://schemas.openxmlformats.org/officeDocument/2006/relationships/notesSlide" Target="/ppt/notesSlides/notesSlide10.xml" Id="R4c092957a45a494a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3023c833a042f6" /><Relationship Type="http://schemas.openxmlformats.org/officeDocument/2006/relationships/image" Target="/ppt/media/image5.png" Id="Re8b1e458033040f1" /><Relationship Type="http://schemas.openxmlformats.org/officeDocument/2006/relationships/notesSlide" Target="/ppt/notesSlides/notesSlide11.xml" Id="R0a4eb16e6d59473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8f8316bc734af8" /><Relationship Type="http://schemas.openxmlformats.org/officeDocument/2006/relationships/image" Target="/ppt/media/image6.png" Id="R387c8b5e35274deb" /><Relationship Type="http://schemas.openxmlformats.org/officeDocument/2006/relationships/notesSlide" Target="/ppt/notesSlides/notesSlide12.xml" Id="Red94d324e0ac499f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d9a41a34da470f" /><Relationship Type="http://schemas.openxmlformats.org/officeDocument/2006/relationships/notesSlide" Target="/ppt/notesSlides/notesSlide13.xml" Id="R94ccf815006446cf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35e255e15446f6" /><Relationship Type="http://schemas.openxmlformats.org/officeDocument/2006/relationships/notesSlide" Target="/ppt/notesSlides/notesSlide14.xml" Id="Rdd961a145f4d4b9c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f2486fe11b4bdb" /><Relationship Type="http://schemas.openxmlformats.org/officeDocument/2006/relationships/image" Target="/ppt/media/image7.png" Id="Rc8cb7c732bf34be6" /><Relationship Type="http://schemas.openxmlformats.org/officeDocument/2006/relationships/notesSlide" Target="/ppt/notesSlides/notesSlide15.xml" Id="R6cdba5e4de004760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9061b7ad044d79" /><Relationship Type="http://schemas.openxmlformats.org/officeDocument/2006/relationships/image" Target="/ppt/media/image8.png" Id="R433df1a0607443d1" /><Relationship Type="http://schemas.openxmlformats.org/officeDocument/2006/relationships/notesSlide" Target="/ppt/notesSlides/notesSlide16.xml" Id="R778a3b793d2c4d3b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e32d0989384339" /><Relationship Type="http://schemas.openxmlformats.org/officeDocument/2006/relationships/image" Target="/ppt/media/image9.png" Id="Re3ca624f1a57460c" /><Relationship Type="http://schemas.openxmlformats.org/officeDocument/2006/relationships/notesSlide" Target="/ppt/notesSlides/notesSlide17.xml" Id="Rb57ec9c717c54211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3c76671e1d4255" /><Relationship Type="http://schemas.openxmlformats.org/officeDocument/2006/relationships/image" Target="/ppt/media/image10.png" Id="R3aaed9aed48f496c" /><Relationship Type="http://schemas.openxmlformats.org/officeDocument/2006/relationships/notesSlide" Target="/ppt/notesSlides/notesSlide18.xml" Id="R3ef5eda264df4b07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7f4b54dd524265" /><Relationship Type="http://schemas.openxmlformats.org/officeDocument/2006/relationships/image" Target="/ppt/media/image11.png" Id="Rf84ddeda20bb4315" /><Relationship Type="http://schemas.openxmlformats.org/officeDocument/2006/relationships/notesSlide" Target="/ppt/notesSlides/notesSlide19.xml" Id="R2b01a355ee5843ee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9900d84a034b2f" /><Relationship Type="http://schemas.openxmlformats.org/officeDocument/2006/relationships/image" Target="/ppt/media/image12.png" Id="R74c6275938c44e00" /><Relationship Type="http://schemas.openxmlformats.org/officeDocument/2006/relationships/notesSlide" Target="/ppt/notesSlides/notesSlide20.xml" Id="Rf4d4d292f5d042ab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bdb0af635e467f" /><Relationship Type="http://schemas.openxmlformats.org/officeDocument/2006/relationships/image" Target="/ppt/media/image13.png" Id="R59a3c48989e34f97" /><Relationship Type="http://schemas.openxmlformats.org/officeDocument/2006/relationships/notesSlide" Target="/ppt/notesSlides/notesSlide21.xml" Id="R4f1063a6c5cb4e7d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15537da2e54de2" /><Relationship Type="http://schemas.openxmlformats.org/officeDocument/2006/relationships/notesSlide" Target="/ppt/notesSlides/notesSlide22.xml" Id="Rb787029f4e9944cc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D09D8A7-E96A-4617-AFEF-80B7CEDEC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CE2627F-5714-456A-9908-6628E577C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53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2B732CF-D4B1-42F1-A298-61C46D530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6191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07587"/>
                </a:solidFill>
                <a:latin typeface="Aptos"/>
                <a:ea typeface="Aptos"/>
                <a:cs typeface="Aptos"/>
              </a:rPr>
              <a:t>LONGCYCLER-ONLY RESULTS REVIEW / ONBOARDING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FD4EF6D-B37F-4D2D-BB3A-B55642711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19200"/>
            <a:ext cx="6858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4425" b="1">
                <a:solidFill>
                  <a:srgbClr val="152533"/>
                </a:solidFill>
                <a:latin typeface="Aptos Display"/>
                <a:ea typeface="Aptos Display"/>
                <a:cs typeface="Aptos Display"/>
              </a:defRPr>
            </a:pPr>
            <a:r>
              <a:rPr sz="4425" b="1">
                <a:solidFill>
                  <a:srgbClr val="152533"/>
                </a:solidFill>
                <a:latin typeface="Aptos Display"/>
                <a:ea typeface="Aptos Display"/>
                <a:cs typeface="Aptos Display"/>
              </a:rPr>
              <a:t>Recurrent UTI: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ECC1038-0FDC-4B17-98BF-B0B2F1B1C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914525"/>
            <a:ext cx="9715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3900" b="0">
                <a:solidFill>
                  <a:srgbClr val="152533"/>
                </a:solidFill>
                <a:latin typeface="Aptos Display"/>
                <a:ea typeface="Aptos Display"/>
                <a:cs typeface="Aptos Display"/>
              </a:defRPr>
            </a:pPr>
            <a:r>
              <a:rPr sz="3900" b="0">
                <a:solidFill>
                  <a:srgbClr val="152533"/>
                </a:solidFill>
                <a:latin typeface="Aptos Display"/>
                <a:ea typeface="Aptos Display"/>
                <a:cs typeface="Aptos Display"/>
              </a:rPr>
              <a:t>clinical state and genomic evidence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1DE23B-186C-49D7-AE65-BD72658EE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24150"/>
            <a:ext cx="7810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607587"/>
                </a:solidFill>
                <a:latin typeface="Aptos"/>
                <a:ea typeface="Aptos"/>
                <a:cs typeface="Aptos"/>
              </a:rPr>
              <a:t>Operational UTI versus Not_UTI evidence for a new project colleague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7082AD7-FAB1-4B8A-8758-50F02C3B7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62325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C2A6EF9-4A4F-4BAE-9C9F-D87A968DD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38550"/>
            <a:ext cx="1905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587"/>
                </a:solidFill>
                <a:latin typeface="Aptos"/>
                <a:ea typeface="Aptos"/>
                <a:cs typeface="Aptos"/>
              </a:rPr>
              <a:t>THREE QUESTIONS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1C3C8E-7445-40EE-9DA5-031FE4BDE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67175"/>
            <a:ext cx="400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E7772F"/>
                </a:solidFill>
                <a:latin typeface="Aptos Mono"/>
                <a:ea typeface="Aptos Mono"/>
                <a:cs typeface="Aptos Mono"/>
              </a:defRPr>
            </a:pPr>
            <a:r>
              <a:rPr sz="1200" b="1">
                <a:solidFill>
                  <a:srgbClr val="E7772F"/>
                </a:solidFill>
                <a:latin typeface="Aptos Mono"/>
                <a:ea typeface="Aptos Mono"/>
                <a:cs typeface="Aptos Mono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B53487C-CB1D-4FF0-9444-F71CE46FA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067175"/>
            <a:ext cx="7620000" cy="276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52533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52533"/>
                </a:solidFill>
                <a:latin typeface="Aptos"/>
                <a:ea typeface="Aptos"/>
                <a:cs typeface="Aptos"/>
              </a:rPr>
              <a:t>Which isolates persist across changing clinical states?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CF76490-FE4D-413A-A2DC-07A38566C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19625"/>
            <a:ext cx="400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E7772F"/>
                </a:solidFill>
                <a:latin typeface="Aptos Mono"/>
                <a:ea typeface="Aptos Mono"/>
                <a:cs typeface="Aptos Mono"/>
              </a:defRPr>
            </a:pPr>
            <a:r>
              <a:rPr sz="1200" b="1">
                <a:solidFill>
                  <a:srgbClr val="E7772F"/>
                </a:solidFill>
                <a:latin typeface="Aptos Mono"/>
                <a:ea typeface="Aptos Mono"/>
                <a:cs typeface="Aptos Mono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271B256-1D4F-43FD-817B-D28683984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619625"/>
            <a:ext cx="7620000" cy="276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52533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52533"/>
                </a:solidFill>
                <a:latin typeface="Aptos"/>
                <a:ea typeface="Aptos"/>
                <a:cs typeface="Aptos"/>
              </a:rPr>
              <a:t>Does symptom emergence require a new measured VF profile?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9D27FC0-15D9-4163-A43C-19DFBC7A9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72075"/>
            <a:ext cx="400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E7772F"/>
                </a:solidFill>
                <a:latin typeface="Aptos Mono"/>
                <a:ea typeface="Aptos Mono"/>
                <a:cs typeface="Aptos Mono"/>
              </a:defRPr>
            </a:pPr>
            <a:r>
              <a:rPr sz="1200" b="1">
                <a:solidFill>
                  <a:srgbClr val="E7772F"/>
                </a:solidFill>
                <a:latin typeface="Aptos Mono"/>
                <a:ea typeface="Aptos Mono"/>
                <a:cs typeface="Aptos Mono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38D21FB-D2D5-4A73-A405-0D80134A4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172075"/>
            <a:ext cx="7620000" cy="276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52533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52533"/>
                </a:solidFill>
                <a:latin typeface="Aptos"/>
                <a:ea typeface="Aptos"/>
                <a:cs typeface="Aptos"/>
              </a:rPr>
              <a:t>What can the sparse UTI denominator support responsibly?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5147D8B-62D9-42EB-A29A-EEE97E3C6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4210050"/>
            <a:ext cx="838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0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4EBACA9-007D-4DCF-AE31-8CC8D0293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4219575"/>
            <a:ext cx="647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E7772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E7772F"/>
                </a:solidFill>
                <a:latin typeface="Aptos"/>
                <a:ea typeface="Aptos"/>
                <a:cs typeface="Aptos"/>
              </a:rPr>
              <a:t>UTI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33ABA2B-A80C-4187-9AFA-5072C089B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4210050"/>
            <a:ext cx="952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8D6E7DC-6091-4F4C-9960-F32E88115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219575"/>
            <a:ext cx="76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2678B8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2678B8"/>
                </a:solidFill>
                <a:latin typeface="Aptos"/>
                <a:ea typeface="Aptos"/>
                <a:cs typeface="Aptos"/>
              </a:rPr>
              <a:t>NOT_UTI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7279EE6-2E21-41DC-B5F8-6F198FFB9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4514850"/>
            <a:ext cx="195262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07587"/>
                </a:solidFill>
                <a:latin typeface="Aptos"/>
                <a:ea typeface="Aptos"/>
                <a:cs typeface="Aptos"/>
              </a:rPr>
              <a:t>Primary comparison throughout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40131F2-9B19-48BD-B53A-B4AB702EA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19850"/>
            <a:ext cx="8001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07587"/>
                </a:solidFill>
                <a:latin typeface="Aptos"/>
                <a:ea typeface="Aptos"/>
                <a:cs typeface="Aptos"/>
              </a:rPr>
              <a:t>Prepared for scientific review and practical handover  |  14 July 2026</a:t>
            </a:r>
          </a:p>
        </p:txBody>
      </p:sp>
    </p:spTree>
    <p:extLst>
      <p:ext uri="{BB962C8B-B14F-4D97-AF65-F5344CB8AC3E}">
        <p14:creationId xmlns:p14="http://schemas.microsoft.com/office/powerpoint/2010/main" val="1245257606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paper">
            <a:extLst xmlns:a="http://schemas.openxmlformats.org/drawingml/2006/main">
              <a:ext uri="{FF2B5EF4-FFF2-40B4-BE49-F238E27FC236}">
                <a16:creationId xmlns:a16="http://schemas.microsoft.com/office/drawing/2014/main" id="{A3523CF4-7D2E-4883-8E87-004965658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rail">
            <a:extLst xmlns:a="http://schemas.openxmlformats.org/drawingml/2006/main">
              <a:ext uri="{FF2B5EF4-FFF2-40B4-BE49-F238E27FC236}">
                <a16:creationId xmlns:a16="http://schemas.microsoft.com/office/drawing/2014/main" id="{1B626A3E-E37F-49F7-94F9-F9D00A0EF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53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817E62-C6EB-4E48-89A8-3C97FC712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7650"/>
            <a:ext cx="495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587"/>
                </a:solidFill>
                <a:latin typeface="Aptos"/>
                <a:ea typeface="Aptos"/>
                <a:cs typeface="Aptos"/>
              </a:rPr>
              <a:t>CLINICAL RATIONALE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C200074-605B-45A3-93B8-6B423F170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95300"/>
            <a:ext cx="10572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2625" b="1">
                <a:solidFill>
                  <a:srgbClr val="152533"/>
                </a:solidFill>
                <a:latin typeface="Aptos Display"/>
                <a:ea typeface="Aptos Display"/>
                <a:cs typeface="Aptos Display"/>
              </a:defRPr>
            </a:pPr>
            <a:r>
              <a:rPr sz="2625" b="1">
                <a:solidFill>
                  <a:srgbClr val="152533"/>
                </a:solidFill>
                <a:latin typeface="Aptos Display"/>
                <a:ea typeface="Aptos Display"/>
                <a:cs typeface="Aptos Display"/>
              </a:rPr>
              <a:t>Repeated bacteriuria is not equivalent to symptomatic UTI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B1F4DDC-C0F9-4E7E-9582-FF411923A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9060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CE27801-32AE-4F71-8ED7-697D31528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23950"/>
            <a:ext cx="11049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07587"/>
                </a:solidFill>
                <a:latin typeface="Aptos"/>
                <a:ea typeface="Aptos"/>
                <a:cs typeface="Aptos"/>
              </a:rPr>
              <a:t>The versioned operational phenotype separates culture-supported compatible episodes from a heterogeneous remainder.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41FFED-CE56-43B9-8813-EC8641FFA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956C4A4-B9E6-4658-BEBA-FE6FE25DC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8572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07587"/>
                </a:solidFill>
                <a:latin typeface="Aptos"/>
                <a:ea typeface="Aptos"/>
                <a:cs typeface="Aptos"/>
              </a:rPr>
              <a:t>rUTI clinical-to-genomic review  |  operational UTI phenotype | Longcycler-only analysis  |  14 July 2026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42FD9B1-88A4-4056-A497-94A338A92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96650" y="6515100"/>
            <a:ext cx="304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607587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607587"/>
                </a:solidFill>
                <a:latin typeface="Aptos Mono"/>
                <a:ea typeface="Aptos Mono"/>
                <a:cs typeface="Aptos Mono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E13D0BE-7512-4510-88EC-A638A0A65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1809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587"/>
                </a:solidFill>
                <a:latin typeface="Aptos"/>
                <a:ea typeface="Aptos"/>
                <a:cs typeface="Aptos"/>
              </a:rPr>
              <a:t>PRIMARY STATUS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04FF90A-8B87-420D-B579-8FFDF6038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85975"/>
            <a:ext cx="491490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0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BB3C85E-2E92-43F2-B7AD-BFC16F1F8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305050"/>
            <a:ext cx="704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0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00621E5-D9A2-44B0-A23F-DB2EA9A25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14575"/>
            <a:ext cx="5143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E7772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E7772F"/>
                </a:solidFill>
                <a:latin typeface="Aptos"/>
                <a:ea typeface="Aptos"/>
                <a:cs typeface="Aptos"/>
              </a:rPr>
              <a:t>UTI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D75DD6E-F6E3-47C9-8645-084E46405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638425"/>
            <a:ext cx="4191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52533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52533"/>
                </a:solidFill>
                <a:latin typeface="Aptos"/>
                <a:ea typeface="Aptos"/>
                <a:cs typeface="Aptos"/>
              </a:rPr>
              <a:t>Culture support plus compatible symptoms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B6C358D-AE02-4E5E-8148-C5A120844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219450"/>
            <a:ext cx="4000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07587"/>
                </a:solidFill>
                <a:latin typeface="Aptos"/>
                <a:ea typeface="Aptos"/>
                <a:cs typeface="Aptos"/>
              </a:rPr>
              <a:t>A clinically interpretable symptomatic state.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441BB6E-1DC2-4C66-8BBA-775F31E50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81425"/>
            <a:ext cx="4914900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311A6BE-40AC-41C4-8C87-82B756EF0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000500"/>
            <a:ext cx="990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8A2615D-A9E1-4167-AE8E-3B03ECB21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10025"/>
            <a:ext cx="800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2678B8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2678B8"/>
                </a:solidFill>
                <a:latin typeface="Aptos"/>
                <a:ea typeface="Aptos"/>
                <a:cs typeface="Aptos"/>
              </a:rPr>
              <a:t>NOT_UTI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4F3C001-E5A0-47F2-8D3F-C550C8B2C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410075"/>
            <a:ext cx="4171950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52533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52533"/>
                </a:solidFill>
                <a:latin typeface="Aptos"/>
                <a:ea typeface="Aptos"/>
                <a:cs typeface="Aptos"/>
              </a:rPr>
              <a:t>Not a single biological condition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CC2F9FE-3230-47CA-86AA-2169386FE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819650"/>
            <a:ext cx="4191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07587"/>
                </a:solidFill>
                <a:latin typeface="Aptos"/>
                <a:ea typeface="Aptos"/>
                <a:cs typeface="Aptos"/>
              </a:rPr>
              <a:t>May include bacteriuria without compatible symptoms,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07587"/>
                </a:solidFill>
                <a:latin typeface="Aptos"/>
                <a:ea typeface="Aptos"/>
                <a:cs typeface="Aptos"/>
              </a:rPr>
              <a:t>negative cultures, or other clinically non-UTI episodes.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3934FD8-77E5-4420-97F4-5CB8EB272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752600"/>
            <a:ext cx="4095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587"/>
                </a:solidFill>
                <a:latin typeface="Aptos"/>
                <a:ea typeface="Aptos"/>
                <a:cs typeface="Aptos"/>
              </a:rPr>
              <a:t>WHY LONGITUDINAL SAMPLING?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74FA9D9-8C45-45F3-9047-DB2150DBC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238375"/>
            <a:ext cx="419100" cy="276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E7772F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E7772F"/>
                </a:solidFill>
                <a:latin typeface="Aptos Mono"/>
                <a:ea typeface="Aptos Mono"/>
                <a:cs typeface="Aptos Mono"/>
              </a:rPr>
              <a:t>01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2503F95-7A18-47BF-B2CD-CFA286524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238375"/>
            <a:ext cx="4286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152533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52533"/>
                </a:solidFill>
                <a:latin typeface="Aptos"/>
                <a:ea typeface="Aptos"/>
                <a:cs typeface="Aptos"/>
              </a:rPr>
              <a:t>Follow the same resident across time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0E1F9AE-10D2-427A-BD9F-9EFFCDAC9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857500"/>
            <a:ext cx="4953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5C089EE-DECA-45D0-BA26-AC01035A3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076575"/>
            <a:ext cx="419100" cy="276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E7772F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E7772F"/>
                </a:solidFill>
                <a:latin typeface="Aptos Mono"/>
                <a:ea typeface="Aptos Mono"/>
                <a:cs typeface="Aptos Mono"/>
              </a:rPr>
              <a:t>02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6FBDFBA-4E27-42DA-8890-BA1CC571D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076575"/>
            <a:ext cx="4286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152533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52533"/>
                </a:solidFill>
                <a:latin typeface="Aptos"/>
                <a:ea typeface="Aptos"/>
                <a:cs typeface="Aptos"/>
              </a:rPr>
              <a:t>Separate persistence from replacement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8DE8B33-92F5-4241-B275-064275B3F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695700"/>
            <a:ext cx="4953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458081C-BA78-4B00-A2B3-85FF74211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914775"/>
            <a:ext cx="419100" cy="276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E7772F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E7772F"/>
                </a:solidFill>
                <a:latin typeface="Aptos Mono"/>
                <a:ea typeface="Aptos Mono"/>
                <a:cs typeface="Aptos Mono"/>
              </a:rPr>
              <a:t>03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1DBECD0-1AE4-47F9-AB83-68F99806D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914775"/>
            <a:ext cx="4286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52533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52533"/>
                </a:solidFill>
                <a:latin typeface="Aptos"/>
                <a:ea typeface="Aptos"/>
                <a:cs typeface="Aptos"/>
              </a:rPr>
              <a:t>Ask whether symptoms emerge without VF gain/loss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8498933-CA5A-4D8E-B9F5-F4CD48B71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914900"/>
            <a:ext cx="49911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3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8EB0ECE-8DB6-4A85-BBFE-077D8A0D6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5019675"/>
            <a:ext cx="4610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52533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52533"/>
                </a:solidFill>
                <a:latin typeface="Aptos"/>
                <a:ea typeface="Aptos"/>
                <a:cs typeface="Aptos"/>
              </a:rPr>
              <a:t>Clinical status is the outcome; genomics helps explain transitions.</a:t>
            </a:r>
          </a:p>
        </p:txBody>
      </p:sp>
    </p:spTree>
    <p:extLst>
      <p:ext uri="{BB962C8B-B14F-4D97-AF65-F5344CB8AC3E}">
        <p14:creationId xmlns:p14="http://schemas.microsoft.com/office/powerpoint/2010/main" val="1010612759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paper">
            <a:extLst xmlns:a="http://schemas.openxmlformats.org/drawingml/2006/main">
              <a:ext uri="{FF2B5EF4-FFF2-40B4-BE49-F238E27FC236}">
                <a16:creationId xmlns:a16="http://schemas.microsoft.com/office/drawing/2014/main" id="{70BEAFF2-0332-4116-95B3-7605FEBEC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rail">
            <a:extLst xmlns:a="http://schemas.openxmlformats.org/drawingml/2006/main">
              <a:ext uri="{FF2B5EF4-FFF2-40B4-BE49-F238E27FC236}">
                <a16:creationId xmlns:a16="http://schemas.microsoft.com/office/drawing/2014/main" id="{E7825CD8-71A9-491B-B2E8-FCA2F80EA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53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968FC1E-B3B3-4CD8-839B-F16D91DF8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7650"/>
            <a:ext cx="495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587"/>
                </a:solidFill>
                <a:latin typeface="Aptos"/>
                <a:ea typeface="Aptos"/>
                <a:cs typeface="Aptos"/>
              </a:rPr>
              <a:t>DESIGN AND STATUS RULE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29334AF-77DC-4FFF-9FD5-2E906C782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95300"/>
            <a:ext cx="10572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2625" b="1">
                <a:solidFill>
                  <a:srgbClr val="152533"/>
                </a:solidFill>
                <a:latin typeface="Aptos Display"/>
                <a:ea typeface="Aptos Display"/>
                <a:cs typeface="Aptos Display"/>
              </a:defRPr>
            </a:pPr>
            <a:r>
              <a:rPr sz="2625" b="1">
                <a:solidFill>
                  <a:srgbClr val="152533"/>
                </a:solidFill>
                <a:latin typeface="Aptos Display"/>
                <a:ea typeface="Aptos Display"/>
                <a:cs typeface="Aptos Display"/>
              </a:rPr>
              <a:t>Repeated clinical episodes link directly to isolate genomes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5D4DC0F-B253-40BD-BBC0-7C06FA2EF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9060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FCCBDFA-265D-44F8-A31F-B34C5EA06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23950"/>
            <a:ext cx="11049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07587"/>
                </a:solidFill>
                <a:latin typeface="Aptos"/>
                <a:ea typeface="Aptos"/>
                <a:cs typeface="Aptos"/>
              </a:rPr>
              <a:t>One selected QC-passing Longcycler genome links to each of 532 analytical episodes.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1E8C663-6EED-49DF-B155-FC48DE58C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6AFC2A5-71F9-4DF5-A2B3-D7D95AC99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8572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07587"/>
                </a:solidFill>
                <a:latin typeface="Aptos"/>
                <a:ea typeface="Aptos"/>
                <a:cs typeface="Aptos"/>
              </a:rPr>
              <a:t>rUTI clinical-to-genomic review  |  operational UTI phenotype | Longcycler-only analysis  |  14 July 2026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69B71C7-642D-4EE4-9039-F2A003A6A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96650" y="6515100"/>
            <a:ext cx="304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607587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607587"/>
                </a:solidFill>
                <a:latin typeface="Aptos Mono"/>
                <a:ea typeface="Aptos Mono"/>
                <a:cs typeface="Aptos Mono"/>
              </a:rPr>
              <a:t>03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A32475-7538-410B-A1D8-463B7C79E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24025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587"/>
                </a:solidFill>
                <a:latin typeface="Aptos"/>
                <a:ea typeface="Aptos"/>
                <a:cs typeface="Aptos"/>
              </a:rPr>
              <a:t>LONGITUDINAL STUDY DESIGN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4F75F04-726C-47C0-AA2E-8C09753E3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800350"/>
            <a:ext cx="5048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3747D32-5E82-4FF5-80A4-16282546B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600325"/>
            <a:ext cx="400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7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7B55D5F-60A7-4655-8C5A-4C70A9A7C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38375"/>
            <a:ext cx="7239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2678B8"/>
                </a:solidFill>
                <a:latin typeface="Aptos Mono"/>
                <a:ea typeface="Aptos Mono"/>
                <a:cs typeface="Aptos Mono"/>
              </a:defRPr>
            </a:pPr>
            <a:r>
              <a:rPr sz="1050" b="1">
                <a:solidFill>
                  <a:srgbClr val="2678B8"/>
                </a:solidFill>
                <a:latin typeface="Aptos Mono"/>
                <a:ea typeface="Aptos Mono"/>
                <a:cs typeface="Aptos Mono"/>
              </a:rPr>
              <a:t>T0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BBF250D-A7A4-4D17-96A5-597838C3C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52775"/>
            <a:ext cx="800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975" b="0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07587"/>
                </a:solidFill>
                <a:latin typeface="Aptos"/>
                <a:ea typeface="Aptos"/>
                <a:cs typeface="Aptos"/>
              </a:rPr>
              <a:t>baseline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B84A77A-5CE3-4FC0-A63F-CAC234992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57600"/>
            <a:ext cx="2095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6"/>
          </a:solidFill>
          <a:ln xmlns:a="http://schemas.openxmlformats.org/drawingml/2006/main" w="9525">
            <a:solidFill>
              <a:srgbClr val="D8E1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5B0A02F-236E-4038-8B77-A46C35B6E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019550"/>
            <a:ext cx="514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750" b="1">
                <a:solidFill>
                  <a:srgbClr val="607587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607587"/>
                </a:solidFill>
                <a:latin typeface="Aptos Mono"/>
                <a:ea typeface="Aptos Mono"/>
                <a:cs typeface="Aptos Mono"/>
              </a:rPr>
              <a:t>DNA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C86A6B1-0BF7-47BE-AEA9-09A50B61A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600325"/>
            <a:ext cx="400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7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3029206-6314-4D43-B7F1-D8F74F60B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2238375"/>
            <a:ext cx="7239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2678B8"/>
                </a:solidFill>
                <a:latin typeface="Aptos Mono"/>
                <a:ea typeface="Aptos Mono"/>
                <a:cs typeface="Aptos Mono"/>
              </a:defRPr>
            </a:pPr>
            <a:r>
              <a:rPr sz="1050" b="1">
                <a:solidFill>
                  <a:srgbClr val="2678B8"/>
                </a:solidFill>
                <a:latin typeface="Aptos Mono"/>
                <a:ea typeface="Aptos Mono"/>
                <a:cs typeface="Aptos Mono"/>
              </a:rPr>
              <a:t>T3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9ABE776-04DE-4A44-9B20-91DCDA8EA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3152775"/>
            <a:ext cx="800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975" b="0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07587"/>
                </a:solidFill>
                <a:latin typeface="Aptos"/>
                <a:ea typeface="Aptos"/>
                <a:cs typeface="Aptos"/>
              </a:rPr>
              <a:t>repeat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905B7D3-81C8-4786-A640-09B63FDE6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3657600"/>
            <a:ext cx="2095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6"/>
          </a:solidFill>
          <a:ln xmlns:a="http://schemas.openxmlformats.org/drawingml/2006/main" w="9525">
            <a:solidFill>
              <a:srgbClr val="D8E1E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52B1340-BD89-4A7B-B8BF-5AFA6055A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019550"/>
            <a:ext cx="514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750" b="1">
                <a:solidFill>
                  <a:srgbClr val="607587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607587"/>
                </a:solidFill>
                <a:latin typeface="Aptos Mono"/>
                <a:ea typeface="Aptos Mono"/>
                <a:cs typeface="Aptos Mono"/>
              </a:rPr>
              <a:t>DNA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197EC4C-36AE-48D3-B8B5-EF4117B1B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600325"/>
            <a:ext cx="400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772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3A14A29-570E-452F-9164-12C69F3F2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2238375"/>
            <a:ext cx="7239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E7772F"/>
                </a:solidFill>
                <a:latin typeface="Aptos Mono"/>
                <a:ea typeface="Aptos Mono"/>
                <a:cs typeface="Aptos Mono"/>
              </a:defRPr>
            </a:pPr>
            <a:r>
              <a:rPr sz="1050" b="1">
                <a:solidFill>
                  <a:srgbClr val="E7772F"/>
                </a:solidFill>
                <a:latin typeface="Aptos Mono"/>
                <a:ea typeface="Aptos Mono"/>
                <a:cs typeface="Aptos Mono"/>
              </a:rPr>
              <a:t>UTI-1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D1C2702-8195-409C-A608-7B7CE32B5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152775"/>
            <a:ext cx="800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975" b="0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07587"/>
                </a:solidFill>
                <a:latin typeface="Aptos"/>
                <a:ea typeface="Aptos"/>
                <a:cs typeface="Aptos"/>
              </a:rPr>
              <a:t>symptoms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C100D01-4D9D-4B6B-A5C7-935D8A079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657600"/>
            <a:ext cx="2095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6"/>
          </a:solidFill>
          <a:ln xmlns:a="http://schemas.openxmlformats.org/drawingml/2006/main" w="9525">
            <a:solidFill>
              <a:srgbClr val="D8E1E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5B6BC81-2CBC-4912-B358-73BE36C9F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4019550"/>
            <a:ext cx="514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750" b="1">
                <a:solidFill>
                  <a:srgbClr val="607587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607587"/>
                </a:solidFill>
                <a:latin typeface="Aptos Mono"/>
                <a:ea typeface="Aptos Mono"/>
                <a:cs typeface="Aptos Mono"/>
              </a:rPr>
              <a:t>DNA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B33E1F2-F127-4748-9A87-1F1DE42C4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28900"/>
            <a:ext cx="7239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07587"/>
                </a:solidFill>
                <a:latin typeface="Aptos"/>
                <a:ea typeface="Aptos"/>
                <a:cs typeface="Aptos"/>
              </a:rPr>
              <a:t>episode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22A4CE2-8DBC-43BF-B3D0-6563AE31C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05225"/>
            <a:ext cx="7239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07587"/>
                </a:solidFill>
                <a:latin typeface="Aptos"/>
                <a:ea typeface="Aptos"/>
                <a:cs typeface="Aptos"/>
              </a:rPr>
              <a:t>isolate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D6DC0FC-FD89-4B93-AB85-366C0D01A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48200"/>
            <a:ext cx="538162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5F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F89A9FD-DFA0-4D8F-B261-F65F16F87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810125"/>
            <a:ext cx="4905375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7855B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7855B"/>
                </a:solidFill>
                <a:latin typeface="Aptos"/>
                <a:ea typeface="Aptos"/>
                <a:cs typeface="Aptos"/>
              </a:rPr>
              <a:t>Link operational episode status to selected genomes and VF profiles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864BF7E-D03A-4BCE-9076-F3D366884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133975"/>
            <a:ext cx="476250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07587"/>
                </a:solidFill>
                <a:latin typeface="Aptos"/>
                <a:ea typeface="Aptos"/>
                <a:cs typeface="Aptos"/>
              </a:rPr>
              <a:t>Then evaluate persistence, replacement and profile stability.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1D67329-0716-4530-961B-2D903EB92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724025"/>
            <a:ext cx="400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587"/>
                </a:solidFill>
                <a:latin typeface="Aptos"/>
                <a:ea typeface="Aptos"/>
                <a:cs typeface="Aptos"/>
              </a:rPr>
              <a:t>CURRENT PRIMARY STATUS RULE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80540C6-8196-4E38-A6E2-456D0D848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162175"/>
            <a:ext cx="45339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8BCE9CC-F8F4-44BC-8749-AD2CFCEC6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324100"/>
            <a:ext cx="15621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5253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52533"/>
                </a:solidFill>
                <a:latin typeface="Aptos"/>
                <a:ea typeface="Aptos"/>
                <a:cs typeface="Aptos"/>
              </a:rPr>
              <a:t>Culture support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599EB9E-6E1C-4F0F-96B0-2CCC0CC3B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2343150"/>
            <a:ext cx="19621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07587"/>
                </a:solidFill>
                <a:latin typeface="Aptos Mono"/>
                <a:ea typeface="Aptos Mono"/>
                <a:cs typeface="Aptos Mono"/>
              </a:defRPr>
            </a:pPr>
            <a:r>
              <a:rPr sz="1200" b="1">
                <a:solidFill>
                  <a:srgbClr val="607587"/>
                </a:solidFill>
                <a:latin typeface="Aptos Mono"/>
                <a:ea typeface="Aptos Mono"/>
                <a:cs typeface="Aptos Mono"/>
              </a:rPr>
              <a:t>&gt;=10^3 CFU/mL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5444190-BD73-43AB-A44D-3C6B1D4D9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981325"/>
            <a:ext cx="3048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2175" b="1">
                <a:solidFill>
                  <a:srgbClr val="E7772F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E7772F"/>
                </a:solidFill>
                <a:latin typeface="Aptos Display"/>
                <a:ea typeface="Aptos Display"/>
                <a:cs typeface="Aptos Display"/>
              </a:rPr>
              <a:t>+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B9A7FA0-AC3D-4EA0-8D0B-C33C0E843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533775"/>
            <a:ext cx="45339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A71D694-0138-4D36-B361-36B849BDF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695700"/>
            <a:ext cx="226695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5253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52533"/>
                </a:solidFill>
                <a:latin typeface="Aptos"/>
                <a:ea typeface="Aptos"/>
                <a:cs typeface="Aptos"/>
              </a:rPr>
              <a:t>Compatible symptoms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D958A8D-3938-49F3-9BA6-C031799A6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3714750"/>
            <a:ext cx="13906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07587"/>
                </a:solidFill>
                <a:latin typeface="Aptos"/>
                <a:ea typeface="Aptos"/>
                <a:cs typeface="Aptos"/>
              </a:rPr>
              <a:t>catheter-aware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3EF1388-3726-4365-A340-CF1C9637B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543425"/>
            <a:ext cx="20764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0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EE9DF9F-08C1-49DE-9788-AAF2D7044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733925"/>
            <a:ext cx="704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0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D557414-C21F-4E27-B559-064AE5E0F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743450"/>
            <a:ext cx="5143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E7772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E7772F"/>
                </a:solidFill>
                <a:latin typeface="Aptos"/>
                <a:ea typeface="Aptos"/>
                <a:cs typeface="Aptos"/>
              </a:rPr>
              <a:t>UTI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C76A27A-850C-42DF-A08E-0B10F7C8E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010150"/>
            <a:ext cx="15716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07587"/>
                </a:solidFill>
                <a:latin typeface="Aptos"/>
                <a:ea typeface="Aptos"/>
                <a:cs typeface="Aptos"/>
              </a:rPr>
              <a:t>both present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9EF7739-9168-4FC3-88BE-F72C0FC4B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543425"/>
            <a:ext cx="20764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1758875-B1EA-4955-88E0-49DF82938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4733925"/>
            <a:ext cx="9715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A4B2745-9E81-428E-B33D-502518965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4743450"/>
            <a:ext cx="781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2678B8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2678B8"/>
                </a:solidFill>
                <a:latin typeface="Aptos"/>
                <a:ea typeface="Aptos"/>
                <a:cs typeface="Aptos"/>
              </a:rPr>
              <a:t>NOT_UTI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742EC08-0FCD-4310-B1CE-08BC351BA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5010150"/>
            <a:ext cx="1485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07587"/>
                </a:solidFill>
                <a:latin typeface="Aptos"/>
                <a:ea typeface="Aptos"/>
                <a:cs typeface="Aptos"/>
              </a:rPr>
              <a:t>otherwise</a:t>
            </a:r>
          </a:p>
        </p:txBody>
      </p:sp>
    </p:spTree>
    <p:extLst>
      <p:ext uri="{BB962C8B-B14F-4D97-AF65-F5344CB8AC3E}">
        <p14:creationId xmlns:p14="http://schemas.microsoft.com/office/powerpoint/2010/main" val="163555307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paper">
            <a:extLst xmlns:a="http://schemas.openxmlformats.org/drawingml/2006/main">
              <a:ext uri="{FF2B5EF4-FFF2-40B4-BE49-F238E27FC236}">
                <a16:creationId xmlns:a16="http://schemas.microsoft.com/office/drawing/2014/main" id="{80A1AE14-7F05-4083-BC70-AC286CD1F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rail">
            <a:extLst xmlns:a="http://schemas.openxmlformats.org/drawingml/2006/main">
              <a:ext uri="{FF2B5EF4-FFF2-40B4-BE49-F238E27FC236}">
                <a16:creationId xmlns:a16="http://schemas.microsoft.com/office/drawing/2014/main" id="{D7A2DBD2-A06C-4072-B3B1-BFC325DC6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53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DEC56AC-A762-436F-A4B8-1382CED18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7650"/>
            <a:ext cx="495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587"/>
                </a:solidFill>
                <a:latin typeface="Aptos"/>
                <a:ea typeface="Aptos"/>
                <a:cs typeface="Aptos"/>
              </a:rPr>
              <a:t>VALIDATED DENOMINATOR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A6D9D4-55D4-4667-87A0-A04EB79D0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95300"/>
            <a:ext cx="10572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2625" b="1">
                <a:solidFill>
                  <a:srgbClr val="152533"/>
                </a:solidFill>
                <a:latin typeface="Aptos Display"/>
                <a:ea typeface="Aptos Display"/>
                <a:cs typeface="Aptos Display"/>
              </a:defRPr>
            </a:pPr>
            <a:r>
              <a:rPr sz="2625" b="1">
                <a:solidFill>
                  <a:srgbClr val="152533"/>
                </a:solidFill>
                <a:latin typeface="Aptos Display"/>
                <a:ea typeface="Aptos Display"/>
                <a:cs typeface="Aptos Display"/>
              </a:rPr>
              <a:t>The selected operational UTI denominator is deliberately narrow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E05B1B-45D7-448E-908E-B2927C6F2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9060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298C07E-D449-476B-A971-90A53313C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23950"/>
            <a:ext cx="80962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07587"/>
                </a:solidFill>
                <a:latin typeface="Aptos"/>
                <a:ea typeface="Aptos"/>
                <a:cs typeface="Aptos"/>
              </a:rPr>
              <a:t>Episode-level counts define the interpretation boundary before any biological claim.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FCE074-E045-46C6-94D6-A3398B46C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143000"/>
            <a:ext cx="2686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3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5D189A2-A611-4C4C-8E49-7919A987A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1152525"/>
            <a:ext cx="2495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587"/>
                </a:solidFill>
                <a:latin typeface="Aptos"/>
                <a:ea typeface="Aptos"/>
                <a:cs typeface="Aptos"/>
              </a:rPr>
              <a:t>DESCRIPTIVE DENOMINATOR AUDIT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7DF6943-A0FA-4F2E-AACF-D62BF2DFF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A72C19F-3FF7-4D43-A760-4E4607E82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8572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07587"/>
                </a:solidFill>
                <a:latin typeface="Aptos"/>
                <a:ea typeface="Aptos"/>
                <a:cs typeface="Aptos"/>
              </a:rPr>
              <a:t>rUTI clinical-to-genomic review  |  operational UTI phenotype | Longcycler-only analysis  |  14 July 2026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4817A9D-DF9C-4EB5-B8FC-9133E3BDF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96650" y="6515100"/>
            <a:ext cx="304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607587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607587"/>
                </a:solidFill>
                <a:latin typeface="Aptos Mono"/>
                <a:ea typeface="Aptos Mono"/>
                <a:cs typeface="Aptos Mono"/>
              </a:rPr>
              <a:t>04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E057D86-190F-4A57-9267-EDF1E2CA3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19250"/>
            <a:ext cx="10715625" cy="451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7"/>
            </a:solidFill>
            <a:prstDash val="solid"/>
          </a:ln>
        </p:spPr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7650fcb489441e"/>
          <a:stretch xmlns:a="http://schemas.openxmlformats.org/drawingml/2006/main"/>
        </p:blipFill>
        <p:spPr>
          <a:xfrm xmlns:a="http://schemas.openxmlformats.org/drawingml/2006/main" flipH="0" flipV="0">
            <a:off x="781050" y="1834452"/>
            <a:ext cx="10563225" cy="4084447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992305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paper">
            <a:extLst xmlns:a="http://schemas.openxmlformats.org/drawingml/2006/main">
              <a:ext uri="{FF2B5EF4-FFF2-40B4-BE49-F238E27FC236}">
                <a16:creationId xmlns:a16="http://schemas.microsoft.com/office/drawing/2014/main" id="{BF532F0A-1230-4DB4-BEF0-CA6884E0B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rail">
            <a:extLst xmlns:a="http://schemas.openxmlformats.org/drawingml/2006/main">
              <a:ext uri="{FF2B5EF4-FFF2-40B4-BE49-F238E27FC236}">
                <a16:creationId xmlns:a16="http://schemas.microsoft.com/office/drawing/2014/main" id="{86CE3B76-4341-424E-972F-A4FA25FCD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53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FADFBB6-98EB-4067-AD26-7168B2B86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7650"/>
            <a:ext cx="495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587"/>
                </a:solidFill>
                <a:latin typeface="Aptos"/>
                <a:ea typeface="Aptos"/>
                <a:cs typeface="Aptos"/>
              </a:rPr>
              <a:t>PIPELINE WITH COUNTS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F5BC662-8215-4DB2-A22A-4E3EC0E6C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95300"/>
            <a:ext cx="10572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2625" b="1">
                <a:solidFill>
                  <a:srgbClr val="152533"/>
                </a:solidFill>
                <a:latin typeface="Aptos Display"/>
                <a:ea typeface="Aptos Display"/>
                <a:cs typeface="Aptos Display"/>
              </a:defRPr>
            </a:pPr>
            <a:r>
              <a:rPr sz="2625" b="1">
                <a:solidFill>
                  <a:srgbClr val="152533"/>
                </a:solidFill>
                <a:latin typeface="Aptos Display"/>
                <a:ea typeface="Aptos Display"/>
                <a:cs typeface="Aptos Display"/>
              </a:rPr>
              <a:t>From clinical episodes to virulence-factor interpretation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59563F-DF92-4783-9AEB-761275E79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9060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404764-EA3F-442E-BC05-7504BF555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23950"/>
            <a:ext cx="80962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07587"/>
                </a:solidFill>
                <a:latin typeface="Aptos"/>
                <a:ea typeface="Aptos"/>
                <a:cs typeface="Aptos"/>
              </a:rPr>
              <a:t>Every analytical count refers to the selected Longcycler-linked cohort; source attrition is excluded from results.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4D997F-253B-46A5-A686-F3913E732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143000"/>
            <a:ext cx="2686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3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32C5665-4187-4823-966A-D9A0FDC1B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1152525"/>
            <a:ext cx="2495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587"/>
                </a:solidFill>
                <a:latin typeface="Aptos"/>
                <a:ea typeface="Aptos"/>
                <a:cs typeface="Aptos"/>
              </a:rPr>
              <a:t>NUMBERED PROCESS MAP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6D146B-5A75-4E96-8415-51DCE4639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318B8D0-9A6D-45A9-9431-F4E5B1EFD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8572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07587"/>
                </a:solidFill>
                <a:latin typeface="Aptos"/>
                <a:ea typeface="Aptos"/>
                <a:cs typeface="Aptos"/>
              </a:rPr>
              <a:t>rUTI clinical-to-genomic review  |  operational UTI phenotype | Longcycler-only analysis  |  14 July 2026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92C4104-0FC7-4DE3-9A28-C8E8438A5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96650" y="6515100"/>
            <a:ext cx="304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607587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607587"/>
                </a:solidFill>
                <a:latin typeface="Aptos Mono"/>
                <a:ea typeface="Aptos Mono"/>
                <a:cs typeface="Aptos Mono"/>
              </a:rPr>
              <a:t>05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9B0403-6814-4FB6-BDBB-DAAEE6F17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28775"/>
            <a:ext cx="123825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E7772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E7772F"/>
                </a:solidFill>
                <a:latin typeface="Aptos"/>
                <a:ea typeface="Aptos"/>
                <a:cs typeface="Aptos"/>
              </a:rPr>
              <a:t>CLINICAL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4B63E06-1263-4650-91A1-BF6E9DED5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85950"/>
            <a:ext cx="24574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0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1E441F4-6976-451D-814B-EA5EB0082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85950"/>
            <a:ext cx="47625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772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03A106B-106F-4ED2-8337-6E2A1F6B3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09775"/>
            <a:ext cx="3619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E7772F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E7772F"/>
                </a:solidFill>
                <a:latin typeface="Aptos Mono"/>
                <a:ea typeface="Aptos Mono"/>
                <a:cs typeface="Aptos Mono"/>
              </a:rPr>
              <a:t>01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9E0FED2-0359-4CF4-9E52-25DCC2089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009775"/>
            <a:ext cx="17716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5253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52533"/>
                </a:solidFill>
                <a:latin typeface="Aptos"/>
                <a:ea typeface="Aptos"/>
                <a:cs typeface="Aptos"/>
              </a:rPr>
              <a:t>Selected episodes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FD3AC21-0801-4F58-B6CD-09ABFB96E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33625"/>
            <a:ext cx="2152650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52533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152533"/>
                </a:solidFill>
                <a:latin typeface="Aptos Display"/>
                <a:ea typeface="Aptos Display"/>
                <a:cs typeface="Aptos Display"/>
              </a:rPr>
              <a:t>532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E2E1BBA-EA63-4932-BF55-38B04EEA6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86050"/>
            <a:ext cx="21336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07587"/>
                </a:solidFill>
                <a:latin typeface="Aptos"/>
                <a:ea typeface="Aptos"/>
                <a:cs typeface="Aptos"/>
              </a:rPr>
              <a:t>161 residents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1BE3536-DB4B-4C34-A1AC-9E693D814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33700"/>
            <a:ext cx="217170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607587"/>
                </a:solidFill>
                <a:latin typeface="Aptos Mono"/>
                <a:ea typeface="Aptos Mono"/>
                <a:cs typeface="Aptos Mono"/>
              </a:defRPr>
            </a:pPr>
            <a:r>
              <a:rPr sz="750" b="0">
                <a:solidFill>
                  <a:srgbClr val="607587"/>
                </a:solidFill>
                <a:latin typeface="Aptos Mono"/>
                <a:ea typeface="Aptos Mono"/>
                <a:cs typeface="Aptos Mono"/>
              </a:rPr>
              <a:t>analysis_cohort_longcycler.csv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707730C-D9E5-40DE-9201-A69588974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1885950"/>
            <a:ext cx="2886075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0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FD16986-57B7-4DE6-87A1-D113DEAC9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1885950"/>
            <a:ext cx="47625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772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9C8B267-CD48-404B-B7A1-D298EDE97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009775"/>
            <a:ext cx="3619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E7772F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E7772F"/>
                </a:solidFill>
                <a:latin typeface="Aptos Mono"/>
                <a:ea typeface="Aptos Mono"/>
                <a:cs typeface="Aptos Mono"/>
              </a:rPr>
              <a:t>02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D239210-332F-4F91-AE40-8E5AD3D16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009775"/>
            <a:ext cx="2200275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5253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52533"/>
                </a:solidFill>
                <a:latin typeface="Aptos"/>
                <a:ea typeface="Aptos"/>
                <a:cs typeface="Aptos"/>
              </a:rPr>
              <a:t>Operational phenotype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637367F-F10E-4E06-AAB0-1C3B23CB0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333625"/>
            <a:ext cx="2581275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52533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152533"/>
                </a:solidFill>
                <a:latin typeface="Aptos Display"/>
                <a:ea typeface="Aptos Display"/>
                <a:cs typeface="Aptos Display"/>
              </a:rPr>
              <a:t>532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E29955E-F485-431E-93C5-BE195CE2B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686050"/>
            <a:ext cx="25622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07587"/>
                </a:solidFill>
                <a:latin typeface="Aptos"/>
                <a:ea typeface="Aptos"/>
                <a:cs typeface="Aptos"/>
              </a:rPr>
              <a:t>16 UTI  |  516 Not_UTI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A43307E-3DB5-48D1-85E7-9EA282AB2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933700"/>
            <a:ext cx="2600325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607587"/>
                </a:solidFill>
                <a:latin typeface="Aptos Mono"/>
                <a:ea typeface="Aptos Mono"/>
                <a:cs typeface="Aptos Mono"/>
              </a:defRPr>
            </a:pPr>
            <a:r>
              <a:rPr sz="750" b="0">
                <a:solidFill>
                  <a:srgbClr val="607587"/>
                </a:solidFill>
                <a:latin typeface="Aptos Mono"/>
                <a:ea typeface="Aptos Mono"/>
                <a:cs typeface="Aptos Mono"/>
              </a:rPr>
              <a:t>versioned operational rule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7DDCACA-B55B-4680-8AF0-88A9DA3E4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1628775"/>
            <a:ext cx="180975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2678B8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2678B8"/>
                </a:solidFill>
                <a:latin typeface="Aptos"/>
                <a:ea typeface="Aptos"/>
                <a:cs typeface="Aptos"/>
              </a:rPr>
              <a:t>GENOMIC PROCESSING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1EFFDF8-B313-4004-857E-22481B550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1885950"/>
            <a:ext cx="24574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A38EB2D-D195-4A34-A2AC-760EB934A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1885950"/>
            <a:ext cx="47625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7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1F2FE22-C1C3-4741-A4F2-9C536E39B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2009775"/>
            <a:ext cx="3619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678B8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2678B8"/>
                </a:solidFill>
                <a:latin typeface="Aptos Mono"/>
                <a:ea typeface="Aptos Mono"/>
                <a:cs typeface="Aptos Mono"/>
              </a:rPr>
              <a:t>03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82CD7BA-2709-4876-8318-963EA39C0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2009775"/>
            <a:ext cx="17716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5253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52533"/>
                </a:solidFill>
                <a:latin typeface="Aptos"/>
                <a:ea typeface="Aptos"/>
                <a:cs typeface="Aptos"/>
              </a:rPr>
              <a:t>Selected assemblies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8B3B316-12F5-4FA6-A407-121FD68B3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7025" y="2333625"/>
            <a:ext cx="2152650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52533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152533"/>
                </a:solidFill>
                <a:latin typeface="Aptos Display"/>
                <a:ea typeface="Aptos Display"/>
                <a:cs typeface="Aptos Display"/>
              </a:rPr>
              <a:t>532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B3CD5F6-DE58-43E5-A450-E07587068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7025" y="2686050"/>
            <a:ext cx="21336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07587"/>
                </a:solidFill>
                <a:latin typeface="Aptos"/>
                <a:ea typeface="Aptos"/>
                <a:cs typeface="Aptos"/>
              </a:rPr>
              <a:t>QC-passing Longcycler only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BE028DF-083B-4049-855B-296DAB9A9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7025" y="2933700"/>
            <a:ext cx="217170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607587"/>
                </a:solidFill>
                <a:latin typeface="Aptos Mono"/>
                <a:ea typeface="Aptos Mono"/>
                <a:cs typeface="Aptos Mono"/>
              </a:defRPr>
            </a:pPr>
            <a:r>
              <a:rPr sz="750" b="0">
                <a:solidFill>
                  <a:srgbClr val="607587"/>
                </a:solidFill>
                <a:latin typeface="Aptos Mono"/>
                <a:ea typeface="Aptos Mono"/>
                <a:cs typeface="Aptos Mono"/>
              </a:rPr>
              <a:t>analysis_assembly_manifest.csv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DC2EDC2-2BB0-4DA0-ABC9-25CFE4126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72575" y="1885950"/>
            <a:ext cx="24003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B468FAC-8C98-46DF-9B89-74C542525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72575" y="1885950"/>
            <a:ext cx="47625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7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14D25FA-A084-47A6-BC5D-F1DE114E1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975" y="2009775"/>
            <a:ext cx="3619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678B8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2678B8"/>
                </a:solidFill>
                <a:latin typeface="Aptos Mono"/>
                <a:ea typeface="Aptos Mono"/>
                <a:cs typeface="Aptos Mono"/>
              </a:rPr>
              <a:t>04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CB943A8-F2EA-4281-812D-296060788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4075" y="2009775"/>
            <a:ext cx="171450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5253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52533"/>
                </a:solidFill>
                <a:latin typeface="Aptos"/>
                <a:ea typeface="Aptos"/>
                <a:cs typeface="Aptos"/>
              </a:rPr>
              <a:t>Selected genomes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E4D8BA0-FF21-4266-BC2D-BC79675E7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44025" y="2333625"/>
            <a:ext cx="2095500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52533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152533"/>
                </a:solidFill>
                <a:latin typeface="Aptos Display"/>
                <a:ea typeface="Aptos Display"/>
                <a:cs typeface="Aptos Display"/>
              </a:rPr>
              <a:t>532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6BCDCE2-DAE9-4627-8D58-3EF60750C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44025" y="2686050"/>
            <a:ext cx="2076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07587"/>
                </a:solidFill>
                <a:latin typeface="Aptos"/>
                <a:ea typeface="Aptos"/>
                <a:cs typeface="Aptos"/>
              </a:rPr>
              <a:t>one genome per selected episode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E8AC735-F23E-4F9C-A73B-7534FE3A9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44025" y="2933700"/>
            <a:ext cx="211455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607587"/>
                </a:solidFill>
                <a:latin typeface="Aptos Mono"/>
                <a:ea typeface="Aptos Mono"/>
                <a:cs typeface="Aptos Mono"/>
              </a:defRPr>
            </a:pPr>
            <a:r>
              <a:rPr sz="750" b="0">
                <a:solidFill>
                  <a:srgbClr val="607587"/>
                </a:solidFill>
                <a:latin typeface="Aptos Mono"/>
                <a:ea typeface="Aptos Mono"/>
                <a:cs typeface="Aptos Mono"/>
              </a:rPr>
              <a:t>canonical selection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02063CA-096B-4505-938B-82483A512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10953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2356ADC-8747-45E8-83D2-986539075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3300"/>
            <a:ext cx="390525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17855B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7855B"/>
                </a:solidFill>
                <a:latin typeface="Aptos"/>
                <a:ea typeface="Aptos"/>
                <a:cs typeface="Aptos"/>
              </a:rPr>
              <a:t>VF ANALYSIS AND LONGITUDINAL OUTPUTS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D0902A3-523C-4D27-82A0-65C58B5B5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48100"/>
            <a:ext cx="2476500" cy="1704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5F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483F14C-8ED3-45A2-805E-B73E5EBF7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48100"/>
            <a:ext cx="47625" cy="1704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855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898E6E0-13C4-4E41-B7DE-0E65D4FCF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71925"/>
            <a:ext cx="3619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7855B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17855B"/>
                </a:solidFill>
                <a:latin typeface="Aptos Mono"/>
                <a:ea typeface="Aptos Mono"/>
                <a:cs typeface="Aptos Mono"/>
              </a:rPr>
              <a:t>05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D55A7356-7FF2-4DE4-9E2C-290469617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971925"/>
            <a:ext cx="179070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5253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52533"/>
                </a:solidFill>
                <a:latin typeface="Aptos"/>
                <a:ea typeface="Aptos"/>
                <a:cs typeface="Aptos"/>
              </a:rPr>
              <a:t>VF feature rows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FD7334E9-D7E2-4272-9980-44CE61668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95775"/>
            <a:ext cx="2171700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52533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152533"/>
                </a:solidFill>
                <a:latin typeface="Aptos Display"/>
                <a:ea typeface="Aptos Display"/>
                <a:cs typeface="Aptos Display"/>
              </a:rPr>
              <a:t>532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22BC6ED1-B375-4EFD-A866-0119E03C6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648200"/>
            <a:ext cx="21526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07587"/>
                </a:solidFill>
                <a:latin typeface="Aptos"/>
                <a:ea typeface="Aptos"/>
                <a:cs typeface="Aptos"/>
              </a:rPr>
              <a:t>selected episode-level rows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EE386F1D-A5E8-4B4B-B894-270DF7ACF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343525"/>
            <a:ext cx="219075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607587"/>
                </a:solidFill>
                <a:latin typeface="Aptos Mono"/>
                <a:ea typeface="Aptos Mono"/>
                <a:cs typeface="Aptos Mono"/>
              </a:defRPr>
            </a:pPr>
            <a:r>
              <a:rPr sz="750" b="0">
                <a:solidFill>
                  <a:srgbClr val="607587"/>
                </a:solidFill>
                <a:latin typeface="Aptos Mono"/>
                <a:ea typeface="Aptos Mono"/>
                <a:cs typeface="Aptos Mono"/>
              </a:rPr>
              <a:t>02_gene_presence_analysis.R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2327D298-3868-4608-ABE9-6653AC3D3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3848100"/>
            <a:ext cx="2724150" cy="1704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5F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B79E2A88-0852-4A7D-B3D2-726F5D339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3848100"/>
            <a:ext cx="47625" cy="1704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855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7A2EABAF-81F7-426C-9F3A-638791C21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971925"/>
            <a:ext cx="3619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7855B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17855B"/>
                </a:solidFill>
                <a:latin typeface="Aptos Mono"/>
                <a:ea typeface="Aptos Mono"/>
                <a:cs typeface="Aptos Mono"/>
              </a:rPr>
              <a:t>06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D90A19E2-87B1-408E-87FD-C5E523739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971925"/>
            <a:ext cx="20383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5253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52533"/>
                </a:solidFill>
                <a:latin typeface="Aptos"/>
                <a:ea typeface="Aptos"/>
                <a:cs typeface="Aptos"/>
              </a:rPr>
              <a:t>Direct-pair ready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34F0D974-100C-44C6-B0BA-FBA17F439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4295775"/>
            <a:ext cx="2419350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52533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152533"/>
                </a:solidFill>
                <a:latin typeface="Aptos Display"/>
                <a:ea typeface="Aptos Display"/>
                <a:cs typeface="Aptos Display"/>
              </a:rPr>
              <a:t>532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B252C9AF-DCFE-4ED1-A388-B9A30527E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4648200"/>
            <a:ext cx="240030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07587"/>
                </a:solidFill>
                <a:latin typeface="Aptos"/>
                <a:ea typeface="Aptos"/>
                <a:cs typeface="Aptos"/>
              </a:rPr>
              <a:t>893 within-resident pairs</a:t>
            </a:r>
          </a:p>
          <a:p xmlns:a="http://schemas.openxmlformats.org/drawingml/2006/main">
            <a:pPr algn="l">
              <a:buNone/>
              <a:defRPr sz="900" b="0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07587"/>
                </a:solidFill>
                <a:latin typeface="Aptos"/>
                <a:ea typeface="Aptos"/>
                <a:cs typeface="Aptos"/>
              </a:rPr>
              <a:t>371 adjacent pairs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E6804C14-9638-4CB1-A3BF-B36EC9B27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5343525"/>
            <a:ext cx="243840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607587"/>
                </a:solidFill>
                <a:latin typeface="Aptos Mono"/>
                <a:ea typeface="Aptos Mono"/>
                <a:cs typeface="Aptos Mono"/>
              </a:defRPr>
            </a:pPr>
            <a:r>
              <a:rPr sz="750" b="0">
                <a:solidFill>
                  <a:srgbClr val="607587"/>
                </a:solidFill>
                <a:latin typeface="Aptos Mono"/>
                <a:ea typeface="Aptos Mono"/>
                <a:cs typeface="Aptos Mono"/>
              </a:rPr>
              <a:t>pairwise_metrics.csv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692AC699-B45F-4B50-892F-39EFCA31F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848100"/>
            <a:ext cx="2524125" cy="1704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5F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34DB7C01-2699-4BD2-9E60-8FF4FA8E6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848100"/>
            <a:ext cx="47625" cy="1704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855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127FE1B0-F7BA-46EF-B02D-8A2A2C312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971925"/>
            <a:ext cx="3619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7855B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17855B"/>
                </a:solidFill>
                <a:latin typeface="Aptos Mono"/>
                <a:ea typeface="Aptos Mono"/>
                <a:cs typeface="Aptos Mono"/>
              </a:rPr>
              <a:t>07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D703B176-65E6-41ED-9DE8-FFF9A72EB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971925"/>
            <a:ext cx="1838325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5253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52533"/>
                </a:solidFill>
                <a:latin typeface="Aptos"/>
                <a:ea typeface="Aptos"/>
                <a:cs typeface="Aptos"/>
              </a:rPr>
              <a:t>VFDB feature space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A95483FD-06BE-440C-B3DE-16FDA961B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295775"/>
            <a:ext cx="2219325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52533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152533"/>
                </a:solidFill>
                <a:latin typeface="Aptos Display"/>
                <a:ea typeface="Aptos Display"/>
                <a:cs typeface="Aptos Display"/>
              </a:rPr>
              <a:t>227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A3B35DE6-77A4-4EA2-B930-A5EFE8329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648200"/>
            <a:ext cx="2200275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07587"/>
                </a:solidFill>
                <a:latin typeface="Aptos"/>
                <a:ea typeface="Aptos"/>
                <a:cs typeface="Aptos"/>
              </a:rPr>
              <a:t>binary VF features</a:t>
            </a:r>
          </a:p>
          <a:p xmlns:a="http://schemas.openxmlformats.org/drawingml/2006/main">
            <a:pPr algn="l">
              <a:buNone/>
              <a:defRPr sz="900" b="0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07587"/>
                </a:solidFill>
                <a:latin typeface="Aptos"/>
                <a:ea typeface="Aptos"/>
                <a:cs typeface="Aptos"/>
              </a:rPr>
              <a:t>module summaries exploratory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679A9ACC-1300-4FBD-AA78-C40DF95AA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5343525"/>
            <a:ext cx="2238375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607587"/>
                </a:solidFill>
                <a:latin typeface="Aptos Mono"/>
                <a:ea typeface="Aptos Mono"/>
                <a:cs typeface="Aptos Mono"/>
              </a:defRPr>
            </a:pPr>
            <a:r>
              <a:rPr sz="750" b="0">
                <a:solidFill>
                  <a:srgbClr val="607587"/>
                </a:solidFill>
                <a:latin typeface="Aptos Mono"/>
                <a:ea typeface="Aptos Mono"/>
                <a:cs typeface="Aptos Mono"/>
              </a:rPr>
              <a:t>current final-run VF outputs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3135B1BC-C7B0-4A8C-B30E-EB143B776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3848100"/>
            <a:ext cx="2667000" cy="1704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5F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E7445B1E-C215-4B4C-96E1-F06592C84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3848100"/>
            <a:ext cx="47625" cy="1704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855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5F846B76-10E4-4C7B-9F6D-631B44120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3971925"/>
            <a:ext cx="3619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7855B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17855B"/>
                </a:solidFill>
                <a:latin typeface="Aptos Mono"/>
                <a:ea typeface="Aptos Mono"/>
                <a:cs typeface="Aptos Mono"/>
              </a:rPr>
              <a:t>08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077529BD-4372-4F9E-A896-CE1DC93DF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75" y="3971925"/>
            <a:ext cx="198120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5253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52533"/>
                </a:solidFill>
                <a:latin typeface="Aptos"/>
                <a:ea typeface="Aptos"/>
                <a:cs typeface="Aptos"/>
              </a:rPr>
              <a:t>Transitions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FD5B1235-532F-45DB-8B68-176F1182F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7325" y="4295775"/>
            <a:ext cx="2362200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52533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152533"/>
                </a:solidFill>
                <a:latin typeface="Aptos Display"/>
                <a:ea typeface="Aptos Display"/>
                <a:cs typeface="Aptos Display"/>
              </a:rPr>
              <a:t>9 -&gt; 9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0DE06D14-1BC6-46C1-90D9-DD57E4891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7325" y="4648200"/>
            <a:ext cx="234315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07587"/>
                </a:solidFill>
                <a:latin typeface="Aptos"/>
                <a:ea typeface="Aptos"/>
                <a:cs typeface="Aptos"/>
              </a:rPr>
              <a:t>operational transitions -&gt; genomically linked</a:t>
            </a:r>
          </a:p>
          <a:p xmlns:a="http://schemas.openxmlformats.org/drawingml/2006/main">
            <a:pPr algn="l">
              <a:buNone/>
              <a:defRPr sz="900" b="0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07587"/>
                </a:solidFill>
                <a:latin typeface="Aptos"/>
                <a:ea typeface="Aptos"/>
                <a:cs typeface="Aptos"/>
              </a:rPr>
              <a:t>0 endpoints missing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6A5866B8-BAC7-4DA9-992A-0B2954B92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7325" y="5343525"/>
            <a:ext cx="238125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607587"/>
                </a:solidFill>
                <a:latin typeface="Aptos Mono"/>
                <a:ea typeface="Aptos Mono"/>
                <a:cs typeface="Aptos Mono"/>
              </a:defRPr>
            </a:pPr>
            <a:r>
              <a:rPr sz="750" b="0">
                <a:solidFill>
                  <a:srgbClr val="607587"/>
                </a:solidFill>
                <a:latin typeface="Aptos Mono"/>
                <a:ea typeface="Aptos Mono"/>
                <a:cs typeface="Aptos Mono"/>
              </a:rPr>
              <a:t>mechanism casebook</a:t>
            </a:r>
          </a:p>
        </p:txBody>
      </p:sp>
    </p:spTree>
    <p:extLst>
      <p:ext uri="{BB962C8B-B14F-4D97-AF65-F5344CB8AC3E}">
        <p14:creationId xmlns:p14="http://schemas.microsoft.com/office/powerpoint/2010/main" val="820982902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paper">
            <a:extLst xmlns:a="http://schemas.openxmlformats.org/drawingml/2006/main">
              <a:ext uri="{FF2B5EF4-FFF2-40B4-BE49-F238E27FC236}">
                <a16:creationId xmlns:a16="http://schemas.microsoft.com/office/drawing/2014/main" id="{FEE72C8B-0B7D-4E76-81DC-BA11E4490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rail">
            <a:extLst xmlns:a="http://schemas.openxmlformats.org/drawingml/2006/main">
              <a:ext uri="{FF2B5EF4-FFF2-40B4-BE49-F238E27FC236}">
                <a16:creationId xmlns:a16="http://schemas.microsoft.com/office/drawing/2014/main" id="{4AF1D010-064C-4AF0-B36E-70DD62C15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53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9C1EDBB-8E3E-45FD-94EC-D6531A345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7650"/>
            <a:ext cx="495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587"/>
                </a:solidFill>
                <a:latin typeface="Aptos"/>
                <a:ea typeface="Aptos"/>
                <a:cs typeface="Aptos"/>
              </a:rPr>
              <a:t>VF FRAMEWORK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5D2AF9-17B3-4008-A25F-5071F21D4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95300"/>
            <a:ext cx="10572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2625" b="1">
                <a:solidFill>
                  <a:srgbClr val="152533"/>
                </a:solidFill>
                <a:latin typeface="Aptos Display"/>
                <a:ea typeface="Aptos Display"/>
                <a:cs typeface="Aptos Display"/>
              </a:defRPr>
            </a:pPr>
            <a:r>
              <a:rPr sz="2625" b="1">
                <a:solidFill>
                  <a:srgbClr val="152533"/>
                </a:solidFill>
                <a:latin typeface="Aptos Display"/>
                <a:ea typeface="Aptos Display"/>
                <a:cs typeface="Aptos Display"/>
              </a:rPr>
              <a:t>What the virulence-factor analysis actually measures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C69EA6-33ED-4F01-9C72-B11D5BB5B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9060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2C3EA37-4ED8-4CF0-B6E5-10D09E878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23950"/>
            <a:ext cx="80962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07587"/>
                </a:solidFill>
                <a:latin typeface="Aptos"/>
                <a:ea typeface="Aptos"/>
                <a:cs typeface="Aptos"/>
              </a:rPr>
              <a:t>Presence/absence features describe measured genomic potential, not expression or host response.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DF632E3-4D11-4355-8DDF-DD190B402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143000"/>
            <a:ext cx="2686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3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D0E939-E93E-4602-951F-9CD382062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1152525"/>
            <a:ext cx="2495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587"/>
                </a:solidFill>
                <a:latin typeface="Aptos"/>
                <a:ea typeface="Aptos"/>
                <a:cs typeface="Aptos"/>
              </a:rPr>
              <a:t>ANALYSIS ARCHITECTURE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1175FAF-80D1-4E88-8B67-35248BDBC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6F41242-AC1C-45E8-A33A-F3220AB77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8572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07587"/>
                </a:solidFill>
                <a:latin typeface="Aptos"/>
                <a:ea typeface="Aptos"/>
                <a:cs typeface="Aptos"/>
              </a:rPr>
              <a:t>rUTI clinical-to-genomic review  |  operational UTI phenotype | Longcycler-only analysis  |  14 July 2026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E92A56-5606-4864-8CA5-FED29612C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96650" y="6515100"/>
            <a:ext cx="304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607587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607587"/>
                </a:solidFill>
                <a:latin typeface="Aptos Mono"/>
                <a:ea typeface="Aptos Mono"/>
                <a:cs typeface="Aptos Mono"/>
              </a:rPr>
              <a:t>06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26D57A4-C0FA-4E93-B1FA-B8DEFD788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71650"/>
            <a:ext cx="1104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587"/>
                </a:solidFill>
                <a:latin typeface="Aptos"/>
                <a:ea typeface="Aptos"/>
                <a:cs typeface="Aptos"/>
              </a:rPr>
              <a:t>INPUT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DD2FA16-06F3-4F86-A514-35526ADEC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24075"/>
            <a:ext cx="1952625" cy="1752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FC582F8-100C-4B26-A4C8-B6FC0688B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2286000"/>
            <a:ext cx="14097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2678B8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678B8"/>
                </a:solidFill>
                <a:latin typeface="Aptos Display"/>
                <a:ea typeface="Aptos Display"/>
                <a:cs typeface="Aptos Display"/>
              </a:rPr>
              <a:t>532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BB47C14-6743-4948-989E-9BA3C0365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2847975"/>
            <a:ext cx="1524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5253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52533"/>
                </a:solidFill>
                <a:latin typeface="Aptos"/>
                <a:ea typeface="Aptos"/>
                <a:cs typeface="Aptos"/>
              </a:rPr>
              <a:t>selected Longcycler-linked</a:t>
            </a:r>
          </a:p>
          <a:p xmlns:a="http://schemas.openxmlformats.org/drawingml/2006/main">
            <a:pPr algn="l">
              <a:buNone/>
              <a:defRPr sz="1500" b="1">
                <a:solidFill>
                  <a:srgbClr val="15253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52533"/>
                </a:solidFill>
                <a:latin typeface="Aptos"/>
                <a:ea typeface="Aptos"/>
                <a:cs typeface="Aptos"/>
              </a:rPr>
              <a:t>episodes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5E0394E-992D-4443-9157-82076BC4A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3543300"/>
            <a:ext cx="1562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07587"/>
                </a:solidFill>
                <a:latin typeface="Aptos"/>
                <a:ea typeface="Aptos"/>
                <a:cs typeface="Aptos"/>
              </a:rPr>
              <a:t>binary presence / absence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A7A13E2-9D71-40F2-B648-54AFCAA30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1771650"/>
            <a:ext cx="17526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587"/>
                </a:solidFill>
                <a:latin typeface="Aptos"/>
                <a:ea typeface="Aptos"/>
                <a:cs typeface="Aptos"/>
              </a:rPr>
              <a:t>REPRESENTATION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11BDE41-7E4F-4687-BAA9-B769BF8DC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2124075"/>
            <a:ext cx="2238375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5F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9EFD635-51E5-41D2-A2FC-E012FB3C6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286000"/>
            <a:ext cx="1809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7855B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7855B"/>
                </a:solidFill>
                <a:latin typeface="Aptos"/>
                <a:ea typeface="Aptos"/>
                <a:cs typeface="Aptos"/>
              </a:rPr>
              <a:t>227 VF features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0218659-734F-426D-AE48-3CBEF4F0F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638425"/>
            <a:ext cx="17526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07587"/>
                </a:solidFill>
                <a:latin typeface="Aptos"/>
                <a:ea typeface="Aptos"/>
                <a:cs typeface="Aptos"/>
              </a:rPr>
              <a:t>detected feature columns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A19C4C7-32E2-4C0C-BF12-08AE8C7C8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095625"/>
            <a:ext cx="2238375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5F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405BCAC-C1F4-45F3-88E1-6AD332149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248025"/>
            <a:ext cx="1809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7855B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7855B"/>
                </a:solidFill>
                <a:latin typeface="Aptos"/>
                <a:ea typeface="Aptos"/>
                <a:cs typeface="Aptos"/>
              </a:rPr>
              <a:t>VF modules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69666D4-67CA-48A9-A338-534AAD622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600450"/>
            <a:ext cx="18478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07587"/>
                </a:solidFill>
                <a:latin typeface="Aptos"/>
                <a:ea typeface="Aptos"/>
                <a:cs typeface="Aptos"/>
              </a:rPr>
              <a:t>exploratory summaries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5BC0E16-2DF7-4DE5-BD85-EF6D3130B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1771650"/>
            <a:ext cx="2190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587"/>
                </a:solidFill>
                <a:latin typeface="Aptos"/>
                <a:ea typeface="Aptos"/>
                <a:cs typeface="Aptos"/>
              </a:rPr>
              <a:t>QUESTIONS ANSWERED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6333EA8-EEC7-4FA1-89F1-8A84ED565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2124075"/>
            <a:ext cx="52006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0DE6FB7-CFF2-4BEB-A657-FEF5129AF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2124075"/>
            <a:ext cx="4762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772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9DCFB43-10F5-4A43-BFBC-8B90D5662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47900"/>
            <a:ext cx="15240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52533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52533"/>
                </a:solidFill>
                <a:latin typeface="Aptos"/>
                <a:ea typeface="Aptos"/>
                <a:cs typeface="Aptos"/>
              </a:rPr>
              <a:t>Burden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E5C97D4-6852-4CD1-9C98-BB3F60770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266950"/>
            <a:ext cx="28765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52533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52533"/>
                </a:solidFill>
                <a:latin typeface="Aptos"/>
                <a:ea typeface="Aptos"/>
                <a:cs typeface="Aptos"/>
              </a:rPr>
              <a:t>How many detected VF genes?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5E4D493-75EA-4AAA-ACB4-4025D7815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543175"/>
            <a:ext cx="287655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587"/>
                </a:solidFill>
                <a:latin typeface="Aptos"/>
                <a:ea typeface="Aptos"/>
                <a:cs typeface="Aptos"/>
              </a:rPr>
              <a:t>descriptive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262B6D8-3EBC-4E87-8AE0-D8F1CFA06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3019425"/>
            <a:ext cx="52006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2A48A11-B348-4C58-8043-02458CB70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3019425"/>
            <a:ext cx="4762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855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06A4EF8-96C3-4E7E-81D3-927BCC470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143250"/>
            <a:ext cx="15240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52533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52533"/>
                </a:solidFill>
                <a:latin typeface="Aptos"/>
                <a:ea typeface="Aptos"/>
                <a:cs typeface="Aptos"/>
              </a:rPr>
              <a:t>Similarity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063E9FE-B42E-43F9-B6F0-A63CA91F1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162300"/>
            <a:ext cx="28765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52533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52533"/>
                </a:solidFill>
                <a:latin typeface="Aptos"/>
                <a:ea typeface="Aptos"/>
                <a:cs typeface="Aptos"/>
              </a:rPr>
              <a:t>Is the profile stable over time?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0F3F54B-5FBC-47BD-9771-7FC1657A1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438525"/>
            <a:ext cx="287655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587"/>
                </a:solidFill>
                <a:latin typeface="Aptos"/>
                <a:ea typeface="Aptos"/>
                <a:cs typeface="Aptos"/>
              </a:rPr>
              <a:t>descriptive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7B0B46C-35FC-4157-ACC0-BF0CE82C5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3914775"/>
            <a:ext cx="52006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3D911E5-DA8F-4B62-9F3C-B27EB06A9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3914775"/>
            <a:ext cx="4762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7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CDC2D5A-035E-4BFC-94D5-2A7CF2769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038600"/>
            <a:ext cx="15240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52533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52533"/>
                </a:solidFill>
                <a:latin typeface="Aptos"/>
                <a:ea typeface="Aptos"/>
                <a:cs typeface="Aptos"/>
              </a:rPr>
              <a:t>Association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9316B17-ECE2-4A7B-B3AC-B8F8F5EF2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057650"/>
            <a:ext cx="28765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52533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52533"/>
                </a:solidFill>
                <a:latin typeface="Aptos"/>
                <a:ea typeface="Aptos"/>
                <a:cs typeface="Aptos"/>
              </a:rPr>
              <a:t>Does status track VF signals?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9894B5E-A050-4C06-A0EA-F36308AD4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333875"/>
            <a:ext cx="287655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587"/>
                </a:solidFill>
                <a:latin typeface="Aptos"/>
                <a:ea typeface="Aptos"/>
                <a:cs typeface="Aptos"/>
              </a:rPr>
              <a:t>exploratory / FDR-controlled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2695257-CBB3-47A6-9984-1A29F4668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10100"/>
            <a:ext cx="104775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3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6573352-5AD5-4185-836C-CC4AF92C3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810125"/>
            <a:ext cx="196215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607587"/>
                </a:solidFill>
                <a:latin typeface="Aptos"/>
                <a:ea typeface="Aptos"/>
                <a:cs typeface="Aptos"/>
              </a:rPr>
              <a:t>Interpretation boundary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591517F-D9FA-4909-B67B-F096B8922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752975"/>
            <a:ext cx="76485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52533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52533"/>
                </a:solidFill>
                <a:latin typeface="Aptos"/>
                <a:ea typeface="Aptos"/>
                <a:cs typeface="Aptos"/>
              </a:rPr>
              <a:t>Stable measured VF does not rule out altered expression, regulation, inoculum or host state.</a:t>
            </a:r>
          </a:p>
        </p:txBody>
      </p:sp>
    </p:spTree>
    <p:extLst>
      <p:ext uri="{BB962C8B-B14F-4D97-AF65-F5344CB8AC3E}">
        <p14:creationId xmlns:p14="http://schemas.microsoft.com/office/powerpoint/2010/main" val="66210841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paper">
            <a:extLst xmlns:a="http://schemas.openxmlformats.org/drawingml/2006/main">
              <a:ext uri="{FF2B5EF4-FFF2-40B4-BE49-F238E27FC236}">
                <a16:creationId xmlns:a16="http://schemas.microsoft.com/office/drawing/2014/main" id="{131B8E2F-186E-4F48-9AD5-41BE5E375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rail">
            <a:extLst xmlns:a="http://schemas.openxmlformats.org/drawingml/2006/main">
              <a:ext uri="{FF2B5EF4-FFF2-40B4-BE49-F238E27FC236}">
                <a16:creationId xmlns:a16="http://schemas.microsoft.com/office/drawing/2014/main" id="{5A02A546-EE58-4160-B53B-3831D3EAE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53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B1A4368-04C1-4A52-AEA1-92FD7C73F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7650"/>
            <a:ext cx="495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587"/>
                </a:solidFill>
                <a:latin typeface="Aptos"/>
                <a:ea typeface="Aptos"/>
                <a:cs typeface="Aptos"/>
              </a:rPr>
              <a:t>VIRULENCE FACTORS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DCDE920-E7BF-454E-BB50-675EB8246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95300"/>
            <a:ext cx="10572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2625" b="1">
                <a:solidFill>
                  <a:srgbClr val="152533"/>
                </a:solidFill>
                <a:latin typeface="Aptos Display"/>
                <a:ea typeface="Aptos Display"/>
                <a:cs typeface="Aptos Display"/>
              </a:defRPr>
            </a:pPr>
            <a:r>
              <a:rPr sz="2625" b="1">
                <a:solidFill>
                  <a:srgbClr val="152533"/>
                </a:solidFill>
                <a:latin typeface="Aptos Display"/>
                <a:ea typeface="Aptos Display"/>
                <a:cs typeface="Aptos Display"/>
              </a:rPr>
              <a:t>Observed VF burden is descriptive across operational status groups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7451EC-9165-40F0-9C6F-9B245A793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9060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90AE48C-5479-45B4-9FBB-2FED8B120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23950"/>
            <a:ext cx="80962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07587"/>
                </a:solidFill>
                <a:latin typeface="Aptos"/>
                <a:ea typeface="Aptos"/>
                <a:cs typeface="Aptos"/>
              </a:rPr>
              <a:t>The operational UTI group is sparse (n=16), so this remains descriptive rather than causal.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678BFE-86C6-480E-AD40-14E5B54FB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143000"/>
            <a:ext cx="2686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3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4561976-2AB0-45E9-9714-28C969742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1152525"/>
            <a:ext cx="2495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587"/>
                </a:solidFill>
                <a:latin typeface="Aptos"/>
                <a:ea typeface="Aptos"/>
                <a:cs typeface="Aptos"/>
              </a:rPr>
              <a:t>DESCRIPTIVE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6525D15-48ED-4AB5-9299-F11925CA3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DCE2485-773A-46F9-986F-F783DA0A9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8572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07587"/>
                </a:solidFill>
                <a:latin typeface="Aptos"/>
                <a:ea typeface="Aptos"/>
                <a:cs typeface="Aptos"/>
              </a:rPr>
              <a:t>rUTI clinical-to-genomic review  |  operational UTI phenotype | Longcycler-only analysis  |  14 July 2026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998BB97-D692-4CE4-8891-DA87DA7D9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96650" y="6515100"/>
            <a:ext cx="304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607587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607587"/>
                </a:solidFill>
                <a:latin typeface="Aptos Mono"/>
                <a:ea typeface="Aptos Mono"/>
                <a:cs typeface="Aptos Mono"/>
              </a:rPr>
              <a:t>07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6FB41AF-A67D-4C09-A6D5-598C56405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1609725"/>
            <a:ext cx="10172700" cy="461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7"/>
            </a:solidFill>
            <a:prstDash val="solid"/>
          </a:ln>
        </p:spPr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89a7e1be61c41ff"/>
          <a:stretch xmlns:a="http://schemas.openxmlformats.org/drawingml/2006/main"/>
        </p:blipFill>
        <p:spPr>
          <a:xfrm xmlns:a="http://schemas.openxmlformats.org/drawingml/2006/main" flipH="0" flipV="0">
            <a:off x="3406009" y="1685925"/>
            <a:ext cx="5379983" cy="44577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0621846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paper">
            <a:extLst xmlns:a="http://schemas.openxmlformats.org/drawingml/2006/main">
              <a:ext uri="{FF2B5EF4-FFF2-40B4-BE49-F238E27FC236}">
                <a16:creationId xmlns:a16="http://schemas.microsoft.com/office/drawing/2014/main" id="{41BD3A68-6800-4DC1-8BDD-8326A8A77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rail">
            <a:extLst xmlns:a="http://schemas.openxmlformats.org/drawingml/2006/main">
              <a:ext uri="{FF2B5EF4-FFF2-40B4-BE49-F238E27FC236}">
                <a16:creationId xmlns:a16="http://schemas.microsoft.com/office/drawing/2014/main" id="{D0FF4191-5902-4F27-91B9-7CCD488FE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53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75CE936-C318-426E-8077-D5BBB0469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7650"/>
            <a:ext cx="495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587"/>
                </a:solidFill>
                <a:latin typeface="Aptos"/>
                <a:ea typeface="Aptos"/>
                <a:cs typeface="Aptos"/>
              </a:rPr>
              <a:t>VIRULENCE FACTORS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7814DBA-9577-436F-9325-C060BBBDB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95300"/>
            <a:ext cx="10572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2625" b="1">
                <a:solidFill>
                  <a:srgbClr val="152533"/>
                </a:solidFill>
                <a:latin typeface="Aptos Display"/>
                <a:ea typeface="Aptos Display"/>
                <a:cs typeface="Aptos Display"/>
              </a:defRPr>
            </a:pPr>
            <a:r>
              <a:rPr sz="2625" b="1">
                <a:solidFill>
                  <a:srgbClr val="152533"/>
                </a:solidFill>
                <a:latin typeface="Aptos Display"/>
                <a:ea typeface="Aptos Display"/>
                <a:cs typeface="Aptos Display"/>
              </a:rPr>
              <a:t>Participant-aware VF screens remain exploratory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E2492A-EEBC-414B-9F1A-DF0B63398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9060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885E2A9-7593-4605-960E-16C6745C6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23950"/>
            <a:ext cx="80962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07587"/>
                </a:solidFill>
                <a:latin typeface="Aptos"/>
                <a:ea typeface="Aptos"/>
                <a:cs typeface="Aptos"/>
              </a:rPr>
              <a:t>Participant-aware modelling in 532 selected episodes defines the current evidential boundary.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B306AE1-F92D-4727-8D64-938B05420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143000"/>
            <a:ext cx="2686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3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1C158A-1B35-4967-B400-F1BD9D0CC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1152525"/>
            <a:ext cx="2495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587"/>
                </a:solidFill>
                <a:latin typeface="Aptos"/>
                <a:ea typeface="Aptos"/>
                <a:cs typeface="Aptos"/>
              </a:rPr>
              <a:t>EXPLORATORY / FDR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74C35F6-6C8C-4AA3-BF8B-6F327732C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6A74E02-45FE-4944-BC2B-C97589E93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8572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07587"/>
                </a:solidFill>
                <a:latin typeface="Aptos"/>
                <a:ea typeface="Aptos"/>
                <a:cs typeface="Aptos"/>
              </a:rPr>
              <a:t>rUTI clinical-to-genomic review  |  operational UTI phenotype | Longcycler-only analysis  |  14 July 2026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5751F87-4266-4C1C-B347-79B8133D0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96650" y="6515100"/>
            <a:ext cx="304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607587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607587"/>
                </a:solidFill>
                <a:latin typeface="Aptos Mono"/>
                <a:ea typeface="Aptos Mono"/>
                <a:cs typeface="Aptos Mono"/>
              </a:rPr>
              <a:t>08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B4F1851-C831-4A7B-AEA1-A5AC5B98A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19250"/>
            <a:ext cx="10725150" cy="453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7"/>
            </a:solidFill>
            <a:prstDash val="solid"/>
          </a:ln>
        </p:spPr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14396b2278d460b"/>
          <a:stretch xmlns:a="http://schemas.openxmlformats.org/drawingml/2006/main"/>
        </p:blipFill>
        <p:spPr>
          <a:xfrm xmlns:a="http://schemas.openxmlformats.org/drawingml/2006/main" flipH="0" flipV="0">
            <a:off x="2398102" y="1695450"/>
            <a:ext cx="7414846" cy="4381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7942421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paper">
            <a:extLst xmlns:a="http://schemas.openxmlformats.org/drawingml/2006/main">
              <a:ext uri="{FF2B5EF4-FFF2-40B4-BE49-F238E27FC236}">
                <a16:creationId xmlns:a16="http://schemas.microsoft.com/office/drawing/2014/main" id="{C9336D56-CC8E-45A0-A4CA-F60E53AD1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rail">
            <a:extLst xmlns:a="http://schemas.openxmlformats.org/drawingml/2006/main">
              <a:ext uri="{FF2B5EF4-FFF2-40B4-BE49-F238E27FC236}">
                <a16:creationId xmlns:a16="http://schemas.microsoft.com/office/drawing/2014/main" id="{2B1F5543-C3E5-4A2E-99A6-F846B799A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53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000D59-A12D-405B-B2FE-2B8A912E3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7650"/>
            <a:ext cx="495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587"/>
                </a:solidFill>
                <a:latin typeface="Aptos"/>
                <a:ea typeface="Aptos"/>
                <a:cs typeface="Aptos"/>
              </a:rPr>
              <a:t>LONGITUDINAL EXAMPLE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B1A6A5-9FBB-46B5-88B9-912E80BAE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95300"/>
            <a:ext cx="10572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2625" b="1">
                <a:solidFill>
                  <a:srgbClr val="152533"/>
                </a:solidFill>
                <a:latin typeface="Aptos Display"/>
                <a:ea typeface="Aptos Display"/>
                <a:cs typeface="Aptos Display"/>
              </a:defRPr>
            </a:pPr>
            <a:r>
              <a:rPr sz="2625" b="1">
                <a:solidFill>
                  <a:srgbClr val="152533"/>
                </a:solidFill>
                <a:latin typeface="Aptos Display"/>
                <a:ea typeface="Aptos Display"/>
                <a:cs typeface="Aptos Display"/>
              </a:rPr>
              <a:t>9 operational Not_UTI-to-UTI transitions are all genomically linked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99245B8-E626-4ED3-84C2-330950344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9060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D2AF0B1-F04C-4B5F-A825-8ED050E7C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23950"/>
            <a:ext cx="80962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07587"/>
                </a:solidFill>
                <a:latin typeface="Aptos"/>
                <a:ea typeface="Aptos"/>
                <a:cs typeface="Aptos"/>
              </a:rPr>
              <a:t>5 of 9 focused direct pairs are at or below 25 SNPs.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4127933-269E-4442-8510-9A5BD2CCC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143000"/>
            <a:ext cx="2686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3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4C265A0-3B75-4955-895E-2A1611201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1152525"/>
            <a:ext cx="2495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587"/>
                </a:solidFill>
                <a:latin typeface="Aptos"/>
                <a:ea typeface="Aptos"/>
                <a:cs typeface="Aptos"/>
              </a:rPr>
              <a:t>DESCRIPTIVE CASE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57786D5-9DCB-446D-A912-F23E4F658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A7B6DAD-C67E-4662-A041-5E6A313CF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8572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07587"/>
                </a:solidFill>
                <a:latin typeface="Aptos"/>
                <a:ea typeface="Aptos"/>
                <a:cs typeface="Aptos"/>
              </a:rPr>
              <a:t>rUTI clinical-to-genomic review  |  operational UTI phenotype | Longcycler-only analysis  |  14 July 2026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7E16C2F-7FA8-4F7E-8CD6-252E87404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96650" y="6515100"/>
            <a:ext cx="304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607587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607587"/>
                </a:solidFill>
                <a:latin typeface="Aptos Mono"/>
                <a:ea typeface="Aptos Mono"/>
                <a:cs typeface="Aptos Mono"/>
              </a:rPr>
              <a:t>09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79A11CA-BD50-4732-ABF6-F44E737E6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019300"/>
            <a:ext cx="1009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2F3F5DC-C90F-4ED5-B443-5C268757C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028825"/>
            <a:ext cx="8191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2678B8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2678B8"/>
                </a:solidFill>
                <a:latin typeface="Aptos"/>
                <a:ea typeface="Aptos"/>
                <a:cs typeface="Aptos"/>
              </a:rPr>
              <a:t>NOT_UTI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58A1E1D-6DAE-4CDD-A708-208EE6DD3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019300"/>
            <a:ext cx="7239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0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C9D9186-8453-41F9-BCBB-6913E567B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2028825"/>
            <a:ext cx="5334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E7772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E7772F"/>
                </a:solidFill>
                <a:latin typeface="Aptos"/>
                <a:ea typeface="Aptos"/>
                <a:cs typeface="Aptos"/>
              </a:rPr>
              <a:t>UTI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47F685A-EC92-4D74-A2C7-E86975805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81250"/>
            <a:ext cx="1143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2678B8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2678B8"/>
                </a:solidFill>
                <a:latin typeface="Aptos Display"/>
                <a:ea typeface="Aptos Display"/>
                <a:cs typeface="Aptos Display"/>
              </a:rPr>
              <a:t>9 cases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7BF63F9-2956-4992-A595-1189711D9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809875"/>
            <a:ext cx="21526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5253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52533"/>
                </a:solidFill>
                <a:latin typeface="Aptos"/>
                <a:ea typeface="Aptos"/>
                <a:cs typeface="Aptos"/>
              </a:rPr>
              <a:t>operational Not_UTI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15253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52533"/>
                </a:solidFill>
                <a:latin typeface="Aptos"/>
                <a:ea typeface="Aptos"/>
                <a:cs typeface="Aptos"/>
              </a:rPr>
              <a:t>starting endpoints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B7602EE-4A1A-4AC9-A540-AE721B51F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381250"/>
            <a:ext cx="1238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E7772F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E7772F"/>
                </a:solidFill>
                <a:latin typeface="Aptos Display"/>
                <a:ea typeface="Aptos Display"/>
                <a:cs typeface="Aptos Display"/>
              </a:rPr>
              <a:t>9 linked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060DFC3-1A10-42D8-BF7E-C94D9F83E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809875"/>
            <a:ext cx="21336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5253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52533"/>
                </a:solidFill>
                <a:latin typeface="Aptos"/>
                <a:ea typeface="Aptos"/>
                <a:cs typeface="Aptos"/>
              </a:rPr>
              <a:t>operational UTI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15253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52533"/>
                </a:solidFill>
                <a:latin typeface="Aptos"/>
                <a:ea typeface="Aptos"/>
                <a:cs typeface="Aptos"/>
              </a:rPr>
              <a:t>ending endpoints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CF1714A-5614-45D9-9F08-05A82E3DD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6075" y="2733675"/>
            <a:ext cx="628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CDF4AC7-196D-47C9-92E4-EA63393A9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57175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7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8DE9463-D1EC-46FE-8169-3403C955B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57175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772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19DA3A0-5A6D-42FA-8FB6-BE2FE812B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2238375"/>
            <a:ext cx="310515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5F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2709976-4C0B-4D91-BE2F-0DA14B2E5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400300"/>
            <a:ext cx="278130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825" b="1">
                <a:solidFill>
                  <a:srgbClr val="17855B"/>
                </a:solidFill>
                <a:latin typeface="Aptos Mono"/>
                <a:ea typeface="Aptos Mono"/>
                <a:cs typeface="Aptos Mono"/>
              </a:defRPr>
            </a:pPr>
            <a:r>
              <a:rPr sz="825" b="1">
                <a:solidFill>
                  <a:srgbClr val="17855B"/>
                </a:solidFill>
                <a:latin typeface="Aptos Mono"/>
                <a:ea typeface="Aptos Mono"/>
                <a:cs typeface="Aptos Mono"/>
              </a:rPr>
              <a:t>25 SNP CUTOFF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1F2BD14-0761-4B31-82F2-01777BA1E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571750"/>
            <a:ext cx="27813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17855B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17855B"/>
                </a:solidFill>
                <a:latin typeface="Aptos Display"/>
                <a:ea typeface="Aptos Display"/>
                <a:cs typeface="Aptos Display"/>
              </a:rPr>
              <a:t>5 of 9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5D8CD86-D208-4B72-AE7E-A8EA7281E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990850"/>
            <a:ext cx="2781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975" b="0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07587"/>
                </a:solidFill>
                <a:latin typeface="Aptos"/>
                <a:ea typeface="Aptos"/>
                <a:cs typeface="Aptos"/>
              </a:rPr>
              <a:t>at or below the operational threshold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19DCDE7-D68E-4607-95C2-C3A2260C4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800475"/>
            <a:ext cx="232410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587"/>
                </a:solidFill>
                <a:latin typeface="Aptos"/>
                <a:ea typeface="Aptos"/>
                <a:cs typeface="Aptos"/>
              </a:rPr>
              <a:t>MEASURED CHANGE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2CD2B98-A7B8-47C7-8B63-521360C21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133850"/>
            <a:ext cx="30670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67B872C-837F-4B35-B156-4D1B7847E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1338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855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FCA3297-7C28-4181-B9D5-512948AF8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276725"/>
            <a:ext cx="266700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587"/>
                </a:solidFill>
                <a:latin typeface="Aptos"/>
                <a:ea typeface="Aptos"/>
                <a:cs typeface="Aptos"/>
              </a:rPr>
              <a:t>VF PROFILE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EB077BA-56BA-4B6A-A41E-5D3705730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524375"/>
            <a:ext cx="2705100" cy="276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7855B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17855B"/>
                </a:solidFill>
                <a:latin typeface="Aptos Display"/>
                <a:ea typeface="Aptos Display"/>
                <a:cs typeface="Aptos Display"/>
              </a:rPr>
              <a:t>140/371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751481B-4333-45CB-82E2-F57FB0892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838700"/>
            <a:ext cx="2571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07587"/>
                </a:solidFill>
                <a:latin typeface="Aptos"/>
                <a:ea typeface="Aptos"/>
                <a:cs typeface="Aptos"/>
              </a:rPr>
              <a:t>adjacent pairs &lt;= threshold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F41524C-9E9C-4AD5-8542-18CEC568F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4133850"/>
            <a:ext cx="30670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20F59E9-68CA-4259-8770-1377787FD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41338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855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38B9A98-09CE-4D81-8369-D6A2C00DF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276725"/>
            <a:ext cx="266700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587"/>
                </a:solidFill>
                <a:latin typeface="Aptos"/>
                <a:ea typeface="Aptos"/>
                <a:cs typeface="Aptos"/>
              </a:rPr>
              <a:t>SNP DISTANCE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6447316-97DA-438E-9B9A-7E1EAAB16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524375"/>
            <a:ext cx="2705100" cy="276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7855B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17855B"/>
                </a:solidFill>
                <a:latin typeface="Aptos Display"/>
                <a:ea typeface="Aptos Display"/>
                <a:cs typeface="Aptos Display"/>
              </a:rPr>
              <a:t>893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6407F4B-B181-46C9-8952-C73386FC2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838700"/>
            <a:ext cx="2571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07587"/>
                </a:solidFill>
                <a:latin typeface="Aptos"/>
                <a:ea typeface="Aptos"/>
                <a:cs typeface="Aptos"/>
              </a:rPr>
              <a:t>all direct pairs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7EB1210-8281-46F3-9F1E-0C5B6A1AD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133850"/>
            <a:ext cx="30670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17368CD-0962-4F71-AD2C-3DE8DC2BB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1338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772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9B5E2E6-BEDF-4516-BFEC-EE8365360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276725"/>
            <a:ext cx="266700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587"/>
                </a:solidFill>
                <a:latin typeface="Aptos"/>
                <a:ea typeface="Aptos"/>
                <a:cs typeface="Aptos"/>
              </a:rPr>
              <a:t>CLINICAL STATE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77AF15C-560D-42EC-9DED-ACF48288F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524375"/>
            <a:ext cx="2705100" cy="276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E7772F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E7772F"/>
                </a:solidFill>
                <a:latin typeface="Aptos Display"/>
                <a:ea typeface="Aptos Display"/>
                <a:cs typeface="Aptos Display"/>
              </a:rPr>
              <a:t>9 -&gt; 9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3AA12DA-BBC8-4E92-9B46-E8FFE573A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838700"/>
            <a:ext cx="2571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07587"/>
                </a:solidFill>
                <a:latin typeface="Aptos"/>
                <a:ea typeface="Aptos"/>
                <a:cs typeface="Aptos"/>
              </a:rPr>
              <a:t>cases -&gt; linked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B74281C-AFA8-49C1-901C-A207E681E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467350"/>
            <a:ext cx="9886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5F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F23A56C4-74CD-4187-B0D5-D67EAC3BC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581650"/>
            <a:ext cx="94297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52533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52533"/>
                </a:solidFill>
                <a:latin typeface="Aptos"/>
                <a:ea typeface="Aptos"/>
                <a:cs typeface="Aptos"/>
              </a:rPr>
              <a:t>Close direct pairs motivate host-state or regulatory hypotheses; neither close nor distant pairs prove mechanism.</a:t>
            </a:r>
          </a:p>
        </p:txBody>
      </p:sp>
    </p:spTree>
    <p:extLst>
      <p:ext uri="{BB962C8B-B14F-4D97-AF65-F5344CB8AC3E}">
        <p14:creationId xmlns:p14="http://schemas.microsoft.com/office/powerpoint/2010/main" val="1490517865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paper">
            <a:extLst xmlns:a="http://schemas.openxmlformats.org/drawingml/2006/main">
              <a:ext uri="{FF2B5EF4-FFF2-40B4-BE49-F238E27FC236}">
                <a16:creationId xmlns:a16="http://schemas.microsoft.com/office/drawing/2014/main" id="{72BBE8D9-2B86-4ED6-8F56-643BEF4E1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rail">
            <a:extLst xmlns:a="http://schemas.openxmlformats.org/drawingml/2006/main">
              <a:ext uri="{FF2B5EF4-FFF2-40B4-BE49-F238E27FC236}">
                <a16:creationId xmlns:a16="http://schemas.microsoft.com/office/drawing/2014/main" id="{B09F477A-36C4-4FC7-A050-268F24023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53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5EEFF51-F750-4748-B2DC-C6963D5A4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7650"/>
            <a:ext cx="495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587"/>
                </a:solidFill>
                <a:latin typeface="Aptos"/>
                <a:ea typeface="Aptos"/>
                <a:cs typeface="Aptos"/>
              </a:rPr>
              <a:t>TRANSITION CASEBOOK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A26EBBE-0C12-44DE-84BE-C93EF3261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95300"/>
            <a:ext cx="10572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2625" b="1">
                <a:solidFill>
                  <a:srgbClr val="152533"/>
                </a:solidFill>
                <a:latin typeface="Aptos Display"/>
                <a:ea typeface="Aptos Display"/>
                <a:cs typeface="Aptos Display"/>
              </a:defRPr>
            </a:pPr>
            <a:r>
              <a:rPr sz="2625" b="1">
                <a:solidFill>
                  <a:srgbClr val="152533"/>
                </a:solidFill>
                <a:latin typeface="Aptos Display"/>
                <a:ea typeface="Aptos Display"/>
                <a:cs typeface="Aptos Display"/>
              </a:rPr>
              <a:t>Not_UTI-to-UTI transitions are biologically heterogeneous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FAD151-F908-4CA7-8C42-40F671722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9060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838DA5-277D-4BE9-BD9D-06517E579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23950"/>
            <a:ext cx="80962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07587"/>
                </a:solidFill>
                <a:latin typeface="Aptos"/>
                <a:ea typeface="Aptos"/>
                <a:cs typeface="Aptos"/>
              </a:rPr>
              <a:t>9 operational transitions are all genomically linked; 0 endpoints are missing.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CAEA04C-C9F9-49FD-9864-F3E5E713E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143000"/>
            <a:ext cx="2686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3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EC81026-402C-4321-A373-EFD21BA7B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1152525"/>
            <a:ext cx="2495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587"/>
                </a:solidFill>
                <a:latin typeface="Aptos"/>
                <a:ea typeface="Aptos"/>
                <a:cs typeface="Aptos"/>
              </a:rPr>
              <a:t>DESCRIPTIVE CASEBOOK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064E317-71D4-49DB-9117-6AC706601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6FB1F92-21A7-4D75-8857-33CEA447F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8572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07587"/>
                </a:solidFill>
                <a:latin typeface="Aptos"/>
                <a:ea typeface="Aptos"/>
                <a:cs typeface="Aptos"/>
              </a:rPr>
              <a:t>rUTI clinical-to-genomic review  |  operational UTI phenotype | Longcycler-only analysis  |  14 July 2026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DC4207C-E288-4D71-B43A-26493A461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96650" y="6515100"/>
            <a:ext cx="304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607587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607587"/>
                </a:solidFill>
                <a:latin typeface="Aptos Mono"/>
                <a:ea typeface="Aptos Mono"/>
                <a:cs typeface="Aptos Mono"/>
              </a:rPr>
              <a:t>10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3C462C6-279B-4A22-A0FE-41F84F549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09725"/>
            <a:ext cx="10687050" cy="455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7"/>
            </a:solidFill>
            <a:prstDash val="solid"/>
          </a:ln>
        </p:spPr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bee4e453724cad"/>
          <a:stretch xmlns:a="http://schemas.openxmlformats.org/drawingml/2006/main"/>
        </p:blipFill>
        <p:spPr>
          <a:xfrm xmlns:a="http://schemas.openxmlformats.org/drawingml/2006/main" flipH="0" flipV="0">
            <a:off x="1774205" y="1685925"/>
            <a:ext cx="8586439" cy="44005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553687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paper">
            <a:extLst xmlns:a="http://schemas.openxmlformats.org/drawingml/2006/main">
              <a:ext uri="{FF2B5EF4-FFF2-40B4-BE49-F238E27FC236}">
                <a16:creationId xmlns:a16="http://schemas.microsoft.com/office/drawing/2014/main" id="{5CC1E6C2-71C1-422B-A40C-7294F641C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rail">
            <a:extLst xmlns:a="http://schemas.openxmlformats.org/drawingml/2006/main">
              <a:ext uri="{FF2B5EF4-FFF2-40B4-BE49-F238E27FC236}">
                <a16:creationId xmlns:a16="http://schemas.microsoft.com/office/drawing/2014/main" id="{5C1A90DC-E9BA-4627-AB7F-A236D3829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53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BD9E02E-A41D-474E-9EC5-A705F7DA0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7650"/>
            <a:ext cx="495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587"/>
                </a:solidFill>
                <a:latin typeface="Aptos"/>
                <a:ea typeface="Aptos"/>
                <a:cs typeface="Aptos"/>
              </a:rPr>
              <a:t>CENTRAL OBSERVATION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92A438-6146-4E22-97F0-21B30D3D7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95300"/>
            <a:ext cx="10572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2625" b="1">
                <a:solidFill>
                  <a:srgbClr val="152533"/>
                </a:solidFill>
                <a:latin typeface="Aptos Display"/>
                <a:ea typeface="Aptos Display"/>
                <a:cs typeface="Aptos Display"/>
              </a:defRPr>
            </a:pPr>
            <a:r>
              <a:rPr sz="2625" b="1">
                <a:solidFill>
                  <a:srgbClr val="152533"/>
                </a:solidFill>
                <a:latin typeface="Aptos Display"/>
                <a:ea typeface="Aptos Display"/>
                <a:cs typeface="Aptos Display"/>
              </a:rPr>
              <a:t>Direct paired evidence distinguishes close from distant clinical transitions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7467B58-42F8-4E63-AFE5-5A712F1D3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9060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10C2D5E-AB5A-4890-84B1-55FB2DB4B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23950"/>
            <a:ext cx="80962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07587"/>
                </a:solidFill>
                <a:latin typeface="Aptos"/>
                <a:ea typeface="Aptos"/>
                <a:cs typeface="Aptos"/>
              </a:rPr>
              <a:t>5/9 focused transitions and 140/371 adjacent pairs are &lt;=25 SNPs.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534730B-5CC6-4EF5-8886-0D87721FE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143000"/>
            <a:ext cx="2686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3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2C1E967-99FD-4AE1-8321-A4C7923BD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1152525"/>
            <a:ext cx="2495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587"/>
                </a:solidFill>
                <a:latin typeface="Aptos"/>
                <a:ea typeface="Aptos"/>
                <a:cs typeface="Aptos"/>
              </a:rPr>
              <a:t>DESCRIPTIVE TRANSITION CONTEXT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EA7B68E-9984-4223-84C8-1DC887FFB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01FA83A-9464-4E4A-AA99-0E22D78B8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8572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07587"/>
                </a:solidFill>
                <a:latin typeface="Aptos"/>
                <a:ea typeface="Aptos"/>
                <a:cs typeface="Aptos"/>
              </a:rPr>
              <a:t>rUTI clinical-to-genomic review  |  operational UTI phenotype | Longcycler-only analysis  |  14 July 2026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E00AC50-2338-4EED-BFFA-2F33C5AAC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96650" y="6515100"/>
            <a:ext cx="304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607587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607587"/>
                </a:solidFill>
                <a:latin typeface="Aptos Mono"/>
                <a:ea typeface="Aptos Mono"/>
                <a:cs typeface="Aptos Mono"/>
              </a:rPr>
              <a:t>11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E4D82A-7FA0-4B7A-B331-D26683169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10782300" cy="457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7"/>
            </a:solidFill>
            <a:prstDash val="solid"/>
          </a:ln>
        </p:spPr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b1e458033040f1"/>
          <a:stretch xmlns:a="http://schemas.openxmlformats.org/drawingml/2006/main"/>
        </p:blipFill>
        <p:spPr>
          <a:xfrm xmlns:a="http://schemas.openxmlformats.org/drawingml/2006/main" flipH="0" flipV="0">
            <a:off x="1657350" y="1676400"/>
            <a:ext cx="8839200" cy="44196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2542397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paper">
            <a:extLst xmlns:a="http://schemas.openxmlformats.org/drawingml/2006/main">
              <a:ext uri="{FF2B5EF4-FFF2-40B4-BE49-F238E27FC236}">
                <a16:creationId xmlns:a16="http://schemas.microsoft.com/office/drawing/2014/main" id="{331509BF-1378-4ABF-9F55-2838B3DFF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rail">
            <a:extLst xmlns:a="http://schemas.openxmlformats.org/drawingml/2006/main">
              <a:ext uri="{FF2B5EF4-FFF2-40B4-BE49-F238E27FC236}">
                <a16:creationId xmlns:a16="http://schemas.microsoft.com/office/drawing/2014/main" id="{03584B28-C3B3-4D76-A5D8-E6238DC6D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53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351EB4C-CD8D-46D2-B454-F0E14F88B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7650"/>
            <a:ext cx="495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587"/>
                </a:solidFill>
                <a:latin typeface="Aptos"/>
                <a:ea typeface="Aptos"/>
                <a:cs typeface="Aptos"/>
              </a:rPr>
              <a:t>POPULATION-LEVEL INFERENCE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38EC34E-0BF5-4701-B6FB-DD260E39E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95300"/>
            <a:ext cx="10572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2625" b="1">
                <a:solidFill>
                  <a:srgbClr val="152533"/>
                </a:solidFill>
                <a:latin typeface="Aptos Display"/>
                <a:ea typeface="Aptos Display"/>
                <a:cs typeface="Aptos Display"/>
              </a:defRPr>
            </a:pPr>
            <a:r>
              <a:rPr sz="2625" b="1">
                <a:solidFill>
                  <a:srgbClr val="152533"/>
                </a:solidFill>
                <a:latin typeface="Aptos Display"/>
                <a:ea typeface="Aptos Display"/>
                <a:cs typeface="Aptos Display"/>
              </a:rPr>
              <a:t>Population-level VF analysis remains exploratory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F56A161-83EB-4FF8-8356-6297AE45B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9060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B22B69-3BED-48CC-A381-C76D4B6D7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23950"/>
            <a:ext cx="80962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07587"/>
                </a:solidFill>
                <a:latin typeface="Aptos"/>
                <a:ea typeface="Aptos"/>
                <a:cs typeface="Aptos"/>
              </a:rPr>
              <a:t>With 16 operational UTI episodes, participant-aware VF signals remain exploratory and non-causal.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17F4D58-550D-4286-9015-993709D33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143000"/>
            <a:ext cx="2686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3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9D15578-CBB8-4DA0-9AC1-AE6C56D94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1152525"/>
            <a:ext cx="2495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587"/>
                </a:solidFill>
                <a:latin typeface="Aptos"/>
                <a:ea typeface="Aptos"/>
                <a:cs typeface="Aptos"/>
              </a:rPr>
              <a:t>EXPLORATORY ROBUSTNESS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59F6FA1-0915-490C-8E48-9B8EFA2AA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968BCFA-93DE-4C84-8833-F4E9E953E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8572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07587"/>
                </a:solidFill>
                <a:latin typeface="Aptos"/>
                <a:ea typeface="Aptos"/>
                <a:cs typeface="Aptos"/>
              </a:rPr>
              <a:t>rUTI clinical-to-genomic review  |  operational UTI phenotype | Longcycler-only analysis  |  14 July 2026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31BC62C-CD2E-47E1-8D69-5FDF2C8F7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96650" y="6515100"/>
            <a:ext cx="304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607587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607587"/>
                </a:solidFill>
                <a:latin typeface="Aptos Mono"/>
                <a:ea typeface="Aptos Mono"/>
                <a:cs typeface="Aptos Mono"/>
              </a:rPr>
              <a:t>12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9F4FBA-DF30-4FFF-8E66-AB190FE00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609725"/>
            <a:ext cx="10572750" cy="4543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7"/>
            </a:solidFill>
            <a:prstDash val="solid"/>
          </a:ln>
        </p:spPr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87c8b5e35274deb"/>
          <a:stretch xmlns:a="http://schemas.openxmlformats.org/drawingml/2006/main"/>
        </p:blipFill>
        <p:spPr>
          <a:xfrm xmlns:a="http://schemas.openxmlformats.org/drawingml/2006/main" flipH="0" flipV="0">
            <a:off x="2427288" y="1685925"/>
            <a:ext cx="7318375" cy="439102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8400387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paper">
            <a:extLst xmlns:a="http://schemas.openxmlformats.org/drawingml/2006/main">
              <a:ext uri="{FF2B5EF4-FFF2-40B4-BE49-F238E27FC236}">
                <a16:creationId xmlns:a16="http://schemas.microsoft.com/office/drawing/2014/main" id="{F317D745-004E-4F8D-813B-E1BFDC7FD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rail">
            <a:extLst xmlns:a="http://schemas.openxmlformats.org/drawingml/2006/main">
              <a:ext uri="{FF2B5EF4-FFF2-40B4-BE49-F238E27FC236}">
                <a16:creationId xmlns:a16="http://schemas.microsoft.com/office/drawing/2014/main" id="{3DB5052A-4F59-4D56-9B38-12AA268FF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53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A24863C-016E-48EE-AF03-8E722FFCB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7650"/>
            <a:ext cx="495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587"/>
                </a:solidFill>
                <a:latin typeface="Aptos"/>
                <a:ea typeface="Aptos"/>
                <a:cs typeface="Aptos"/>
              </a:rPr>
              <a:t>DISCUSSION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B1C084E-AC66-4F1D-A164-DEC78950B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95300"/>
            <a:ext cx="10572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2625" b="1">
                <a:solidFill>
                  <a:srgbClr val="152533"/>
                </a:solidFill>
                <a:latin typeface="Aptos Display"/>
                <a:ea typeface="Aptos Display"/>
                <a:cs typeface="Aptos Display"/>
              </a:defRPr>
            </a:pPr>
            <a:r>
              <a:rPr sz="2625" b="1">
                <a:solidFill>
                  <a:srgbClr val="152533"/>
                </a:solidFill>
                <a:latin typeface="Aptos Display"/>
                <a:ea typeface="Aptos Display"/>
                <a:cs typeface="Aptos Display"/>
              </a:rPr>
              <a:t>What is known, what is limited, what comes next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503B05-585D-4717-8022-B0E10148F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9060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F8BD9B-369C-491E-AC47-C8EAA120D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23950"/>
            <a:ext cx="11049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07587"/>
                </a:solidFill>
                <a:latin typeface="Aptos"/>
                <a:ea typeface="Aptos"/>
                <a:cs typeface="Aptos"/>
              </a:rPr>
              <a:t>The current evidence supports a focused next phase rather than a broad association claim.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A1DFB9B-32CC-42D3-9115-863B03F67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D47C7C7-1082-47D0-A0B6-098BBCD8A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8572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07587"/>
                </a:solidFill>
                <a:latin typeface="Aptos"/>
                <a:ea typeface="Aptos"/>
                <a:cs typeface="Aptos"/>
              </a:rPr>
              <a:t>rUTI clinical-to-genomic review  |  operational UTI phenotype | Longcycler-only analysis  |  14 July 2026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D93AF1-B996-4781-8412-7CE611B9E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96650" y="6515100"/>
            <a:ext cx="304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607587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607587"/>
                </a:solidFill>
                <a:latin typeface="Aptos Mono"/>
                <a:ea typeface="Aptos Mono"/>
                <a:cs typeface="Aptos Mono"/>
              </a:rPr>
              <a:t>13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10B5437-0959-4E66-8FA0-AA3E44633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28800"/>
            <a:ext cx="331470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5F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0AAF946-282C-4424-B208-2ACE5B73C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28800"/>
            <a:ext cx="33147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855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BDF24AE-5046-4113-8139-6B22F93D2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2133600"/>
            <a:ext cx="2381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7855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7855B"/>
                </a:solidFill>
                <a:latin typeface="Aptos"/>
                <a:ea typeface="Aptos"/>
                <a:cs typeface="Aptos"/>
              </a:rPr>
              <a:t>EVIDENCE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C3671F0-2986-4497-A96D-3AEA7D9B0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2609850"/>
            <a:ext cx="27813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52533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52533"/>
                </a:solidFill>
                <a:latin typeface="Aptos"/>
                <a:ea typeface="Aptos"/>
                <a:cs typeface="Aptos"/>
              </a:rPr>
              <a:t>5 of 9 focused direct pairs are &lt;=25 SNPs.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4231F7F-6D94-4EE9-A35D-A5777C2B7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3543300"/>
            <a:ext cx="278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BD1A3F9-4DCF-4287-932C-89967EDE0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3848100"/>
            <a:ext cx="27813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5253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52533"/>
                </a:solidFill>
                <a:latin typeface="Aptos"/>
                <a:ea typeface="Aptos"/>
                <a:cs typeface="Aptos"/>
              </a:rPr>
              <a:t>4 focused pairs are above the threshold; no single mechanism is established.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0C7EB8E-2250-42E5-8A97-8AA3049AF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9575" y="1828800"/>
            <a:ext cx="331470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3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04FAC01-6E25-4E9E-906C-25EFF4803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9575" y="1828800"/>
            <a:ext cx="33147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0758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EAE16FE-FA39-43BC-BB2F-B6DD41360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133600"/>
            <a:ext cx="2381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07587"/>
                </a:solidFill>
                <a:latin typeface="Aptos"/>
                <a:ea typeface="Aptos"/>
                <a:cs typeface="Aptos"/>
              </a:rPr>
              <a:t>LIMITATION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A8323B0-D38F-4590-B374-FDC3E9CA6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609850"/>
            <a:ext cx="27813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52533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52533"/>
                </a:solidFill>
                <a:latin typeface="Aptos"/>
                <a:ea typeface="Aptos"/>
                <a:cs typeface="Aptos"/>
              </a:rPr>
              <a:t>Only 16 selected episodes meet the operational UTI phenotype.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9F638C0-AA51-4309-AF1C-F18106639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543300"/>
            <a:ext cx="278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F39C940-41C3-49B9-BBF9-7091BA1D9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848100"/>
            <a:ext cx="27813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5253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52533"/>
                </a:solidFill>
                <a:latin typeface="Aptos"/>
                <a:ea typeface="Aptos"/>
                <a:cs typeface="Aptos"/>
              </a:rPr>
              <a:t>Presence/absence cannot measure expression or host state.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2F8314F-885E-454E-959B-0FDBC393C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828800"/>
            <a:ext cx="331470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0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F7BF99F-EE3C-4C80-9E33-3EC0C81FA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828800"/>
            <a:ext cx="33147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772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DF8F0CB-CFDC-493B-9DB5-852F6F299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133600"/>
            <a:ext cx="2381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7772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E7772F"/>
                </a:solidFill>
                <a:latin typeface="Aptos"/>
                <a:ea typeface="Aptos"/>
                <a:cs typeface="Aptos"/>
              </a:rPr>
              <a:t>NEXT STEP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550E9A9-BCC0-45D1-B835-B8019140A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609850"/>
            <a:ext cx="27813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52533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52533"/>
                </a:solidFill>
                <a:latin typeface="Aptos"/>
                <a:ea typeface="Aptos"/>
                <a:cs typeface="Aptos"/>
              </a:rPr>
              <a:t>Prioritise within-strain cases for deeper follow-up.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5EFE5D4-B329-491D-AB2E-42858D16C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3543300"/>
            <a:ext cx="278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058818B-00B3-4761-8D81-DB8465769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3848100"/>
            <a:ext cx="27813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5253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52533"/>
                </a:solidFill>
                <a:latin typeface="Aptos"/>
                <a:ea typeface="Aptos"/>
                <a:cs typeface="Aptos"/>
              </a:rPr>
              <a:t>Pair bacterial genomic hypotheses with host/context data.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0915320-B426-4BB4-9FC0-30560A9EA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429250"/>
            <a:ext cx="10477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5253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52533"/>
                </a:solidFill>
                <a:latin typeface="Aptos"/>
                <a:ea typeface="Aptos"/>
                <a:cs typeface="Aptos"/>
              </a:rPr>
              <a:t>Discussion prompt: which transition-level experiment would most sharply distinguish host context from unmeasured bacterial regulation?</a:t>
            </a:r>
          </a:p>
        </p:txBody>
      </p:sp>
    </p:spTree>
    <p:extLst>
      <p:ext uri="{BB962C8B-B14F-4D97-AF65-F5344CB8AC3E}">
        <p14:creationId xmlns:p14="http://schemas.microsoft.com/office/powerpoint/2010/main" val="1590051465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paper">
            <a:extLst xmlns:a="http://schemas.openxmlformats.org/drawingml/2006/main">
              <a:ext uri="{FF2B5EF4-FFF2-40B4-BE49-F238E27FC236}">
                <a16:creationId xmlns:a16="http://schemas.microsoft.com/office/drawing/2014/main" id="{1780197B-444F-4200-B9AF-263A53772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rail">
            <a:extLst xmlns:a="http://schemas.openxmlformats.org/drawingml/2006/main">
              <a:ext uri="{FF2B5EF4-FFF2-40B4-BE49-F238E27FC236}">
                <a16:creationId xmlns:a16="http://schemas.microsoft.com/office/drawing/2014/main" id="{07C80554-5009-43DE-80C0-2DDAC639B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53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0A7023C-4157-4638-A437-EA2A0B7F8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7650"/>
            <a:ext cx="495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587"/>
                </a:solidFill>
                <a:latin typeface="Aptos"/>
                <a:ea typeface="Aptos"/>
                <a:cs typeface="Aptos"/>
              </a:rPr>
              <a:t>APPENDIX / HANDOVER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82BED8-3396-440F-A52A-FA7226333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95300"/>
            <a:ext cx="10572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2625" b="1">
                <a:solidFill>
                  <a:srgbClr val="152533"/>
                </a:solidFill>
                <a:latin typeface="Aptos Display"/>
                <a:ea typeface="Aptos Display"/>
                <a:cs typeface="Aptos Display"/>
              </a:defRPr>
            </a:pPr>
            <a:r>
              <a:rPr sz="2625" b="1">
                <a:solidFill>
                  <a:srgbClr val="152533"/>
                </a:solidFill>
                <a:latin typeface="Aptos Display"/>
                <a:ea typeface="Aptos Display"/>
                <a:cs typeface="Aptos Display"/>
              </a:rPr>
              <a:t>Longcycler release outputs and rerun path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7E48B32-F1B6-4D38-9047-621C5B54B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9060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757C54-1A81-43F5-9B8E-57E92B01B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23950"/>
            <a:ext cx="11049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07587"/>
                </a:solidFill>
                <a:latin typeface="Aptos"/>
                <a:ea typeface="Aptos"/>
                <a:cs typeface="Aptos"/>
              </a:rPr>
              <a:t>Claim registry -&gt; 893 direct pairs -&gt; 371 adjacent pairs -&gt; RQ01-RQ10.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7FB0B61-8D30-47CA-884A-680A916BD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2C6886E-C34A-4C2C-B734-4EAA97766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8572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07587"/>
                </a:solidFill>
                <a:latin typeface="Aptos"/>
                <a:ea typeface="Aptos"/>
                <a:cs typeface="Aptos"/>
              </a:rPr>
              <a:t>rUTI clinical-to-genomic review  |  operational UTI phenotype | Longcycler-only analysis  |  14 July 2026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C560C02-1666-4123-AE4E-F2F3F004F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96650" y="6515100"/>
            <a:ext cx="304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607587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607587"/>
                </a:solidFill>
                <a:latin typeface="Aptos Mono"/>
                <a:ea typeface="Aptos Mono"/>
                <a:cs typeface="Aptos Mono"/>
              </a:rPr>
              <a:t>14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01B3E72-CB8C-418E-8A1D-35094D469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62125"/>
            <a:ext cx="1905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587"/>
                </a:solidFill>
                <a:latin typeface="Aptos"/>
                <a:ea typeface="Aptos"/>
                <a:cs typeface="Aptos"/>
              </a:rPr>
              <a:t>PURPOSE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8959ED5-D344-4AAE-8E89-D381FD810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1762125"/>
            <a:ext cx="5715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587"/>
                </a:solidFill>
                <a:latin typeface="Aptos"/>
                <a:ea typeface="Aptos"/>
                <a:cs typeface="Aptos"/>
              </a:rPr>
              <a:t>SOURCE OF TRUTH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A841A26-49A4-4EC6-B4D6-48866BC30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47875"/>
            <a:ext cx="731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5BF9B84-3AA3-4D1A-9CCF-8314FB3DF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71700"/>
            <a:ext cx="204787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52533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52533"/>
                </a:solidFill>
                <a:latin typeface="Aptos"/>
                <a:ea typeface="Aptos"/>
                <a:cs typeface="Aptos"/>
              </a:rPr>
              <a:t>Headline results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D1964C9-B64F-493F-9919-05AC6107F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171700"/>
            <a:ext cx="4876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07587"/>
                </a:solidFill>
                <a:latin typeface="Aptos Mono"/>
                <a:ea typeface="Aptos Mono"/>
                <a:cs typeface="Aptos Mono"/>
              </a:defRPr>
            </a:pPr>
            <a:r>
              <a:rPr sz="1050" b="0">
                <a:solidFill>
                  <a:srgbClr val="607587"/>
                </a:solidFill>
                <a:latin typeface="Aptos Mono"/>
                <a:ea typeface="Aptos Mono"/>
                <a:cs typeface="Aptos Mono"/>
              </a:rPr>
              <a:t>results/pipeline/longcycler_release_claim_registry.json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92E2DF9-80D4-4C71-8506-60048778D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81275"/>
            <a:ext cx="731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280FF22-FACA-42ED-9626-8DCA466E0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05100"/>
            <a:ext cx="204787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52533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52533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ECA12CC-0761-4F2A-A705-BC7F0887E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705100"/>
            <a:ext cx="4876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07587"/>
                </a:solidFill>
                <a:latin typeface="Aptos Mono"/>
                <a:ea typeface="Aptos Mono"/>
                <a:cs typeface="Aptos Mono"/>
              </a:defRPr>
            </a:pPr>
            <a:r>
              <a:rPr sz="1050" b="0">
                <a:solidFill>
                  <a:srgbClr val="607587"/>
                </a:solidFill>
                <a:latin typeface="Aptos Mono"/>
                <a:ea typeface="Aptos Mono"/>
                <a:cs typeface="Aptos Mono"/>
              </a:rPr>
              <a:t>results/clinical/analysis_cohort_longcycler.csv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72B6853-FBBE-42A1-B20A-0B324E6E3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14675"/>
            <a:ext cx="731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4FEBA27-9046-46DF-9430-DFB428372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0"/>
            <a:ext cx="204787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52533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52533"/>
                </a:solidFill>
                <a:latin typeface="Aptos"/>
                <a:ea typeface="Aptos"/>
                <a:cs typeface="Aptos"/>
              </a:rPr>
              <a:t>Validated inventory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D757396-F301-48D5-8FEA-E6016D4DB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238500"/>
            <a:ext cx="4876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07587"/>
                </a:solidFill>
                <a:latin typeface="Aptos Mono"/>
                <a:ea typeface="Aptos Mono"/>
                <a:cs typeface="Aptos Mono"/>
              </a:defRPr>
            </a:pPr>
            <a:r>
              <a:rPr sz="1050" b="0">
                <a:solidFill>
                  <a:srgbClr val="607587"/>
                </a:solidFill>
                <a:latin typeface="Aptos Mono"/>
                <a:ea typeface="Aptos Mono"/>
                <a:cs typeface="Aptos Mono"/>
              </a:rPr>
              <a:t>results/strain_compare/pairwise_metrics.csv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723BADA-76EF-44A4-822E-D60DAAA72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48075"/>
            <a:ext cx="731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D33E903-B50C-4909-877E-729DCBEDF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71900"/>
            <a:ext cx="204787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52533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52533"/>
                </a:solidFill>
                <a:latin typeface="Aptos"/>
                <a:ea typeface="Aptos"/>
                <a:cs typeface="Aptos"/>
              </a:rPr>
              <a:t>Transition cases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E8C6F11-3F68-48EC-A040-5428E4BBF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771900"/>
            <a:ext cx="4876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07587"/>
                </a:solidFill>
                <a:latin typeface="Aptos Mono"/>
                <a:ea typeface="Aptos Mono"/>
                <a:cs typeface="Aptos Mono"/>
              </a:defRPr>
            </a:pPr>
            <a:r>
              <a:rPr sz="1050" b="0">
                <a:solidFill>
                  <a:srgbClr val="607587"/>
                </a:solidFill>
                <a:latin typeface="Aptos Mono"/>
                <a:ea typeface="Aptos Mono"/>
                <a:cs typeface="Aptos Mono"/>
              </a:rPr>
              <a:t>results/mechanism/not_uti_to_uti_casebook.csv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5474267-299D-4D88-B437-1BC17556C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81475"/>
            <a:ext cx="731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93FFD7B-1123-4238-AD17-E3505CBF3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05300"/>
            <a:ext cx="204787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52533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52533"/>
                </a:solidFill>
                <a:latin typeface="Aptos"/>
                <a:ea typeface="Aptos"/>
                <a:cs typeface="Aptos"/>
              </a:rPr>
              <a:t>Architecture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2B00C23-723C-41A2-B64C-D9405DC84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4305300"/>
            <a:ext cx="4876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07587"/>
                </a:solidFill>
                <a:latin typeface="Aptos Mono"/>
                <a:ea typeface="Aptos Mono"/>
                <a:cs typeface="Aptos Mono"/>
              </a:defRPr>
            </a:pPr>
            <a:r>
              <a:rPr sz="1050" b="0">
                <a:solidFill>
                  <a:srgbClr val="607587"/>
                </a:solidFill>
                <a:latin typeface="Aptos Mono"/>
                <a:ea typeface="Aptos Mono"/>
                <a:cs typeface="Aptos Mono"/>
              </a:rPr>
              <a:t>results/research_questions/RUN_COMPLETE.txt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90C9C70-E100-4A8D-B533-36E643338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1762125"/>
            <a:ext cx="2781300" cy="3114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53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1579A57-2DBB-477B-9CB2-44B8BAE2A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009775"/>
            <a:ext cx="209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B7C6D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B7C6D2"/>
                </a:solidFill>
                <a:latin typeface="Aptos"/>
                <a:ea typeface="Aptos"/>
                <a:cs typeface="Aptos"/>
              </a:rPr>
              <a:t>RERUN ORDER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26CBB07-DF05-477E-B2E3-6F8835AA9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381250"/>
            <a:ext cx="23431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01  Validate selected cohort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A5D3583-5758-42AC-897A-99B5EF90C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743200"/>
            <a:ext cx="23431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02  Confirm selected manifest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570A244-AC22-495E-951D-6F55242FD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105150"/>
            <a:ext cx="23431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03  Confirm direct pair evidence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2C93246-A02A-4EE4-9506-CF01BE2BE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467100"/>
            <a:ext cx="23431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04  Run RQ01-RQ10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31B5411-334D-477D-9805-57DEB6C93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829050"/>
            <a:ext cx="23431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05  Publish claim registry and decks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DF6332B-E813-4B72-A585-5C314C3FD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238625"/>
            <a:ext cx="1066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5F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2DC3EC6-641D-46E3-95DE-E8A366098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4248150"/>
            <a:ext cx="8763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17855B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7855B"/>
                </a:solidFill>
                <a:latin typeface="Aptos"/>
                <a:ea typeface="Aptos"/>
                <a:cs typeface="Aptos"/>
              </a:rPr>
              <a:t>ENTRY POINT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6140FCE-1362-4447-A681-A4B5AAD40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524375"/>
            <a:ext cx="236220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275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RUN_COMPLETE_ANALYSIS.sh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A8563A4-3EFA-472F-A177-59981E319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10175"/>
            <a:ext cx="104965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3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7DBD178-F838-41AF-BC07-4F01CFDC5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4483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607587"/>
                </a:solidFill>
                <a:latin typeface="Aptos"/>
                <a:ea typeface="Aptos"/>
                <a:cs typeface="Aptos"/>
              </a:rPr>
              <a:t>Operational note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4920DB6-1BAB-46EB-8C93-9F2138358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5410200"/>
            <a:ext cx="7962900" cy="276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5253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52533"/>
                </a:solidFill>
                <a:latin typeface="Aptos"/>
                <a:ea typeface="Aptos"/>
                <a:cs typeface="Aptos"/>
              </a:rPr>
              <a:t>Use the versioned operational phenotype and selected Longcycler cohort throughout.</a:t>
            </a:r>
          </a:p>
        </p:txBody>
      </p:sp>
    </p:spTree>
    <p:extLst>
      <p:ext uri="{BB962C8B-B14F-4D97-AF65-F5344CB8AC3E}">
        <p14:creationId xmlns:p14="http://schemas.microsoft.com/office/powerpoint/2010/main" val="146363331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paper">
            <a:extLst xmlns:a="http://schemas.openxmlformats.org/drawingml/2006/main">
              <a:ext uri="{FF2B5EF4-FFF2-40B4-BE49-F238E27FC236}">
                <a16:creationId xmlns:a16="http://schemas.microsoft.com/office/drawing/2014/main" id="{A9312346-58F0-418F-83F7-B722AB725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rail">
            <a:extLst xmlns:a="http://schemas.openxmlformats.org/drawingml/2006/main">
              <a:ext uri="{FF2B5EF4-FFF2-40B4-BE49-F238E27FC236}">
                <a16:creationId xmlns:a16="http://schemas.microsoft.com/office/drawing/2014/main" id="{B1801B1E-9B3F-40ED-BC9E-89EBC9D13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53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86A841D-B177-4DCC-8AE5-4049D4161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7650"/>
            <a:ext cx="495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587"/>
                </a:solidFill>
                <a:latin typeface="Aptos"/>
                <a:ea typeface="Aptos"/>
                <a:cs typeface="Aptos"/>
              </a:rPr>
              <a:t>APPENDIX / CLINICAL AUDIT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68DDB1-C8E0-41C6-B765-0E8F0093C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95300"/>
            <a:ext cx="10572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2625" b="1">
                <a:solidFill>
                  <a:srgbClr val="152533"/>
                </a:solidFill>
                <a:latin typeface="Aptos Display"/>
                <a:ea typeface="Aptos Display"/>
                <a:cs typeface="Aptos Display"/>
              </a:defRPr>
            </a:pPr>
            <a:r>
              <a:rPr sz="2625" b="1">
                <a:solidFill>
                  <a:srgbClr val="152533"/>
                </a:solidFill>
                <a:latin typeface="Aptos Display"/>
                <a:ea typeface="Aptos Display"/>
                <a:cs typeface="Aptos Display"/>
              </a:rPr>
              <a:t>Operational UTI phenotype audit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AD0E6C-5087-406B-A5B6-4E0BE981E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9060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E2732A-79A6-4401-83BB-C7BF61B56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23950"/>
            <a:ext cx="80962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07587"/>
                </a:solidFill>
                <a:latin typeface="Aptos"/>
                <a:ea typeface="Aptos"/>
                <a:cs typeface="Aptos"/>
              </a:rPr>
              <a:t>Versioned catheter-aware symptom and culture-support rule applied to 532 selected episodes.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C94393D-14BC-4A1D-9F9A-B90AED3B9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143000"/>
            <a:ext cx="2686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3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6CBDA7-7989-4806-B6EC-4AB187380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1152525"/>
            <a:ext cx="2495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587"/>
                </a:solidFill>
                <a:latin typeface="Aptos"/>
                <a:ea typeface="Aptos"/>
                <a:cs typeface="Aptos"/>
              </a:rPr>
              <a:t>DESCRIPTIVE AUDIT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BCB89DB-54B6-4815-8871-B940AC162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A5D152-F4BC-4C8B-ADB5-64CAE72CC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8572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07587"/>
                </a:solidFill>
                <a:latin typeface="Aptos"/>
                <a:ea typeface="Aptos"/>
                <a:cs typeface="Aptos"/>
              </a:rPr>
              <a:t>rUTI clinical-to-genomic review  |  operational UTI phenotype | Longcycler-only analysis  |  14 July 2026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F3B7B4F-C15E-4DDE-A024-E4DF0911B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96650" y="6515100"/>
            <a:ext cx="304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607587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607587"/>
                </a:solidFill>
                <a:latin typeface="Aptos Mono"/>
                <a:ea typeface="Aptos Mono"/>
                <a:cs typeface="Aptos Mono"/>
              </a:rPr>
              <a:t>15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523AFDA-8C6C-40E0-84FB-EA11EF0CF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1666875"/>
            <a:ext cx="9505950" cy="432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7"/>
            </a:solidFill>
            <a:prstDash val="solid"/>
          </a:ln>
        </p:spPr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cb7c732bf34be6"/>
          <a:stretch xmlns:a="http://schemas.openxmlformats.org/drawingml/2006/main"/>
        </p:blipFill>
        <p:spPr>
          <a:xfrm xmlns:a="http://schemas.openxmlformats.org/drawingml/2006/main" flipH="0" flipV="0">
            <a:off x="2509016" y="1743075"/>
            <a:ext cx="7193017" cy="41719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7233926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paper">
            <a:extLst xmlns:a="http://schemas.openxmlformats.org/drawingml/2006/main">
              <a:ext uri="{FF2B5EF4-FFF2-40B4-BE49-F238E27FC236}">
                <a16:creationId xmlns:a16="http://schemas.microsoft.com/office/drawing/2014/main" id="{465C70DA-39BF-4803-8D08-089460692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rail">
            <a:extLst xmlns:a="http://schemas.openxmlformats.org/drawingml/2006/main">
              <a:ext uri="{FF2B5EF4-FFF2-40B4-BE49-F238E27FC236}">
                <a16:creationId xmlns:a16="http://schemas.microsoft.com/office/drawing/2014/main" id="{8476D33D-987B-4260-B4F9-5B438BAF0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53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F5A9A6-3F69-4F3A-80B3-8A48638BA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7650"/>
            <a:ext cx="495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587"/>
                </a:solidFill>
                <a:latin typeface="Aptos"/>
                <a:ea typeface="Aptos"/>
                <a:cs typeface="Aptos"/>
              </a:rPr>
              <a:t>APPENDIX / VIRULENCE FACTORS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432AF3-936B-494A-B2AC-A156E989B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95300"/>
            <a:ext cx="10572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2625" b="1">
                <a:solidFill>
                  <a:srgbClr val="152533"/>
                </a:solidFill>
                <a:latin typeface="Aptos Display"/>
                <a:ea typeface="Aptos Display"/>
                <a:cs typeface="Aptos Display"/>
              </a:defRPr>
            </a:pPr>
            <a:r>
              <a:rPr sz="2625" b="1">
                <a:solidFill>
                  <a:srgbClr val="152533"/>
                </a:solidFill>
                <a:latin typeface="Aptos Display"/>
                <a:ea typeface="Aptos Display"/>
                <a:cs typeface="Aptos Display"/>
              </a:rPr>
              <a:t>VF module prevalence across current clinical status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78432D-CE9C-4E2E-A932-2464F011D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9060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47F35CD-F524-424A-BB20-7603023EE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23950"/>
            <a:ext cx="80962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07587"/>
                </a:solidFill>
                <a:latin typeface="Aptos"/>
                <a:ea typeface="Aptos"/>
                <a:cs typeface="Aptos"/>
              </a:rPr>
              <a:t>Module presence is exploratory and does not account for repeated measures or lineage structure.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7356B5-EC3C-4620-83A9-D523F2B44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143000"/>
            <a:ext cx="2686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3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D9C9D4B-BBCE-466A-A440-E4248839D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1152525"/>
            <a:ext cx="2495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587"/>
                </a:solidFill>
                <a:latin typeface="Aptos"/>
                <a:ea typeface="Aptos"/>
                <a:cs typeface="Aptos"/>
              </a:rPr>
              <a:t>EXPLORATORY DETAIL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8AC0E94-0D74-4B6C-8043-752D399FB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8A13EBA-D31B-4AE8-91A5-D9BC7F9A9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8572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07587"/>
                </a:solidFill>
                <a:latin typeface="Aptos"/>
                <a:ea typeface="Aptos"/>
                <a:cs typeface="Aptos"/>
              </a:rPr>
              <a:t>rUTI clinical-to-genomic review  |  operational UTI phenotype | Longcycler-only analysis  |  14 July 2026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BF7554A-0DA2-4C3E-81C1-02199E3F4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96650" y="6515100"/>
            <a:ext cx="304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607587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607587"/>
                </a:solidFill>
                <a:latin typeface="Aptos Mono"/>
                <a:ea typeface="Aptos Mono"/>
                <a:cs typeface="Aptos Mono"/>
              </a:rPr>
              <a:t>16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6E86930-8E87-4444-B9A8-7AA9AFDE2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" y="1552575"/>
            <a:ext cx="10287000" cy="468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7"/>
            </a:solidFill>
            <a:prstDash val="solid"/>
          </a:ln>
        </p:spPr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3df1a0607443d1"/>
          <a:stretch xmlns:a="http://schemas.openxmlformats.org/drawingml/2006/main"/>
        </p:blipFill>
        <p:spPr>
          <a:xfrm xmlns:a="http://schemas.openxmlformats.org/drawingml/2006/main" flipH="0" flipV="0">
            <a:off x="3290888" y="1628775"/>
            <a:ext cx="5667375" cy="45339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267485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paper">
            <a:extLst xmlns:a="http://schemas.openxmlformats.org/drawingml/2006/main">
              <a:ext uri="{FF2B5EF4-FFF2-40B4-BE49-F238E27FC236}">
                <a16:creationId xmlns:a16="http://schemas.microsoft.com/office/drawing/2014/main" id="{79820EF5-CAAF-4079-9568-FEC680F23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rail">
            <a:extLst xmlns:a="http://schemas.openxmlformats.org/drawingml/2006/main">
              <a:ext uri="{FF2B5EF4-FFF2-40B4-BE49-F238E27FC236}">
                <a16:creationId xmlns:a16="http://schemas.microsoft.com/office/drawing/2014/main" id="{16CEDBEF-5995-4717-A632-658CCC854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53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E7B53E3-DED1-4EF5-9A30-9BBE3B3DC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7650"/>
            <a:ext cx="495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587"/>
                </a:solidFill>
                <a:latin typeface="Aptos"/>
                <a:ea typeface="Aptos"/>
                <a:cs typeface="Aptos"/>
              </a:rPr>
              <a:t>APPENDIX / MECHANISMS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80E428-9F2E-4697-A270-F1F68DC9A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95300"/>
            <a:ext cx="10572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2625" b="1">
                <a:solidFill>
                  <a:srgbClr val="152533"/>
                </a:solidFill>
                <a:latin typeface="Aptos Display"/>
                <a:ea typeface="Aptos Display"/>
                <a:cs typeface="Aptos Display"/>
              </a:defRPr>
            </a:pPr>
            <a:r>
              <a:rPr sz="2625" b="1">
                <a:solidFill>
                  <a:srgbClr val="152533"/>
                </a:solidFill>
                <a:latin typeface="Aptos Display"/>
                <a:ea typeface="Aptos Display"/>
                <a:cs typeface="Aptos Display"/>
              </a:rPr>
              <a:t>Mechanism composition across transition types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4C4EC2A-0E87-4A2F-8257-3E42F73AF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9060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07B376A-E668-49D7-A425-785755A65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23950"/>
            <a:ext cx="80962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07587"/>
                </a:solidFill>
                <a:latin typeface="Aptos"/>
                <a:ea typeface="Aptos"/>
                <a:cs typeface="Aptos"/>
              </a:rPr>
              <a:t>Unequal transition denominators prevent inferential comparison of proportions.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B5DAB77-1188-4B7D-95C5-D62F56FC1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143000"/>
            <a:ext cx="2686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3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94B59BC-2442-46A7-822B-1B99F4F4B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1152525"/>
            <a:ext cx="2495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587"/>
                </a:solidFill>
                <a:latin typeface="Aptos"/>
                <a:ea typeface="Aptos"/>
                <a:cs typeface="Aptos"/>
              </a:rPr>
              <a:t>DESCRIPTIVE COMPARISON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13A730-A1FF-4909-B9D1-C4BAC0F99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89A4352-125F-48C6-B8BB-736977DEA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8572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07587"/>
                </a:solidFill>
                <a:latin typeface="Aptos"/>
                <a:ea typeface="Aptos"/>
                <a:cs typeface="Aptos"/>
              </a:rPr>
              <a:t>rUTI clinical-to-genomic review  |  operational UTI phenotype | Longcycler-only analysis  |  14 July 2026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9E36967-3F90-4456-AC50-B1056524B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96650" y="6515100"/>
            <a:ext cx="304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607587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607587"/>
                </a:solidFill>
                <a:latin typeface="Aptos Mono"/>
                <a:ea typeface="Aptos Mono"/>
                <a:cs typeface="Aptos Mono"/>
              </a:rPr>
              <a:t>17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9B5971A-5A20-4E73-862B-D802B141E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666875"/>
            <a:ext cx="10096500" cy="441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7"/>
            </a:solidFill>
            <a:prstDash val="solid"/>
          </a:ln>
        </p:spPr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3ca624f1a57460c"/>
          <a:stretch xmlns:a="http://schemas.openxmlformats.org/drawingml/2006/main"/>
        </p:blipFill>
        <p:spPr>
          <a:xfrm xmlns:a="http://schemas.openxmlformats.org/drawingml/2006/main" flipH="0" flipV="0">
            <a:off x="3095625" y="1743075"/>
            <a:ext cx="6000750" cy="42672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4606936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paper">
            <a:extLst xmlns:a="http://schemas.openxmlformats.org/drawingml/2006/main">
              <a:ext uri="{FF2B5EF4-FFF2-40B4-BE49-F238E27FC236}">
                <a16:creationId xmlns:a16="http://schemas.microsoft.com/office/drawing/2014/main" id="{9D006933-27DD-441F-850F-36E8490D6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rail">
            <a:extLst xmlns:a="http://schemas.openxmlformats.org/drawingml/2006/main">
              <a:ext uri="{FF2B5EF4-FFF2-40B4-BE49-F238E27FC236}">
                <a16:creationId xmlns:a16="http://schemas.microsoft.com/office/drawing/2014/main" id="{96F8B2B2-B568-4749-A375-7859DDD29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53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8BA61DD-8006-42DD-BB0A-74585FC28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7650"/>
            <a:ext cx="495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587"/>
                </a:solidFill>
                <a:latin typeface="Aptos"/>
                <a:ea typeface="Aptos"/>
                <a:cs typeface="Aptos"/>
              </a:rPr>
              <a:t>APPENDIX / EXPLORATORY BACKUP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C88117-5800-4B61-86DD-469FA1D74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95300"/>
            <a:ext cx="10572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2625" b="1">
                <a:solidFill>
                  <a:srgbClr val="152533"/>
                </a:solidFill>
                <a:latin typeface="Aptos Display"/>
                <a:ea typeface="Aptos Display"/>
                <a:cs typeface="Aptos Display"/>
              </a:defRPr>
            </a:pPr>
            <a:r>
              <a:rPr sz="2625" b="1">
                <a:solidFill>
                  <a:srgbClr val="152533"/>
                </a:solidFill>
                <a:latin typeface="Aptos Display"/>
                <a:ea typeface="Aptos Display"/>
                <a:cs typeface="Aptos Display"/>
              </a:rPr>
              <a:t>Accessory, plasmid and ResFinder context only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3B8D0C-D219-4F65-8F5D-167DDAC06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9060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3D562D-A4D3-423A-816F-903938C6D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23950"/>
            <a:ext cx="80962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07587"/>
                </a:solidFill>
                <a:latin typeface="Aptos"/>
                <a:ea typeface="Aptos"/>
                <a:cs typeface="Aptos"/>
              </a:rPr>
              <a:t>Exploratory transition-level context; not a global VF-plus-AMR association analysis.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76D1217-EE35-46B8-872B-B7FB500B1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143000"/>
            <a:ext cx="2686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3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BA6E9DF-C3C8-4BDD-B562-24AB1BBE5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1152525"/>
            <a:ext cx="2495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587"/>
                </a:solidFill>
                <a:latin typeface="Aptos"/>
                <a:ea typeface="Aptos"/>
                <a:cs typeface="Aptos"/>
              </a:rPr>
              <a:t>EXPLORATORY AMR BACKUP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C2AFE19-8D5F-43B8-90EF-2D28956F6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79FC2E7-A77F-4097-A5A9-D9E2775AA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8572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07587"/>
                </a:solidFill>
                <a:latin typeface="Aptos"/>
                <a:ea typeface="Aptos"/>
                <a:cs typeface="Aptos"/>
              </a:rPr>
              <a:t>rUTI clinical-to-genomic review  |  operational UTI phenotype | Longcycler-only analysis  |  14 July 2026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4DE3BA-8222-4A1D-B33B-1C254EE16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96650" y="6515100"/>
            <a:ext cx="304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607587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607587"/>
                </a:solidFill>
                <a:latin typeface="Aptos Mono"/>
                <a:ea typeface="Aptos Mono"/>
                <a:cs typeface="Aptos Mono"/>
              </a:rPr>
              <a:t>18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99DDE9A-9E04-4306-93C7-99922A511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10668000" cy="451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7"/>
            </a:solidFill>
            <a:prstDash val="solid"/>
          </a:ln>
        </p:spPr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aed9aed48f496c"/>
          <a:stretch xmlns:a="http://schemas.openxmlformats.org/drawingml/2006/main"/>
        </p:blipFill>
        <p:spPr>
          <a:xfrm xmlns:a="http://schemas.openxmlformats.org/drawingml/2006/main" flipH="0" flipV="0">
            <a:off x="2200955" y="1714500"/>
            <a:ext cx="7790089" cy="43624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4079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paper">
            <a:extLst xmlns:a="http://schemas.openxmlformats.org/drawingml/2006/main">
              <a:ext uri="{FF2B5EF4-FFF2-40B4-BE49-F238E27FC236}">
                <a16:creationId xmlns:a16="http://schemas.microsoft.com/office/drawing/2014/main" id="{18179DE7-D588-4603-916A-9B3EE5847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rail">
            <a:extLst xmlns:a="http://schemas.openxmlformats.org/drawingml/2006/main">
              <a:ext uri="{FF2B5EF4-FFF2-40B4-BE49-F238E27FC236}">
                <a16:creationId xmlns:a16="http://schemas.microsoft.com/office/drawing/2014/main" id="{A0C49B40-6D06-4A32-9F93-3F34FC849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53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D74C9CA-73C8-40C8-A1C3-3E980ECC2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7650"/>
            <a:ext cx="495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587"/>
                </a:solidFill>
                <a:latin typeface="Aptos"/>
                <a:ea typeface="Aptos"/>
                <a:cs typeface="Aptos"/>
              </a:rPr>
              <a:t>APPENDIX / SENSITIVITY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AC42CF-E074-444B-9FE0-93B37AA84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95300"/>
            <a:ext cx="10572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2625" b="1">
                <a:solidFill>
                  <a:srgbClr val="152533"/>
                </a:solidFill>
                <a:latin typeface="Aptos Display"/>
                <a:ea typeface="Aptos Display"/>
                <a:cs typeface="Aptos Display"/>
              </a:defRPr>
            </a:pPr>
            <a:r>
              <a:rPr sz="2625" b="1">
                <a:solidFill>
                  <a:srgbClr val="152533"/>
                </a:solidFill>
                <a:latin typeface="Aptos Display"/>
                <a:ea typeface="Aptos Display"/>
                <a:cs typeface="Aptos Display"/>
              </a:rPr>
              <a:t>Near-miss audit and sparse-count precision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811E6DD-0431-42D7-A9A6-6A685A67A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9060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590867-707F-46E6-B7EC-ACA28F915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23950"/>
            <a:ext cx="80962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07587"/>
                </a:solidFill>
                <a:latin typeface="Aptos"/>
                <a:ea typeface="Aptos"/>
                <a:cs typeface="Aptos"/>
              </a:rPr>
              <a:t>17 near-miss rows remain sensitivity-only and do not enter the operational UTI group.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64E17B0-B1B2-48E9-AFA1-8EEACC06C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143000"/>
            <a:ext cx="2686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3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AED8ABC-A89F-4B3C-8A32-4C732500B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1152525"/>
            <a:ext cx="2495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587"/>
                </a:solidFill>
                <a:latin typeface="Aptos"/>
                <a:ea typeface="Aptos"/>
                <a:cs typeface="Aptos"/>
              </a:rPr>
              <a:t>SENSITIVITY DIAGNOSTIC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26CC1D6-7AE5-4E14-AF28-7E3126933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6F16E3E-5E19-4E89-8104-2B9B98C64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8572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07587"/>
                </a:solidFill>
                <a:latin typeface="Aptos"/>
                <a:ea typeface="Aptos"/>
                <a:cs typeface="Aptos"/>
              </a:rPr>
              <a:t>rUTI clinical-to-genomic review  |  operational UTI phenotype | Longcycler-only analysis  |  14 July 2026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A0D099-2394-4B99-9F2F-D5D55A586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96650" y="6515100"/>
            <a:ext cx="304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607587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607587"/>
                </a:solidFill>
                <a:latin typeface="Aptos Mono"/>
                <a:ea typeface="Aptos Mono"/>
                <a:cs typeface="Aptos Mono"/>
              </a:rPr>
              <a:t>19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F88507A-AE0F-4E0E-ADB9-CD306E9BE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28775"/>
            <a:ext cx="10810875" cy="455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7"/>
            </a:solidFill>
            <a:prstDash val="solid"/>
          </a:ln>
        </p:spPr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4ddeda20bb4315"/>
          <a:stretch xmlns:a="http://schemas.openxmlformats.org/drawingml/2006/main"/>
        </p:blipFill>
        <p:spPr>
          <a:xfrm xmlns:a="http://schemas.openxmlformats.org/drawingml/2006/main" flipH="0" flipV="0">
            <a:off x="2316710" y="1704975"/>
            <a:ext cx="7587155" cy="44005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8762244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paper">
            <a:extLst xmlns:a="http://schemas.openxmlformats.org/drawingml/2006/main">
              <a:ext uri="{FF2B5EF4-FFF2-40B4-BE49-F238E27FC236}">
                <a16:creationId xmlns:a16="http://schemas.microsoft.com/office/drawing/2014/main" id="{102B7A6B-D078-43C3-A861-03E20310D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rail">
            <a:extLst xmlns:a="http://schemas.openxmlformats.org/drawingml/2006/main">
              <a:ext uri="{FF2B5EF4-FFF2-40B4-BE49-F238E27FC236}">
                <a16:creationId xmlns:a16="http://schemas.microsoft.com/office/drawing/2014/main" id="{75C41BAB-9F84-40E6-9580-926CE368A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53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F86274-D704-4DF4-B746-F54337B3E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7650"/>
            <a:ext cx="495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587"/>
                </a:solidFill>
                <a:latin typeface="Aptos"/>
                <a:ea typeface="Aptos"/>
                <a:cs typeface="Aptos"/>
              </a:rPr>
              <a:t>APPENDIX / SENSITIVITY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FC53CE-808A-4D6C-86FD-455B76986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95300"/>
            <a:ext cx="10572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2625" b="1">
                <a:solidFill>
                  <a:srgbClr val="152533"/>
                </a:solidFill>
                <a:latin typeface="Aptos Display"/>
                <a:ea typeface="Aptos Display"/>
                <a:cs typeface="Aptos Display"/>
              </a:defRPr>
            </a:pPr>
            <a:r>
              <a:rPr sz="2625" b="1">
                <a:solidFill>
                  <a:srgbClr val="152533"/>
                </a:solidFill>
                <a:latin typeface="Aptos Display"/>
                <a:ea typeface="Aptos Display"/>
                <a:cs typeface="Aptos Display"/>
              </a:rPr>
              <a:t>Leave-one-UTI-out stability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82C1CC-6129-4525-B44F-B3124001F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9060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69DCF80-41F0-45F2-8147-70ADA3347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23950"/>
            <a:ext cx="80962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07587"/>
                </a:solidFill>
                <a:latin typeface="Aptos"/>
                <a:ea typeface="Aptos"/>
                <a:cs typeface="Aptos"/>
              </a:rPr>
              <a:t>Instability is expected with 16 operational UTI episodes and is not confirmatory association testing.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1B1FE7-7CB6-4674-B773-D4BF35E7F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143000"/>
            <a:ext cx="2686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3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947531-285B-485C-8B50-171F797C0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1152525"/>
            <a:ext cx="2495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587"/>
                </a:solidFill>
                <a:latin typeface="Aptos"/>
                <a:ea typeface="Aptos"/>
                <a:cs typeface="Aptos"/>
              </a:rPr>
              <a:t>SPARSE-CASE DIAGNOSTIC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1A68E6-6F62-4399-A8B8-F978F68EA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6FB1C1B-3631-4D78-A1CD-6B66EB395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8572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07587"/>
                </a:solidFill>
                <a:latin typeface="Aptos"/>
                <a:ea typeface="Aptos"/>
                <a:cs typeface="Aptos"/>
              </a:rPr>
              <a:t>rUTI clinical-to-genomic review  |  operational UTI phenotype | Longcycler-only analysis  |  14 July 2026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23879E2-1FF8-4FC2-9D8A-7E1D25156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96650" y="6515100"/>
            <a:ext cx="304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607587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607587"/>
                </a:solidFill>
                <a:latin typeface="Aptos Mono"/>
                <a:ea typeface="Aptos Mono"/>
                <a:cs typeface="Aptos Mono"/>
              </a:rPr>
              <a:t>20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5726EB8-3E53-4C24-BDBB-F59CB8887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638300"/>
            <a:ext cx="10639425" cy="451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7"/>
            </a:solidFill>
            <a:prstDash val="solid"/>
          </a:ln>
        </p:spPr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4c6275938c44e00"/>
          <a:stretch xmlns:a="http://schemas.openxmlformats.org/drawingml/2006/main"/>
        </p:blipFill>
        <p:spPr>
          <a:xfrm xmlns:a="http://schemas.openxmlformats.org/drawingml/2006/main" flipH="0" flipV="0">
            <a:off x="1445759" y="1714500"/>
            <a:ext cx="9348107" cy="43624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654029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paper">
            <a:extLst xmlns:a="http://schemas.openxmlformats.org/drawingml/2006/main">
              <a:ext uri="{FF2B5EF4-FFF2-40B4-BE49-F238E27FC236}">
                <a16:creationId xmlns:a16="http://schemas.microsoft.com/office/drawing/2014/main" id="{301841DF-54F9-412A-A778-20383BA7C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rail">
            <a:extLst xmlns:a="http://schemas.openxmlformats.org/drawingml/2006/main">
              <a:ext uri="{FF2B5EF4-FFF2-40B4-BE49-F238E27FC236}">
                <a16:creationId xmlns:a16="http://schemas.microsoft.com/office/drawing/2014/main" id="{A8053327-9CC5-4F9C-B3FC-0B3CA5BCB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53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53A6B65-2D45-4874-A9AF-28D60C5B9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7650"/>
            <a:ext cx="495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587"/>
                </a:solidFill>
                <a:latin typeface="Aptos"/>
                <a:ea typeface="Aptos"/>
                <a:cs typeface="Aptos"/>
              </a:rPr>
              <a:t>APPENDIX / FOLLOW-UP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946FF6-8130-4AE2-8A08-8FFA32ADC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95300"/>
            <a:ext cx="10572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2625" b="1">
                <a:solidFill>
                  <a:srgbClr val="152533"/>
                </a:solidFill>
                <a:latin typeface="Aptos Display"/>
                <a:ea typeface="Aptos Display"/>
                <a:cs typeface="Aptos Display"/>
              </a:defRPr>
            </a:pPr>
            <a:r>
              <a:rPr sz="2625" b="1">
                <a:solidFill>
                  <a:srgbClr val="152533"/>
                </a:solidFill>
                <a:latin typeface="Aptos Display"/>
                <a:ea typeface="Aptos Display"/>
                <a:cs typeface="Aptos Display"/>
              </a:rPr>
              <a:t>Prioritised within-strain variant map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F628C0-950A-4670-B74B-6FA6EF1D0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9060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C44059A-C6D9-4620-8232-06AF302F5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23950"/>
            <a:ext cx="80962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07587"/>
                </a:solidFill>
                <a:latin typeface="Aptos"/>
                <a:ea typeface="Aptos"/>
                <a:cs typeface="Aptos"/>
              </a:rPr>
              <a:t>Candidate annotated comparisons only; absence from the panel is not absence of genomic change.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3BAC262-EF09-42D6-9CC1-4F3CEF5A6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143000"/>
            <a:ext cx="2686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3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98CB682-463C-409E-83C3-FC244F9FA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1152525"/>
            <a:ext cx="2495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587"/>
                </a:solidFill>
                <a:latin typeface="Aptos"/>
                <a:ea typeface="Aptos"/>
                <a:cs typeface="Aptos"/>
              </a:rPr>
              <a:t>DESCRIPTIVE PRIORITISATION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DC0354-F8FA-4763-B306-52C80645E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046EC82-94DF-4CD3-BC90-19CBC8407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8572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07587"/>
                </a:solidFill>
                <a:latin typeface="Aptos"/>
                <a:ea typeface="Aptos"/>
                <a:cs typeface="Aptos"/>
              </a:rPr>
              <a:t>rUTI clinical-to-genomic review  |  operational UTI phenotype | Longcycler-only analysis  |  14 July 2026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99E20DF-BE59-4078-9306-3B8892D17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96650" y="6515100"/>
            <a:ext cx="304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607587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607587"/>
                </a:solidFill>
                <a:latin typeface="Aptos Mono"/>
                <a:ea typeface="Aptos Mono"/>
                <a:cs typeface="Aptos Mono"/>
              </a:rPr>
              <a:t>21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FEC50A-E8A8-40C4-A341-22B487CBC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38300"/>
            <a:ext cx="10668000" cy="451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7"/>
            </a:solidFill>
            <a:prstDash val="solid"/>
          </a:ln>
        </p:spPr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a3c48989e34f97"/>
          <a:stretch xmlns:a="http://schemas.openxmlformats.org/drawingml/2006/main"/>
        </p:blipFill>
        <p:spPr>
          <a:xfrm xmlns:a="http://schemas.openxmlformats.org/drawingml/2006/main" flipH="0" flipV="0">
            <a:off x="1945061" y="1714500"/>
            <a:ext cx="8339978" cy="43624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3550564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paper">
            <a:extLst xmlns:a="http://schemas.openxmlformats.org/drawingml/2006/main">
              <a:ext uri="{FF2B5EF4-FFF2-40B4-BE49-F238E27FC236}">
                <a16:creationId xmlns:a16="http://schemas.microsoft.com/office/drawing/2014/main" id="{72DBF30B-06F6-4D77-99C0-5BC73C4D5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rail">
            <a:extLst xmlns:a="http://schemas.openxmlformats.org/drawingml/2006/main">
              <a:ext uri="{FF2B5EF4-FFF2-40B4-BE49-F238E27FC236}">
                <a16:creationId xmlns:a16="http://schemas.microsoft.com/office/drawing/2014/main" id="{A5B18D2B-FB5A-43A5-A9AE-C8F1E0716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53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AF323F9-EEFD-42B6-8A41-C58557648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7650"/>
            <a:ext cx="495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587"/>
                </a:solidFill>
                <a:latin typeface="Aptos"/>
                <a:ea typeface="Aptos"/>
                <a:cs typeface="Aptos"/>
              </a:rPr>
              <a:t>APPENDIX / EVIDENCE REGISTRY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DF775F-C1F8-43A0-9E3C-3DC9CB009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95300"/>
            <a:ext cx="10572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2625" b="1">
                <a:solidFill>
                  <a:srgbClr val="152533"/>
                </a:solidFill>
                <a:latin typeface="Aptos Display"/>
                <a:ea typeface="Aptos Display"/>
                <a:cs typeface="Aptos Display"/>
              </a:defRPr>
            </a:pPr>
            <a:r>
              <a:rPr sz="2625" b="1">
                <a:solidFill>
                  <a:srgbClr val="152533"/>
                </a:solidFill>
                <a:latin typeface="Aptos Display"/>
                <a:ea typeface="Aptos Display"/>
                <a:cs typeface="Aptos Display"/>
              </a:rPr>
              <a:t>Interpretation guardrails and lookup resources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2981B7-3E4A-44EF-8B5E-6FAADA758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9060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E64981-E47F-4523-A95E-20DD2C189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23950"/>
            <a:ext cx="11049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07587"/>
                </a:solidFill>
                <a:latin typeface="Aptos"/>
                <a:ea typeface="Aptos"/>
                <a:cs typeface="Aptos"/>
              </a:rPr>
              <a:t>Keep current denominators, evidence labels and exploratory boundaries visible when extending this work.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E88096-9B44-4BC6-B4D1-25A975799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A6ED38F-0B53-4887-8BF6-E2D563779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8572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07587"/>
                </a:solidFill>
                <a:latin typeface="Aptos"/>
                <a:ea typeface="Aptos"/>
                <a:cs typeface="Aptos"/>
              </a:rPr>
              <a:t>rUTI clinical-to-genomic review  |  operational UTI phenotype | Longcycler-only analysis  |  14 July 2026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3BBDE89-0CFB-40EB-89BB-F3F700AE5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96650" y="6515100"/>
            <a:ext cx="304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607587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607587"/>
                </a:solidFill>
                <a:latin typeface="Aptos Mono"/>
                <a:ea typeface="Aptos Mono"/>
                <a:cs typeface="Aptos Mono"/>
              </a:rPr>
              <a:t>22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0D938E-A8CB-4087-8647-994BAB17D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43075"/>
            <a:ext cx="1828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17855B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7855B"/>
                </a:solidFill>
                <a:latin typeface="Aptos"/>
                <a:ea typeface="Aptos"/>
                <a:cs typeface="Aptos"/>
              </a:rPr>
              <a:t>DO SAY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6FBED88-00C7-4F5E-8F75-CCB93879C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47875"/>
            <a:ext cx="5048250" cy="1952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5F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4545B4E-3B3A-41AA-A017-162B35273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295525"/>
            <a:ext cx="45910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52533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52533"/>
                </a:solidFill>
                <a:latin typeface="Aptos"/>
                <a:ea typeface="Aptos"/>
                <a:cs typeface="Aptos"/>
              </a:rPr>
              <a:t>-  532 selected episodes: 16 UTI / 516 Not_UTI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D1BA8FA-1D3F-4019-B3F4-D40B94432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676525"/>
            <a:ext cx="45910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52533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52533"/>
                </a:solidFill>
                <a:latin typeface="Aptos"/>
                <a:ea typeface="Aptos"/>
                <a:cs typeface="Aptos"/>
              </a:rPr>
              <a:t>-  893 direct pairs; 371 adjacent from 139 residents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5D31336-481F-4515-AF81-DA8689499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057525"/>
            <a:ext cx="45910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52533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52533"/>
                </a:solidFill>
                <a:latin typeface="Aptos"/>
                <a:ea typeface="Aptos"/>
                <a:cs typeface="Aptos"/>
              </a:rPr>
              <a:t>-  9/9/0 focused cases / linked / missing; 5 &lt;=25 SNPs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2EF256E-34AA-4C1B-A1AF-4B720A945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438525"/>
            <a:ext cx="45910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52533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52533"/>
                </a:solidFill>
                <a:latin typeface="Aptos"/>
                <a:ea typeface="Aptos"/>
                <a:cs typeface="Aptos"/>
              </a:rPr>
              <a:t>-  17 near-miss rows are sensitivity-only; RQ01-RQ10 complete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78BB621-CF58-4842-A665-715AB3A82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7430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B95836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B95836"/>
                </a:solidFill>
                <a:latin typeface="Aptos"/>
                <a:ea typeface="Aptos"/>
                <a:cs typeface="Aptos"/>
              </a:rPr>
              <a:t>DO NOT CLAIM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FF55502-B0EE-4D21-8799-94B562128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047875"/>
            <a:ext cx="5048250" cy="1952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0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3755544-125A-42C2-8107-A4CD90A73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7475" y="2295525"/>
            <a:ext cx="45910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52533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52533"/>
                </a:solidFill>
                <a:latin typeface="Aptos"/>
                <a:ea typeface="Aptos"/>
                <a:cs typeface="Aptos"/>
              </a:rPr>
              <a:t>-  a non-operational phenotype as the current comparison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3DA240D-2A1C-47C6-8420-886CD8FD6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7475" y="2676525"/>
            <a:ext cx="45910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52533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52533"/>
                </a:solidFill>
                <a:latin typeface="Aptos"/>
                <a:ea typeface="Aptos"/>
                <a:cs typeface="Aptos"/>
              </a:rPr>
              <a:t>-  named VF or mutation signals as causal evidence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6F13753-3C3C-400C-B5C5-0BEB1C8E1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7475" y="3057525"/>
            <a:ext cx="45910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52533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52533"/>
                </a:solidFill>
                <a:latin typeface="Aptos"/>
                <a:ea typeface="Aptos"/>
                <a:cs typeface="Aptos"/>
              </a:rPr>
              <a:t>-  global VF-plus-AMR association inference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43E551C-279D-4B1C-8EEA-0FCECE0E6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7475" y="3438525"/>
            <a:ext cx="45910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52533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52533"/>
                </a:solidFill>
                <a:latin typeface="Aptos"/>
                <a:ea typeface="Aptos"/>
                <a:cs typeface="Aptos"/>
              </a:rPr>
              <a:t>-  mechanistic proof from stable VF profiles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47609B8-69B5-47A3-B352-75B32EDCA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05325"/>
            <a:ext cx="2857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587"/>
                </a:solidFill>
                <a:latin typeface="Aptos"/>
                <a:ea typeface="Aptos"/>
                <a:cs typeface="Aptos"/>
              </a:rPr>
              <a:t>ADDITIONAL LOOKUP VISUALS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5970CEB-2330-40A9-9668-4CEBB7D27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67275"/>
            <a:ext cx="106108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3D75A57-3E85-4F1E-85F4-CB51D9C2F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962525"/>
            <a:ext cx="1019175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52533"/>
                </a:solidFill>
                <a:latin typeface="Aptos Mono"/>
                <a:ea typeface="Aptos Mono"/>
                <a:cs typeface="Aptos Mono"/>
              </a:defRPr>
            </a:pPr>
            <a:r>
              <a:rPr sz="1050" b="0">
                <a:solidFill>
                  <a:srgbClr val="152533"/>
                </a:solidFill>
                <a:latin typeface="Aptos Mono"/>
                <a:ea typeface="Aptos Mono"/>
                <a:cs typeface="Aptos Mono"/>
              </a:rPr>
              <a:t>plots/publication/Fig1_Swimmer_Plot.png  |  contextual longitudinal lookup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10B13E0-61E8-41CF-864A-F4EA10AE1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29225"/>
            <a:ext cx="106108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C578D83-6745-4893-A408-2E2AC815A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324475"/>
            <a:ext cx="1019175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52533"/>
                </a:solidFill>
                <a:latin typeface="Aptos Mono"/>
                <a:ea typeface="Aptos Mono"/>
                <a:cs typeface="Aptos Mono"/>
              </a:defRPr>
            </a:pPr>
            <a:r>
              <a:rPr sz="1050" b="0">
                <a:solidFill>
                  <a:srgbClr val="152533"/>
                </a:solidFill>
                <a:latin typeface="Aptos Mono"/>
                <a:ea typeface="Aptos Mono"/>
                <a:cs typeface="Aptos Mono"/>
              </a:rPr>
              <a:t>plots/vf/vf_jaccard_by_transition.png  |  within-resident VF stability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75F5B60-D896-4AD9-A96F-BF6E053DE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91175"/>
            <a:ext cx="106108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67B98C9-07E9-40EB-B233-E60080954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686425"/>
            <a:ext cx="1019175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52533"/>
                </a:solidFill>
                <a:latin typeface="Aptos Mono"/>
                <a:ea typeface="Aptos Mono"/>
                <a:cs typeface="Aptos Mono"/>
              </a:defRPr>
            </a:pPr>
            <a:r>
              <a:rPr sz="1050" b="0">
                <a:solidFill>
                  <a:srgbClr val="152533"/>
                </a:solidFill>
                <a:latin typeface="Aptos Mono"/>
                <a:ea typeface="Aptos Mono"/>
                <a:cs typeface="Aptos Mono"/>
              </a:rPr>
              <a:t>plots/vf/vf_transition_case_timeline.png  |  transition lookup</a:t>
            </a:r>
          </a:p>
        </p:txBody>
      </p:sp>
    </p:spTree>
    <p:extLst>
      <p:ext uri="{BB962C8B-B14F-4D97-AF65-F5344CB8AC3E}">
        <p14:creationId xmlns:p14="http://schemas.microsoft.com/office/powerpoint/2010/main" val="16756293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2026-07-15T07:27:04.7010000Z</dcterms:created>
  <dcterms:modified xsi:type="dcterms:W3CDTF">2026-07-15T07:27:04.7010000Z</dcterms:modified>
</coreProperties>
</file>