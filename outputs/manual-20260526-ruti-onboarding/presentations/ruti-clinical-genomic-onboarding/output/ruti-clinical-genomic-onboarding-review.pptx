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a407c3b4c4616" /><Relationship Type="http://schemas.openxmlformats.org/officeDocument/2006/relationships/extended-properties" Target="/docProps/app.xml" Id="R89b3d5ceab58416a" /><Relationship Type="http://schemas.openxmlformats.org/officeDocument/2006/relationships/officeDocument" Target="/ppt/presentation.xml" Id="R27a93e03f485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a4b959eef45f3"/>
  </p:sldMasterIdLst>
  <p:notesMasterIdLst>
    <p:notesMasterId xmlns:r="http://schemas.openxmlformats.org/officeDocument/2006/relationships" r:id="Raf4158cad96a48f0"/>
  </p:notesMasterIdLst>
  <p:sldIdLst>
    <p:sldId xmlns:r="http://schemas.openxmlformats.org/officeDocument/2006/relationships" id="256" r:id="Rc4577e444e9e4689"/>
    <p:sldId xmlns:r="http://schemas.openxmlformats.org/officeDocument/2006/relationships" id="257" r:id="R67d4e00e66614a17"/>
    <p:sldId xmlns:r="http://schemas.openxmlformats.org/officeDocument/2006/relationships" id="258" r:id="R4c5c983c03fb4e09"/>
    <p:sldId xmlns:r="http://schemas.openxmlformats.org/officeDocument/2006/relationships" id="259" r:id="Rb7295d32204c495f"/>
    <p:sldId xmlns:r="http://schemas.openxmlformats.org/officeDocument/2006/relationships" id="260" r:id="Rb3b001b147fd4edc"/>
    <p:sldId xmlns:r="http://schemas.openxmlformats.org/officeDocument/2006/relationships" id="261" r:id="Re97a400758714f17"/>
    <p:sldId xmlns:r="http://schemas.openxmlformats.org/officeDocument/2006/relationships" id="262" r:id="Rf7014bf444634504"/>
    <p:sldId xmlns:r="http://schemas.openxmlformats.org/officeDocument/2006/relationships" id="263" r:id="R6eb1b5f304374773"/>
    <p:sldId xmlns:r="http://schemas.openxmlformats.org/officeDocument/2006/relationships" id="264" r:id="R1ceb9e5af6b74de2"/>
    <p:sldId xmlns:r="http://schemas.openxmlformats.org/officeDocument/2006/relationships" id="265" r:id="R548c6f28b9154295"/>
    <p:sldId xmlns:r="http://schemas.openxmlformats.org/officeDocument/2006/relationships" id="266" r:id="R24ce7778e0be46ea"/>
    <p:sldId xmlns:r="http://schemas.openxmlformats.org/officeDocument/2006/relationships" id="267" r:id="R0f996a413f65459a"/>
    <p:sldId xmlns:r="http://schemas.openxmlformats.org/officeDocument/2006/relationships" id="268" r:id="R577ce133ec644a8c"/>
    <p:sldId xmlns:r="http://schemas.openxmlformats.org/officeDocument/2006/relationships" id="269" r:id="R9d92e40618144df7"/>
    <p:sldId xmlns:r="http://schemas.openxmlformats.org/officeDocument/2006/relationships" id="270" r:id="R0b61932e75f846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e380292d54c0d" /><Relationship Type="http://schemas.openxmlformats.org/officeDocument/2006/relationships/slideMaster" Target="/ppt/slideMasters/slideMaster1.xml" Id="R17da4b959eef45f3" /><Relationship Type="http://schemas.openxmlformats.org/officeDocument/2006/relationships/notesMaster" Target="/ppt/notesMasters/notesMaster1.xml" Id="Raf4158cad96a48f0" /><Relationship Type="http://schemas.openxmlformats.org/officeDocument/2006/relationships/presProps" Target="/ppt/presProps.xml" Id="R258edfa5cba34b2a" /><Relationship Type="http://schemas.openxmlformats.org/officeDocument/2006/relationships/viewProps" Target="/ppt/viewProps.xml" Id="Rd674699b4b7b465d" /><Relationship Type="http://schemas.openxmlformats.org/officeDocument/2006/relationships/tableStyles" Target="/ppt/tableStyles.xml" Id="R260782db18c64fac" /><Relationship Type="http://schemas.openxmlformats.org/officeDocument/2006/relationships/slide" Target="/ppt/slides/slide1.xml" Id="Rc4577e444e9e4689" /><Relationship Type="http://schemas.openxmlformats.org/officeDocument/2006/relationships/slide" Target="/ppt/slides/slide2.xml" Id="R67d4e00e66614a17" /><Relationship Type="http://schemas.openxmlformats.org/officeDocument/2006/relationships/slide" Target="/ppt/slides/slide3.xml" Id="R4c5c983c03fb4e09" /><Relationship Type="http://schemas.openxmlformats.org/officeDocument/2006/relationships/slide" Target="/ppt/slides/slide4.xml" Id="Rb7295d32204c495f" /><Relationship Type="http://schemas.openxmlformats.org/officeDocument/2006/relationships/slide" Target="/ppt/slides/slide5.xml" Id="Rb3b001b147fd4edc" /><Relationship Type="http://schemas.openxmlformats.org/officeDocument/2006/relationships/slide" Target="/ppt/slides/slide6.xml" Id="Re97a400758714f17" /><Relationship Type="http://schemas.openxmlformats.org/officeDocument/2006/relationships/slide" Target="/ppt/slides/slide7.xml" Id="Rf7014bf444634504" /><Relationship Type="http://schemas.openxmlformats.org/officeDocument/2006/relationships/slide" Target="/ppt/slides/slide8.xml" Id="R6eb1b5f304374773" /><Relationship Type="http://schemas.openxmlformats.org/officeDocument/2006/relationships/slide" Target="/ppt/slides/slide9.xml" Id="R1ceb9e5af6b74de2" /><Relationship Type="http://schemas.openxmlformats.org/officeDocument/2006/relationships/slide" Target="/ppt/slides/slide10.xml" Id="R548c6f28b9154295" /><Relationship Type="http://schemas.openxmlformats.org/officeDocument/2006/relationships/slide" Target="/ppt/slides/slide11.xml" Id="R24ce7778e0be46ea" /><Relationship Type="http://schemas.openxmlformats.org/officeDocument/2006/relationships/slide" Target="/ppt/slides/slide12.xml" Id="R0f996a413f65459a" /><Relationship Type="http://schemas.openxmlformats.org/officeDocument/2006/relationships/slide" Target="/ppt/slides/slide13.xml" Id="R577ce133ec644a8c" /><Relationship Type="http://schemas.openxmlformats.org/officeDocument/2006/relationships/slide" Target="/ppt/slides/slide14.xml" Id="R9d92e40618144df7" /><Relationship Type="http://schemas.openxmlformats.org/officeDocument/2006/relationships/slide" Target="/ppt/slides/slide15.xml" Id="R0b61932e75f846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17fc55891248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76300ca536442f" /><Relationship Type="http://schemas.openxmlformats.org/officeDocument/2006/relationships/notesMaster" Target="/ppt/notesMasters/notesMaster1.xml" Id="R5d876e520e1e48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fd38ff164489b" /><Relationship Type="http://schemas.openxmlformats.org/officeDocument/2006/relationships/notesMaster" Target="/ppt/notesMasters/notesMaster1.xml" Id="R73ebc78eb956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2803f27bf54feb" /><Relationship Type="http://schemas.openxmlformats.org/officeDocument/2006/relationships/notesMaster" Target="/ppt/notesMasters/notesMaster1.xml" Id="R9e4b3c09154644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605bcfb7844389" /><Relationship Type="http://schemas.openxmlformats.org/officeDocument/2006/relationships/notesMaster" Target="/ppt/notesMasters/notesMaster1.xml" Id="R9ec172453607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67805f6cf74ac8" /><Relationship Type="http://schemas.openxmlformats.org/officeDocument/2006/relationships/notesMaster" Target="/ppt/notesMasters/notesMaster1.xml" Id="Rbdc70addc574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fca6f23c64885" /><Relationship Type="http://schemas.openxmlformats.org/officeDocument/2006/relationships/notesMaster" Target="/ppt/notesMasters/notesMaster1.xml" Id="R645643cd0a2e4b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47866caec434e" /><Relationship Type="http://schemas.openxmlformats.org/officeDocument/2006/relationships/notesMaster" Target="/ppt/notesMasters/notesMaster1.xml" Id="Rd8aecaa7290f46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769e4c45d74d75" /><Relationship Type="http://schemas.openxmlformats.org/officeDocument/2006/relationships/notesMaster" Target="/ppt/notesMasters/notesMaster1.xml" Id="R179c5c7269b946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82b5f7e6b04496" /><Relationship Type="http://schemas.openxmlformats.org/officeDocument/2006/relationships/notesMaster" Target="/ppt/notesMasters/notesMaster1.xml" Id="R30e87e9c1b924d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802f7fb06549b9" /><Relationship Type="http://schemas.openxmlformats.org/officeDocument/2006/relationships/notesMaster" Target="/ppt/notesMasters/notesMaster1.xml" Id="Rc5377c9c3004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9e35bae6ea461b" /><Relationship Type="http://schemas.openxmlformats.org/officeDocument/2006/relationships/notesMaster" Target="/ppt/notesMasters/notesMaster1.xml" Id="Rd73e879952b44c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0495016b424d82" /><Relationship Type="http://schemas.openxmlformats.org/officeDocument/2006/relationships/notesMaster" Target="/ppt/notesMasters/notesMaster1.xml" Id="R588a16ed27f644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32eb990eed482a" /><Relationship Type="http://schemas.openxmlformats.org/officeDocument/2006/relationships/notesMaster" Target="/ppt/notesMasters/notesMaster1.xml" Id="R724ecf3bcc6b4d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443aba641a41db" /><Relationship Type="http://schemas.openxmlformats.org/officeDocument/2006/relationships/notesMaster" Target="/ppt/notesMasters/notesMaster1.xml" Id="Rba41c796defe44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5b0f68c7be412f" /><Relationship Type="http://schemas.openxmlformats.org/officeDocument/2006/relationships/notesMaster" Target="/ppt/notesMasters/notesMaster1.xml" Id="Rbeeea28ae4924d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049c62e70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ff5fcb83f04d70" /><Relationship Type="http://schemas.openxmlformats.org/officeDocument/2006/relationships/slideLayout" Target="/ppt/slideLayouts/slideLayout1.xml" Id="R631262bf0ca14a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1262bf0ca14a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0977b74e24073" /><Relationship Type="http://schemas.openxmlformats.org/officeDocument/2006/relationships/notesSlide" Target="/ppt/notesSlides/notesSlide1.xml" Id="R03942f8cf06b42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c7174b7ee46bb" /><Relationship Type="http://schemas.openxmlformats.org/officeDocument/2006/relationships/notesSlide" Target="/ppt/notesSlides/notesSlide2.xml" Id="R9e8c9f8d251346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5bca1027a484d" /><Relationship Type="http://schemas.openxmlformats.org/officeDocument/2006/relationships/notesSlide" Target="/ppt/notesSlides/notesSlide3.xml" Id="R2955d4bf5c9a41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5df090758494f" /><Relationship Type="http://schemas.openxmlformats.org/officeDocument/2006/relationships/notesSlide" Target="/ppt/notesSlides/notesSlide4.xml" Id="R33bf793e80be42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8fead0a684d82" /><Relationship Type="http://schemas.openxmlformats.org/officeDocument/2006/relationships/notesSlide" Target="/ppt/notesSlides/notesSlide5.xml" Id="R2dd9dfb4f2a94b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aa026c0c7446b" /><Relationship Type="http://schemas.openxmlformats.org/officeDocument/2006/relationships/image" Target="/ppt/media/image.png" Id="R459e2d15a45f40ca" /><Relationship Type="http://schemas.openxmlformats.org/officeDocument/2006/relationships/notesSlide" Target="/ppt/notesSlides/notesSlide6.xml" Id="Rdddaad1a7c5945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64161dc084d7d" /><Relationship Type="http://schemas.openxmlformats.org/officeDocument/2006/relationships/notesSlide" Target="/ppt/notesSlides/notesSlide7.xml" Id="Rb77f16a42ecd47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cf98756ab4460" /><Relationship Type="http://schemas.openxmlformats.org/officeDocument/2006/relationships/image" Target="/ppt/media/image2.png" Id="R528e00f0590c48ca" /><Relationship Type="http://schemas.openxmlformats.org/officeDocument/2006/relationships/notesSlide" Target="/ppt/notesSlides/notesSlide8.xml" Id="R32848fe51010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895d3608a492b" /><Relationship Type="http://schemas.openxmlformats.org/officeDocument/2006/relationships/image" Target="/ppt/media/image3.png" Id="Rb15bb9bfca47406c" /><Relationship Type="http://schemas.openxmlformats.org/officeDocument/2006/relationships/notesSlide" Target="/ppt/notesSlides/notesSlide9.xml" Id="R6041134ea1ff41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92fc88a094d04" /><Relationship Type="http://schemas.openxmlformats.org/officeDocument/2006/relationships/image" Target="/ppt/media/image4.png" Id="R6bfd0a0abfa74713" /><Relationship Type="http://schemas.openxmlformats.org/officeDocument/2006/relationships/notesSlide" Target="/ppt/notesSlides/notesSlide10.xml" Id="R7ca43947bb924d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f6efaf9b64e36" /><Relationship Type="http://schemas.openxmlformats.org/officeDocument/2006/relationships/notesSlide" Target="/ppt/notesSlides/notesSlide11.xml" Id="Re77fd2ed763347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babc2b10744f3" /><Relationship Type="http://schemas.openxmlformats.org/officeDocument/2006/relationships/notesSlide" Target="/ppt/notesSlides/notesSlide12.xml" Id="R429ed7e3e57f44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17d75d3d84e26" /><Relationship Type="http://schemas.openxmlformats.org/officeDocument/2006/relationships/image" Target="/ppt/media/image5.png" Id="Rb180a6d88223417b" /><Relationship Type="http://schemas.openxmlformats.org/officeDocument/2006/relationships/notesSlide" Target="/ppt/notesSlides/notesSlide13.xml" Id="R94b69966f5f140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b636d68bb416b" /><Relationship Type="http://schemas.openxmlformats.org/officeDocument/2006/relationships/image" Target="/ppt/media/image6.png" Id="R5f585e33708d4bf2" /><Relationship Type="http://schemas.openxmlformats.org/officeDocument/2006/relationships/notesSlide" Target="/ppt/notesSlides/notesSlide14.xml" Id="Recc56d4d2cf147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c105905044e9" /><Relationship Type="http://schemas.openxmlformats.org/officeDocument/2006/relationships/image" Target="/ppt/media/image7.png" Id="R3f0a810c550f4c3b" /><Relationship Type="http://schemas.openxmlformats.org/officeDocument/2006/relationships/notesSlide" Target="/ppt/notesSlides/notesSlide15.xml" Id="R5fe5036f92cd4d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-background">
            <a:extLst xmlns:a="http://schemas.openxmlformats.org/drawingml/2006/main">
              <a:ext uri="{FF2B5EF4-FFF2-40B4-BE49-F238E27FC236}">
                <a16:creationId xmlns:a16="http://schemas.microsoft.com/office/drawing/2014/main" id="{5B15BA26-02DE-448F-AA63-2B9EF54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69CE7987-7418-4587-9B1C-B795647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AE431750-0F07-46A2-885C-7F98DE5C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LONGCYCLER-ONLY SCIENTIFIC ONBOARDING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3CEC6-C01D-4171-BC83-E14B719E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477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When does the same bacterium</a:t>
            </a:r>
          </a:p>
          <a:p xmlns:a="http://schemas.openxmlformats.org/drawingml/2006/main">
            <a:pPr>
              <a:buNone/>
              <a:defRPr sz="37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become a urinary tract infection?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DFA90-A149-4571-BE12-C53E5D4F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Longcycler-only clinical-to-genomic analysis of the operational UTI phenotype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3D8CB-B45C-4B2E-B372-002C099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314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94688-2F31-440D-B397-D57B812C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9515"/>
            <a:ext cx="11239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UTI VS NOT_UTI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1C42E-A314-4584-9C12-C982A48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76650"/>
            <a:ext cx="1295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E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58F71-5912-4174-A43D-06C0AB2A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9515"/>
            <a:ext cx="11049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CURRENT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BFECA-9E1F-4F24-9B67-E74E541B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9810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DED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92507-D5AD-42A6-8482-B68E595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9515"/>
            <a:ext cx="79057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30 MINUTES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87342-BA1C-4D82-BA68-4EE6B8A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800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22"/>
          </a:solidFill>
          <a:ln xmlns:a="http://schemas.openxmlformats.org/drawingml/2006/main" w="0">
            <a:solidFill>
              <a:srgbClr val="C957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9A67A-5439-40C4-A622-AEFB475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000125"/>
            <a:ext cx="956881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Three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2E3A2-C7B0-4443-8192-32B5D9A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8755"/>
            <a:ext cx="38862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01  Does recurrence reflect strain persistence or replacement?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D9082-6D5A-4F29-BC83-6584E75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28825"/>
            <a:ext cx="38862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02  What changes when an episode becomes symptomatic?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B7851-C944-4C7F-9E22-891FB10C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88895"/>
            <a:ext cx="38862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03  What can the current denominator support scientifically?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39A31-FB9C-403A-AA18-0EAF85E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20002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532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F7F53-8D88-4FF3-8AEA-A529DD2C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7315"/>
            <a:ext cx="20002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Selected episodes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41D60-48F5-499A-BB2A-D5DEC8E1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3530"/>
            <a:ext cx="2000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161 residents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83077-934B-46B5-92AD-B5BE60D4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17335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C95722"/>
                </a:solidFill>
                <a:latin typeface="Georgia"/>
                <a:ea typeface="Georgia"/>
                <a:cs typeface="Georgia"/>
              </a:defRPr>
            </a:pPr>
            <a: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A73D1-0B27-422E-92D5-DB0E37E3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87315"/>
            <a:ext cx="17335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Operational UTI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C52A9-F8A9-4D42-94E7-3BAB7EA3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83530"/>
            <a:ext cx="17335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Selected episodes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8DC2B-6817-458E-A8FA-9DFF21A2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05350"/>
            <a:ext cx="18097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161A8-918D-47E2-912D-5C256AD9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87315"/>
            <a:ext cx="18097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Transitions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01A33-777C-4CC3-B651-BA05E38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83530"/>
            <a:ext cx="1809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Not_UTI to UTI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E6B2B-BA8C-477E-B97F-BC327937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0535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1BAD6-5B01-42D6-899D-EEBAB82D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31432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Current framing: operational UTI versus heterogeneous Not_UTI.</a:t>
            </a:r>
          </a:p>
          <a:p xmlns:a="http://schemas.openxmlformats.org/drawingml/2006/main">
            <a:pPr>
              <a:buNone/>
              <a:defRPr sz="97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All analytical inputs are selected QC-passing Longcycler genomes.</a:t>
            </a:r>
          </a:p>
        </p:txBody>
      </p:sp>
      <p:sp>
        <p:nvSpPr>
          <p:cNvPr id="2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517DE59-1C51-4D31-84D8-94F3F3C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10422-DB3C-49C1-B4BB-7396C07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Current evidence pack: results/pipeline/longcycler_release_claim_registry.json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4CF56-AFCA-4061-B078-95F07E74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ORIENTATION  |  01</a:t>
            </a:r>
          </a:p>
        </p:txBody>
      </p:sp>
    </p:spTree>
    <p:extLst>
      <p:ext uri="{BB962C8B-B14F-4D97-AF65-F5344CB8AC3E}">
        <p14:creationId xmlns:p14="http://schemas.microsoft.com/office/powerpoint/2010/main" val="14226770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background">
            <a:extLst xmlns:a="http://schemas.openxmlformats.org/drawingml/2006/main">
              <a:ext uri="{FF2B5EF4-FFF2-40B4-BE49-F238E27FC236}">
                <a16:creationId xmlns:a16="http://schemas.microsoft.com/office/drawing/2014/main" id="{15BAF036-E10E-426D-B499-071EF846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73AC6DA-E26B-4FA9-9A52-246CF8B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5E1B4BE-7E36-4427-B4E3-28292EC0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CLINICAL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12789-4EAC-4734-9DBA-BC82B3B5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422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Presence is not the same as infection.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B9C45-0E79-462C-B836-F662BC7D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681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The primary contrast uses a versioned operational UTI rule; it does not equate bacterial presence with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AF5BD-48AB-4C4E-BE38-DDCAFCFE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7810"/>
            <a:ext cx="3295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EC79E-3283-487A-A935-882E40F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89735"/>
            <a:ext cx="685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7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6F86C-1B1E-47F4-9150-2BD59D9A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52600"/>
            <a:ext cx="4953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UTI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EE635-43CA-40A5-A47E-E6681357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4060"/>
            <a:ext cx="2762250" cy="1005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Culture-supported episode</a:t>
            </a:r>
          </a:p>
          <a:p xmlns:a="http://schemas.openxmlformats.org/drawingml/2006/main">
            <a:pPr>
              <a:buNone/>
              <a:defRPr sz="16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with compatible symptoms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7B809-176F-4130-8A00-0143576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214522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16 operational UTI episodes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D66F0-B7FA-4D16-AE66-76910CF9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27810"/>
            <a:ext cx="3295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C9DF0-8416-4BC4-957A-4D222465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89735"/>
            <a:ext cx="971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C9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307BC-C6A3-41E4-9CD0-31DA0AD6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7810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NOT_UTI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41479-09E2-4AE2-87BF-F3CDFC2D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04060"/>
            <a:ext cx="276225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Does not fulfil both</a:t>
            </a:r>
          </a:p>
          <a:p xmlns:a="http://schemas.openxmlformats.org/drawingml/2006/main">
            <a:pPr>
              <a:buNone/>
              <a:defRPr sz="16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primary UTI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F1228-A7C0-4EA8-B3B8-9E95CCA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92705"/>
            <a:ext cx="235448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516 selected episodes; clinically heterogeneous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ADEE9-FCB7-42B7-ACCC-A1CDA22D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27810"/>
            <a:ext cx="929259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Why this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2E549-BD00-4BC6-90A0-EB1180E2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79270"/>
            <a:ext cx="3505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A change from Not_UTI to UTI may reflect: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FC6B4-2601-49E5-81D5-25EEA6C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87880"/>
            <a:ext cx="3524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1. strain replacement</a:t>
            </a:r>
          </a:p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2. bacterial genomic change</a:t>
            </a:r>
          </a:p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3. symptoms emerging despite a stable measured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1C1FE-C700-456E-84CB-52C9864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6660"/>
            <a:ext cx="78105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A participant is observed across episodes, not as a single static label.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B40CA-F555-41AE-96B9-235B7CB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66BE1-D444-4A87-A9FD-6F4A974D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85334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T0  |  Not_UTI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B1A26-9759-4FD2-BEA3-8721642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9595"/>
            <a:ext cx="1160716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Culture recorded</a:t>
            </a:r>
          </a:p>
          <a:p xmlns:a="http://schemas.openxmlformats.org/drawingml/2006/main">
            <a:pPr>
              <a:buNone/>
              <a:defRPr sz="82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No qualifying symptoms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1B75A-97AB-4962-81C5-F272DA7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3885"/>
            <a:ext cx="3238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AD936-6EDA-47D7-B1BE-02A7133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67175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52A77-E6A4-4694-964A-3327F03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81475"/>
            <a:ext cx="85334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T3  |  Not_UTI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6145F-8434-4246-9B86-BAF5034B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79595"/>
            <a:ext cx="1241203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Repeat isolate</a:t>
            </a:r>
          </a:p>
          <a:p xmlns:a="http://schemas.openxmlformats.org/drawingml/2006/main">
            <a:pPr>
              <a:buNone/>
              <a:defRPr sz="82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Genomic linkage possible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BE458-3DD5-489C-96C4-AAD685A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13885"/>
            <a:ext cx="3238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4CE87-1DD1-41B8-BAAA-16AC235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E9AD49-4202-45D6-ADAD-7D35F65B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81475"/>
            <a:ext cx="73171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UTI-1  |  UTI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B5208-C449-4C2E-9343-DA990C93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9615"/>
            <a:ext cx="1142238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Symptoms emerge</a:t>
            </a:r>
          </a:p>
          <a:p xmlns:a="http://schemas.openxmlformats.org/drawingml/2006/main">
            <a:pPr>
              <a:buNone/>
              <a:defRPr sz="82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Culture support persists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83052-A2A4-4058-965D-9804D09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3752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B436E-6F79-4309-A6F4-41F6325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76725"/>
            <a:ext cx="2705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Longitudinal question:</a:t>
            </a:r>
          </a:p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what changed between episodes?</a:t>
            </a:r>
          </a:p>
        </p:txBody>
      </p:sp>
      <p:sp>
        <p:nvSpPr>
          <p:cNvPr id="3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3F2BF0E-5509-4391-B44F-336F131D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5D1D8E-C119-443A-876A-9AF84EA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operational UTI phenotype; selected cohort (16 UTI / 516 Not_UTI)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C2EE12-2E38-4D4F-996C-0544658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CLINICAL FRAME  |  02</a:t>
            </a:r>
          </a:p>
        </p:txBody>
      </p:sp>
    </p:spTree>
    <p:extLst>
      <p:ext uri="{BB962C8B-B14F-4D97-AF65-F5344CB8AC3E}">
        <p14:creationId xmlns:p14="http://schemas.microsoft.com/office/powerpoint/2010/main" val="12582017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background">
            <a:extLst xmlns:a="http://schemas.openxmlformats.org/drawingml/2006/main">
              <a:ext uri="{FF2B5EF4-FFF2-40B4-BE49-F238E27FC236}">
                <a16:creationId xmlns:a16="http://schemas.microsoft.com/office/drawing/2014/main" id="{49E53A02-E562-43C7-A90A-60EE2E0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A637A33-DE5E-4ADB-BEC5-D8920AE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89A9EB5-3038-4D49-B131-26BD4ECD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STUDY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21C82-F203-40A5-95E7-B7A9E98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Repeated clinical episodes are linked to sequenced bacterial isolates.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0C7C1-8DCD-4CF1-971D-86F122CD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The analytic value comes from joining clinical state to within-participant genomic change over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5AE64-F0A7-4D5D-B018-D1D3A46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9295"/>
            <a:ext cx="20764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532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6B79E-937B-4591-A8DC-29E18CEC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20764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Selected episodes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8A286-AB88-4D5D-BF27-2BECEC03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20764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161 residents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6F57B-D8AE-4500-9602-EE5D696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79295"/>
            <a:ext cx="20764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532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ED7C2-5804-4539-9A03-F928CC53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61260"/>
            <a:ext cx="20764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QC-passing genomes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E0CD1-6D6F-4FD6-A346-E906577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57475"/>
            <a:ext cx="20764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one selected per episode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9F8EC-4C19-4131-BAF3-3957CE6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79295"/>
            <a:ext cx="20764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C96"/>
                </a:solidFill>
                <a:latin typeface="Georgia"/>
                <a:ea typeface="Georgia"/>
                <a:cs typeface="Georgia"/>
              </a:defRPr>
            </a:pPr>
            <a:r>
              <a:t>227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0B9B3-E154-4F99-ADC3-A7E40924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61260"/>
            <a:ext cx="20764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VFDB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8D1F2-D8AF-48FE-8704-894364D9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57475"/>
            <a:ext cx="20764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Canonical VF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7EBE5-5363-40C4-B06C-1BB31A6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9295"/>
            <a:ext cx="20955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C95722"/>
                </a:solidFill>
                <a:latin typeface="Georgia"/>
                <a:ea typeface="Georgia"/>
                <a:cs typeface="Georgia"/>
              </a:defRPr>
            </a:pPr>
            <a:r>
              <a:t>371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3C5DA-4DD8-41D3-90F4-BEAE5F87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61260"/>
            <a:ext cx="20955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Adjacent pairs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F3E4F-0706-4B3C-8E4A-03753498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57475"/>
            <a:ext cx="209550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139 residents; 9 to UTI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FF5B8-20FB-49C4-8F9D-C2560408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229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6CCF4-7850-4A30-9F7B-F9EDCB4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8995"/>
            <a:ext cx="2247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7614A-56A4-4595-96CE-A88247E4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1395"/>
            <a:ext cx="611886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01  SAMPLE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C91F2-1EE7-4174-9D54-B21B2E77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194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Clinical episode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6FF65-829F-49E5-8A91-D4245D4D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9431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Symptoms, culture support,</a:t>
            </a:r>
          </a:p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collection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D60EC-42CA-4EC9-908F-EF5229F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2405"/>
            <a:ext cx="2476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630DC-CF0C-4DDB-94A5-79A10C5E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88995"/>
            <a:ext cx="2114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EB213-9374-4559-B229-4837413A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1395"/>
            <a:ext cx="433387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02 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8D3D7-B3A6-4B5C-A996-84F81BD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905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Isolate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11B25-365F-4AD2-8A12-E4C82EA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3855"/>
            <a:ext cx="18097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Participant + timepoint</a:t>
            </a:r>
          </a:p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joins the layers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19739-CCDB-47EC-93DC-B7829496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02405"/>
            <a:ext cx="2476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501ED-A0C0-4F28-8611-A283423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88995"/>
            <a:ext cx="2305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3572E-BB72-4B8B-A44E-B211BB1A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1395"/>
            <a:ext cx="625697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03  PROFILE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4F08B-54D5-4488-9D32-31CF9951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9055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Genome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995A8-5B2F-485B-908B-2A72BDEF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3855"/>
            <a:ext cx="2000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VF profile, SNPs,</a:t>
            </a:r>
          </a:p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ST and mobile 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50390-31EB-4586-93A5-D1C20C8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2405"/>
            <a:ext cx="2476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25B61-17A1-4181-9565-ED2115BE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8995"/>
            <a:ext cx="2343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FC8AA-C6E9-46CB-900C-B24DE474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1395"/>
            <a:ext cx="758761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04  INTERPRET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0F79F9-0B4E-4C9D-95B2-9E4B5CC7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9055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Transition casebook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6109CB-9BB9-4F6E-9240-066C5E97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73855"/>
            <a:ext cx="20383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Stable profile,</a:t>
            </a:r>
          </a:p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change or replacement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DABF35-331E-42FF-85F0-0F2E972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6370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AEEDC8-30CE-4D14-9FF6-54E1925B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9235"/>
            <a:ext cx="628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CLINICAL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A63A4-0987-4C0F-B030-069FE2FD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80660"/>
            <a:ext cx="12533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defines the outcome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3FFFC8-1FC9-499E-A476-DD6963BB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00" y="5246370"/>
            <a:ext cx="876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E4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FF9853-CD4F-4890-93C3-A152220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850" y="5309235"/>
            <a:ext cx="6858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GENOMIC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FAF28-8040-4DF1-9B6C-6C9F81E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250" y="5280660"/>
            <a:ext cx="329317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tests bacterial continuity and measured profile change</a:t>
            </a:r>
          </a:p>
        </p:txBody>
      </p:sp>
      <p:sp>
        <p:nvSpPr>
          <p:cNvPr id="4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47BD627-2017-4979-8884-4A4DFB7B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1807A7-B4C8-42E6-8D85-05A6118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results/pipeline/longcycler_release_claim_registry.json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DD796B-47D1-4FED-9F98-C408708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STUDY DESIGN  |  03</a:t>
            </a:r>
          </a:p>
        </p:txBody>
      </p:sp>
    </p:spTree>
    <p:extLst>
      <p:ext uri="{BB962C8B-B14F-4D97-AF65-F5344CB8AC3E}">
        <p14:creationId xmlns:p14="http://schemas.microsoft.com/office/powerpoint/2010/main" val="2113502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background">
            <a:extLst xmlns:a="http://schemas.openxmlformats.org/drawingml/2006/main">
              <a:ext uri="{FF2B5EF4-FFF2-40B4-BE49-F238E27FC236}">
                <a16:creationId xmlns:a16="http://schemas.microsoft.com/office/drawing/2014/main" id="{047FEFFF-0B62-49FC-B545-ABFA018F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613790A-7606-4243-A59A-E129637F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52681056-B079-4BE4-BF0B-04966B8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PRIMARY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FB8BB-FDE3-4199-8950-16E3B006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422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52D"/>
                </a:solidFill>
                <a:latin typeface="Georgia"/>
                <a:ea typeface="Georgia"/>
                <a:cs typeface="Georgia"/>
              </a:rPr>
              <a:t>Operational UTI requires culture and compatible symptoms.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CDD69-88E6-4D8F-B4CF-7CE04A0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681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The rule is catheter-aware and culture-supported; failure to meet both conditions is classified as Not_UTI.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950A3-60F4-459F-9C3F-237476E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781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34C4C-752C-4316-A336-F3F620C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0685"/>
            <a:ext cx="561023" cy="354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532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590FA-B9D3-45DC-94F3-193EF9F4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673" y="1762125"/>
            <a:ext cx="2373249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selected Longcycler-linked episodes assessed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DC537-FFFF-4BED-8A4D-EC167F26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708" y="2308860"/>
            <a:ext cx="102584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567BA-C097-47AC-88CA-5BA0D08B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4223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E6A81-411B-40EF-9D15-7636EBA4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4160"/>
            <a:ext cx="66065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CONDITION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CF004-1906-4374-B253-2FA100A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94660"/>
            <a:ext cx="29718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Culture support</a:t>
            </a:r>
          </a:p>
          <a:p xmlns:a="http://schemas.openxmlformats.org/drawingml/2006/main">
            <a:pPr>
              <a:buNone/>
              <a:defRPr sz="15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&gt;=10^3 CFU/mL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11124-8EF6-4467-A5A6-8A3043DB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4185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C95722"/>
                </a:solidFill>
                <a:latin typeface="Georgia"/>
                <a:ea typeface="Georgia"/>
                <a:cs typeface="Georgia"/>
              </a:defRPr>
            </a:pPr>
            <a: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FC5ED-C541-4AC9-A393-76FB8B4E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4223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508DC-10CB-41A0-84C0-04890343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4160"/>
            <a:ext cx="65455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CONDITION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2ED23-D2B9-4A9F-8E47-23E7692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4660"/>
            <a:ext cx="29718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Compatible symptoms</a:t>
            </a:r>
          </a:p>
          <a:p xmlns:a="http://schemas.openxmlformats.org/drawingml/2006/main">
            <a:pPr>
              <a:buNone/>
              <a:defRPr sz="15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catheter-aware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DB627-DA07-4B23-8D7C-7C5A23C3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571" y="3813810"/>
            <a:ext cx="76685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Both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CD42A-A96E-4601-80E3-5B0126AF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137660"/>
            <a:ext cx="3467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2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701D5-F289-4F0E-B504-52DE901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90060"/>
            <a:ext cx="2294668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UTI  |  16 episodes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F8ECD-A2AF-4429-A9D5-335A056F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53915"/>
            <a:ext cx="2176463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Meets culture and symptom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D5E68-2D27-4C11-A710-C11A7FD6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37660"/>
            <a:ext cx="4552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9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0DC29-A2BF-4E9D-A27F-BE60E5F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90060"/>
            <a:ext cx="3100864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Not_UTI  |  516 episodes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BED6C-31A6-429F-8FE8-74B4D37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653915"/>
            <a:ext cx="4095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Heterogeneous: do not read as a single biological control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2599C-37C9-47F0-85E0-87371D1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531" y="539496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5C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0EA1F-A269-4253-B300-BFACD329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781" y="5457825"/>
            <a:ext cx="8763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49F7A-58DB-4A34-9528-5D9F99A8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581" y="5360670"/>
            <a:ext cx="4820888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This versioned operational definition sets the boundary for every genomic result that follows.</a:t>
            </a:r>
          </a:p>
        </p:txBody>
      </p:sp>
      <p:sp>
        <p:nvSpPr>
          <p:cNvPr id="2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28A3614-F1CA-4FA3-92A8-7C6C2C3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13287-7092-4CDF-9D9E-72BF740C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selected cohort (n=532, UTI=16, Not_UTI=516)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F9127-4F51-463C-AC3A-9DBCB579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CLINICAL RULE  |  04</a:t>
            </a:r>
          </a:p>
        </p:txBody>
      </p:sp>
    </p:spTree>
    <p:extLst>
      <p:ext uri="{BB962C8B-B14F-4D97-AF65-F5344CB8AC3E}">
        <p14:creationId xmlns:p14="http://schemas.microsoft.com/office/powerpoint/2010/main" val="11511546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background">
            <a:extLst xmlns:a="http://schemas.openxmlformats.org/drawingml/2006/main">
              <a:ext uri="{FF2B5EF4-FFF2-40B4-BE49-F238E27FC236}">
                <a16:creationId xmlns:a16="http://schemas.microsoft.com/office/drawing/2014/main" id="{0FC01F29-1906-4E83-89EA-540E044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BD234F6D-2282-41DB-B64F-5597501A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A374A06-4BDF-4DCA-8D7D-D5B14673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ANALYSIS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842E6-AE0A-466B-9055-E9D49A1B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422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Two data lanes meet at participant and timepoint.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55B5D-2BBC-4F6C-9B41-4979C1C7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681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Clinical code defines the outcome; genomic code characterises the bacterium and compares episodes.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89400-71DC-4E51-BA08-831D8E6E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4010"/>
            <a:ext cx="1200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1D658-A366-4775-98E7-01A41C7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09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CLINICAL 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50703-47A9-4F61-A368-8566104C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3548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929D3-B850-427A-A5B7-8BA1E9BC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7385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EF412-AE88-4DC9-B0F5-0D3C1CB3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0735"/>
            <a:ext cx="17335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Operational phenotype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5E2E8-5E0B-4F9B-ACA8-ACB589E7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97430"/>
            <a:ext cx="17335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00a / 00b clinical 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99394-C174-4B0C-8363-40031A1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55520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AD223-748B-466F-A1EA-770D71E7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37385"/>
            <a:ext cx="2019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C663B-D56B-4F88-9B67-C351F19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70735"/>
            <a:ext cx="17716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Selected cohort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6DE28-1EEE-49AA-9B34-6C21570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97430"/>
            <a:ext cx="1771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analysis_cohort_longcycler.csv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019A1-AEE0-41FB-9921-AD10185B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55520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05C85-DB27-455E-8F53-4B7BF00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37385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69B34-1AAB-45B1-9425-ACDAF743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70735"/>
            <a:ext cx="15240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Episode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69F68-5830-4DBC-ACD8-5EDA09A1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97430"/>
            <a:ext cx="1524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Participant_id + tp_lab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3CD0D-3F7C-403C-BEA3-AC005772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5520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471DA-2E5D-4B84-99B6-7450366A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37385"/>
            <a:ext cx="4229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2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C41D3-4800-47E1-AA16-14326890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0260"/>
            <a:ext cx="1717262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Integrated episode 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6433E-F89F-4ADD-8D5C-CD0D0DE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99360"/>
            <a:ext cx="149085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D9DDDC"/>
                </a:solidFill>
                <a:latin typeface="Menlo"/>
                <a:ea typeface="Menlo"/>
                <a:cs typeface="Menlo"/>
              </a:defRPr>
            </a:pPr>
            <a:r>
              <a:t>Participant_id + Timepoint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698AC-68C5-4B6A-AC9A-B754457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0860"/>
            <a:ext cx="1200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E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F3E02-EB4E-4CFF-A8AD-17610157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009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GENOMIC LANE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41A2D-8838-47ED-BD3C-DE4EC23A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80398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B679C-7D56-4B61-AC7F-829FCED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4235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07BB8-1676-40A4-9B35-7A520DAD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37585"/>
            <a:ext cx="17335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Selected assemblies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C3B73-42DB-4B63-85E8-025FCC22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64280"/>
            <a:ext cx="17335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QC-passing Longcycler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B27075-7E7D-46CA-9EB6-A67F4972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22370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88151-DB9B-41AC-90B9-9179974D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4235"/>
            <a:ext cx="2019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4B892-AAB4-4F1F-86FF-52169AAB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37585"/>
            <a:ext cx="17716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Genome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E3ECF-A182-41B1-B47D-18A6F1F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64280"/>
            <a:ext cx="1771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VF + ST + direct SNP pairs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78B65-B583-400A-96CA-1A02FCE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22370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79D1C1-9739-46FE-99C9-6CD9F5C7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04235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6D6D86-1C27-46CB-AC17-EE098AF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37585"/>
            <a:ext cx="15240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Pairwise change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C473D3-EE4C-4B63-912A-ED11D852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64280"/>
            <a:ext cx="1524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pairwise_metrics.csv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9DD04E-F980-4CE4-9E19-84937BA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22370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782907-4BC4-48B0-ACD1-6EE112C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04235"/>
            <a:ext cx="4229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2D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9CEC0E-9B4A-45F6-808C-8EECC866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47110"/>
            <a:ext cx="1493044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Mechanism casebook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0B70E3-9013-4F98-ACC0-0D3A75C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94760"/>
            <a:ext cx="18097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D9DDDC"/>
                </a:solidFill>
                <a:latin typeface="Menlo"/>
                <a:ea typeface="Menlo"/>
                <a:cs typeface="Menlo"/>
              </a:defRPr>
            </a:pPr>
            <a:r>
              <a:rPr sz="600">
                <a:solidFill>
                  <a:srgbClr val="D9DDDC"/>
                </a:solidFill>
                <a:latin typeface="Menlo"/>
                <a:ea typeface="Menlo"/>
                <a:cs typeface="Menlo"/>
              </a:rPr>
              <a:t>not_uti_to_uti_casebook.csv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87AD73-ECA9-4BF4-B29F-6043973B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8660"/>
            <a:ext cx="11087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A531CF-FCBE-4B58-ABED-1359098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9160"/>
            <a:ext cx="7048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D48CF3-A08F-4926-AAD4-2BE3E18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74870"/>
            <a:ext cx="723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Release layer: denominator -&gt; direct pairs -&gt; transitions -&gt; RQ01-RQ10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18DF16-DD6E-49E4-84FD-748FDB3E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201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rPr sz="600">
                <a:solidFill>
                  <a:srgbClr val="53636A"/>
                </a:solidFill>
                <a:latin typeface="Menlo"/>
                <a:ea typeface="Menlo"/>
                <a:cs typeface="Menlo"/>
              </a:rPr>
              <a:t>RUN_COMPLETE_ANALYSIS.sh</a:t>
            </a:r>
          </a:p>
        </p:txBody>
      </p:sp>
      <p:sp>
        <p:nvSpPr>
          <p:cNvPr id="46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13B07D9-B137-4AB7-9507-68B724E2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5239B0-2A12-4515-A1F4-BC49C66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central selected cohort, claim registry and final-run evidence products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0C6662-6042-44B2-B562-0A4B980D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PIPELINE  |  05</a:t>
            </a:r>
          </a:p>
        </p:txBody>
      </p:sp>
    </p:spTree>
    <p:extLst>
      <p:ext uri="{BB962C8B-B14F-4D97-AF65-F5344CB8AC3E}">
        <p14:creationId xmlns:p14="http://schemas.microsoft.com/office/powerpoint/2010/main" val="1403467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background">
            <a:extLst xmlns:a="http://schemas.openxmlformats.org/drawingml/2006/main">
              <a:ext uri="{FF2B5EF4-FFF2-40B4-BE49-F238E27FC236}">
                <a16:creationId xmlns:a16="http://schemas.microsoft.com/office/drawing/2014/main" id="{42A5209E-6E85-4663-88B4-08D4FCA6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E75E1362-7867-41CE-868F-A87107DE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926133E-27F2-44B1-946F-92F196F9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INTERPRETATION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ED96E-582F-4AC3-B86F-467263EF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422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Rich dataset; sparse operational UTI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5D775-4D30-4BA0-98EE-A0ABD42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681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Set the denominator before reading mechanisms or population-wide genomic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F829A-0E37-4E79-83EC-0317C2EF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0660"/>
            <a:ext cx="798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e2d15a45f40ca"/>
          <a:stretch xmlns:a="http://schemas.openxmlformats.org/drawingml/2006/main"/>
        </p:blipFill>
        <p:spPr>
          <a:xfrm xmlns:a="http://schemas.openxmlformats.org/drawingml/2006/main" flipH="0" flipV="0">
            <a:off x="628650" y="2128647"/>
            <a:ext cx="7829550" cy="302742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33F0B-4F2C-4453-9292-2404E98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80185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6F268-500E-48EC-8F41-F93BCED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0660"/>
            <a:ext cx="1706118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DESCRIPTIVE DENOMINATOR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28892-DC19-4E2A-8871-F7FA58BC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3085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979D8-0E55-439C-9FF9-8482274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7860"/>
            <a:ext cx="95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C95722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C95722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836A0-5260-4C75-A89B-F3D01BA2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84120"/>
            <a:ext cx="22669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operational UTI episodes</a:t>
            </a:r>
          </a:p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in the selected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AB7D3-0CDE-4546-9828-755AC9E3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181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C31A8-BC07-4509-AE14-B9CFD98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37535"/>
            <a:ext cx="9525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6C96"/>
                </a:solidFill>
                <a:latin typeface="Georgia"/>
                <a:ea typeface="Georgia"/>
                <a:cs typeface="Georgia"/>
              </a:defRPr>
            </a:pPr>
            <a:r>
              <a:t>516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782EA-C463-47A2-B22B-F2029C61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97850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Not_UTI episodes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80092-F972-4F67-A5EF-752CD186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2885"/>
            <a:ext cx="2495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C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BB215-D357-4982-BC5F-A93C8D6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5285"/>
            <a:ext cx="21907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9518"/>
                </a:solidFill>
                <a:latin typeface="Avenir Next"/>
                <a:ea typeface="Avenir Next"/>
                <a:cs typeface="Avenir Next"/>
              </a:defRPr>
            </a:pPr>
            <a:r>
              <a:t>Read this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A010D-E3CA-41C2-82D0-F7BBF36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1030"/>
            <a:ext cx="21907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Near-miss definitions test sensitivity; they do not relabel the primary comparison.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18356-ED27-47E1-BE53-5FDF37D0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37810"/>
            <a:ext cx="1562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7E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43B19-CA87-4ADA-AF63-0D5A92C5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00675"/>
            <a:ext cx="13716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SPARSE OUTCOME</a:t>
            </a:r>
          </a:p>
        </p:txBody>
      </p:sp>
      <p:sp>
        <p:nvSpPr>
          <p:cNvPr id="2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8649B67-04CF-4C3F-B6E6-8AF3DCE7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7F181-B91F-4BEA-B851-CB09657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current final-run denominator figure; selected cohort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89988-CFF2-49EC-B6CD-94EA5D3C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RESULTS  |  06</a:t>
            </a:r>
          </a:p>
        </p:txBody>
      </p:sp>
    </p:spTree>
    <p:extLst>
      <p:ext uri="{BB962C8B-B14F-4D97-AF65-F5344CB8AC3E}">
        <p14:creationId xmlns:p14="http://schemas.microsoft.com/office/powerpoint/2010/main" val="4137338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background">
            <a:extLst xmlns:a="http://schemas.openxmlformats.org/drawingml/2006/main">
              <a:ext uri="{FF2B5EF4-FFF2-40B4-BE49-F238E27FC236}">
                <a16:creationId xmlns:a16="http://schemas.microsoft.com/office/drawing/2014/main" id="{EA55C663-A2D4-4967-B8B3-7380135A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2938643A-2228-4940-935E-897FF801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6BFDB4FC-508A-414D-8A1B-6FD5062E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WORKED TRANSITION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DAB99-F2B7-4825-955F-9710CFE6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9 operational Not_UTI-to-UTI transitions are all genomically linked.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28A7E-A3D4-4E12-B088-4D6F2DF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Direct pair evidence is primary: 5 of 9 are at or below 25 SNPs.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77BA7-2A4A-4B16-BE8C-FCC0AB9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5945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3680B-A6CF-419F-BF67-CC9922CF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6420"/>
            <a:ext cx="155800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DESCRIPTIVE AGGREGATE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B7F63-291D-493B-9320-2A7F9AAC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93608"/>
            <a:ext cx="32194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B8A24-74F6-474B-B4CD-D7EDDDB1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41245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C9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3D690-0C6B-40DD-9C32-E44ABBC5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04110"/>
            <a:ext cx="8382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NOT_UTI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EF631-2B39-40D4-8B8E-2367B48E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92680"/>
            <a:ext cx="76200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9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D4FDF-38E5-4170-A4D3-2CC6B67C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0333"/>
            <a:ext cx="1275302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371 adjacent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9EAC9-AB26-4BEE-AB17-973A1C6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26118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9CA5B-8A3B-48F1-9C1B-06772950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21368"/>
            <a:ext cx="1389317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139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0C555-0B82-4EA6-8268-939CF7E2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44252"/>
            <a:ext cx="28098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Operational Not_UTI 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FC515-8FAF-46B0-9BA6-F43AD4E2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03183"/>
            <a:ext cx="20002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25 SNP CUTOFF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82DC2-67B8-40F8-B85E-2351270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40368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1"/>
          </a:solidFill>
          <a:ln xmlns:a="http://schemas.openxmlformats.org/drawingml/2006/main" w="0">
            <a:solidFill>
              <a:srgbClr val="2F8A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1B0F2-AAE0-44ED-8715-C688F32D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29877"/>
            <a:ext cx="2095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7A0F2-4DCA-4876-A62F-82CFB81A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0368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1"/>
          </a:solidFill>
          <a:ln xmlns:a="http://schemas.openxmlformats.org/drawingml/2006/main" w="0">
            <a:solidFill>
              <a:srgbClr val="2F8A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D8263-A578-4B40-B14D-B29C8268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9443"/>
            <a:ext cx="1752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A6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40671-585F-4302-B368-AADCBD1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22308"/>
            <a:ext cx="15621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5 OF 9 AT OR BELOW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68928-02AD-42E6-B2E3-E894EE81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93608"/>
            <a:ext cx="32194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DBFE2-0F52-4D2B-A5DC-59A3FE49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1245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722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D2FF0-C58F-49AD-A445-0DAA4315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4110"/>
            <a:ext cx="8382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UTI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576AC-5645-4092-991D-93C61FA6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92680"/>
            <a:ext cx="76200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9 linked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47A21-0A59-46D6-89F0-18969552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0333"/>
            <a:ext cx="1211389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9 casebook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F43437-A4AA-4895-87EA-F76410D5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26118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9EFCA-8FA0-49A9-A009-9495436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21368"/>
            <a:ext cx="1524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0 endpoints missing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437CB-495B-4A9E-9D0C-7C45139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4252"/>
            <a:ext cx="28098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Operational UTI endpoint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0D9A82-6402-4D41-8C41-FFBAE0D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577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C5BE0-7C33-46BB-AC9F-F763C18D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31970"/>
            <a:ext cx="17526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893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2999E-9838-4F03-A599-6B2A8EA3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91050"/>
            <a:ext cx="17526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ALL DIRECT PAIRS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70F35-65A7-49B8-9F2E-259B99E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544" y="425577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23079A-FA33-4537-BD7E-1FBE812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319" y="4331970"/>
            <a:ext cx="17526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371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DDB75-F547-4369-AAF7-9F587B50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319" y="4591050"/>
            <a:ext cx="17526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ADJACENT PAIRS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008C10-473F-4C29-B748-C1D4DFD0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638" y="425577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4DB1F-DF26-42B8-9306-7F758B6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331970"/>
            <a:ext cx="17526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140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B6381D-9E63-4D42-A5C9-E407CB1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591050"/>
            <a:ext cx="17526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PAIRS &lt;= 25 SNPs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EFCC3B-A28C-4C53-8BAE-4149EEA0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731" y="425577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D2B3D7-C8BA-4CBC-829C-CB3C3812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506" y="4331970"/>
            <a:ext cx="17526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914CBB-6BC0-4056-A0C3-64C1FC75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506" y="4591050"/>
            <a:ext cx="17526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CASEBOOK LINKED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9EDFFC-DEFE-47B9-AD21-10E1FE78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25577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AA1B2A-761E-42D9-955A-395EB8CC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31970"/>
            <a:ext cx="1752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Operational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E0E9D8-BD53-4378-BBF4-D35445E3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45330"/>
            <a:ext cx="17526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PHENOTYPE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3902B7-617F-4F1E-A019-044B6722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8245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F0D2FF-92F8-4BDA-8E24-C0EE9E1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2545"/>
            <a:ext cx="100012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Close direct pairs motivate host-state or regulatory hypotheses; distant pairs remain replacement-consistent. Neither pattern proves mechanism.</a:t>
            </a:r>
          </a:p>
        </p:txBody>
      </p:sp>
      <p:sp>
        <p:nvSpPr>
          <p:cNvPr id="4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12688BC0-005E-42DC-BEBD-1C8386CF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ACD728-C9C9-4D02-9A9B-AA767A0F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direct pair table, canonical transitions and 9-row linked casebook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C31146-A3D6-4451-B246-7EBC70F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RESULTS  |  07</a:t>
            </a:r>
          </a:p>
        </p:txBody>
      </p:sp>
    </p:spTree>
    <p:extLst>
      <p:ext uri="{BB962C8B-B14F-4D97-AF65-F5344CB8AC3E}">
        <p14:creationId xmlns:p14="http://schemas.microsoft.com/office/powerpoint/2010/main" val="21248836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background">
            <a:extLst xmlns:a="http://schemas.openxmlformats.org/drawingml/2006/main">
              <a:ext uri="{FF2B5EF4-FFF2-40B4-BE49-F238E27FC236}">
                <a16:creationId xmlns:a16="http://schemas.microsoft.com/office/drawing/2014/main" id="{5652890F-83AD-4EB8-A824-137418A6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228BC89-A47A-453A-B3CC-7E5B43D7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83BCDED-42E2-4A2C-82A7-F6020011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TRANSITION CASEBOOK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B472F-D3E3-4405-B979-C0A050CD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There is no single biological route from Not_UTI to UTI.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5D9C2-AB73-4ADB-BF9B-1528D590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9 operational transitions are tracked; all 9 have linked genomic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993FC-E38D-4BF8-9CC2-E9117577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4995"/>
            <a:ext cx="85725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e00f0590c48ca"/>
          <a:stretch xmlns:a="http://schemas.openxmlformats.org/drawingml/2006/main"/>
        </p:blipFill>
        <p:spPr>
          <a:xfrm xmlns:a="http://schemas.openxmlformats.org/drawingml/2006/main" flipH="0" flipV="0">
            <a:off x="731334" y="1941195"/>
            <a:ext cx="8214732" cy="421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EA16E-777F-42C3-A59E-6D40CB9A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74520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AFC4E-A45F-475D-B70B-28DFDD97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64995"/>
            <a:ext cx="1182052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DESCRIPTIVE CASEBOOK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D04FC-EE35-4B6C-BC6F-0168F0F4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7895"/>
            <a:ext cx="1733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C96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E655A-61F1-4148-AD79-0C8D6145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70760"/>
            <a:ext cx="15430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9/9 GENOMICALLY LINKED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BB605-BE67-4250-BB82-D86A0CBD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0795"/>
            <a:ext cx="23241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E576B-F389-4711-AEBB-C38E5625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6520"/>
            <a:ext cx="20002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5  at or below</a:t>
            </a:r>
          </a:p>
          <a:p xmlns:a="http://schemas.openxmlformats.org/drawingml/2006/main">
            <a:pPr>
              <a:buNone/>
              <a:defRPr sz="97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25 SNPs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D0398-9281-472A-B170-D10D7801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60420"/>
            <a:ext cx="23241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C80F0-A0C9-4B90-9568-AEA5A364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6145"/>
            <a:ext cx="20002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532E"/>
                </a:solidFill>
                <a:latin typeface="Avenir Next"/>
                <a:ea typeface="Avenir Next"/>
                <a:cs typeface="Avenir Next"/>
              </a:defRPr>
            </a:pPr>
            <a:r>
              <a:t>4  above the</a:t>
            </a:r>
          </a:p>
          <a:p xmlns:a="http://schemas.openxmlformats.org/drawingml/2006/main">
            <a:pPr>
              <a:buNone/>
              <a:defRPr sz="975" b="1">
                <a:solidFill>
                  <a:srgbClr val="B7532E"/>
                </a:solidFill>
                <a:latin typeface="Avenir Next"/>
                <a:ea typeface="Avenir Next"/>
                <a:cs typeface="Avenir Next"/>
              </a:defRPr>
            </a:pPr>
            <a:r>
              <a:t>operational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00D9F-0713-4DC1-9E01-44B1E2AC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0045"/>
            <a:ext cx="23241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C6101-D3DB-4AC0-B6BB-F6DB690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55770"/>
            <a:ext cx="20002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8889A"/>
                </a:solidFill>
                <a:latin typeface="Avenir Next"/>
                <a:ea typeface="Avenir Next"/>
                <a:cs typeface="Avenir Next"/>
              </a:defRPr>
            </a:pPr>
            <a:r>
              <a:t>893 direct pairs</a:t>
            </a:r>
          </a:p>
          <a:p xmlns:a="http://schemas.openxmlformats.org/drawingml/2006/main">
            <a:pPr>
              <a:buNone/>
              <a:defRPr sz="975" b="1">
                <a:solidFill>
                  <a:srgbClr val="78889A"/>
                </a:solidFill>
                <a:latin typeface="Avenir Next"/>
                <a:ea typeface="Avenir Next"/>
                <a:cs typeface="Avenir Next"/>
              </a:defRPr>
            </a:pPr>
            <a:r>
              <a:t>in the selected cohort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37944-EFAB-4B16-9BBC-6151891A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7967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761E2-083D-4C6A-B0F1-9E99F42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74920"/>
            <a:ext cx="2000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0 missing genomic endpoints</a:t>
            </a:r>
          </a:p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mechanism labels are descriptive</a:t>
            </a:r>
          </a:p>
        </p:txBody>
      </p:sp>
      <p:sp>
        <p:nvSpPr>
          <p:cNvPr id="2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FD4D1218-BC2D-413B-AEF1-B96C9EB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D91BF-42DD-474E-9F38-DC5B51F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current final-run mechanism casebook and direct pair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C438B-B2B6-40D0-B3C9-9765598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RESULTS  |  08</a:t>
            </a:r>
          </a:p>
        </p:txBody>
      </p:sp>
    </p:spTree>
    <p:extLst>
      <p:ext uri="{BB962C8B-B14F-4D97-AF65-F5344CB8AC3E}">
        <p14:creationId xmlns:p14="http://schemas.microsoft.com/office/powerpoint/2010/main" val="8838370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background">
            <a:extLst xmlns:a="http://schemas.openxmlformats.org/drawingml/2006/main">
              <a:ext uri="{FF2B5EF4-FFF2-40B4-BE49-F238E27FC236}">
                <a16:creationId xmlns:a16="http://schemas.microsoft.com/office/drawing/2014/main" id="{084DFBFE-A206-40D5-ACFE-AADEF1D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4710D73A-0516-433D-B5D0-A64AD2FB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9FBB2FD0-CC50-4CDE-8F8D-EFD48D82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LONGITUDINAL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78EE8-86CC-4B07-A177-702B3237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Direct paired evidence separates close and distant clinical transitions.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0277D-85A2-4955-942A-FD6AC1AB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5 of 9 focused transitions are at or below 25 SNPs; 4 are above.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5E0E0-925B-42A3-8E60-6006DF26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4995"/>
            <a:ext cx="84201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bb9bfca47406c"/>
          <a:stretch xmlns:a="http://schemas.openxmlformats.org/drawingml/2006/main"/>
        </p:blipFill>
        <p:spPr>
          <a:xfrm xmlns:a="http://schemas.openxmlformats.org/drawingml/2006/main" flipH="0" flipV="0">
            <a:off x="628650" y="1979295"/>
            <a:ext cx="8267700" cy="413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A26C2-9282-4930-959C-ABA8C9E7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74520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3F1C0-D148-4E55-9149-E8EB77E9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2145"/>
            <a:ext cx="1739646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DESCRIPTIVE TRANSITION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EA20E-DCDF-4575-9F58-5C9A1EA8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26945"/>
            <a:ext cx="2724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1926A-7FE7-4990-968F-3D3CBCC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31720"/>
            <a:ext cx="2783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F8A61"/>
                </a:solidFill>
                <a:latin typeface="Georgia"/>
                <a:ea typeface="Georgia"/>
                <a:cs typeface="Georgia"/>
              </a:defRPr>
            </a:pPr>
            <a: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6617E-3133-49FD-8472-2505706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65120"/>
            <a:ext cx="1411891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focused transitions &lt;=25 SNPs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41051-9D87-4B23-8F92-43ECFF2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46145"/>
            <a:ext cx="2724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5E85C-4496-47CB-B402-D58D9D0C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98545"/>
            <a:ext cx="24193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AE129-A862-400D-9C7E-F8394ED9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4290"/>
            <a:ext cx="24193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Close direct pairs move the next hypothesis toward host state or unmeasured regulation.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1D303-76A7-455E-B4A4-AEA212BE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98695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F76FB-6535-4558-B9CF-C2ABBBD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22520"/>
            <a:ext cx="24003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A distance threshold is operational evidence, not mechanistic proof.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72932E7F-B45C-456D-AE03-127C7E35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5FEFB-733F-4DD4-9E42-C2313C92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current final-run direct pair and host-context figure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D0163-C24C-4825-A873-B2D181A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RESULTS  |  09</a:t>
            </a:r>
          </a:p>
        </p:txBody>
      </p:sp>
    </p:spTree>
    <p:extLst>
      <p:ext uri="{BB962C8B-B14F-4D97-AF65-F5344CB8AC3E}">
        <p14:creationId xmlns:p14="http://schemas.microsoft.com/office/powerpoint/2010/main" val="6154590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background">
            <a:extLst xmlns:a="http://schemas.openxmlformats.org/drawingml/2006/main">
              <a:ext uri="{FF2B5EF4-FFF2-40B4-BE49-F238E27FC236}">
                <a16:creationId xmlns:a16="http://schemas.microsoft.com/office/drawing/2014/main" id="{1587BF0F-1BC5-4C46-98F3-EA55C1B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0B90013-81F6-4870-988D-FC41945A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D33698F-9A83-4C8D-A7EB-23D590A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POPULATION-WIDE VF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66F5A-D9CE-47FE-A822-85F540A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422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Global VF signals are exploratory, not confirmatory.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129FF-7408-4EBA-9F72-44BBD1DD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681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The 16-episode operational UTI group supports exploratory modelling only; no causal claim is made.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8EBF1-AC66-489B-BAAD-F26CA5D4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2085"/>
            <a:ext cx="83248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d0a0abfa74713"/>
          <a:stretch xmlns:a="http://schemas.openxmlformats.org/drawingml/2006/main"/>
        </p:blipFill>
        <p:spPr>
          <a:xfrm xmlns:a="http://schemas.openxmlformats.org/drawingml/2006/main" flipH="0" flipV="0">
            <a:off x="1206500" y="1518285"/>
            <a:ext cx="7016750" cy="421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E3C2A-794A-4847-92CB-3529BC0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51610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99518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22F32-68E0-47CA-AA22-6251538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42085"/>
            <a:ext cx="1187672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EXPLORATORY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66878-B479-41F3-A144-63005DB2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4510"/>
            <a:ext cx="2819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E1CB-87F7-432A-B0E0-8A5B47C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99285"/>
            <a:ext cx="95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D99518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D99518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FBBC1-EA9B-4F8D-9140-156AB2C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5545"/>
            <a:ext cx="122986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operational UTI episodes</a:t>
            </a:r>
          </a:p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in the selected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080D2-0CEB-4156-BA7F-6D2031C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2285"/>
            <a:ext cx="2819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48E90-DA3E-4990-83A7-1BA2E48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7535"/>
            <a:ext cx="9525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95722"/>
                </a:solidFill>
                <a:latin typeface="Georgia"/>
                <a:ea typeface="Georgia"/>
                <a:cs typeface="Georgia"/>
              </a:defRPr>
            </a:pPr>
            <a:r>
              <a:t>532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20A3B-C9BB-4A90-9F53-C8F63555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1239964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selected Longcycler-linked episodes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28372-9CA7-4A58-8927-1227CA3E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32885"/>
            <a:ext cx="2819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94A57-99BA-4018-994E-B106DAA9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85285"/>
            <a:ext cx="25146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89A"/>
                </a:solidFill>
                <a:latin typeface="Avenir Next"/>
                <a:ea typeface="Avenir Next"/>
                <a:cs typeface="Avenir Next"/>
              </a:defRPr>
            </a:pPr>
            <a:r>
              <a:t>Guardrail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A7F61-0BF0-4AE4-A291-711BEB96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1030"/>
            <a:ext cx="2514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Do not promote exploratory VF screens, named mutations or AMR context to causal conclusions.</a:t>
            </a:r>
          </a:p>
        </p:txBody>
      </p:sp>
      <p:sp>
        <p:nvSpPr>
          <p:cNvPr id="19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6EBFE634-D58A-4D3F-A224-726D194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4A826-B915-431B-9037-4B2D686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current final-run VF robustness figure; operational phenotype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EE732-FE98-472F-A2B9-925A2C8F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RESULTS  |  10</a:t>
            </a:r>
          </a:p>
        </p:txBody>
      </p:sp>
    </p:spTree>
    <p:extLst>
      <p:ext uri="{BB962C8B-B14F-4D97-AF65-F5344CB8AC3E}">
        <p14:creationId xmlns:p14="http://schemas.microsoft.com/office/powerpoint/2010/main" val="6242294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background">
            <a:extLst xmlns:a="http://schemas.openxmlformats.org/drawingml/2006/main">
              <a:ext uri="{FF2B5EF4-FFF2-40B4-BE49-F238E27FC236}">
                <a16:creationId xmlns:a16="http://schemas.microsoft.com/office/drawing/2014/main" id="{EBB1E39B-8D88-4899-93A1-DA9634F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05AAEB1E-C0CA-438C-B7F7-97A3ED0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15A7C30B-4945-4A14-909B-C6DBA06E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OPERATIONAL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1A3F9-F05A-4E47-B54B-95F37964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One claim registry locates the evidence; the complete runner regenerates RQ01-RQ10.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82468-CE25-4CA4-A600-D3048CB3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532 episodes | 893 direct pairs | 371 adjacent pairs from 139 residents | 17 near-miss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660B-F2D7-41E5-9AC2-C32EDCBC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2145"/>
            <a:ext cx="1104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72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68953-D3F4-4EA0-9F97-B2A456F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5010"/>
            <a:ext cx="9144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READ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535A8-7225-46E1-9FAD-E42BAFC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3145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11583-E3D8-4351-ADCC-1C1FEB6F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1243"/>
            <a:ext cx="143437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Headline results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CA391-B7D7-4684-9FFE-87D6246C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978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results/pipeline/longcycler_release_claim_registry.json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47998-DCAD-4E80-B637-815647CD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8920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C62D8-6D51-4347-A6D3-BACC9294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7018"/>
            <a:ext cx="1290733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RQ release marker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B6595-3ABA-4306-B9EA-2F5C21E2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2752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results/research_questions/RUN_COMPLETE.txt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5ABAF-92E0-4DA6-B3EB-CFCD9FD6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4695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BB0E0-6B7A-4632-8C40-BB01B44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4213"/>
            <a:ext cx="145284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Direct-pair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AEA70-28A8-41CA-A25A-2DC99F2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7108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results/strain_compare/pairwise_metrics.csv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A3DD2-A044-41A7-AB23-408AB324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0470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76990-976E-4A37-9CCB-A5085E00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9988"/>
            <a:ext cx="1161669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Transition case detail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10AAB-6F13-4812-ABAC-756AE36B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2883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results/mechanism/not_uti_to_uti_casebook.csv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EAE33-2278-45E6-8696-42F148A8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2145"/>
            <a:ext cx="1104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C9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1AD6D-8E3F-4B28-A3F0-F7F09CA5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85010"/>
            <a:ext cx="9144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TRACE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178D5-CCF5-4A90-8151-2DD63C3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03145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FD49D-7A69-4687-A4AC-C592F05F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1243"/>
            <a:ext cx="106289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Clinical status truth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7C8D7-060B-4B70-8E6A-401A29A9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86978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results/clinical/analysis_cohort_longcycler.csv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F16AA-C9CD-4EF0-96ED-CB2524CD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88920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1A28D-3372-4806-8265-E82A0FB8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7018"/>
            <a:ext cx="1000411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Genome manifest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F2D60-3DDB-4F46-BA47-FDDC268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2752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results/qc/analysis_assembly_manifest.csv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DDBDE-85A2-49CA-8B57-A6B5D56B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4695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C845BC-3FC6-4B46-AF5B-C4C7A306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92793"/>
            <a:ext cx="114281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Complete runner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109C0-ED75-4B44-895B-FB6460D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58527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RUN_COMPLETE_ANALYSIS.sh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0C49BC-0EEE-4270-AD41-CB91F466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60470"/>
            <a:ext cx="5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B07B95-A46F-4DFD-958B-F2BC86F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09988"/>
            <a:ext cx="9648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RQ01-RQ10 runner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4B452-83F6-44E2-96E3-3230EF8E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2883"/>
            <a:ext cx="481012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Menlo"/>
                <a:ea typeface="Menlo"/>
                <a:cs typeface="Menlo"/>
              </a:defRPr>
            </a:pPr>
            <a:r>
              <a:t>scripts/research_questions/run_all.R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4DCC63-C5A8-43A9-B1B8-F03EA64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8195"/>
            <a:ext cx="990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RERUN ORDER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563D1-BA9B-45CF-95C3-A165CE31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0583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1C5CB0-D7EC-4C44-BAA0-354A5A2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3470"/>
            <a:ext cx="1800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977D3-EB04-45BD-AB86-8CDAEC9F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89195"/>
            <a:ext cx="162877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SELECT COHORT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EBAC78-B69D-4244-9725-06A870A2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0165"/>
            <a:ext cx="1628775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15252D"/>
                </a:solidFill>
                <a:latin typeface="Menlo"/>
                <a:ea typeface="Menlo"/>
                <a:cs typeface="Menlo"/>
              </a:defRPr>
            </a:pPr>
            <a:r>
              <a:t>analysis_cohort_longcycler.csv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29A61-E13F-42B0-A1D1-7D7830BF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9205"/>
            <a:ext cx="180975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A13577-42A7-455C-84DA-26541CC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0347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A32C33-4480-4AD8-B7DA-75C312B1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89195"/>
            <a:ext cx="17907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DIRECT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29150-E182-4694-AF1C-CE8A83E9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130165"/>
            <a:ext cx="17907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15252D"/>
                </a:solidFill>
                <a:latin typeface="Menlo"/>
                <a:ea typeface="Menlo"/>
                <a:cs typeface="Menlo"/>
              </a:defRPr>
            </a:pPr>
            <a:r>
              <a:t>pairwise_metrics.csv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57C2EF-06FD-4648-982F-7A4BEE0A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69205"/>
            <a:ext cx="180975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A00CF-214C-4C5E-8DC9-3217DE4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903470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9D6479-535E-4E8A-A0EA-C469FDA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89195"/>
            <a:ext cx="16764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TRANSITIONS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B14368-B283-4A21-AD77-626F8C6F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30165"/>
            <a:ext cx="167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15252D"/>
                </a:solidFill>
                <a:latin typeface="Menlo"/>
                <a:ea typeface="Menlo"/>
                <a:cs typeface="Menlo"/>
              </a:defRPr>
            </a:pPr>
            <a:r>
              <a:t>longcycler_transitions.csv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5F6E4F-F8F5-47ED-910B-5AEDD65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9205"/>
            <a:ext cx="180975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7EB995-8E40-4260-8DAF-697E1E2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03470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CEC423-397F-4AFB-B8DD-EA73854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89195"/>
            <a:ext cx="16764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RQ01-RQ10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1D10EF-B4B2-4C02-A45E-730FC53C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30165"/>
            <a:ext cx="167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15252D"/>
                </a:solidFill>
                <a:latin typeface="Menlo"/>
                <a:ea typeface="Menlo"/>
                <a:cs typeface="Menlo"/>
              </a:defRPr>
            </a:pPr>
            <a:r>
              <a:t>scripts/research_questions/run_all.R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61DAD1-7CE1-47FC-AE37-8F319092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69205"/>
            <a:ext cx="180975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&gt;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6F907B-9D27-4CC0-B2D0-A7716CCF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903470"/>
            <a:ext cx="16859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D1FCFE-3646-4C88-A90C-3163539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89195"/>
            <a:ext cx="1514475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RELEASE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4986B6-0E04-4CCE-A409-FE7182B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30165"/>
            <a:ext cx="1514475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15252D"/>
                </a:solidFill>
                <a:latin typeface="Menlo"/>
                <a:ea typeface="Menlo"/>
                <a:cs typeface="Menlo"/>
              </a:defRPr>
            </a:pPr>
            <a:r>
              <a:t>RUN_COMPLETE_ANALYSIS.sh</a:t>
            </a:r>
          </a:p>
        </p:txBody>
      </p:sp>
      <p:sp>
        <p:nvSpPr>
          <p:cNvPr id="55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10319B45-ED35-401E-B247-5BED4146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12EB4D-F855-47CF-8D8A-B09205E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Canonical release paths are verified before deck generation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F01458-5F06-4513-86BD-4055955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HANDOVER  |  11</a:t>
            </a:r>
          </a:p>
        </p:txBody>
      </p:sp>
    </p:spTree>
    <p:extLst>
      <p:ext uri="{BB962C8B-B14F-4D97-AF65-F5344CB8AC3E}">
        <p14:creationId xmlns:p14="http://schemas.microsoft.com/office/powerpoint/2010/main" val="1435426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background">
            <a:extLst xmlns:a="http://schemas.openxmlformats.org/drawingml/2006/main">
              <a:ext uri="{FF2B5EF4-FFF2-40B4-BE49-F238E27FC236}">
                <a16:creationId xmlns:a16="http://schemas.microsoft.com/office/drawing/2014/main" id="{C4CD7319-A45D-4B38-981E-799F1AD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2B"/>
          </a:solidFill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526B4E7-38CB-45A2-B208-47AE28A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5C5DE332-4110-4D05-BD83-D9F7C97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8D2C8"/>
                </a:solidFill>
                <a:latin typeface="Avenir Next"/>
                <a:ea typeface="Avenir Next"/>
                <a:cs typeface="Avenir Next"/>
              </a:defRPr>
            </a:pPr>
            <a:r>
              <a:t>CLOSING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D285F-014F-45D7-9A60-E7D6B70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The next question is what distinguishes close direct pairs from clinical symptom emergence.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6290D-DAC9-4189-A042-0D94F7DC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7CFD0"/>
                </a:solidFill>
                <a:latin typeface="Avenir Next"/>
                <a:ea typeface="Avenir Next"/>
                <a:cs typeface="Avenir Next"/>
              </a:defRPr>
            </a:pPr>
            <a:r>
              <a:t>Current evidence narrows the biology without overclaiming 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9DC69-4925-4FCD-A076-F6259659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98345"/>
            <a:ext cx="34385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B1EDD-2EA9-4984-9F32-9470DFEE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9795"/>
            <a:ext cx="1009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A6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7CE36-1DE0-482F-9FCF-DE89E13A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2660"/>
            <a:ext cx="8191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74CBD-F2DD-43F2-8A04-433D96E6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2220"/>
            <a:ext cx="3048000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5 focused pairs &lt;=25 SNPs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8B632-DF2F-4479-BFB4-5415FC9D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3265"/>
            <a:ext cx="30480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Close direct pairs make host-state and regulation hypotheses testable without proving mechanism.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983F9-FFBC-4183-BFEB-9E00526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98345"/>
            <a:ext cx="34385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3AB7C-2425-4D3D-9180-17DC974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69795"/>
            <a:ext cx="1009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722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3A35C-FA32-4154-B0F9-B035B91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32660"/>
            <a:ext cx="8191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LIMITATION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1FEB4-D391-48D8-8E74-A4EF780C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22220"/>
            <a:ext cx="3048000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16 operational UTI 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1CB19-D6E6-46E7-87FF-69EBF54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63265"/>
            <a:ext cx="30480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Global VF tests are exploratory; adjusted associations do not establish a population-wide driver.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6D214-5EE2-49B6-B251-FE6DAF0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98345"/>
            <a:ext cx="34385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0ADD6-0D19-4991-9588-136784C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9795"/>
            <a:ext cx="1009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C9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20084-6B4B-45D8-8EF7-83442D85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2660"/>
            <a:ext cx="8191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NEXT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EF41-92EC-4985-83EE-FC26CA95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22220"/>
            <a:ext cx="3048000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Host state + expression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BFB76-5DE0-4F56-9071-CE98CBA7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63265"/>
            <a:ext cx="30480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Prioritise host context and regulatory hypotheses alongside denser longitudinal sampling.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D96B9-6DC8-459A-868F-A3EB1FF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8670"/>
            <a:ext cx="11087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03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E0A53-5563-4751-BC62-EE95187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5845"/>
            <a:ext cx="1714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1D18A"/>
                </a:solidFill>
                <a:latin typeface="Avenir Next"/>
                <a:ea typeface="Avenir Next"/>
                <a:cs typeface="Avenir Next"/>
              </a:defRPr>
            </a:pPr>
            <a:r>
              <a:t>DISCUSSION  |  8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29C37-D0B7-48BF-B3A7-BDBC70E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1545"/>
            <a:ext cx="295275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Which of the 9 linked transitions deserves deeper follow-up?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E76BF-20C8-4A50-9ECD-6700C74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64405"/>
            <a:ext cx="452437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D5DCDE"/>
                </a:solidFill>
                <a:latin typeface="Avenir Next"/>
                <a:ea typeface="Avenir Next"/>
                <a:cs typeface="Avenir Next"/>
              </a:defRPr>
            </a:pPr>
            <a:r>
              <a:t>Which host or expression data could discriminate the remaining mechanisms?</a:t>
            </a:r>
          </a:p>
        </p:txBody>
      </p:sp>
      <p:sp>
        <p:nvSpPr>
          <p:cNvPr id="25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53FE28E1-070D-4525-AD0A-29E6273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51"/>
          </a:solidFill>
          <a:ln xmlns:a="http://schemas.openxmlformats.org/drawingml/2006/main" w="0">
            <a:solidFill>
              <a:srgbClr val="3C4B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A75F7-AD11-4362-9B43-53FD4B6D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B8C0C2"/>
                </a:solidFill>
                <a:latin typeface="Avenir Next"/>
                <a:ea typeface="Avenir Next"/>
                <a:cs typeface="Avenir Next"/>
              </a:defRPr>
            </a:pPr>
            <a:r>
              <a:t>Primary story: operational UTI versus Not_UTI | Longcycler-only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032E9-66D7-401F-BF97-820FA39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D8D2C8"/>
                </a:solidFill>
                <a:latin typeface="Avenir Next"/>
                <a:ea typeface="Avenir Next"/>
                <a:cs typeface="Avenir Next"/>
              </a:defRPr>
            </a:pPr>
            <a:r>
              <a:t>CLOSE  |  12</a:t>
            </a:r>
          </a:p>
        </p:txBody>
      </p:sp>
    </p:spTree>
    <p:extLst>
      <p:ext uri="{BB962C8B-B14F-4D97-AF65-F5344CB8AC3E}">
        <p14:creationId xmlns:p14="http://schemas.microsoft.com/office/powerpoint/2010/main" val="4214197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background">
            <a:extLst xmlns:a="http://schemas.openxmlformats.org/drawingml/2006/main">
              <a:ext uri="{FF2B5EF4-FFF2-40B4-BE49-F238E27FC236}">
                <a16:creationId xmlns:a16="http://schemas.microsoft.com/office/drawing/2014/main" id="{8E9643E0-7DA7-4529-8121-6F9E7DB9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D1E7F408-4034-43BB-B469-F35EE26B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53846AAF-AC4C-41CE-83D9-4E386E6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BACKUP | ACCESSORY AND AMR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0D26A-06B9-4905-BEF7-726DB5B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ResFinder screening contextualises transitions; it is not a global association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60985-0496-43D9-BCA2-D31A1606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Use only when asked about accessory, plasmid, or AMR changes in individual transitions.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E65E3-7D04-48D6-BAF1-440FE84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4520"/>
            <a:ext cx="8448675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0a6d88223417b"/>
          <a:stretch xmlns:a="http://schemas.openxmlformats.org/drawingml/2006/main"/>
        </p:blipFill>
        <p:spPr>
          <a:xfrm xmlns:a="http://schemas.openxmlformats.org/drawingml/2006/main" flipH="0" flipV="0">
            <a:off x="1034823" y="1950720"/>
            <a:ext cx="7483929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B558C-686C-4DFB-8B97-917457F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4045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99518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B111A-BC34-4DF4-B974-C8824DA4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179660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EXPLORATORY TRANSITION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8385B-D1E4-4468-B2B0-6C0E4592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45995"/>
            <a:ext cx="1200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889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2F9B2-2A51-4CFB-BD06-B6031919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8860"/>
            <a:ext cx="1009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BACKUP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4926F-DFCD-4D4C-90BF-AD0B2013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17470"/>
            <a:ext cx="2686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FCF33-2EB0-4768-BBFB-66870D0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9870"/>
            <a:ext cx="2381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A61"/>
                </a:solidFill>
                <a:latin typeface="Avenir Next"/>
                <a:ea typeface="Avenir Next"/>
                <a:cs typeface="Avenir Next"/>
              </a:defRPr>
            </a:pPr>
            <a:r>
              <a:t>What is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8F7C7-F0EB-4DFD-A656-02BFF76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15615"/>
            <a:ext cx="2381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Current screening provides exploratory accessory, plasmid and AMR context for linked transitions.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5D2AF-6041-4B92-A71F-F6FF7C9C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74795"/>
            <a:ext cx="2686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5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C7924-7878-40DF-8599-EF13748C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7670"/>
            <a:ext cx="240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7532E"/>
                </a:solidFill>
                <a:latin typeface="Avenir Next"/>
                <a:ea typeface="Avenir Next"/>
                <a:cs typeface="Avenir Next"/>
              </a:defRPr>
            </a:pPr>
            <a:r>
              <a:t>Not completed:</a:t>
            </a:r>
          </a:p>
          <a:p xmlns:a="http://schemas.openxmlformats.org/drawingml/2006/main">
            <a:pPr>
              <a:buNone/>
              <a:defRPr sz="1125" b="1">
                <a:solidFill>
                  <a:srgbClr val="B7532E"/>
                </a:solidFill>
                <a:latin typeface="Avenir Next"/>
                <a:ea typeface="Avenir Next"/>
                <a:cs typeface="Avenir Next"/>
              </a:defRPr>
            </a:pPr>
            <a:r>
              <a:t>a global VF-plus-AMR association analysis.</a:t>
            </a:r>
          </a:p>
        </p:txBody>
      </p:sp>
      <p:sp>
        <p:nvSpPr>
          <p:cNvPr id="17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65608E13-5E4D-41A3-AB2C-8EC2DA2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B3B46-6499-4B65-A6AA-57565C29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Supplementary Figure S2; results/mechanism/amr_screen_report.txt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FCF01-7270-46CE-9EAC-E69EDCFB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BACKUP  |  13</a:t>
            </a:r>
          </a:p>
        </p:txBody>
      </p:sp>
    </p:spTree>
    <p:extLst>
      <p:ext uri="{BB962C8B-B14F-4D97-AF65-F5344CB8AC3E}">
        <p14:creationId xmlns:p14="http://schemas.microsoft.com/office/powerpoint/2010/main" val="3876988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background">
            <a:extLst xmlns:a="http://schemas.openxmlformats.org/drawingml/2006/main">
              <a:ext uri="{FF2B5EF4-FFF2-40B4-BE49-F238E27FC236}">
                <a16:creationId xmlns:a16="http://schemas.microsoft.com/office/drawing/2014/main" id="{E1791A92-0BAD-4051-8803-C84FD13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EB6379CA-02BC-49F3-BC93-EB5C7758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1D746F4C-F9B1-4873-9A42-78F59ACA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BACKUP | VARIANT PRIORITISATION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B9175-F0EC-442A-96C9-A79D9E39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252D"/>
                </a:solidFill>
                <a:latin typeface="Georgia"/>
                <a:ea typeface="Georgia"/>
                <a:cs typeface="Georgia"/>
              </a:defRPr>
            </a:pPr>
            <a:r>
              <a:t>Within-strain candidates offer follow-up hypotheses, not causal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9A192-CA7C-4EC3-BF50-34B7340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Bring this map forward for questions about SNP-level changes in linked isolates.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943D0-D48C-4C4A-B924-B2CA0056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4520"/>
            <a:ext cx="8620125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85e33708d4bf2"/>
          <a:stretch xmlns:a="http://schemas.openxmlformats.org/drawingml/2006/main"/>
        </p:blipFill>
        <p:spPr>
          <a:xfrm xmlns:a="http://schemas.openxmlformats.org/drawingml/2006/main" flipH="0" flipV="0">
            <a:off x="856410" y="1950720"/>
            <a:ext cx="8012206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7AFE3-6E04-4612-8681-EADBB4DE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84045"/>
            <a:ext cx="9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78889A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DA883-F182-422D-821D-9A94D8E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74520"/>
            <a:ext cx="141665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DESCRIPTIVE PRIORITISATION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EFB07-13C5-43D5-BA7F-C96868E4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5995"/>
            <a:ext cx="1200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889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2BC3D-58E7-4F77-850E-2FBCF095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8860"/>
            <a:ext cx="1009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BACKUP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3D045-CEE8-4281-BEA9-E6D4126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17470"/>
            <a:ext cx="2524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26E7A-CE6A-4F12-AE0D-603F0099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9870"/>
            <a:ext cx="22193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6C96"/>
                </a:solidFill>
                <a:latin typeface="Avenir Next"/>
                <a:ea typeface="Avenir Next"/>
                <a:cs typeface="Avenir Next"/>
              </a:defRPr>
            </a:pPr>
            <a:r>
              <a:t>Use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AD59D-392A-46AB-A111-26DF87A9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15615"/>
            <a:ext cx="221932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Discuss annotated variants in same-strain or uncertain transition comparisons.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4126B-08CA-4C6F-A817-78BDDB4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7645"/>
            <a:ext cx="25241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85C6F-134B-4822-8BDF-5DA9FF5E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60520"/>
            <a:ext cx="22479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The map prioritises candidates; it does not identify the cause of symptom emergence.</a:t>
            </a:r>
          </a:p>
        </p:txBody>
      </p:sp>
      <p:sp>
        <p:nvSpPr>
          <p:cNvPr id="17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DB748B37-D9A2-476B-8A68-194A5A4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797AA-5E49-4404-A6DC-D39A44C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746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Source: Supplementary Figure S5; final_figure_captions.md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10AF7-A2BE-4B9D-85FB-B6FEBDA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8175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3636A"/>
                </a:solidFill>
                <a:latin typeface="Avenir Next"/>
                <a:ea typeface="Avenir Next"/>
                <a:cs typeface="Avenir Next"/>
              </a:defRPr>
            </a:pPr>
            <a:r>
              <a:t>BACKUP  |  14</a:t>
            </a:r>
          </a:p>
        </p:txBody>
      </p:sp>
    </p:spTree>
    <p:extLst>
      <p:ext uri="{BB962C8B-B14F-4D97-AF65-F5344CB8AC3E}">
        <p14:creationId xmlns:p14="http://schemas.microsoft.com/office/powerpoint/2010/main" val="8491574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background">
            <a:extLst xmlns:a="http://schemas.openxmlformats.org/drawingml/2006/main">
              <a:ext uri="{FF2B5EF4-FFF2-40B4-BE49-F238E27FC236}">
                <a16:creationId xmlns:a16="http://schemas.microsoft.com/office/drawing/2014/main" id="{9A0B9125-A684-49CF-840D-81753CCD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2B"/>
          </a:solidFill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A425C6A0-799D-421A-B665-E90F1656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95722"/>
                </a:solidFill>
                <a:latin typeface="Avenir Next"/>
                <a:ea typeface="Avenir Next"/>
                <a:cs typeface="Avenir Next"/>
              </a:defRPr>
            </a:pPr>
            <a:r>
              <a:t>|</a:t>
            </a:r>
          </a:p>
        </p:txBody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761B6604-1D4E-4C1F-93A4-5CDFF2F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8D2C8"/>
                </a:solidFill>
                <a:latin typeface="Avenir Next"/>
                <a:ea typeface="Avenir Next"/>
                <a:cs typeface="Avenir Next"/>
              </a:defRPr>
            </a:pPr>
            <a:r>
              <a:t>BACKUP | FULL LONGITUDINAL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58899-54C5-4EDF-BDFC-D607DD02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9715500" cy="845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The swimmer plot is a lookup tool, not the main narrative.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0D8B4-1379-4225-BAF8-A487C51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9720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7CFD0"/>
                </a:solidFill>
                <a:latin typeface="Avenir Next"/>
                <a:ea typeface="Avenir Next"/>
                <a:cs typeface="Avenir Next"/>
              </a:defRPr>
            </a:pPr>
            <a:r>
              <a:t>Use this only to locate individual participant sequences during discussion.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3D61F-E5D7-4C88-8D36-3CA22C1A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4995"/>
            <a:ext cx="90297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810c550f4c3b"/>
          <a:stretch xmlns:a="http://schemas.openxmlformats.org/drawingml/2006/main"/>
        </p:blipFill>
        <p:spPr>
          <a:xfrm xmlns:a="http://schemas.openxmlformats.org/drawingml/2006/main" flipH="0" flipV="0">
            <a:off x="3285331" y="1941195"/>
            <a:ext cx="3563938" cy="42767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E9BCB-8F0B-4724-9F63-AFACE58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64995"/>
            <a:ext cx="1200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889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DA089-3D70-4C25-99B6-3C201099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7860"/>
            <a:ext cx="100965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BACKUP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A4DD8-85FA-4C72-AC79-0EBD46F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5995"/>
            <a:ext cx="1847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03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A73F0-6566-458C-B22D-E4376B4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07920"/>
            <a:ext cx="15621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Dense by design:</a:t>
            </a:r>
          </a:p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participant-level orientation rather than headline inference.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A8080-C5CA-4C53-8443-ECA8A06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98595"/>
            <a:ext cx="18478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6E00E-46F7-4D68-991B-5D8BFA86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160520"/>
            <a:ext cx="15621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252D"/>
                </a:solidFill>
                <a:latin typeface="Avenir Next"/>
                <a:ea typeface="Avenir Next"/>
                <a:cs typeface="Avenir Next"/>
              </a:defRPr>
            </a:pPr>
            <a:r>
              <a:t>Return to the casebook for mechanism interpretation.</a:t>
            </a:r>
          </a:p>
        </p:txBody>
      </p:sp>
      <p:sp>
        <p:nvSpPr>
          <p:cNvPr id="14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96621C16-9A02-4EB9-8579-B58005D2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9412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51"/>
          </a:solidFill>
          <a:ln xmlns:a="http://schemas.openxmlformats.org/drawingml/2006/main" w="0">
            <a:solidFill>
              <a:srgbClr val="3C4B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5DAFD-6074-44D6-B7B7-C8298731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3185"/>
            <a:ext cx="8382000" cy="102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B8C0C2"/>
                </a:solidFill>
                <a:latin typeface="Avenir Next"/>
                <a:ea typeface="Avenir Next"/>
                <a:cs typeface="Avenir Next"/>
              </a:defRPr>
            </a:pPr>
            <a:r>
              <a:t>Source: plots/publication/Fig1_Swimmer_Plot.png | contextual lookup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B2ABA-18ED-4060-9DD6-F96085A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27470"/>
            <a:ext cx="186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D8D2C8"/>
                </a:solidFill>
                <a:latin typeface="Avenir Next"/>
                <a:ea typeface="Avenir Next"/>
                <a:cs typeface="Avenir Next"/>
              </a:defRPr>
            </a:pPr>
            <a:r>
              <a:t>BACKUP  |  15</a:t>
            </a:r>
          </a:p>
        </p:txBody>
      </p:sp>
    </p:spTree>
    <p:extLst>
      <p:ext uri="{BB962C8B-B14F-4D97-AF65-F5344CB8AC3E}">
        <p14:creationId xmlns:p14="http://schemas.microsoft.com/office/powerpoint/2010/main" val="50651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2026-07-15T07:25:28.1110000Z</dcterms:created>
  <dcterms:modified xsi:type="dcterms:W3CDTF">2026-07-15T07:25:28.1110000Z</dcterms:modified>
</coreProperties>
</file>