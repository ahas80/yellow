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a904b7f37749bd" /><Relationship Type="http://schemas.openxmlformats.org/officeDocument/2006/relationships/extended-properties" Target="/docProps/app.xml" Id="Rc099f25a7b2f46e9" /><Relationship Type="http://schemas.openxmlformats.org/officeDocument/2006/relationships/officeDocument" Target="/ppt/presentation.xml" Id="R1d8c1248857d44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2f4e1a981949a9"/>
  </p:sldMasterIdLst>
  <p:notesMasterIdLst>
    <p:notesMasterId xmlns:r="http://schemas.openxmlformats.org/officeDocument/2006/relationships" r:id="R661acf5b85d3447c"/>
  </p:notesMasterIdLst>
  <p:sldIdLst>
    <p:sldId xmlns:r="http://schemas.openxmlformats.org/officeDocument/2006/relationships" id="256" r:id="Raf85b065f2704bfc"/>
    <p:sldId xmlns:r="http://schemas.openxmlformats.org/officeDocument/2006/relationships" id="257" r:id="Rbef8deb8beb14f57"/>
    <p:sldId xmlns:r="http://schemas.openxmlformats.org/officeDocument/2006/relationships" id="258" r:id="Rae0bfd26e1c3441a"/>
    <p:sldId xmlns:r="http://schemas.openxmlformats.org/officeDocument/2006/relationships" id="259" r:id="R8f60084cf7f14c0b"/>
    <p:sldId xmlns:r="http://schemas.openxmlformats.org/officeDocument/2006/relationships" id="260" r:id="R89637af224a04019"/>
    <p:sldId xmlns:r="http://schemas.openxmlformats.org/officeDocument/2006/relationships" id="261" r:id="Rd120d22777214a86"/>
    <p:sldId xmlns:r="http://schemas.openxmlformats.org/officeDocument/2006/relationships" id="262" r:id="Ra74f98811d9e47d2"/>
    <p:sldId xmlns:r="http://schemas.openxmlformats.org/officeDocument/2006/relationships" id="263" r:id="R634755aec1d3415f"/>
    <p:sldId xmlns:r="http://schemas.openxmlformats.org/officeDocument/2006/relationships" id="264" r:id="Rc1d16b8c3d234783"/>
    <p:sldId xmlns:r="http://schemas.openxmlformats.org/officeDocument/2006/relationships" id="265" r:id="Rab62128d9fc24fa9"/>
    <p:sldId xmlns:r="http://schemas.openxmlformats.org/officeDocument/2006/relationships" id="266" r:id="R02a2045717a94e2d"/>
    <p:sldId xmlns:r="http://schemas.openxmlformats.org/officeDocument/2006/relationships" id="267" r:id="Rc337ff7139b64da0"/>
    <p:sldId xmlns:r="http://schemas.openxmlformats.org/officeDocument/2006/relationships" id="268" r:id="Raecad4c4a0254760"/>
    <p:sldId xmlns:r="http://schemas.openxmlformats.org/officeDocument/2006/relationships" id="269" r:id="Rd5c0f0593e53464a"/>
    <p:sldId xmlns:r="http://schemas.openxmlformats.org/officeDocument/2006/relationships" id="270" r:id="R53651a24b5894b3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2f4e1a981949a9" /><Relationship Type="http://schemas.openxmlformats.org/officeDocument/2006/relationships/theme" Target="/ppt/theme/theme1.xml" Id="R07099fb56c014deb" /><Relationship Type="http://schemas.openxmlformats.org/officeDocument/2006/relationships/notesMaster" Target="/ppt/notesMasters/notesMaster1.xml" Id="R661acf5b85d3447c" /><Relationship Type="http://schemas.openxmlformats.org/officeDocument/2006/relationships/presProps" Target="/ppt/presProps.xml" Id="Rb4bf661892744496" /><Relationship Type="http://schemas.openxmlformats.org/officeDocument/2006/relationships/viewProps" Target="/ppt/viewProps.xml" Id="R19e93e226f5e4289" /><Relationship Type="http://schemas.openxmlformats.org/officeDocument/2006/relationships/tableStyles" Target="/ppt/tableStyles.xml" Id="R75e19c9c86344b71" /><Relationship Type="http://schemas.openxmlformats.org/officeDocument/2006/relationships/slide" Target="/ppt/slides/slide1.xml" Id="Raf85b065f2704bfc" /><Relationship Type="http://schemas.openxmlformats.org/officeDocument/2006/relationships/slide" Target="/ppt/slides/slide2.xml" Id="Rbef8deb8beb14f57" /><Relationship Type="http://schemas.openxmlformats.org/officeDocument/2006/relationships/slide" Target="/ppt/slides/slide3.xml" Id="Rae0bfd26e1c3441a" /><Relationship Type="http://schemas.openxmlformats.org/officeDocument/2006/relationships/slide" Target="/ppt/slides/slide4.xml" Id="R8f60084cf7f14c0b" /><Relationship Type="http://schemas.openxmlformats.org/officeDocument/2006/relationships/slide" Target="/ppt/slides/slide5.xml" Id="R89637af224a04019" /><Relationship Type="http://schemas.openxmlformats.org/officeDocument/2006/relationships/slide" Target="/ppt/slides/slide6.xml" Id="Rd120d22777214a86" /><Relationship Type="http://schemas.openxmlformats.org/officeDocument/2006/relationships/slide" Target="/ppt/slides/slide7.xml" Id="Ra74f98811d9e47d2" /><Relationship Type="http://schemas.openxmlformats.org/officeDocument/2006/relationships/slide" Target="/ppt/slides/slide8.xml" Id="R634755aec1d3415f" /><Relationship Type="http://schemas.openxmlformats.org/officeDocument/2006/relationships/slide" Target="/ppt/slides/slide9.xml" Id="Rc1d16b8c3d234783" /><Relationship Type="http://schemas.openxmlformats.org/officeDocument/2006/relationships/slide" Target="/ppt/slides/slide10.xml" Id="Rab62128d9fc24fa9" /><Relationship Type="http://schemas.openxmlformats.org/officeDocument/2006/relationships/slide" Target="/ppt/slides/slide11.xml" Id="R02a2045717a94e2d" /><Relationship Type="http://schemas.openxmlformats.org/officeDocument/2006/relationships/slide" Target="/ppt/slides/slide12.xml" Id="Rc337ff7139b64da0" /><Relationship Type="http://schemas.openxmlformats.org/officeDocument/2006/relationships/slide" Target="/ppt/slides/slide13.xml" Id="Raecad4c4a0254760" /><Relationship Type="http://schemas.openxmlformats.org/officeDocument/2006/relationships/slide" Target="/ppt/slides/slide14.xml" Id="Rd5c0f0593e53464a" /><Relationship Type="http://schemas.openxmlformats.org/officeDocument/2006/relationships/slide" Target="/ppt/slides/slide15.xml" Id="R53651a24b5894b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74b45b799a041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4e83dadf8d4bce" /><Relationship Type="http://schemas.openxmlformats.org/officeDocument/2006/relationships/notesMaster" Target="/ppt/notesMasters/notesMaster1.xml" Id="Raab4791e11e64c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9aa2bb579474687" /><Relationship Type="http://schemas.openxmlformats.org/officeDocument/2006/relationships/notesMaster" Target="/ppt/notesMasters/notesMaster1.xml" Id="R8e147ac0aa5c4e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664948779734473" /><Relationship Type="http://schemas.openxmlformats.org/officeDocument/2006/relationships/notesMaster" Target="/ppt/notesMasters/notesMaster1.xml" Id="Re754300ba5b849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7a6d2bea874c6f" /><Relationship Type="http://schemas.openxmlformats.org/officeDocument/2006/relationships/notesMaster" Target="/ppt/notesMasters/notesMaster1.xml" Id="Ree09b570943a47d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9dc932aaf244eef" /><Relationship Type="http://schemas.openxmlformats.org/officeDocument/2006/relationships/notesMaster" Target="/ppt/notesMasters/notesMaster1.xml" Id="R30000aa3fd22484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06962266974f90" /><Relationship Type="http://schemas.openxmlformats.org/officeDocument/2006/relationships/notesMaster" Target="/ppt/notesMasters/notesMaster1.xml" Id="R45b92af8a5b84f7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da9045b98bc4948" /><Relationship Type="http://schemas.openxmlformats.org/officeDocument/2006/relationships/notesMaster" Target="/ppt/notesMasters/notesMaster1.xml" Id="R3b059b4ab0494a0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38d01cb7d88441c" /><Relationship Type="http://schemas.openxmlformats.org/officeDocument/2006/relationships/notesMaster" Target="/ppt/notesMasters/notesMaster1.xml" Id="R560db7e5ba4047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35fe39e0dab4b43" /><Relationship Type="http://schemas.openxmlformats.org/officeDocument/2006/relationships/notesMaster" Target="/ppt/notesMasters/notesMaster1.xml" Id="R48b940aff7ff476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6fc075de0974c65" /><Relationship Type="http://schemas.openxmlformats.org/officeDocument/2006/relationships/notesMaster" Target="/ppt/notesMasters/notesMaster1.xml" Id="R1927966227cc472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c5aaeedac984da7" /><Relationship Type="http://schemas.openxmlformats.org/officeDocument/2006/relationships/notesMaster" Target="/ppt/notesMasters/notesMaster1.xml" Id="R80c4167b54da415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6f983c890604fe5" /><Relationship Type="http://schemas.openxmlformats.org/officeDocument/2006/relationships/notesMaster" Target="/ppt/notesMasters/notesMaster1.xml" Id="R3a3c2375b4c9457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36ad1b81d6a477c" /><Relationship Type="http://schemas.openxmlformats.org/officeDocument/2006/relationships/notesMaster" Target="/ppt/notesMasters/notesMaster1.xml" Id="Rfe7427d6281d440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835a7cc27514f5c" /><Relationship Type="http://schemas.openxmlformats.org/officeDocument/2006/relationships/notesMaster" Target="/ppt/notesMasters/notesMaster1.xml" Id="R3110d8f12d304ef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465f7f225ec41a2" /><Relationship Type="http://schemas.openxmlformats.org/officeDocument/2006/relationships/notesMaster" Target="/ppt/notesMasters/notesMaster1.xml" Id="Rcc86bfa661b641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59994e71354ddd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0cc29ba08af04e08" /><Relationship Type="http://schemas.openxmlformats.org/officeDocument/2006/relationships/slideLayout" Target="/ppt/slideLayouts/slideLayout2.xml" Id="R99e34b94b7dc44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9e34b94b7dc44b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4718aac62f429e" /><Relationship Type="http://schemas.openxmlformats.org/officeDocument/2006/relationships/notesSlide" Target="/ppt/notesSlides/notesSlide1.xml" Id="Re5c5775dccce40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0c2b3f1f2043ac" /><Relationship Type="http://schemas.openxmlformats.org/officeDocument/2006/relationships/notesSlide" Target="/ppt/notesSlides/notesSlide2.xml" Id="Rb536fb8b40dc4a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8775c8bf9e4f7b" /><Relationship Type="http://schemas.openxmlformats.org/officeDocument/2006/relationships/notesSlide" Target="/ppt/notesSlides/notesSlide3.xml" Id="Rb1dba2e8944a40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43af0505314f24" /><Relationship Type="http://schemas.openxmlformats.org/officeDocument/2006/relationships/notesSlide" Target="/ppt/notesSlides/notesSlide4.xml" Id="R84152139596043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c862ae620a40ce" /><Relationship Type="http://schemas.openxmlformats.org/officeDocument/2006/relationships/notesSlide" Target="/ppt/notesSlides/notesSlide5.xml" Id="R6b5bc37e5da84f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ddd4579f1f4cee" /><Relationship Type="http://schemas.openxmlformats.org/officeDocument/2006/relationships/image" Target="/ppt/media/image.png" Id="Re44aa18da4f1480b" /><Relationship Type="http://schemas.openxmlformats.org/officeDocument/2006/relationships/notesSlide" Target="/ppt/notesSlides/notesSlide6.xml" Id="Re16165f7b5ce4a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dc449725b14232" /><Relationship Type="http://schemas.openxmlformats.org/officeDocument/2006/relationships/notesSlide" Target="/ppt/notesSlides/notesSlide7.xml" Id="R443a45e43f1c4cf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9f6564deb1400e" /><Relationship Type="http://schemas.openxmlformats.org/officeDocument/2006/relationships/image" Target="/ppt/media/image2.png" Id="Rca3473c3cc2a4ea2" /><Relationship Type="http://schemas.openxmlformats.org/officeDocument/2006/relationships/notesSlide" Target="/ppt/notesSlides/notesSlide8.xml" Id="R0994465ec2cc47e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4a0b92099745bd" /><Relationship Type="http://schemas.openxmlformats.org/officeDocument/2006/relationships/image" Target="/ppt/media/image3.png" Id="Re3ce1405767849a8" /><Relationship Type="http://schemas.openxmlformats.org/officeDocument/2006/relationships/notesSlide" Target="/ppt/notesSlides/notesSlide9.xml" Id="R7bc0c7f07077494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7b98cc008d4c67" /><Relationship Type="http://schemas.openxmlformats.org/officeDocument/2006/relationships/image" Target="/ppt/media/image4.png" Id="R122730f1ab0f401e" /><Relationship Type="http://schemas.openxmlformats.org/officeDocument/2006/relationships/notesSlide" Target="/ppt/notesSlides/notesSlide10.xml" Id="R1288fa094f044bf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21315e6f7646c5" /><Relationship Type="http://schemas.openxmlformats.org/officeDocument/2006/relationships/notesSlide" Target="/ppt/notesSlides/notesSlide11.xml" Id="R073f81c3159c41a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e48e2ec8394227" /><Relationship Type="http://schemas.openxmlformats.org/officeDocument/2006/relationships/notesSlide" Target="/ppt/notesSlides/notesSlide12.xml" Id="R88f6afa7231f44c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e48f11217d4138" /><Relationship Type="http://schemas.openxmlformats.org/officeDocument/2006/relationships/image" Target="/ppt/media/image5.png" Id="R786e7a498e854359" /><Relationship Type="http://schemas.openxmlformats.org/officeDocument/2006/relationships/notesSlide" Target="/ppt/notesSlides/notesSlide13.xml" Id="R26270ccbc326492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f2a48ad917413b" /><Relationship Type="http://schemas.openxmlformats.org/officeDocument/2006/relationships/image" Target="/ppt/media/image6.png" Id="R48123421c63a4414" /><Relationship Type="http://schemas.openxmlformats.org/officeDocument/2006/relationships/notesSlide" Target="/ppt/notesSlides/notesSlide14.xml" Id="R1fadcb8d05944c6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7ff53d5d954b65" /><Relationship Type="http://schemas.openxmlformats.org/officeDocument/2006/relationships/image" Target="/ppt/media/image7.png" Id="Rceac2309726c40ce" /><Relationship Type="http://schemas.openxmlformats.org/officeDocument/2006/relationships/notesSlide" Target="/ppt/notesSlides/notesSlide15.xml" Id="Rbad742579e26453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1-background">
            <a:extLst xmlns:a="http://schemas.openxmlformats.org/drawingml/2006/main">
              <a:ext uri="{FF2B5EF4-FFF2-40B4-BE49-F238E27FC236}">
                <a16:creationId xmlns:a16="http://schemas.microsoft.com/office/drawing/2014/main" id="{5B15BA26-02DE-448F-AA63-2B9EF54A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</p:spPr>
      </p:sp>
      <p:sp>
        <p:nvSpPr>
          <p:cNvPr id="2" name="kicker-01-marker">
            <a:extLst xmlns:a="http://schemas.openxmlformats.org/drawingml/2006/main">
              <a:ext uri="{FF2B5EF4-FFF2-40B4-BE49-F238E27FC236}">
                <a16:creationId xmlns:a16="http://schemas.microsoft.com/office/drawing/2014/main" id="{69CE7987-7418-4587-9B1C-B7956473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6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3" name="kicker-01-label">
            <a:extLst xmlns:a="http://schemas.openxmlformats.org/drawingml/2006/main">
              <a:ext uri="{FF2B5EF4-FFF2-40B4-BE49-F238E27FC236}">
                <a16:creationId xmlns:a16="http://schemas.microsoft.com/office/drawing/2014/main" id="{AE431750-0F07-46A2-885C-7F98DE5C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276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SCIENTIFIC ONBOARDING REVIEW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B3CEC6-C01D-4171-BC83-E14B719E1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647700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When does the same bacterium</a:t>
            </a:r>
          </a:p>
          <a:p xmlns:a="http://schemas.openxmlformats.org/drawingml/2006/main">
            <a:pPr>
              <a:defRPr sz="3750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become a urinary tract infection?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EDFA90-A149-4571-BE12-C53E5D4F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57550"/>
            <a:ext cx="5715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Recurrent UTI clinical-to-genomic analysis in E. coli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43D8CB-B45C-4B2E-B372-002C099D9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76650"/>
            <a:ext cx="13144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AF0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194688-2F31-440D-B397-D57B812C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39515"/>
            <a:ext cx="112395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76C96"/>
                </a:solidFill>
                <a:latin typeface="Avenir Next"/>
                <a:ea typeface="Avenir Next"/>
                <a:cs typeface="Avenir Next"/>
              </a:defRPr>
            </a:pPr>
            <a:r>
              <a:t>UTI VS NOT_UTI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51C42E-A314-4584-9C12-C982A480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676650"/>
            <a:ext cx="12954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BE4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058F71-5912-4174-A43D-06C0AB2A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739515"/>
            <a:ext cx="11049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2F8A61"/>
                </a:solidFill>
                <a:latin typeface="Avenir Next"/>
                <a:ea typeface="Avenir Next"/>
                <a:cs typeface="Avenir Next"/>
              </a:defRPr>
            </a:pPr>
            <a:r>
              <a:t>CURRENT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DBFECA-9E1F-4F24-9B67-E74E541B6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676650"/>
            <a:ext cx="981075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DED5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492507-D5AD-42A6-8482-B68E595D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739515"/>
            <a:ext cx="790575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30 MINUTES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487342-BA1C-4D82-BA68-4EE6B8A5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800100"/>
            <a:ext cx="323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5722"/>
          </a:solidFill>
          <a:ln xmlns:a="http://schemas.openxmlformats.org/drawingml/2006/main" w="0">
            <a:solidFill>
              <a:srgbClr val="C9572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19A67A-5439-40C4-A622-AEFB475A9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000125"/>
            <a:ext cx="956881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Three questions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82E3A2-C7B0-4443-8192-32B5D9AC4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468755"/>
            <a:ext cx="3886200" cy="3886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01  Does recurrence reflect strain persistence or replacement?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7D9082-6D5A-4F29-BC83-6584E75B1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028825"/>
            <a:ext cx="3886200" cy="3886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02  What changes when an episode becomes symptomatic?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B7851-C944-4C7F-9E22-891FB10C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588895"/>
            <a:ext cx="3886200" cy="3886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03  What can the current denominator support scientifically?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339A31-FB9C-403A-AA18-0EAF85E3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05350"/>
            <a:ext cx="200025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583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7F7F53-8D88-4FF3-8AEA-A529DD2C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87315"/>
            <a:ext cx="2000250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Clinical episodes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541D60-48F5-499A-BB2A-D5DEC8E1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83530"/>
            <a:ext cx="2000250" cy="1257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Current primary denominator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683077-934B-46B5-92AD-B5BE60D4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705350"/>
            <a:ext cx="173355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C95722"/>
                </a:solidFill>
                <a:latin typeface="Georgia"/>
                <a:ea typeface="Georgia"/>
                <a:cs typeface="Georgia"/>
              </a:defRPr>
            </a:pPr>
            <a:r>
              <a:t>18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CA73D1-0B27-422E-92D5-DB0E37E3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187315"/>
            <a:ext cx="1733550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Primary UTI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5C52A9-F8A9-4D42-94E7-3BAB7EA3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383530"/>
            <a:ext cx="1733550" cy="1257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Clinical episodes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58DC2B-6817-458E-A8FA-9DFF21A2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705350"/>
            <a:ext cx="180975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2F8A61"/>
                </a:solidFill>
                <a:latin typeface="Georgia"/>
                <a:ea typeface="Georgia"/>
                <a:cs typeface="Georgia"/>
              </a:defRPr>
            </a:pPr>
            <a:r>
              <a:t>11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2161A8-918D-47E2-912D-5C256AD94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187315"/>
            <a:ext cx="1809750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Transitions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F01A33-777C-4CC3-B651-BA05E381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383530"/>
            <a:ext cx="1809750" cy="1257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Not_UTI to UTI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4E6B2B-BA8C-477E-B97F-BC327937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705350"/>
            <a:ext cx="4343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6DD"/>
          </a:solidFill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B1BAD6-5B01-42D6-899D-EEBAB82D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38700"/>
            <a:ext cx="3143250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Current framing: UTI versus heterogeneous Not_UTI.</a:t>
            </a:r>
          </a:p>
          <a:p xmlns:a="http://schemas.openxmlformats.org/drawingml/2006/main">
            <a:pPr>
              <a:defRPr sz="975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Legacy ASB comparisons are not primary conclusions.</a:t>
            </a:r>
          </a:p>
        </p:txBody>
      </p:sp>
      <p:sp>
        <p:nvSpPr>
          <p:cNvPr id="28" name="footer-rule-1">
            <a:extLst xmlns:a="http://schemas.openxmlformats.org/drawingml/2006/main">
              <a:ext uri="{FF2B5EF4-FFF2-40B4-BE49-F238E27FC236}">
                <a16:creationId xmlns:a16="http://schemas.microsoft.com/office/drawing/2014/main" id="{C517DE59-1C51-4D31-84D8-94F3F3CCD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484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8"/>
          </a:solidFill>
          <a:ln xmlns:a="http://schemas.openxmlformats.org/drawingml/2006/main" w="0">
            <a:solidFill>
              <a:srgbClr val="D8D2C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910422-DB3C-49C1-B4BB-7396C0739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7465"/>
            <a:ext cx="83820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Current evidence pack: results/summary/final_key_results_summary.md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E4CF56-AFCA-4061-B078-95F07E74A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6381750"/>
            <a:ext cx="186690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ORIENTATION  |  01</a:t>
            </a:r>
          </a:p>
        </p:txBody>
      </p:sp>
    </p:spTree>
    <p:extLst>
      <p:ext uri="{BB962C8B-B14F-4D97-AF65-F5344CB8AC3E}">
        <p14:creationId xmlns:p14="http://schemas.microsoft.com/office/powerpoint/2010/main" val="142267706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2-background">
            <a:extLst xmlns:a="http://schemas.openxmlformats.org/drawingml/2006/main">
              <a:ext uri="{FF2B5EF4-FFF2-40B4-BE49-F238E27FC236}">
                <a16:creationId xmlns:a16="http://schemas.microsoft.com/office/drawing/2014/main" id="{15BAF036-E10E-426D-B499-071EF846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</p:spPr>
      </p:sp>
      <p:sp>
        <p:nvSpPr>
          <p:cNvPr id="2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C73AC6DA-E26B-4FA9-9A52-246CF8B0A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6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3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C5E1B4BE-7E36-4427-B4E3-28292EC0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276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CLINICAL VOCABULARY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412789-4EAC-4734-9DBA-BC82B3B5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9715500" cy="4229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Presence is not the same as infection.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DB9C45-0E79-462C-B836-F662BC7D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46810"/>
            <a:ext cx="9906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The primary contrast asks which episodes fulfil a clinical UTI rule, not whether E. coli is present.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BAF5BD-48AB-4C4E-BE38-DDCAFCFE1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7810"/>
            <a:ext cx="32956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ED5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7EC79E-3283-487A-A935-882E40F3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89735"/>
            <a:ext cx="6858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5722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46F86C-1B1E-47F4-9150-2BD59D9A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52600"/>
            <a:ext cx="4953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UTI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4EE635-43CA-40A5-A47E-E6681357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04060"/>
            <a:ext cx="2762250" cy="10058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Culture-supported episode</a:t>
            </a:r>
          </a:p>
          <a:p xmlns:a="http://schemas.openxmlformats.org/drawingml/2006/main">
            <a:pPr>
              <a:defRPr sz="1650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with compatible symptoms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17B809-176F-4130-8A00-01435761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95625"/>
            <a:ext cx="2145220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18 current primary clinical episodes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6D66F0-B7FA-4D16-AE66-76910CF9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527810"/>
            <a:ext cx="32956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0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2C9DF0-8416-4BC4-957A-4D222465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1689735"/>
            <a:ext cx="9715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6C96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A307BC-C6A3-41E4-9CD0-31DA0AD6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52600"/>
            <a:ext cx="78105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NOT_UTI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641479-09E2-4AE2-87BF-F3CDFC2D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2004060"/>
            <a:ext cx="2762250" cy="502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Does not fulfil both</a:t>
            </a:r>
          </a:p>
          <a:p xmlns:a="http://schemas.openxmlformats.org/drawingml/2006/main">
            <a:pPr>
              <a:defRPr sz="1650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primary UTI conditions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FF1228-A7C0-4EA8-B3B8-9E95CCA1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2592705"/>
            <a:ext cx="2354485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76C96"/>
                </a:solidFill>
                <a:latin typeface="Avenir Next"/>
                <a:ea typeface="Avenir Next"/>
                <a:cs typeface="Avenir Next"/>
              </a:defRPr>
            </a:pPr>
            <a:r>
              <a:t>565 episodes; clinically heterogeneous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7ADEE9-FCB7-42B7-ACCC-A1CDA22D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527810"/>
            <a:ext cx="929259" cy="137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Why this matters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42E549-BD00-4BC6-90A0-EB1180E22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779270"/>
            <a:ext cx="35052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A change from Not_UTI to UTI may reflect: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CFC6B4-2601-49E5-81D5-25EEA6C2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087880"/>
            <a:ext cx="3524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1. strain replacement</a:t>
            </a:r>
          </a:p>
          <a:p xmlns:a="http://schemas.openxmlformats.org/drawingml/2006/main">
            <a:pPr>
              <a:defRPr sz="11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2. bacterial genomic change</a:t>
            </a:r>
          </a:p>
          <a:p xmlns:a="http://schemas.openxmlformats.org/drawingml/2006/main">
            <a:pPr>
              <a:defRPr sz="11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3. symptoms emerging despite a stable measured profile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B1C1FE-C700-456E-84CB-52C9864C3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6660"/>
            <a:ext cx="7810500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A participant is observed across episodes, not as a single static label.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8B40CA-F555-41AE-96B9-235B7CB88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67175"/>
            <a:ext cx="20383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0"/>
          </a:solidFill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966BE1-D444-4A87-A9FD-6F4A974D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81475"/>
            <a:ext cx="85334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76C96"/>
                </a:solidFill>
                <a:latin typeface="Avenir Next"/>
                <a:ea typeface="Avenir Next"/>
                <a:cs typeface="Avenir Next"/>
              </a:defRPr>
            </a:pPr>
            <a:r>
              <a:t>T0  |  Not_UTI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4B1A26-9759-4FD2-BEA3-872164289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79595"/>
            <a:ext cx="1160716" cy="3771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Culture recorded</a:t>
            </a:r>
          </a:p>
          <a:p xmlns:a="http://schemas.openxmlformats.org/drawingml/2006/main">
            <a:pPr>
              <a:defRPr sz="825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No qualifying symptoms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31B75A-97AB-4962-81C5-F272DA7A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413885"/>
            <a:ext cx="323850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EAD936-6EDA-47D7-B1BE-02A7133DA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67175"/>
            <a:ext cx="20383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0"/>
          </a:solidFill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B52A77-E6A4-4694-964A-3327F03C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181475"/>
            <a:ext cx="85334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76C96"/>
                </a:solidFill>
                <a:latin typeface="Avenir Next"/>
                <a:ea typeface="Avenir Next"/>
                <a:cs typeface="Avenir Next"/>
              </a:defRPr>
            </a:pPr>
            <a:r>
              <a:t>T3  |  Not_UTI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B6145F-8434-4246-9B86-BAF5034B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79595"/>
            <a:ext cx="1241203" cy="2514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Repeat isolate</a:t>
            </a:r>
          </a:p>
          <a:p xmlns:a="http://schemas.openxmlformats.org/drawingml/2006/main">
            <a:pPr>
              <a:defRPr sz="825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Genomic linkage possible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4BE458-3DD5-489C-96C4-AAD685A7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413885"/>
            <a:ext cx="323850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C4CE87-1DD1-41B8-BAAA-16AC2350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067175"/>
            <a:ext cx="20383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ED5"/>
          </a:solidFill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E9AD49-4202-45D6-ADAD-7D35F65B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181475"/>
            <a:ext cx="731710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UTI-1  |  UTI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4B5208-C449-4C2E-9343-DA990C93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539615"/>
            <a:ext cx="1142238" cy="2514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Symptoms emerge</a:t>
            </a:r>
          </a:p>
          <a:p xmlns:a="http://schemas.openxmlformats.org/drawingml/2006/main">
            <a:pPr>
              <a:defRPr sz="825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Culture support persists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1883052-A2A4-4058-965D-9804D096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14800"/>
            <a:ext cx="37528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6DD"/>
          </a:solidFill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C7B436E-6F79-4309-A6F4-41F6325FF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276725"/>
            <a:ext cx="2705100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Longitudinal question:</a:t>
            </a:r>
          </a:p>
          <a:p xmlns:a="http://schemas.openxmlformats.org/drawingml/2006/main">
            <a:pPr>
              <a:defRPr sz="105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what changed between episodes?</a:t>
            </a:r>
          </a:p>
        </p:txBody>
      </p:sp>
      <p:sp>
        <p:nvSpPr>
          <p:cNvPr id="3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73F2BF0E-5509-4391-B44F-336F131D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484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8"/>
          </a:solidFill>
          <a:ln xmlns:a="http://schemas.openxmlformats.org/drawingml/2006/main" w="0">
            <a:solidFill>
              <a:srgbClr val="D8D2C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D5D1D8E-C119-443A-876A-9AF84EA1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7465"/>
            <a:ext cx="83820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Source: current primary UTI_Status definition; validation checks (18 UTI / 565 Not_UTI)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C2EE12-2E38-4D4F-996C-05446587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6381750"/>
            <a:ext cx="186690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CLINICAL FRAME  |  02</a:t>
            </a:r>
          </a:p>
        </p:txBody>
      </p:sp>
    </p:spTree>
    <p:extLst>
      <p:ext uri="{BB962C8B-B14F-4D97-AF65-F5344CB8AC3E}">
        <p14:creationId xmlns:p14="http://schemas.microsoft.com/office/powerpoint/2010/main" val="12582017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3-background">
            <a:extLst xmlns:a="http://schemas.openxmlformats.org/drawingml/2006/main">
              <a:ext uri="{FF2B5EF4-FFF2-40B4-BE49-F238E27FC236}">
                <a16:creationId xmlns:a16="http://schemas.microsoft.com/office/drawing/2014/main" id="{49E53A02-E562-43C7-A90A-60EE2E0F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</p:spPr>
      </p:sp>
      <p:sp>
        <p:nvSpPr>
          <p:cNvPr id="2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0A637A33-DE5E-4ADB-BEC5-D8920AE3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6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3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989A9EB5-3038-4D49-B131-26BD4ECD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276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STUDY DESIGN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321C82-F203-40A5-95E7-B7A9E98C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9715500" cy="8458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Repeated clinical episodes are linked to sequenced bacterial isolates.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80C7C1-8DCD-4CF1-971D-86F122CD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9720"/>
            <a:ext cx="9906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The analytic value comes from joining clinical state to within-participant genomic change over time.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55AE64-F0A7-4D5D-B018-D1D3A466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79295"/>
            <a:ext cx="207645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583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D6B79E-937B-4591-A8DC-29E18CEC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61260"/>
            <a:ext cx="2076450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Clinical episodes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18A286-AB88-4D5D-BF27-2BECEC03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57475"/>
            <a:ext cx="2076450" cy="1257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167 participants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86F57B-D8AE-4500-9602-EE5D6966A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979295"/>
            <a:ext cx="207645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2F8A61"/>
                </a:solidFill>
                <a:latin typeface="Georgia"/>
                <a:ea typeface="Georgia"/>
                <a:cs typeface="Georgia"/>
              </a:defRPr>
            </a:pPr>
            <a:r>
              <a:t>556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9ED7C2-5804-4539-9A03-F928CC53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61260"/>
            <a:ext cx="2076450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VF/WGS-ready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9E0CD1-6D6F-4FD6-A346-E90657724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57475"/>
            <a:ext cx="2076450" cy="1257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Linked genomic episodes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09F8EC-4C19-4131-BAF3-3957CE68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979295"/>
            <a:ext cx="207645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76C96"/>
                </a:solidFill>
                <a:latin typeface="Georgia"/>
                <a:ea typeface="Georgia"/>
                <a:cs typeface="Georgia"/>
              </a:defRPr>
            </a:pPr>
            <a:r>
              <a:t>227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80B9B3-E154-4F99-ADC3-A7E40924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461260"/>
            <a:ext cx="2076450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VF gene columns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68D1F2-D8AF-48FE-8704-894364D9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657475"/>
            <a:ext cx="2076450" cy="1257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Canonical VF matrix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57EBE5-5363-40C4-B06C-1BB31A64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979295"/>
            <a:ext cx="2095500" cy="4343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C95722"/>
                </a:solidFill>
                <a:latin typeface="Georgia"/>
                <a:ea typeface="Georgia"/>
                <a:cs typeface="Georgia"/>
              </a:defRPr>
            </a:pPr>
            <a:r>
              <a:t>11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53C5DA-4DD8-41D3-90F4-BEAE5F878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461260"/>
            <a:ext cx="2095500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Transitions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4F3E4F-0706-4B3C-8E4A-03753498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57475"/>
            <a:ext cx="2095500" cy="1257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Not_UTI to UTI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6FF5B8-20FB-49C4-8F9D-C25604088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2229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8"/>
          </a:solidFill>
          <a:ln xmlns:a="http://schemas.openxmlformats.org/drawingml/2006/main" w="0">
            <a:solidFill>
              <a:srgbClr val="D8D2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96CCF4-7850-4A30-9F7B-F9EDCB4D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88995"/>
            <a:ext cx="22479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6DD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87614A-56A4-4595-96CE-A88247E4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41395"/>
            <a:ext cx="611886" cy="1257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01  SAMPLE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FC91F2-1EE7-4174-9D54-B21B2E77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43325"/>
            <a:ext cx="1943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Clinical episode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E6FF65-829F-49E5-8A91-D4245D4D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9431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Symptoms, culture support,</a:t>
            </a:r>
          </a:p>
          <a:p xmlns:a="http://schemas.openxmlformats.org/drawingml/2006/main">
            <a:pPr>
              <a:defRPr sz="900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collection context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5D60EC-42CA-4EC9-908F-EF5229F34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02405"/>
            <a:ext cx="247650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3630DC-CF0C-4DDB-94A5-79A10C5E0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388995"/>
            <a:ext cx="21145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0"/>
          </a:solidFill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2EB213-9374-4559-B229-4837413A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41395"/>
            <a:ext cx="433387" cy="2514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02  LINK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98D3D7-B3A6-4B5C-A996-84F81BD1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869055"/>
            <a:ext cx="1809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Isolate key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C11B25-365F-4AD2-8A12-E4C82EAA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173855"/>
            <a:ext cx="180975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Participant + timepoint</a:t>
            </a:r>
          </a:p>
          <a:p xmlns:a="http://schemas.openxmlformats.org/drawingml/2006/main">
            <a:pPr>
              <a:defRPr sz="900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joins the layers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719739-CCDB-47EC-93DC-B7829496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002405"/>
            <a:ext cx="247650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&gt;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44501ED-A0C0-4F28-8611-A2834233F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388995"/>
            <a:ext cx="23050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E4"/>
          </a:solidFill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43572E-BB72-4B8B-A44E-B211BB1A0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41395"/>
            <a:ext cx="625697" cy="2514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03  PROFILE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E4F08B-54D5-4488-9D32-31CF99514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869055"/>
            <a:ext cx="2000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Genome evidence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1995A8-5B2F-485B-908B-2A72BDEF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173855"/>
            <a:ext cx="200025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VF profile, SNPs,</a:t>
            </a:r>
          </a:p>
          <a:p xmlns:a="http://schemas.openxmlformats.org/drawingml/2006/main">
            <a:pPr>
              <a:defRPr sz="900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ST and mobile context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7350390-31EB-4586-93A5-D1C20C8F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02405"/>
            <a:ext cx="247650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&gt;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5425B61-17A1-4181-9565-ED2115BE3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388995"/>
            <a:ext cx="23431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ED5"/>
          </a:solidFill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1FC8AA-C6E9-46CB-900C-B24DE474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541395"/>
            <a:ext cx="758761" cy="2514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04  INTERPRET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0F79F9-0B4E-4C9D-95B2-9E4B5CC7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69055"/>
            <a:ext cx="2038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Transition casebook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A6109CB-9BB9-4F6E-9240-066C5E97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173855"/>
            <a:ext cx="203835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Stable profile,</a:t>
            </a:r>
          </a:p>
          <a:p xmlns:a="http://schemas.openxmlformats.org/drawingml/2006/main">
            <a:pPr>
              <a:defRPr sz="900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change or replacement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CDABF35-331E-42FF-85F0-0F2E972D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46370"/>
            <a:ext cx="8191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AF0"/>
          </a:solidFill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FAEEDC8-30CE-4D14-9FF6-54E1925B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09235"/>
            <a:ext cx="62865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76C96"/>
                </a:solidFill>
                <a:latin typeface="Avenir Next"/>
                <a:ea typeface="Avenir Next"/>
                <a:cs typeface="Avenir Next"/>
              </a:defRPr>
            </a:pPr>
            <a:r>
              <a:t>CLINICAL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75A63A4-0987-4C0F-B030-069FE2FDE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280660"/>
            <a:ext cx="12533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defines the outcome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3FFFC8-1FC9-499E-A476-DD6963BB3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1600" y="5246370"/>
            <a:ext cx="8763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BE4"/>
          </a:solidFill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FF9853-CD4F-4890-93C3-A152220F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6850" y="5309235"/>
            <a:ext cx="6858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2F8A61"/>
                </a:solidFill>
                <a:latin typeface="Avenir Next"/>
                <a:ea typeface="Avenir Next"/>
                <a:cs typeface="Avenir Next"/>
              </a:defRPr>
            </a:pPr>
            <a:r>
              <a:t>GENOMIC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92FAF28-8040-4DF1-9B6C-6C9F81EB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1250" y="5280660"/>
            <a:ext cx="3293174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tests bacterial continuity and measured profile change</a:t>
            </a:r>
          </a:p>
        </p:txBody>
      </p:sp>
      <p:sp>
        <p:nvSpPr>
          <p:cNvPr id="44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347BD627-2017-4979-8884-4A4DFB7B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484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8"/>
          </a:solidFill>
          <a:ln xmlns:a="http://schemas.openxmlformats.org/drawingml/2006/main" w="0">
            <a:solidFill>
              <a:srgbClr val="D8D2C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B1807A7-B4C8-42E6-8D85-05A61187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7465"/>
            <a:ext cx="83820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Sources: final_key_results_summary.md; final_figure_validation_checks.csv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2DD796B-47D1-4FED-9F98-C4087081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6381750"/>
            <a:ext cx="186690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STUDY DESIGN  |  03</a:t>
            </a:r>
          </a:p>
        </p:txBody>
      </p:sp>
    </p:spTree>
    <p:extLst>
      <p:ext uri="{BB962C8B-B14F-4D97-AF65-F5344CB8AC3E}">
        <p14:creationId xmlns:p14="http://schemas.microsoft.com/office/powerpoint/2010/main" val="21135029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4-background">
            <a:extLst xmlns:a="http://schemas.openxmlformats.org/drawingml/2006/main">
              <a:ext uri="{FF2B5EF4-FFF2-40B4-BE49-F238E27FC236}">
                <a16:creationId xmlns:a16="http://schemas.microsoft.com/office/drawing/2014/main" id="{047FEFFF-0B62-49FC-B545-ABFA018F1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</p:spPr>
      </p:sp>
      <p:sp>
        <p:nvSpPr>
          <p:cNvPr id="2" name="kicker-04-marker">
            <a:extLst xmlns:a="http://schemas.openxmlformats.org/drawingml/2006/main">
              <a:ext uri="{FF2B5EF4-FFF2-40B4-BE49-F238E27FC236}">
                <a16:creationId xmlns:a16="http://schemas.microsoft.com/office/drawing/2014/main" id="{0613790A-7606-4243-A59A-E129637F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6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3" name="kicker-04-label">
            <a:extLst xmlns:a="http://schemas.openxmlformats.org/drawingml/2006/main">
              <a:ext uri="{FF2B5EF4-FFF2-40B4-BE49-F238E27FC236}">
                <a16:creationId xmlns:a16="http://schemas.microsoft.com/office/drawing/2014/main" id="{52681056-B079-4BE4-BF0B-04966B89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276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PRIMARY OUTCOME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FFB8BB-FDE3-4199-8950-16E3B006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9715500" cy="4229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A UTI episode must satisfy two clinical conditions.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8CDD69-88E6-4D8F-B4CF-7CE04A05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46810"/>
            <a:ext cx="9906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The rule is catheter-aware and culture-supported; failure to meet both conditions is classified as Not_UTI.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F950A3-60F4-459F-9C3F-237476E8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27810"/>
            <a:ext cx="4000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6DD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334C4C-752C-4316-A336-F3F620C73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70685"/>
            <a:ext cx="561023" cy="3543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583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5590FA-B9D3-45DC-94F3-193EF9F4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9673" y="1762125"/>
            <a:ext cx="2373249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primary clinical episodes assessed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6DC537-FFFF-4BED-8A4D-EC167F26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708" y="2308860"/>
            <a:ext cx="102584" cy="2171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C567BA-C097-47AC-88CA-5BA0D08BF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642235"/>
            <a:ext cx="3333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0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DE6A81-411B-40EF-9D15-7636EBA4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04160"/>
            <a:ext cx="660654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CONDITION 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2CF004-1906-4374-B253-2FA100AF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94660"/>
            <a:ext cx="2971800" cy="4800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Culture support</a:t>
            </a:r>
          </a:p>
          <a:p xmlns:a="http://schemas.openxmlformats.org/drawingml/2006/main">
            <a:pPr>
              <a:defRPr sz="157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&gt;=10^3 CFU/mL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A11124-8EF6-4467-A5A6-8A3043DB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004185"/>
            <a:ext cx="3238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2625" b="1">
                <a:solidFill>
                  <a:srgbClr val="C95722"/>
                </a:solidFill>
                <a:latin typeface="Georgia"/>
                <a:ea typeface="Georgia"/>
                <a:cs typeface="Georgia"/>
              </a:defRPr>
            </a:pPr>
            <a:r>
              <a:t>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EFC5ED-C541-4AC9-A393-76FB8B4E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642235"/>
            <a:ext cx="3333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ED5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2508DC-10CB-41A0-84C0-04890343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04160"/>
            <a:ext cx="654558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CONDITION 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92ED23-D2B9-4A9F-8E47-23E769261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94660"/>
            <a:ext cx="2971800" cy="4800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Compatible symptoms</a:t>
            </a:r>
          </a:p>
          <a:p xmlns:a="http://schemas.openxmlformats.org/drawingml/2006/main">
            <a:pPr>
              <a:defRPr sz="157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catheter-aware rule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CDB627-DA07-4B23-8D7C-7C5A23C3C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2571" y="3813810"/>
            <a:ext cx="766858" cy="137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Both required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9CD42A-A96E-4601-80E3-5B0126AF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4137660"/>
            <a:ext cx="34671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5722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4701D5-F289-4F0E-B504-52DE9011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4290060"/>
            <a:ext cx="2294668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t>UTI  |  18 episodes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2F8ECD-A2AF-4429-A9D5-335A056F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4653915"/>
            <a:ext cx="2176463" cy="137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Meets culture and symptom requirements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ED5E68-2D27-4C11-A710-C11A7FD65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137660"/>
            <a:ext cx="45529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C96"/>
          </a:solidFill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90DC29-A2BF-4E9D-A27F-BE60E5F78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290060"/>
            <a:ext cx="3100864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t>Not_UTI  |  565 episodes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BBED6C-31A6-429F-8FE8-74B4D37C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653915"/>
            <a:ext cx="4095750" cy="137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Heterogeneous: do not read as a single biological control state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02599C-37C9-47F0-85E0-87371D15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531" y="5394960"/>
            <a:ext cx="10668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E5C7"/>
          </a:solidFill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10EA1F-A269-4253-B300-BFACD329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9781" y="5457825"/>
            <a:ext cx="8763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INTERPRETATION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A49F7A-58DB-4A34-9528-5D9F99A8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6581" y="5360670"/>
            <a:ext cx="4820888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This definition sets the evidence boundary for every genomic result that follows.</a:t>
            </a:r>
          </a:p>
        </p:txBody>
      </p:sp>
      <p:sp>
        <p:nvSpPr>
          <p:cNvPr id="27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E28A3614-F1CA-4FA3-92A8-7C6C2C33E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484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8"/>
          </a:solidFill>
          <a:ln xmlns:a="http://schemas.openxmlformats.org/drawingml/2006/main" w="0">
            <a:solidFill>
              <a:srgbClr val="D8D2C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913287-7092-4CDF-9D9E-72BF740C3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7465"/>
            <a:ext cx="83820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Source: current primary rule; final_figure_validation_checks.csv (n=583, UTI=18, Not_UTI=565)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5F9127-4F51-463C-AC3A-9DBCB5798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6381750"/>
            <a:ext cx="186690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CLINICAL RULE  |  04</a:t>
            </a:r>
          </a:p>
        </p:txBody>
      </p:sp>
    </p:spTree>
    <p:extLst>
      <p:ext uri="{BB962C8B-B14F-4D97-AF65-F5344CB8AC3E}">
        <p14:creationId xmlns:p14="http://schemas.microsoft.com/office/powerpoint/2010/main" val="115115466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5-background">
            <a:extLst xmlns:a="http://schemas.openxmlformats.org/drawingml/2006/main">
              <a:ext uri="{FF2B5EF4-FFF2-40B4-BE49-F238E27FC236}">
                <a16:creationId xmlns:a16="http://schemas.microsoft.com/office/drawing/2014/main" id="{0FC01F29-1906-4E83-89EA-540E0446B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</p:spPr>
      </p:sp>
      <p:sp>
        <p:nvSpPr>
          <p:cNvPr id="2" name="kicker-05-marker">
            <a:extLst xmlns:a="http://schemas.openxmlformats.org/drawingml/2006/main">
              <a:ext uri="{FF2B5EF4-FFF2-40B4-BE49-F238E27FC236}">
                <a16:creationId xmlns:a16="http://schemas.microsoft.com/office/drawing/2014/main" id="{BD234F6D-2282-41DB-B64F-5597501A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6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3" name="kicker-05-label">
            <a:extLst xmlns:a="http://schemas.openxmlformats.org/drawingml/2006/main">
              <a:ext uri="{FF2B5EF4-FFF2-40B4-BE49-F238E27FC236}">
                <a16:creationId xmlns:a16="http://schemas.microsoft.com/office/drawing/2014/main" id="{4A374A06-4BDF-4DCA-8D7D-D5B14673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276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ANALYSIS 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3842E6-AE0A-466B-9055-E9D49A1B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9715500" cy="4229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Two data lanes meet at participant and timepoint.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955B5D-2BBC-4F6C-9B41-4979C1C73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46810"/>
            <a:ext cx="9906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Clinical code defines the outcome; genomic code characterises the bacterium and compares episodes.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189400-71DC-4E51-BA08-831D8E6E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4010"/>
            <a:ext cx="12001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AF0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C1D658-A366-4775-98E7-01A41C79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66875"/>
            <a:ext cx="100965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76C96"/>
                </a:solidFill>
                <a:latin typeface="Avenir Next"/>
                <a:ea typeface="Avenir Next"/>
                <a:cs typeface="Avenir Next"/>
              </a:defRPr>
            </a:pPr>
            <a:r>
              <a:t>CLINICAL LANE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750703-47A9-4F61-A368-8566104C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1713548"/>
            <a:ext cx="9791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8"/>
          </a:solidFill>
          <a:ln xmlns:a="http://schemas.openxmlformats.org/drawingml/2006/main" w="0">
            <a:solidFill>
              <a:srgbClr val="D8D2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A929D3-B850-427A-A5B7-8BA1E9BC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37385"/>
            <a:ext cx="1981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6DD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3EF412-AE88-4DC9-B0F5-0D3C1CB3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070735"/>
            <a:ext cx="17335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Input batches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15E2E8-5E0B-4F9B-ACA8-ACB589E74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297430"/>
            <a:ext cx="173355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Menlo"/>
                <a:ea typeface="Menlo"/>
                <a:cs typeface="Menlo"/>
              </a:defRPr>
            </a:pPr>
            <a:r>
              <a:t>00a_load_clean_clinical.R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E99394-C174-4B0C-8363-40031A17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255520"/>
            <a:ext cx="209550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6C96"/>
                </a:solidFill>
                <a:latin typeface="Avenir Next"/>
                <a:ea typeface="Avenir Next"/>
                <a:cs typeface="Avenir Next"/>
              </a:defRPr>
            </a:pPr>
            <a: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7AD223-748B-466F-A1EA-770D71E7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937385"/>
            <a:ext cx="2019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0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2C663B-D56B-4F88-9B67-C351F19A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070735"/>
            <a:ext cx="17716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Primary 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36DE28-1EEE-49AA-9B34-6C215702E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297430"/>
            <a:ext cx="177165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Menlo"/>
                <a:ea typeface="Menlo"/>
                <a:cs typeface="Menlo"/>
              </a:defRPr>
            </a:pPr>
            <a:r>
              <a:t>00b_classify_episodes.R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019A1-AEE0-41FB-9921-AD10185B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55520"/>
            <a:ext cx="209550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6C96"/>
                </a:solidFill>
                <a:latin typeface="Avenir Next"/>
                <a:ea typeface="Avenir Next"/>
                <a:cs typeface="Avenir Next"/>
              </a:defRPr>
            </a:pPr>
            <a: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D05C85-DB27-455E-8F53-4B7BF005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37385"/>
            <a:ext cx="1771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0"/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869B34-1AAB-45B1-9425-ACDAF743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2070735"/>
            <a:ext cx="15240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Episode key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469F68-5830-4DBC-ACD8-5EDA09A1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2297430"/>
            <a:ext cx="15240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Menlo"/>
                <a:ea typeface="Menlo"/>
                <a:cs typeface="Menlo"/>
              </a:defRPr>
            </a:pPr>
            <a:r>
              <a:t>status_map.csv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A3CD0D-3F7C-403C-BEA3-AC005772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55520"/>
            <a:ext cx="209550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1471DA-2E5D-4B84-99B6-7450366A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937385"/>
            <a:ext cx="4229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2D"/>
          </a:solidFill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8C41D3-4800-47E1-AA16-143268909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80260"/>
            <a:ext cx="1717262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Integrated episode table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E6433E-F89F-4ADD-8D5C-CD0D0DE16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499360"/>
            <a:ext cx="1490853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D9DDDC"/>
                </a:solidFill>
                <a:latin typeface="Menlo"/>
                <a:ea typeface="Menlo"/>
                <a:cs typeface="Menlo"/>
              </a:defRPr>
            </a:pPr>
            <a:r>
              <a:t>Participant_id + Timepoint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7698AC-68C5-4B6A-AC9A-B7544577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70860"/>
            <a:ext cx="12001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BE4"/>
          </a:solidFill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1F3E02-EB4E-4CFF-A8AD-17610157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33725"/>
            <a:ext cx="100965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2F8A61"/>
                </a:solidFill>
                <a:latin typeface="Avenir Next"/>
                <a:ea typeface="Avenir Next"/>
                <a:cs typeface="Avenir Next"/>
              </a:defRPr>
            </a:pPr>
            <a:r>
              <a:t>GENOMIC LANE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F41A2D-8838-47ED-BD3C-DE4EC23A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180398"/>
            <a:ext cx="9791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8"/>
          </a:solidFill>
          <a:ln xmlns:a="http://schemas.openxmlformats.org/drawingml/2006/main" w="0">
            <a:solidFill>
              <a:srgbClr val="D8D2C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3B679C-7D56-4B61-AC7F-829FCEDC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4235"/>
            <a:ext cx="1981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6DD"/>
          </a:solidFill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607BB8-1676-40A4-9B35-7A520DAD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537585"/>
            <a:ext cx="17335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Assemblies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C6C3B73-42DB-4B63-85E8-025FCC22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764280"/>
            <a:ext cx="173355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Menlo"/>
                <a:ea typeface="Menlo"/>
                <a:cs typeface="Menlo"/>
              </a:defRPr>
            </a:pPr>
            <a:r>
              <a:t>FASTA / GFF inputs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B27075-7E7D-46CA-9EB6-A67F49727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22370"/>
            <a:ext cx="209550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F8A61"/>
                </a:solidFill>
                <a:latin typeface="Avenir Next"/>
                <a:ea typeface="Avenir Next"/>
                <a:cs typeface="Avenir Next"/>
              </a:defRPr>
            </a:pPr>
            <a:r>
              <a:t>&gt;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088151-DB9B-41AC-90B9-9179974D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404235"/>
            <a:ext cx="2019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E4"/>
          </a:solidFill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54B892-AAB4-4F1F-86FF-52169AAB8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537585"/>
            <a:ext cx="17716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Genomic profile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FE3ECF-A182-41B1-B47D-18A6F1F58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764280"/>
            <a:ext cx="177165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Menlo"/>
                <a:ea typeface="Menlo"/>
                <a:cs typeface="Menlo"/>
              </a:defRPr>
            </a:pPr>
            <a:r>
              <a:t>VF + ST + SNPs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078B65-B583-400A-96CA-1A02FCEE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722370"/>
            <a:ext cx="209550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F8A61"/>
                </a:solidFill>
                <a:latin typeface="Avenir Next"/>
                <a:ea typeface="Avenir Next"/>
                <a:cs typeface="Avenir Next"/>
              </a:defRPr>
            </a:pPr>
            <a:r>
              <a:t>&gt;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379D1C1-9739-46FE-99C9-6CD9F5C72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404235"/>
            <a:ext cx="1771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E4"/>
          </a:solidFill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16D6D86-1C27-46CB-AC17-EE098AF1D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3537585"/>
            <a:ext cx="15240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Pairwise change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AC473D3-EE4C-4B63-912A-ED11D8525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3764280"/>
            <a:ext cx="15240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Menlo"/>
                <a:ea typeface="Menlo"/>
                <a:cs typeface="Menlo"/>
              </a:defRPr>
            </a:pPr>
            <a:r>
              <a:t>strain_compare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9DD04E-F980-4CE4-9E19-84937BA15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22370"/>
            <a:ext cx="209550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&gt;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782907-4BC4-48B0-ACD1-6EE112C3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04235"/>
            <a:ext cx="4229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52D"/>
          </a:solidFill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9CEC0E-9B4A-45F6-808C-8EECC866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547110"/>
            <a:ext cx="1493044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Mechanism casebook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80B70E3-9013-4F98-ACC0-0D3A75C57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794760"/>
            <a:ext cx="1393888" cy="2057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D9DDDC"/>
                </a:solidFill>
                <a:latin typeface="Menlo"/>
                <a:ea typeface="Menlo"/>
                <a:cs typeface="Menlo"/>
              </a:defRPr>
            </a:pPr>
            <a:r>
              <a:t>not_uti_to_uti_casebook.csv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587AD73-ECA9-4BF4-B29F-6043973BF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8660"/>
            <a:ext cx="110871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ED5"/>
          </a:solidFill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1A531CF-FCBE-4B58-ABED-13590983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09160"/>
            <a:ext cx="70485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OUTPUT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7D48CF3-A08F-4926-AAD4-2BE3E187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74870"/>
            <a:ext cx="7239000" cy="182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Final figure pack: denominator -&gt; transitions -&gt; host context -&gt; robustness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E18DF16-DD6E-49E4-84FD-748FDB3EA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652010"/>
            <a:ext cx="1261491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3636A"/>
                </a:solidFill>
                <a:latin typeface="Menlo"/>
                <a:ea typeface="Menlo"/>
                <a:cs typeface="Menlo"/>
              </a:defRPr>
            </a:pPr>
            <a:r>
              <a:t>35_final_figure_pack.R</a:t>
            </a:r>
          </a:p>
        </p:txBody>
      </p:sp>
      <p:sp>
        <p:nvSpPr>
          <p:cNvPr id="46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D13B07D9-B137-4AB7-9507-68B724E29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484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8"/>
          </a:solidFill>
          <a:ln xmlns:a="http://schemas.openxmlformats.org/drawingml/2006/main" w="0">
            <a:solidFill>
              <a:srgbClr val="D8D2C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5239B0-2A12-4515-A1F4-BC49C6608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7465"/>
            <a:ext cx="83820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Source: docs/pipeline_architecture.md; canonical outputs and scripts named on slide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90C6662-6042-44B2-B562-0A4B980D1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6381750"/>
            <a:ext cx="186690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PIPELINE  |  05</a:t>
            </a:r>
          </a:p>
        </p:txBody>
      </p:sp>
    </p:spTree>
    <p:extLst>
      <p:ext uri="{BB962C8B-B14F-4D97-AF65-F5344CB8AC3E}">
        <p14:creationId xmlns:p14="http://schemas.microsoft.com/office/powerpoint/2010/main" val="14034672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6-background">
            <a:extLst xmlns:a="http://schemas.openxmlformats.org/drawingml/2006/main">
              <a:ext uri="{FF2B5EF4-FFF2-40B4-BE49-F238E27FC236}">
                <a16:creationId xmlns:a16="http://schemas.microsoft.com/office/drawing/2014/main" id="{42A5209E-6E85-4663-88B4-08D4FCA63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</p:spPr>
      </p:sp>
      <p:sp>
        <p:nvSpPr>
          <p:cNvPr id="2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E75E1362-7867-41CE-868F-A87107DEA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6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3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1926133E-27F2-44B1-946F-92F196F9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276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INTERPRETATION BOUNDARY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EED96E-582F-4AC3-B86F-467263EF9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9715500" cy="4229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The dataset is rich; the UTI denominator is small.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65D775-4D30-4BA0-98EE-A0ABD421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46810"/>
            <a:ext cx="9906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Set the denominator before reading mechanisms or population-wide genomic signals.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8F829A-0E37-4E79-83EC-0317C2EFC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0660"/>
            <a:ext cx="7981950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4aa18da4f1480b"/>
          <a:stretch xmlns:a="http://schemas.openxmlformats.org/drawingml/2006/main"/>
        </p:blipFill>
        <p:spPr>
          <a:xfrm xmlns:a="http://schemas.openxmlformats.org/drawingml/2006/main">
            <a:off x="628650" y="2128647"/>
            <a:ext cx="7829550" cy="3027426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533F0B-4F2C-4453-9292-2404E98A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480185"/>
            <a:ext cx="9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76C96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A6F268-500E-48EC-8F41-F93BCED5C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470660"/>
            <a:ext cx="1706118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DESCRIPTIVE DENOMINATOR AUDIT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B28892-DC19-4E2A-8871-F7FA58BC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823085"/>
            <a:ext cx="28956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ED5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B979D8-0E55-439C-9FF9-8482274D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927860"/>
            <a:ext cx="467392" cy="5372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C95722"/>
                </a:solidFill>
                <a:latin typeface="Georgia"/>
                <a:ea typeface="Georgia"/>
                <a:cs typeface="Georgia"/>
              </a:defRPr>
            </a:pPr>
            <a:r>
              <a:t>17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4836A0-5260-4C75-A89B-F3D01BA2B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484120"/>
            <a:ext cx="226695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UTI episodes in the</a:t>
            </a:r>
          </a:p>
          <a:p xmlns:a="http://schemas.openxmlformats.org/drawingml/2006/main">
            <a:pPr>
              <a:defRPr sz="90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VF/model-ready cohort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5AB7D3-0CDE-4546-9828-755AC9E3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51810"/>
            <a:ext cx="28956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0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2C31A8-BC07-4509-AE14-B9CFD986D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137535"/>
            <a:ext cx="499110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6C96"/>
                </a:solidFill>
                <a:latin typeface="Georgia"/>
                <a:ea typeface="Georgia"/>
                <a:cs typeface="Georgia"/>
              </a:defRPr>
            </a:pPr>
            <a:r>
              <a:t>539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E782EA-C463-47A2-B22B-F2029C61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67100"/>
            <a:ext cx="978503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Not_UTI episodes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780092-F972-4F67-A5EF-752CD1860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032885"/>
            <a:ext cx="24955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5C7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5BB215-D357-4982-BC5F-A93C8D64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185285"/>
            <a:ext cx="21907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99518"/>
                </a:solidFill>
                <a:latin typeface="Avenir Next"/>
                <a:ea typeface="Avenir Next"/>
                <a:cs typeface="Avenir Next"/>
              </a:defRPr>
            </a:pPr>
            <a:r>
              <a:t>Read this first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5A010D-E3CA-41C2-82D0-F7BBF367F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431030"/>
            <a:ext cx="219075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Near-miss definitions test sensitivity; they do not relabel the primary comparison.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D18356-ED27-47E1-BE53-5FDF37D0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337810"/>
            <a:ext cx="1562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7EA"/>
          </a:solidFill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E43B19-CA87-4ADA-AF63-0D5A92C5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00675"/>
            <a:ext cx="13716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SPARSE OUTCOME</a:t>
            </a:r>
          </a:p>
        </p:txBody>
      </p:sp>
      <p:sp>
        <p:nvSpPr>
          <p:cNvPr id="21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98649B67-04CF-4C3F-B6E6-8AF3DCE7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484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8"/>
          </a:solidFill>
          <a:ln xmlns:a="http://schemas.openxmlformats.org/drawingml/2006/main" w="0">
            <a:solidFill>
              <a:srgbClr val="D8D2C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D7F181-B91F-4BEA-B851-CB096578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7465"/>
            <a:ext cx="83820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Source: Main Figure 1; final_figure_validation_checks.csv (validated denominators)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389988-CFF2-49EC-B6CD-94EA5D3C2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6381750"/>
            <a:ext cx="186690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RESULTS  |  06</a:t>
            </a:r>
          </a:p>
        </p:txBody>
      </p:sp>
    </p:spTree>
    <p:extLst>
      <p:ext uri="{BB962C8B-B14F-4D97-AF65-F5344CB8AC3E}">
        <p14:creationId xmlns:p14="http://schemas.microsoft.com/office/powerpoint/2010/main" val="41373380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7-background">
            <a:extLst xmlns:a="http://schemas.openxmlformats.org/drawingml/2006/main">
              <a:ext uri="{FF2B5EF4-FFF2-40B4-BE49-F238E27FC236}">
                <a16:creationId xmlns:a16="http://schemas.microsoft.com/office/drawing/2014/main" id="{EA55C663-A2D4-4967-B8B3-7380135A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</p:spPr>
      </p:sp>
      <p:sp>
        <p:nvSpPr>
          <p:cNvPr id="2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2938643A-2228-4940-935E-897FF801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6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3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6BFDB4FC-508A-414D-8A1B-6FD5062E9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276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WORKED TRANSITION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ADAB99-F2B7-4825-955F-9710CFE6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9715500" cy="8458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Participant 20026 changes clinical state without measured profile acquisition.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328A7E-A3D4-4E12-B088-4D6F2DFC6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9720"/>
            <a:ext cx="9906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One concrete Not_UTI to UTI transition anchors the aggregate interpretation.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877BA7-2A4A-4B16-BE8C-FCC0AB996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45945"/>
            <a:ext cx="9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F8A61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A3680B-A6CF-419F-BF67-CC9922CF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36420"/>
            <a:ext cx="1558004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DESCRIPTIVE WORKED EXAMPLE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1B7F63-291D-493B-9320-2A7F9AAC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193608"/>
            <a:ext cx="32194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0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B8A24-74F6-474B-B4CD-D7EDDDB1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341245"/>
            <a:ext cx="10287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6C96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53D690-0C6B-40DD-9C32-E44ABBC5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404110"/>
            <a:ext cx="8382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NOT_UTI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CEF631-2B39-40D4-8B8E-2367B48E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92680"/>
            <a:ext cx="762000" cy="1257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T3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3D4FDF-38E5-4170-A4D3-2CC6B67C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660333"/>
            <a:ext cx="1275302" cy="4800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02 Dec 2024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A9EAC9-AB26-4BEE-AB17-973A1C63F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226118"/>
            <a:ext cx="2895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8"/>
          </a:solidFill>
          <a:ln xmlns:a="http://schemas.openxmlformats.org/drawingml/2006/main" w="0">
            <a:solidFill>
              <a:srgbClr val="D8D2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19CA5B-8A3B-48F1-9C1B-067729503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321368"/>
            <a:ext cx="1389317" cy="137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10,000-100,000 CFU/mL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10C555-0B82-4EA6-8268-939CF7E2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544252"/>
            <a:ext cx="2809875" cy="137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No defining symptoms recorded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CFC515-8FAF-46B0-9BA6-F43AD4E2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603183"/>
            <a:ext cx="2000250" cy="137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42 DAYS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682DC2-67B8-40F8-B85E-23512700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40368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A61"/>
          </a:solidFill>
          <a:ln xmlns:a="http://schemas.openxmlformats.org/drawingml/2006/main" w="0">
            <a:solidFill>
              <a:srgbClr val="2F8A6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A1B0F2-AAE0-44ED-8715-C688F32D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829877"/>
            <a:ext cx="209550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F8A61"/>
                </a:solidFill>
                <a:latin typeface="Avenir Next"/>
                <a:ea typeface="Avenir Next"/>
                <a:cs typeface="Avenir Next"/>
              </a:defRPr>
            </a:pPr>
            <a: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97A0F2-4DCA-4876-A62F-82CFB81A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40368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A61"/>
          </a:solidFill>
          <a:ln xmlns:a="http://schemas.openxmlformats.org/drawingml/2006/main" w="0">
            <a:solidFill>
              <a:srgbClr val="2F8A6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DD8263-A578-4B40-B14D-B29C8268A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59443"/>
            <a:ext cx="17526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8A61"/>
          </a:solidFill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D40671-585F-4302-B368-AADCBD13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22308"/>
            <a:ext cx="15621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5 SNPS | STRONG LINK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668928-02AD-42E6-B2E3-E894EE81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2193608"/>
            <a:ext cx="32194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ED5"/>
          </a:solidFill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ADBFE2-0F52-4D2B-A5DC-59A3FE49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41245"/>
            <a:ext cx="10287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5722"/>
          </a:solidFill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5D2FF0-C58F-49AD-A445-0DAA43154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04110"/>
            <a:ext cx="8382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UTI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C576AC-5645-4092-991D-93C61FA6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392680"/>
            <a:ext cx="762000" cy="1257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UTI-1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847A21-0A59-46D6-89F0-18969552F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60333"/>
            <a:ext cx="1211389" cy="4800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13 Jan 2025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F43437-A4AA-4895-87EA-F76410D56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226118"/>
            <a:ext cx="2895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8"/>
          </a:solidFill>
          <a:ln xmlns:a="http://schemas.openxmlformats.org/drawingml/2006/main" w="0">
            <a:solidFill>
              <a:srgbClr val="D8D2C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79EFCA-8FA0-49A9-A009-9495436B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321368"/>
            <a:ext cx="1024795" cy="137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&gt;100,000 CFU/mL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5437CB-495B-4A9E-9D0C-7C451393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44252"/>
            <a:ext cx="2809875" cy="137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Symptoms now satisfy UTI definition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0D9A82-6402-4D41-8C41-FFBAE0D59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55770"/>
            <a:ext cx="19907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E4"/>
          </a:solidFill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6C5BE0-7C33-46BB-AC9F-F763C18D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331970"/>
            <a:ext cx="1752600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F8A61"/>
                </a:solidFill>
                <a:latin typeface="Georgia"/>
                <a:ea typeface="Georgia"/>
                <a:cs typeface="Georgia"/>
              </a:defRPr>
            </a:pPr>
            <a:r>
              <a:t>1.00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32999E-9838-4F03-A599-6B2A8EA32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91050"/>
            <a:ext cx="17526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VF JACCARD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A70F35-65A7-49B8-9F2E-259B99ED3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6544" y="4255770"/>
            <a:ext cx="19907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E4"/>
          </a:solidFill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023079A-FA33-4537-BD7E-1FBE812B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1319" y="4331970"/>
            <a:ext cx="1752600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F8A61"/>
                </a:solidFill>
                <a:latin typeface="Georgia"/>
                <a:ea typeface="Georgia"/>
                <a:cs typeface="Georgia"/>
              </a:defRPr>
            </a:pPr>
            <a:r>
              <a:t>1.00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82DDB75-F547-4369-AAF7-9F587B504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1319" y="4591050"/>
            <a:ext cx="17526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MODULE JACCARD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F008C10-473F-4C29-B748-C1D4DFD0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0638" y="4255770"/>
            <a:ext cx="19907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E4"/>
          </a:solidFill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A54DB1F-DF26-42B8-9306-7F758B66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5413" y="4331970"/>
            <a:ext cx="1752600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F8A61"/>
                </a:solidFill>
                <a:latin typeface="Georgia"/>
                <a:ea typeface="Georgia"/>
                <a:cs typeface="Georgia"/>
              </a:defRPr>
            </a:pPr>
            <a:r>
              <a:t>0 / 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0B6381D-9E63-4D42-A5C9-E407CB16C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5413" y="4591050"/>
            <a:ext cx="17526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PLASMID GAIN / LOSS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EFCC3B-A28C-4C53-8BAE-4149EEA0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731" y="4255770"/>
            <a:ext cx="19907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E4"/>
          </a:solidFill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D2B3D7-C8BA-4CBC-829C-CB3C3812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506" y="4331970"/>
            <a:ext cx="1752600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F8A61"/>
                </a:solidFill>
                <a:latin typeface="Georgia"/>
                <a:ea typeface="Georgia"/>
                <a:cs typeface="Georgia"/>
              </a:defRPr>
            </a:pPr>
            <a:r>
              <a:t>0 / 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E914CBB-6BC0-4056-A0C3-64C1FC75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506" y="4591050"/>
            <a:ext cx="17526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AMR GAIN / LOSS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C9EDFFC-DEFE-47B9-AD21-10E1FE785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4255770"/>
            <a:ext cx="19907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E4"/>
          </a:solidFill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1AA1B2A-761E-42D9-955A-395EB8CC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331970"/>
            <a:ext cx="1752600" cy="1943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F8A61"/>
                </a:solidFill>
                <a:latin typeface="Georgia"/>
                <a:ea typeface="Georgia"/>
                <a:cs typeface="Georgia"/>
              </a:defRPr>
            </a:pPr>
            <a:r>
              <a:t>Symptoms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9E0E9D8-BD53-4378-BBF4-D35445E3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545330"/>
            <a:ext cx="17526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CLINICAL CHANGE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83902B7-617F-4F1E-A019-044B67225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08245"/>
            <a:ext cx="11087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E4"/>
          </a:solidFill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AF0D2FF-92F8-4BDA-8E24-C0EE9E1B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22545"/>
            <a:ext cx="10001250" cy="1485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Stable measured bacterial profile + changing clinical state: host context or unmeasured expression/regulation remains plausible.</a:t>
            </a:r>
          </a:p>
        </p:txBody>
      </p:sp>
      <p:sp>
        <p:nvSpPr>
          <p:cNvPr id="47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12688BC0-005E-42DC-BEBD-1C8386CF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484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8"/>
          </a:solidFill>
          <a:ln xmlns:a="http://schemas.openxmlformats.org/drawingml/2006/main" w="0">
            <a:solidFill>
              <a:srgbClr val="D8D2C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9ACD728-C9C9-4D02-9A9B-AA767A0F6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7465"/>
            <a:ext cx="83820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Source: not_uti_to_uti_casebook.csv; participant 20026 / case_191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9C31146-A3D6-4451-B246-7EBC70F9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6381750"/>
            <a:ext cx="186690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RESULTS  |  07</a:t>
            </a:r>
          </a:p>
        </p:txBody>
      </p:sp>
    </p:spTree>
    <p:extLst>
      <p:ext uri="{BB962C8B-B14F-4D97-AF65-F5344CB8AC3E}">
        <p14:creationId xmlns:p14="http://schemas.microsoft.com/office/powerpoint/2010/main" val="212488367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8-background">
            <a:extLst xmlns:a="http://schemas.openxmlformats.org/drawingml/2006/main">
              <a:ext uri="{FF2B5EF4-FFF2-40B4-BE49-F238E27FC236}">
                <a16:creationId xmlns:a16="http://schemas.microsoft.com/office/drawing/2014/main" id="{5652890F-83AD-4EB8-A824-137418A64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</p:spPr>
      </p:sp>
      <p:sp>
        <p:nvSpPr>
          <p:cNvPr id="2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F228BC89-A47A-453A-B3CC-7E5B43D7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6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3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183BCDED-42E2-4A2C-82A7-F6020011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276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TRANSITION CASEBOOK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6B472F-D3E3-4405-B979-C0A050CD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9715500" cy="8458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There is no single biological route from Not_UTI to UTI.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F5D9C2-AB73-4ADB-BF9B-1528D5902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9720"/>
            <a:ext cx="9906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Eleven clinical transitions are tracked; ten have linked WGS/VF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0993FC-E38D-4BF8-9CC2-E91175777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4995"/>
            <a:ext cx="8572500" cy="436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3473c3cc2a4ea2"/>
          <a:stretch xmlns:a="http://schemas.openxmlformats.org/drawingml/2006/main"/>
        </p:blipFill>
        <p:spPr>
          <a:xfrm xmlns:a="http://schemas.openxmlformats.org/drawingml/2006/main">
            <a:off x="731334" y="1941195"/>
            <a:ext cx="8214732" cy="4210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1EA16E-777F-42C3-A59E-6D40CB9A0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874520"/>
            <a:ext cx="9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76C96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3AFC4E-A45F-475D-B70B-28DFDD97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864995"/>
            <a:ext cx="1182052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DESCRIPTIVE CASEBOOK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ED04FC-EE35-4B6C-BC6F-0168F0F4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207895"/>
            <a:ext cx="17335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6C96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AE655A-61F1-4148-AD79-0C8D6145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270760"/>
            <a:ext cx="154305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10 WGS/VF LINKED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EBB605-BE67-4250-BB82-D86A0CBD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50795"/>
            <a:ext cx="23241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E4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DE576B-F389-4711-AEBB-C38E5625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36520"/>
            <a:ext cx="2000250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F8A61"/>
                </a:solidFill>
                <a:latin typeface="Avenir Next"/>
                <a:ea typeface="Avenir Next"/>
                <a:cs typeface="Avenir Next"/>
              </a:defRPr>
            </a:pPr>
            <a:r>
              <a:t>4  same-strain,</a:t>
            </a:r>
          </a:p>
          <a:p xmlns:a="http://schemas.openxmlformats.org/drawingml/2006/main">
            <a:pPr>
              <a:defRPr sz="975" b="1">
                <a:solidFill>
                  <a:srgbClr val="2F8A61"/>
                </a:solidFill>
                <a:latin typeface="Avenir Next"/>
                <a:ea typeface="Avenir Next"/>
                <a:cs typeface="Avenir Next"/>
              </a:defRPr>
            </a:pPr>
            <a:r>
              <a:t>stable-profile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5D0398-9281-472A-B170-D10D7801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360420"/>
            <a:ext cx="23241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ED5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5C80F0-A0C9-4B90-9568-AEA5A364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46145"/>
            <a:ext cx="2000250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B7532E"/>
                </a:solidFill>
                <a:latin typeface="Avenir Next"/>
                <a:ea typeface="Avenir Next"/>
                <a:cs typeface="Avenir Next"/>
              </a:defRPr>
            </a:pPr>
            <a:r>
              <a:t>3  consistent with</a:t>
            </a:r>
          </a:p>
          <a:p xmlns:a="http://schemas.openxmlformats.org/drawingml/2006/main">
            <a:pPr>
              <a:defRPr sz="975" b="1">
                <a:solidFill>
                  <a:srgbClr val="B7532E"/>
                </a:solidFill>
                <a:latin typeface="Avenir Next"/>
                <a:ea typeface="Avenir Next"/>
                <a:cs typeface="Avenir Next"/>
              </a:defRPr>
            </a:pPr>
            <a:r>
              <a:t>strain replacement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E00D9F-0713-4DC1-9E01-44B1E2ACD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170045"/>
            <a:ext cx="23241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7EA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3C6101-D3DB-4AC0-B6BB-F6DB690EF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255770"/>
            <a:ext cx="2000250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8889A"/>
                </a:solidFill>
                <a:latin typeface="Avenir Next"/>
                <a:ea typeface="Avenir Next"/>
                <a:cs typeface="Avenir Next"/>
              </a:defRPr>
            </a:pPr>
            <a:r>
              <a:t>2  uncertain</a:t>
            </a:r>
          </a:p>
          <a:p xmlns:a="http://schemas.openxmlformats.org/drawingml/2006/main">
            <a:pPr>
              <a:defRPr sz="975" b="1">
                <a:solidFill>
                  <a:srgbClr val="78889A"/>
                </a:solidFill>
                <a:latin typeface="Avenir Next"/>
                <a:ea typeface="Avenir Next"/>
                <a:cs typeface="Avenir Next"/>
              </a:defRPr>
            </a:pPr>
            <a:r>
              <a:t>mechanisms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C37944-EFAB-4B16-9BBC-6151891AA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979670"/>
            <a:ext cx="2324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6DD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2761E2-083D-4C6A-B0F1-9E99F42F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074920"/>
            <a:ext cx="200025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1 profile-change case</a:t>
            </a:r>
          </a:p>
          <a:p xmlns:a="http://schemas.openxmlformats.org/drawingml/2006/main">
            <a:pPr>
              <a:defRPr sz="900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1 missing genomic endpoint</a:t>
            </a:r>
          </a:p>
        </p:txBody>
      </p:sp>
      <p:sp>
        <p:nvSpPr>
          <p:cNvPr id="20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FD4D1218-BC2D-413B-AEF1-B96C9EB4F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484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8"/>
          </a:solidFill>
          <a:ln xmlns:a="http://schemas.openxmlformats.org/drawingml/2006/main" w="0">
            <a:solidFill>
              <a:srgbClr val="D8D2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0D91BF-42DD-474E-9F38-DC5B51F9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7465"/>
            <a:ext cx="83820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Source: Main Figure 2; final_figure_validation_checks.csv and captions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0C438B-B2B6-40D0-B3C9-976559892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6381750"/>
            <a:ext cx="186690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RESULTS  |  08</a:t>
            </a:r>
          </a:p>
        </p:txBody>
      </p:sp>
    </p:spTree>
    <p:extLst>
      <p:ext uri="{BB962C8B-B14F-4D97-AF65-F5344CB8AC3E}">
        <p14:creationId xmlns:p14="http://schemas.microsoft.com/office/powerpoint/2010/main" val="88383709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9-background">
            <a:extLst xmlns:a="http://schemas.openxmlformats.org/drawingml/2006/main">
              <a:ext uri="{FF2B5EF4-FFF2-40B4-BE49-F238E27FC236}">
                <a16:creationId xmlns:a16="http://schemas.microsoft.com/office/drawing/2014/main" id="{084DFBFE-A206-40D5-ACFE-AADEF1DDD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</p:spPr>
      </p:sp>
      <p:sp>
        <p:nvSpPr>
          <p:cNvPr id="2" name="kicker-09-marker">
            <a:extLst xmlns:a="http://schemas.openxmlformats.org/drawingml/2006/main">
              <a:ext uri="{FF2B5EF4-FFF2-40B4-BE49-F238E27FC236}">
                <a16:creationId xmlns:a16="http://schemas.microsoft.com/office/drawing/2014/main" id="{4710D73A-0516-433D-B5D0-A64AD2FB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6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3" name="kicker-09-label">
            <a:extLst xmlns:a="http://schemas.openxmlformats.org/drawingml/2006/main">
              <a:ext uri="{FF2B5EF4-FFF2-40B4-BE49-F238E27FC236}">
                <a16:creationId xmlns:a16="http://schemas.microsoft.com/office/drawing/2014/main" id="{9FBB2FD0-CC50-4CDE-8F8D-EFD48D826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276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LONGITUDINAL INSIGHT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478EE8-86CC-4B07-A177-702B3237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9715500" cy="8458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Stable bacterial profiles can coexist with changing clinical state.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10277D-85A2-4955-942A-FD6AC1ABF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9720"/>
            <a:ext cx="9906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Low SNP distance and stable VF content do not guarantee the same symptom state.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C5E0E0-925B-42A3-8E60-6006DF26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4995"/>
            <a:ext cx="8420100" cy="436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ce1405767849a8"/>
          <a:stretch xmlns:a="http://schemas.openxmlformats.org/drawingml/2006/main"/>
        </p:blipFill>
        <p:spPr>
          <a:xfrm xmlns:a="http://schemas.openxmlformats.org/drawingml/2006/main">
            <a:off x="628650" y="1979295"/>
            <a:ext cx="8267700" cy="4133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5A26C2-9282-4930-959C-ABA8C9E7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874520"/>
            <a:ext cx="9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F8A61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B3F1C0-D148-4E55-9149-E8EB77E9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22145"/>
            <a:ext cx="1739646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DESCRIPTIVE TRANSITION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2EA20E-DCDF-4575-9F58-5C9A1EA8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226945"/>
            <a:ext cx="27241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E4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01926A-7FE7-4990-968F-3D3CBCCF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331720"/>
            <a:ext cx="27832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2F8A61"/>
                </a:solidFill>
                <a:latin typeface="Georgia"/>
                <a:ea typeface="Georgia"/>
                <a:cs typeface="Georgia"/>
              </a:defRPr>
            </a:pPr>
            <a:r>
              <a:t>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D6617E-3133-49FD-8472-2505706E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865120"/>
            <a:ext cx="1411891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same-strain stable-profile</a:t>
            </a:r>
          </a:p>
          <a:p xmlns:a="http://schemas.openxmlformats.org/drawingml/2006/main">
            <a:pPr>
              <a:defRPr sz="90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transitions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941051-9D87-4B23-8F92-43ECFF202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46145"/>
            <a:ext cx="27241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6DD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C5E85C-4496-47CB-B402-D58D9D0CB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98545"/>
            <a:ext cx="24193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F8A61"/>
                </a:solidFill>
                <a:latin typeface="Avenir Next"/>
                <a:ea typeface="Avenir Next"/>
                <a:cs typeface="Avenir Next"/>
              </a:defRPr>
            </a:pPr>
            <a:r>
              <a:t>Interpretation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AE129-A862-400D-9C7E-F8394ED9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844290"/>
            <a:ext cx="2419350" cy="4114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Persistent strain evidence moves the next hypothesis toward host state or unmeasured regulation.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71D303-76A7-455E-B4A4-AEA212BE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798695"/>
            <a:ext cx="27241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7EA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FF76FB-6535-4558-B9CF-C2ABBBD51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922520"/>
            <a:ext cx="2400300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Stable profile does not prove causality, persistence, or a non-genomic trigger.</a:t>
            </a:r>
          </a:p>
        </p:txBody>
      </p:sp>
      <p:sp>
        <p:nvSpPr>
          <p:cNvPr id="18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72932E7F-B45C-456D-AE03-127C7E35D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484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8"/>
          </a:solidFill>
          <a:ln xmlns:a="http://schemas.openxmlformats.org/drawingml/2006/main" w="0">
            <a:solidFill>
              <a:srgbClr val="D8D2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85FEFB-733F-4DD4-9E42-C2313C92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7465"/>
            <a:ext cx="83820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Source: Main Figure 3; final_figure_captions.md (hypothesis-generating)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9D0163-C24C-4825-A873-B2D181A37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6381750"/>
            <a:ext cx="186690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RESULTS  |  09</a:t>
            </a:r>
          </a:p>
        </p:txBody>
      </p:sp>
    </p:spTree>
    <p:extLst>
      <p:ext uri="{BB962C8B-B14F-4D97-AF65-F5344CB8AC3E}">
        <p14:creationId xmlns:p14="http://schemas.microsoft.com/office/powerpoint/2010/main" val="61545903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10-background">
            <a:extLst xmlns:a="http://schemas.openxmlformats.org/drawingml/2006/main">
              <a:ext uri="{FF2B5EF4-FFF2-40B4-BE49-F238E27FC236}">
                <a16:creationId xmlns:a16="http://schemas.microsoft.com/office/drawing/2014/main" id="{1587BF0F-1BC5-4C46-98F3-EA55C1BB5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</p:spPr>
      </p:sp>
      <p:sp>
        <p:nvSpPr>
          <p:cNvPr id="2" name="kicker-10-marker">
            <a:extLst xmlns:a="http://schemas.openxmlformats.org/drawingml/2006/main">
              <a:ext uri="{FF2B5EF4-FFF2-40B4-BE49-F238E27FC236}">
                <a16:creationId xmlns:a16="http://schemas.microsoft.com/office/drawing/2014/main" id="{10B90013-81F6-4870-988D-FC41945A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6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3" name="kicker-10-label">
            <a:extLst xmlns:a="http://schemas.openxmlformats.org/drawingml/2006/main">
              <a:ext uri="{FF2B5EF4-FFF2-40B4-BE49-F238E27FC236}">
                <a16:creationId xmlns:a16="http://schemas.microsoft.com/office/drawing/2014/main" id="{1D33698F-9A83-4C8D-A7EB-23D590A7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276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POPULATION-WIDE VF ANALYSIS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566F5A-D9CE-47FE-A822-85F540A5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9715500" cy="4229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Global VF signals are exploratory, not confirmatory.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C129FF-7408-4EBA-9F72-44BBD1DD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46810"/>
            <a:ext cx="9906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Unadjusted patterns are contextual only: no association remains significant after FDR correction.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08EBF1-AC66-489B-BAAD-F26CA5D4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42085"/>
            <a:ext cx="8324850" cy="436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2730f1ab0f401e"/>
          <a:stretch xmlns:a="http://schemas.openxmlformats.org/drawingml/2006/main"/>
        </p:blipFill>
        <p:spPr>
          <a:xfrm xmlns:a="http://schemas.openxmlformats.org/drawingml/2006/main">
            <a:off x="1206500" y="1518285"/>
            <a:ext cx="7016750" cy="4210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CE3C2A-794A-4847-92CB-3529BC053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451610"/>
            <a:ext cx="9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99518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622F32-68E0-47CA-AA22-62515386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442085"/>
            <a:ext cx="1187672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EXPLORATORY ANALYSIS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866878-B479-41F3-A144-63005DB2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794510"/>
            <a:ext cx="28194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5C7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9CE1CB-87F7-432A-B0E0-8A5B47CA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99285"/>
            <a:ext cx="313944" cy="5372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D99518"/>
                </a:solidFill>
                <a:latin typeface="Georgia"/>
                <a:ea typeface="Georgia"/>
                <a:cs typeface="Georgia"/>
              </a:defRPr>
            </a:pPr>
            <a:r>
              <a:t>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CFBBC1-EA9B-4F8D-9140-156AB2C13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455545"/>
            <a:ext cx="1229868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FDR-significant global</a:t>
            </a:r>
          </a:p>
          <a:p xmlns:a="http://schemas.openxmlformats.org/drawingml/2006/main">
            <a:pPr>
              <a:defRPr sz="90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VF associations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8080D2-0CEB-4156-BA7F-6D2031C7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042285"/>
            <a:ext cx="28194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ED5"/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548E90-DA3E-4990-83A7-1BA2E483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37535"/>
            <a:ext cx="278416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C95722"/>
                </a:solidFill>
                <a:latin typeface="Georgia"/>
                <a:ea typeface="Georgia"/>
                <a:cs typeface="Georgia"/>
              </a:defRPr>
            </a:pPr>
            <a:r>
              <a:t>17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520A3B-C9BB-4A90-9F53-C8F63555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467100"/>
            <a:ext cx="1239964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VF-ready UTI episodes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A28372-9CA7-4A58-8927-1227CA3E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032885"/>
            <a:ext cx="28194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7EA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494A57-99BA-4018-994E-B106DAA9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185285"/>
            <a:ext cx="251460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78889A"/>
                </a:solidFill>
                <a:latin typeface="Avenir Next"/>
                <a:ea typeface="Avenir Next"/>
                <a:cs typeface="Avenir Next"/>
              </a:defRPr>
            </a:pPr>
            <a:r>
              <a:t>Guardrail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8A7F61-0BF0-4AE4-A291-711BEB96D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431030"/>
            <a:ext cx="25146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Do not revive older ASB/UTI or significant lpf narratives as current conclusions.</a:t>
            </a:r>
          </a:p>
        </p:txBody>
      </p:sp>
      <p:sp>
        <p:nvSpPr>
          <p:cNvPr id="19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6EBFE634-D58A-4D3F-A224-726D194F5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484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8"/>
          </a:solidFill>
          <a:ln xmlns:a="http://schemas.openxmlformats.org/drawingml/2006/main" w="0">
            <a:solidFill>
              <a:srgbClr val="D8D2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D4A826-B915-431B-9037-4B2D6868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7465"/>
            <a:ext cx="83820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Source: Main Figure 4; final_figure_captions.md (exploratory; sparse UTI denominator)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8EE732-FE98-472F-A2B9-925A2C8FA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6381750"/>
            <a:ext cx="186690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RESULTS  |  10</a:t>
            </a:r>
          </a:p>
        </p:txBody>
      </p:sp>
    </p:spTree>
    <p:extLst>
      <p:ext uri="{BB962C8B-B14F-4D97-AF65-F5344CB8AC3E}">
        <p14:creationId xmlns:p14="http://schemas.microsoft.com/office/powerpoint/2010/main" val="62422948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11-background">
            <a:extLst xmlns:a="http://schemas.openxmlformats.org/drawingml/2006/main">
              <a:ext uri="{FF2B5EF4-FFF2-40B4-BE49-F238E27FC236}">
                <a16:creationId xmlns:a16="http://schemas.microsoft.com/office/drawing/2014/main" id="{EBB1E39B-8D88-4899-93A1-DA9634F0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</p:spPr>
      </p:sp>
      <p:sp>
        <p:nvSpPr>
          <p:cNvPr id="2" name="kicker-11-marker">
            <a:extLst xmlns:a="http://schemas.openxmlformats.org/drawingml/2006/main">
              <a:ext uri="{FF2B5EF4-FFF2-40B4-BE49-F238E27FC236}">
                <a16:creationId xmlns:a16="http://schemas.microsoft.com/office/drawing/2014/main" id="{05AAEB1E-C0CA-438C-B7F7-97A3ED000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6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3" name="kicker-11-label">
            <a:extLst xmlns:a="http://schemas.openxmlformats.org/drawingml/2006/main">
              <a:ext uri="{FF2B5EF4-FFF2-40B4-BE49-F238E27FC236}">
                <a16:creationId xmlns:a16="http://schemas.microsoft.com/office/drawing/2014/main" id="{15A7C30B-4945-4A14-909B-C6DBA06EF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276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OPERATIONAL HANDOVER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B1A3F9-F05A-4E47-B54B-95F37964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9715500" cy="8458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Five output families locate the evidence; five scripts regenerate 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082468-CE25-4CA4-A600-D3048CB3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9720"/>
            <a:ext cx="9906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A new colleague can start with the interpretation, then trace every figure to its data product.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8F660B-F2D7-41E5-9AC2-C32EDCBC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2145"/>
            <a:ext cx="11049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5722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968953-D3F4-4EA0-9F97-B2A456FAA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85010"/>
            <a:ext cx="9144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READ FIRST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535A8-7225-46E1-9FAD-E42BAFC0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3145"/>
            <a:ext cx="571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D11583-E3D8-4351-ADCC-1C1FEB6F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21243"/>
            <a:ext cx="1434370" cy="137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Headline results summary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ACA391-B7D7-4684-9FFE-87D6246C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86978"/>
            <a:ext cx="4810125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Menlo"/>
                <a:ea typeface="Menlo"/>
                <a:cs typeface="Menlo"/>
              </a:defRPr>
            </a:pPr>
            <a:r>
              <a:t>results/summary/final_key_results_summary.md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147998-DCAD-4E80-B637-815647CD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8920"/>
            <a:ext cx="571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2C62D8-6D51-4347-A6D3-BACC9294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7018"/>
            <a:ext cx="1290733" cy="137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Figure captions + limits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EB6595-3ABA-4306-B9EA-2F5C21E25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72752"/>
            <a:ext cx="4810125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Menlo"/>
                <a:ea typeface="Menlo"/>
                <a:cs typeface="Menlo"/>
              </a:defRPr>
            </a:pPr>
            <a:r>
              <a:t>results/final_figures/final_figure_captions.md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45ABAF-92E0-4DA6-B3EB-CFCD9FD6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4695"/>
            <a:ext cx="571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5BB0E0-6B7A-4632-8C40-BB01B44C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24213"/>
            <a:ext cx="1452848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Validated figure inventory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FAEA70-28A8-41CA-A25A-2DC99F27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7108"/>
            <a:ext cx="4810125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Menlo"/>
                <a:ea typeface="Menlo"/>
                <a:cs typeface="Menlo"/>
              </a:defRPr>
            </a:pPr>
            <a:r>
              <a:t>results/final_figures/final_figure_manifest.csv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9A3DD2-A044-41A7-AB23-408AB324E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60470"/>
            <a:ext cx="571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F8A61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576990-976E-4A37-9CCB-A5085E00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09988"/>
            <a:ext cx="1161669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Transition case detail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610AAB-6F13-4812-ABAC-756AE36B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2883"/>
            <a:ext cx="4810125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Menlo"/>
                <a:ea typeface="Menlo"/>
                <a:cs typeface="Menlo"/>
              </a:defRPr>
            </a:pPr>
            <a:r>
              <a:t>results/mechanism/not_uti_to_uti_casebook.md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0EAE33-2278-45E6-8696-42F148A8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922145"/>
            <a:ext cx="11049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6C96"/>
          </a:solidFill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A1AD6D-8E3F-4B28-A3F0-F7F09CA52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985010"/>
            <a:ext cx="9144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TRACE 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9178D5-CCF5-4A90-8151-2DD63C330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303145"/>
            <a:ext cx="571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6C96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9FD49D-7A69-4687-A4AC-C592F05F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21243"/>
            <a:ext cx="1062895" cy="137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Clinical status truth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47C8D7-060B-4B70-8E6A-401A29A91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486978"/>
            <a:ext cx="4810125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Menlo"/>
                <a:ea typeface="Menlo"/>
                <a:cs typeface="Menlo"/>
              </a:defRPr>
            </a:pPr>
            <a:r>
              <a:t>results/clinical/status_map.csv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6F16AA-C9CD-4EF0-96ED-CB2524CD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788920"/>
            <a:ext cx="571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6C96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51A28D-3372-4806-8265-E82A0FB8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807018"/>
            <a:ext cx="1000411" cy="137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VF analysis cohort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8F2D60-3DDB-4F46-BA47-FDDC2680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972752"/>
            <a:ext cx="4810125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Menlo"/>
                <a:ea typeface="Menlo"/>
                <a:cs typeface="Menlo"/>
              </a:defRPr>
            </a:pPr>
            <a:r>
              <a:t>results/vf/vf_analysis_ready.csv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2DDBDE-85A2-49CA-8B57-A6B5D56BA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274695"/>
            <a:ext cx="571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6C96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C845BC-3FC6-4B46-AF5B-C4C7A3060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92793"/>
            <a:ext cx="1142810" cy="137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Pipeline explanation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9109C0-ED75-4B44-895B-FB6460DE6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458527"/>
            <a:ext cx="4810125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Menlo"/>
                <a:ea typeface="Menlo"/>
                <a:cs typeface="Menlo"/>
              </a:defRPr>
            </a:pPr>
            <a:r>
              <a:t>docs/pipeline_architecture.md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0C49BC-0EEE-4270-AD41-CB91F466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760470"/>
            <a:ext cx="571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F8A61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B07B95-A46F-4DFD-958B-F2BC86F4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709988"/>
            <a:ext cx="96488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Final figure script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14B452-83F6-44E2-96E3-3230EF8E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12883"/>
            <a:ext cx="4810125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Menlo"/>
                <a:ea typeface="Menlo"/>
                <a:cs typeface="Menlo"/>
              </a:defRPr>
            </a:pPr>
            <a:r>
              <a:t>35_final_figure_pack.R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C4DCC63-C5A8-43A9-B1B8-F03EA649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08195"/>
            <a:ext cx="99060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RERUN ORDER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F5563D1-BA9B-45CF-95C3-A165CE31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60583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8"/>
          </a:solidFill>
          <a:ln xmlns:a="http://schemas.openxmlformats.org/drawingml/2006/main" w="0">
            <a:solidFill>
              <a:srgbClr val="D8D2C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1C5CB0-D7EC-4C44-BAA0-354A5A2B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03470"/>
            <a:ext cx="1800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6DD"/>
          </a:solidFill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71977D3-EB04-45BD-AB86-8CDAEC9F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989195"/>
            <a:ext cx="1628775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CLASSIFY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EBAC78-B69D-4244-9725-06A870A2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130165"/>
            <a:ext cx="1628775" cy="914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15252D"/>
                </a:solidFill>
                <a:latin typeface="Menlo"/>
                <a:ea typeface="Menlo"/>
                <a:cs typeface="Menlo"/>
              </a:defRPr>
            </a:pPr>
            <a:r>
              <a:t>00b_classify_episodes.R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D29A61-E13F-42B0-A1D1-7D7830BF0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069205"/>
            <a:ext cx="180975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&gt;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4A13577-42A7-455C-84DA-26541CCA5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903470"/>
            <a:ext cx="1962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6DD"/>
          </a:solidFill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9A32C33-4480-4AD8-B7DA-75C312B11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989195"/>
            <a:ext cx="17907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BUILD VF COHORT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7C29150-E182-4694-AF1C-CE8A83E9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130165"/>
            <a:ext cx="1790700" cy="914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15252D"/>
                </a:solidFill>
                <a:latin typeface="Menlo"/>
                <a:ea typeface="Menlo"/>
                <a:cs typeface="Menlo"/>
              </a:defRPr>
            </a:pPr>
            <a:r>
              <a:t>22_vf_build_analysis_dataset.R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57C2EF-06FD-4648-982F-7A4BEE0A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069205"/>
            <a:ext cx="180975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&gt;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7A00CF-214C-4C5E-8DC9-3217DE4A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4903470"/>
            <a:ext cx="1847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6DD"/>
          </a:solidFill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39D6479-535E-4E8A-A0EA-C469FDAD0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989195"/>
            <a:ext cx="16764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MECHANISMS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B14368-B283-4A21-AD77-626F8C6F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130165"/>
            <a:ext cx="1676400" cy="914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15252D"/>
                </a:solidFill>
                <a:latin typeface="Menlo"/>
                <a:ea typeface="Menlo"/>
                <a:cs typeface="Menlo"/>
              </a:defRPr>
            </a:pPr>
            <a:r>
              <a:t>33_mechanism_first_addon.R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85F6E4F-F8F5-47ED-910B-5AEDD657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69205"/>
            <a:ext cx="180975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&gt;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17EB995-8E40-4260-8DAF-697E1E21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903470"/>
            <a:ext cx="1847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6DD"/>
          </a:solidFill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FCEC423-397F-4AFB-B8DD-EA7385474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989195"/>
            <a:ext cx="16764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ROBUSTNESS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C1D10EF-B4B2-4C02-A45E-730FC53C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130165"/>
            <a:ext cx="1676400" cy="914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15252D"/>
                </a:solidFill>
                <a:latin typeface="Menlo"/>
                <a:ea typeface="Menlo"/>
                <a:cs typeface="Menlo"/>
              </a:defRPr>
            </a:pPr>
            <a:r>
              <a:t>34_robustness_first_addon.R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E61DAD1-7CE1-47FC-AE37-8F319092B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069205"/>
            <a:ext cx="180975" cy="2400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&gt;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D6F907B-9D27-4CC0-B2D0-A7716CCFB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4903470"/>
            <a:ext cx="16859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6DD"/>
          </a:solidFill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8D1FCFE-3646-4C88-A90C-3163539B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989195"/>
            <a:ext cx="1514475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FIGURES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D4986B6-0E04-4CCE-A409-FE7182BD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130165"/>
            <a:ext cx="1514475" cy="914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15252D"/>
                </a:solidFill>
                <a:latin typeface="Menlo"/>
                <a:ea typeface="Menlo"/>
                <a:cs typeface="Menlo"/>
              </a:defRPr>
            </a:pPr>
            <a:r>
              <a:t>35_final_figure_pack.R</a:t>
            </a:r>
          </a:p>
        </p:txBody>
      </p:sp>
      <p:sp>
        <p:nvSpPr>
          <p:cNvPr id="55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10319B45-ED35-401E-B247-5BED4146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484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8"/>
          </a:solidFill>
          <a:ln xmlns:a="http://schemas.openxmlformats.org/drawingml/2006/main" w="0">
            <a:solidFill>
              <a:srgbClr val="D8D2C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312EB4D-F855-47CF-8D8A-B09205E5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7465"/>
            <a:ext cx="83820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Canonical paths verified in workspace on 26 May 2026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0F01458-5F06-4513-86BD-4055955A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6381750"/>
            <a:ext cx="186690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HANDOVER  |  11</a:t>
            </a:r>
          </a:p>
        </p:txBody>
      </p:sp>
    </p:spTree>
    <p:extLst>
      <p:ext uri="{BB962C8B-B14F-4D97-AF65-F5344CB8AC3E}">
        <p14:creationId xmlns:p14="http://schemas.microsoft.com/office/powerpoint/2010/main" val="143542698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12-background">
            <a:extLst xmlns:a="http://schemas.openxmlformats.org/drawingml/2006/main">
              <a:ext uri="{FF2B5EF4-FFF2-40B4-BE49-F238E27FC236}">
                <a16:creationId xmlns:a16="http://schemas.microsoft.com/office/drawing/2014/main" id="{C4CD7319-A45D-4B38-981E-799F1AD34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32B"/>
          </a:solidFill>
        </p:spPr>
      </p:sp>
      <p:sp>
        <p:nvSpPr>
          <p:cNvPr id="2" name="kicker-12-marker">
            <a:extLst xmlns:a="http://schemas.openxmlformats.org/drawingml/2006/main">
              <a:ext uri="{FF2B5EF4-FFF2-40B4-BE49-F238E27FC236}">
                <a16:creationId xmlns:a16="http://schemas.microsoft.com/office/drawing/2014/main" id="{B526B4E7-38CB-45A2-B208-47AE28A1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6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3" name="kicker-12-label">
            <a:extLst xmlns:a="http://schemas.openxmlformats.org/drawingml/2006/main">
              <a:ext uri="{FF2B5EF4-FFF2-40B4-BE49-F238E27FC236}">
                <a16:creationId xmlns:a16="http://schemas.microsoft.com/office/drawing/2014/main" id="{5C5DE332-4110-4D05-BD83-D9F7C97D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276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8D2C8"/>
                </a:solidFill>
                <a:latin typeface="Avenir Next"/>
                <a:ea typeface="Avenir Next"/>
                <a:cs typeface="Avenir Next"/>
              </a:defRPr>
            </a:pPr>
            <a:r>
              <a:t>CLOSING INTERPRETATION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7D285F-014F-45D7-9A60-E7D6B70FE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9715500" cy="8458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t>The next question is what triggers symptoms in a persisting strain.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A6290D-DAC9-4189-A042-0D94F7DC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9720"/>
            <a:ext cx="9906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C7CFD0"/>
                </a:solidFill>
                <a:latin typeface="Avenir Next"/>
                <a:ea typeface="Avenir Next"/>
                <a:cs typeface="Avenir Next"/>
              </a:defRPr>
            </a:pPr>
            <a:r>
              <a:t>Current evidence narrows the biology without overclaiming certainty.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69DC69-4925-4FCD-A076-F6259659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98345"/>
            <a:ext cx="3438525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E4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3B1EDD-2EA9-4984-9F32-9470DFEE3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69795"/>
            <a:ext cx="10096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8A61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27CE36-1DE0-482F-9FCF-DE89E13A8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32660"/>
            <a:ext cx="81915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A74CBD-F2DD-43F2-8A04-433D96E6E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2220"/>
            <a:ext cx="3048000" cy="6172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4 stable-profile transitions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48B632-DF2F-4479-BFB4-5415FC9D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63265"/>
            <a:ext cx="3048000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Same-strain evidence makes symptom emergence without measured acquisition a real, testable pattern.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1983F9-FFBC-4183-BFEB-9E005265A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1998345"/>
            <a:ext cx="3438525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ED5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B3AB7C-2425-4D3D-9180-17DC9747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169795"/>
            <a:ext cx="10096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5722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13A35C-FA32-4154-B0F9-B035B91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232660"/>
            <a:ext cx="81915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LIMITATION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61FEB4-D391-48D8-8E74-A4EF780CD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522220"/>
            <a:ext cx="3048000" cy="6172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17 UTI genomic episodes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71CB19-D6E6-46E7-87FF-69EBF5460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263265"/>
            <a:ext cx="3048000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Global VF tests are exploratory; adjusted associations do not establish a population-wide driver.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56D214-5EE2-49B6-B251-FE6DAF06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98345"/>
            <a:ext cx="3438525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AF0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00ADD6-0D19-4991-9588-136784CA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69795"/>
            <a:ext cx="10096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76C96"/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120084-6B4B-45D8-8EF7-83442D85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32660"/>
            <a:ext cx="81915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NEXT STEP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3CEF41-92EC-4985-83EE-FC26CA956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22220"/>
            <a:ext cx="3048000" cy="6172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Host state + expression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EBFB76-5DE0-4F56-9071-CE98CBA7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63265"/>
            <a:ext cx="3048000" cy="2971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Prioritise host context and regulatory hypotheses alongside denser longitudinal sampling.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3D96B9-6DC8-459A-868F-A3EB1FF1E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8670"/>
            <a:ext cx="1108710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038"/>
          </a:solidFill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DE0A53-5563-4751-BC62-EE9518727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55845"/>
            <a:ext cx="1714500" cy="137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1D18A"/>
                </a:solidFill>
                <a:latin typeface="Avenir Next"/>
                <a:ea typeface="Avenir Next"/>
                <a:cs typeface="Avenir Next"/>
              </a:defRPr>
            </a:pPr>
            <a:r>
              <a:t>DISCUSSION  |  8 MIN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929C37-D0B7-48BF-B3A7-BDBC70ED6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741545"/>
            <a:ext cx="2952750" cy="365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Which transition deserves deeper follow-up?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4E76BF-20C8-4A50-9ECD-6700C7433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764405"/>
            <a:ext cx="4524375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D5DCDE"/>
                </a:solidFill>
                <a:latin typeface="Avenir Next"/>
                <a:ea typeface="Avenir Next"/>
                <a:cs typeface="Avenir Next"/>
              </a:defRPr>
            </a:pPr>
            <a:r>
              <a:t>Which host or expression data could discriminate the remaining mechanisms?</a:t>
            </a:r>
          </a:p>
        </p:txBody>
      </p:sp>
      <p:sp>
        <p:nvSpPr>
          <p:cNvPr id="25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53FE28E1-070D-4525-AD0A-29E6273A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484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B51"/>
          </a:solidFill>
          <a:ln xmlns:a="http://schemas.openxmlformats.org/drawingml/2006/main" w="0">
            <a:solidFill>
              <a:srgbClr val="3C4B5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4A75F7-AD11-4362-9B43-53FD4B6D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7465"/>
            <a:ext cx="83820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B8C0C2"/>
                </a:solidFill>
                <a:latin typeface="Avenir Next"/>
                <a:ea typeface="Avenir Next"/>
                <a:cs typeface="Avenir Next"/>
              </a:defRPr>
            </a:pPr>
            <a:r>
              <a:t>Primary story: UTI versus Not_UTI | 22 min review + 8 min discussion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4032E9-66D7-401F-BF97-820FA394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6381750"/>
            <a:ext cx="186690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D8D2C8"/>
                </a:solidFill>
                <a:latin typeface="Avenir Next"/>
                <a:ea typeface="Avenir Next"/>
                <a:cs typeface="Avenir Next"/>
              </a:defRPr>
            </a:pPr>
            <a:r>
              <a:t>CLOSE  |  12</a:t>
            </a:r>
          </a:p>
        </p:txBody>
      </p:sp>
    </p:spTree>
    <p:extLst>
      <p:ext uri="{BB962C8B-B14F-4D97-AF65-F5344CB8AC3E}">
        <p14:creationId xmlns:p14="http://schemas.microsoft.com/office/powerpoint/2010/main" val="42141973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13-background">
            <a:extLst xmlns:a="http://schemas.openxmlformats.org/drawingml/2006/main">
              <a:ext uri="{FF2B5EF4-FFF2-40B4-BE49-F238E27FC236}">
                <a16:creationId xmlns:a16="http://schemas.microsoft.com/office/drawing/2014/main" id="{8E9643E0-7DA7-4529-8121-6F9E7DB92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</p:spPr>
      </p:sp>
      <p:sp>
        <p:nvSpPr>
          <p:cNvPr id="2" name="kicker-13-marker">
            <a:extLst xmlns:a="http://schemas.openxmlformats.org/drawingml/2006/main">
              <a:ext uri="{FF2B5EF4-FFF2-40B4-BE49-F238E27FC236}">
                <a16:creationId xmlns:a16="http://schemas.microsoft.com/office/drawing/2014/main" id="{D1E7F408-4034-43BB-B469-F35EE26B8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6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3" name="kicker-13-label">
            <a:extLst xmlns:a="http://schemas.openxmlformats.org/drawingml/2006/main">
              <a:ext uri="{FF2B5EF4-FFF2-40B4-BE49-F238E27FC236}">
                <a16:creationId xmlns:a16="http://schemas.microsoft.com/office/drawing/2014/main" id="{53846AAF-AC4C-41CE-83D9-4E386E641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276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BACKUP | ACCESSORY AND AMR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20D26A-06B9-4905-BEF7-726DB5BF8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9715500" cy="8458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ResFinder screening contextualises transitions; it is not a global association analysis.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A60985-0496-43D9-BCA2-D31A1606D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9720"/>
            <a:ext cx="9906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Use only when asked about accessory, plasmid, or AMR changes in individual transitions.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FE65E3-7D04-48D6-BAF1-440FE845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74520"/>
            <a:ext cx="8448675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6e7a498e854359"/>
          <a:stretch xmlns:a="http://schemas.openxmlformats.org/drawingml/2006/main"/>
        </p:blipFill>
        <p:spPr>
          <a:xfrm xmlns:a="http://schemas.openxmlformats.org/drawingml/2006/main">
            <a:off x="1034823" y="1950720"/>
            <a:ext cx="7483929" cy="4191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CB558C-686C-4DFB-8B97-917457F4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884045"/>
            <a:ext cx="9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99518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9B111A-BC34-4DF4-B974-C8824DA43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874520"/>
            <a:ext cx="179660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EXPLORATORY TRANSITION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78385B-D1E4-4468-B2B0-6C0E4592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45995"/>
            <a:ext cx="12001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889A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72F9B2-2A51-4CFB-BD06-B6031919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308860"/>
            <a:ext cx="100965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BACKUP ONLY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64926F-DFCD-4D4C-90BF-AD0B2013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17470"/>
            <a:ext cx="26860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E4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8FCF33-2EB0-4768-BBFB-66870D00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769870"/>
            <a:ext cx="2381250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F8A61"/>
                </a:solidFill>
                <a:latin typeface="Avenir Next"/>
                <a:ea typeface="Avenir Next"/>
                <a:cs typeface="Avenir Next"/>
              </a:defRPr>
            </a:pPr>
            <a:r>
              <a:t>What is complete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38F7C7-F0EB-4DFD-A656-02BFF76AB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15615"/>
            <a:ext cx="238125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Cached ResFinder screening supports the mechanism supplement at transition level.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15D2AF-6041-4B92-A71F-F6FF7C9C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074795"/>
            <a:ext cx="2686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ED5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8C7924-7878-40DF-8599-EF13748C8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217670"/>
            <a:ext cx="24003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7532E"/>
                </a:solidFill>
                <a:latin typeface="Avenir Next"/>
                <a:ea typeface="Avenir Next"/>
                <a:cs typeface="Avenir Next"/>
              </a:defRPr>
            </a:pPr>
            <a:r>
              <a:t>Not completed:</a:t>
            </a:r>
          </a:p>
          <a:p xmlns:a="http://schemas.openxmlformats.org/drawingml/2006/main">
            <a:pPr>
              <a:defRPr sz="1125" b="1">
                <a:solidFill>
                  <a:srgbClr val="B7532E"/>
                </a:solidFill>
                <a:latin typeface="Avenir Next"/>
                <a:ea typeface="Avenir Next"/>
                <a:cs typeface="Avenir Next"/>
              </a:defRPr>
            </a:pPr>
            <a:r>
              <a:t>a global VF-plus-AMR association analysis.</a:t>
            </a:r>
          </a:p>
        </p:txBody>
      </p:sp>
      <p:sp>
        <p:nvSpPr>
          <p:cNvPr id="17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65608E13-5E4D-41A3-AB2C-8EC2DA2A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484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8"/>
          </a:solidFill>
          <a:ln xmlns:a="http://schemas.openxmlformats.org/drawingml/2006/main" w="0">
            <a:solidFill>
              <a:srgbClr val="D8D2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7B3B46-6499-4B65-A6AA-57565C29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7465"/>
            <a:ext cx="83820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Source: Supplementary Figure S2; results/mechanism/amr_screen_report.txt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BFCF01-7270-46CE-9EAC-E69EDCFB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6381750"/>
            <a:ext cx="186690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BACKUP  |  13</a:t>
            </a:r>
          </a:p>
        </p:txBody>
      </p:sp>
    </p:spTree>
    <p:extLst>
      <p:ext uri="{BB962C8B-B14F-4D97-AF65-F5344CB8AC3E}">
        <p14:creationId xmlns:p14="http://schemas.microsoft.com/office/powerpoint/2010/main" val="38769887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14-background">
            <a:extLst xmlns:a="http://schemas.openxmlformats.org/drawingml/2006/main">
              <a:ext uri="{FF2B5EF4-FFF2-40B4-BE49-F238E27FC236}">
                <a16:creationId xmlns:a16="http://schemas.microsoft.com/office/drawing/2014/main" id="{E1791A92-0BAD-4051-8803-C84FD1386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E"/>
          </a:solidFill>
        </p:spPr>
      </p:sp>
      <p:sp>
        <p:nvSpPr>
          <p:cNvPr id="2" name="kicker-14-marker">
            <a:extLst xmlns:a="http://schemas.openxmlformats.org/drawingml/2006/main">
              <a:ext uri="{FF2B5EF4-FFF2-40B4-BE49-F238E27FC236}">
                <a16:creationId xmlns:a16="http://schemas.microsoft.com/office/drawing/2014/main" id="{EB6379CA-02BC-49F3-BC93-EB5C77583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6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3" name="kicker-14-label">
            <a:extLst xmlns:a="http://schemas.openxmlformats.org/drawingml/2006/main">
              <a:ext uri="{FF2B5EF4-FFF2-40B4-BE49-F238E27FC236}">
                <a16:creationId xmlns:a16="http://schemas.microsoft.com/office/drawing/2014/main" id="{1D746F4C-F9B1-4873-9A42-78F59ACA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276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BACKUP | VARIANT PRIORITISATION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9B9175-F0EC-442A-96C9-A79D9E39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9715500" cy="8458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252D"/>
                </a:solidFill>
                <a:latin typeface="Georgia"/>
                <a:ea typeface="Georgia"/>
                <a:cs typeface="Georgia"/>
              </a:defRPr>
            </a:pPr>
            <a:r>
              <a:t>Within-strain candidates offer follow-up hypotheses, not causal proof.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B9A192-CA7C-4EC3-BF50-34B73403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9720"/>
            <a:ext cx="9906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Bring this map forward for questions about SNP-level changes in linked isolates.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E943D0-D48C-4C4A-B924-B2CA0056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74520"/>
            <a:ext cx="8620125" cy="434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123421c63a4414"/>
          <a:stretch xmlns:a="http://schemas.openxmlformats.org/drawingml/2006/main"/>
        </p:blipFill>
        <p:spPr>
          <a:xfrm xmlns:a="http://schemas.openxmlformats.org/drawingml/2006/main">
            <a:off x="856410" y="1950720"/>
            <a:ext cx="8012206" cy="4191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57AFE3-6E04-4612-8681-EADBB4DE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884045"/>
            <a:ext cx="95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8889A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DDA883-F182-422D-821D-9A94D8E3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874520"/>
            <a:ext cx="1416653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DESCRIPTIVE PRIORITISATION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2EFB07-13C5-43D5-BA7F-C96868E49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245995"/>
            <a:ext cx="12001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889A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B2BC3D-58E7-4F77-850E-2FBCF095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308860"/>
            <a:ext cx="100965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BACKUP ONLY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D3D045-CEE8-4281-BEA9-E6D4126A7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17470"/>
            <a:ext cx="252412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6DD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D26E7A-CE6A-4F12-AE0D-603F0099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69870"/>
            <a:ext cx="2219325" cy="160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76C96"/>
                </a:solidFill>
                <a:latin typeface="Avenir Next"/>
                <a:ea typeface="Avenir Next"/>
                <a:cs typeface="Avenir Next"/>
              </a:defRPr>
            </a:pPr>
            <a:r>
              <a:t>Use case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AAD59D-392A-46AB-A111-26DF87A99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015615"/>
            <a:ext cx="2219325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Discuss annotated variants in same-strain or uncertain transition comparisons.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B4126B-08CA-4C6F-A817-78BDDB40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017645"/>
            <a:ext cx="2524125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7EA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185C6F-134B-4822-8BDF-5DA9FF5E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160520"/>
            <a:ext cx="2247900" cy="4800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The map prioritises candidates; it does not identify the cause of symptom emergence.</a:t>
            </a:r>
          </a:p>
        </p:txBody>
      </p:sp>
      <p:sp>
        <p:nvSpPr>
          <p:cNvPr id="17" name="footer-rule-14">
            <a:extLst xmlns:a="http://schemas.openxmlformats.org/drawingml/2006/main">
              <a:ext uri="{FF2B5EF4-FFF2-40B4-BE49-F238E27FC236}">
                <a16:creationId xmlns:a16="http://schemas.microsoft.com/office/drawing/2014/main" id="{DB748B37-D9A2-476B-8A68-194A5A458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484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2C8"/>
          </a:solidFill>
          <a:ln xmlns:a="http://schemas.openxmlformats.org/drawingml/2006/main" w="0">
            <a:solidFill>
              <a:srgbClr val="D8D2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0797AA-5E49-4404-A6DC-D39A44C18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87465"/>
            <a:ext cx="83820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Source: Supplementary Figure S5; final_figure_captions.md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C10AF7-A2BE-4B9D-85FB-B6FEBDA0B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6381750"/>
            <a:ext cx="186690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53636A"/>
                </a:solidFill>
                <a:latin typeface="Avenir Next"/>
                <a:ea typeface="Avenir Next"/>
                <a:cs typeface="Avenir Next"/>
              </a:defRPr>
            </a:pPr>
            <a:r>
              <a:t>BACKUP  |  14</a:t>
            </a:r>
          </a:p>
        </p:txBody>
      </p:sp>
    </p:spTree>
    <p:extLst>
      <p:ext uri="{BB962C8B-B14F-4D97-AF65-F5344CB8AC3E}">
        <p14:creationId xmlns:p14="http://schemas.microsoft.com/office/powerpoint/2010/main" val="84915749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15-background">
            <a:extLst xmlns:a="http://schemas.openxmlformats.org/drawingml/2006/main">
              <a:ext uri="{FF2B5EF4-FFF2-40B4-BE49-F238E27FC236}">
                <a16:creationId xmlns:a16="http://schemas.microsoft.com/office/drawing/2014/main" id="{9A0B9125-A684-49CF-840D-81753CCD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32B"/>
          </a:solidFill>
        </p:spPr>
      </p:sp>
      <p:sp>
        <p:nvSpPr>
          <p:cNvPr id="2" name="kicker-15-marker">
            <a:extLst xmlns:a="http://schemas.openxmlformats.org/drawingml/2006/main">
              <a:ext uri="{FF2B5EF4-FFF2-40B4-BE49-F238E27FC236}">
                <a16:creationId xmlns:a16="http://schemas.microsoft.com/office/drawing/2014/main" id="{A425C6A0-799D-421A-B665-E90F16569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76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C95722"/>
                </a:solidFill>
                <a:latin typeface="Avenir Next"/>
                <a:ea typeface="Avenir Next"/>
                <a:cs typeface="Avenir Next"/>
              </a:defRPr>
            </a:pPr>
            <a:r>
              <a:t>|</a:t>
            </a:r>
          </a:p>
        </p:txBody>
      </p:sp>
      <p:sp>
        <p:nvSpPr>
          <p:cNvPr id="3" name="kicker-15-label">
            <a:extLst xmlns:a="http://schemas.openxmlformats.org/drawingml/2006/main">
              <a:ext uri="{FF2B5EF4-FFF2-40B4-BE49-F238E27FC236}">
                <a16:creationId xmlns:a16="http://schemas.microsoft.com/office/drawing/2014/main" id="{761B6604-1D4E-4C1F-93A4-5CDFF2F5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2762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D8D2C8"/>
                </a:solidFill>
                <a:latin typeface="Avenir Next"/>
                <a:ea typeface="Avenir Next"/>
                <a:cs typeface="Avenir Next"/>
              </a:defRPr>
            </a:pPr>
            <a:r>
              <a:t>BACKUP | FULL LONGITUDINAL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458899-54C5-4EDF-BDFC-D607DD02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9715500" cy="8458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t>The swimmer plot is a lookup tool, not the main narrative.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20D8B4-1379-4225-BAF8-A487C5122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9720"/>
            <a:ext cx="99060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C7CFD0"/>
                </a:solidFill>
                <a:latin typeface="Avenir Next"/>
                <a:ea typeface="Avenir Next"/>
                <a:cs typeface="Avenir Next"/>
              </a:defRPr>
            </a:pPr>
            <a:r>
              <a:t>Use this only to locate individual participant sequences during discussion.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D3D61F-E5D7-4C88-8D36-3CA22C1A7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4995"/>
            <a:ext cx="9029700" cy="442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ac2309726c40ce"/>
          <a:stretch xmlns:a="http://schemas.openxmlformats.org/drawingml/2006/main"/>
        </p:blipFill>
        <p:spPr>
          <a:xfrm xmlns:a="http://schemas.openxmlformats.org/drawingml/2006/main">
            <a:off x="3285331" y="1941195"/>
            <a:ext cx="3563938" cy="42767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EE9BCB-8F0B-4724-9F63-AFACE585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864995"/>
            <a:ext cx="120015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8889A"/>
          </a:solidFill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1DA089-3D70-4C25-99B6-3C201099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927860"/>
            <a:ext cx="100965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BACKUP ONLY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7A4DD8-85FA-4C72-AC79-0EBD46FB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245995"/>
            <a:ext cx="18478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038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FA73F0-6566-458C-B22D-E4376B40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2407920"/>
            <a:ext cx="1562100" cy="6400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Dense by design:</a:t>
            </a:r>
          </a:p>
          <a:p xmlns:a="http://schemas.openxmlformats.org/drawingml/2006/main">
            <a:pPr>
              <a:defRPr sz="1050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t>participant-level orientation rather than headline inference.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BA8080-C5CA-4C53-8443-ECA8A064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998595"/>
            <a:ext cx="18478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E4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C6E00E-46F7-4D68-991B-5D8BFA86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160520"/>
            <a:ext cx="1562100" cy="4800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252D"/>
                </a:solidFill>
                <a:latin typeface="Avenir Next"/>
                <a:ea typeface="Avenir Next"/>
                <a:cs typeface="Avenir Next"/>
              </a:defRPr>
            </a:pPr>
            <a:r>
              <a:t>Return to the casebook for mechanism interpretation.</a:t>
            </a:r>
          </a:p>
        </p:txBody>
      </p:sp>
      <p:sp>
        <p:nvSpPr>
          <p:cNvPr id="14" name="footer-rule-15">
            <a:extLst xmlns:a="http://schemas.openxmlformats.org/drawingml/2006/main">
              <a:ext uri="{FF2B5EF4-FFF2-40B4-BE49-F238E27FC236}">
                <a16:creationId xmlns:a16="http://schemas.microsoft.com/office/drawing/2014/main" id="{96621C16-9A02-4EB9-8579-B58005D2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9412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C4B51"/>
          </a:solidFill>
          <a:ln xmlns:a="http://schemas.openxmlformats.org/drawingml/2006/main" w="0">
            <a:solidFill>
              <a:srgbClr val="3C4B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A5DAFD-6074-44D6-B7B7-C82987313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3185"/>
            <a:ext cx="8382000" cy="102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B8C0C2"/>
                </a:solidFill>
                <a:latin typeface="Avenir Next"/>
                <a:ea typeface="Avenir Next"/>
                <a:cs typeface="Avenir Next"/>
              </a:defRPr>
            </a:pPr>
            <a:r>
              <a:t>Source: results/longitudinal/swimmer_plot.png | contextual lookup only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0B2ABA-18ED-4060-9DD6-F96085A6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6427470"/>
            <a:ext cx="1866900" cy="114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D8D2C8"/>
                </a:solidFill>
                <a:latin typeface="Avenir Next"/>
                <a:ea typeface="Avenir Next"/>
                <a:cs typeface="Avenir Next"/>
              </a:defRPr>
            </a:pPr>
            <a:r>
              <a:t>BACKUP  |  15</a:t>
            </a:r>
          </a:p>
        </p:txBody>
      </p:sp>
    </p:spTree>
    <p:extLst>
      <p:ext uri="{BB962C8B-B14F-4D97-AF65-F5344CB8AC3E}">
        <p14:creationId xmlns:p14="http://schemas.microsoft.com/office/powerpoint/2010/main" val="506512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2026-05-26T20:21:13.2190000Z</dcterms:created>
  <dcterms:modified xsi:type="dcterms:W3CDTF">2026-05-26T20:21:13.2190000Z</dcterms:modified>
</coreProperties>
</file>