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4"/>
    <p:restoredTop sz="94717"/>
  </p:normalViewPr>
  <p:slideViewPr>
    <p:cSldViewPr snapToGrid="0">
      <p:cViewPr>
        <p:scale>
          <a:sx n="124" d="100"/>
          <a:sy n="124" d="100"/>
        </p:scale>
        <p:origin x="800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CB6E5-12D3-4541-8E7F-1B951EE01F2F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009EF-11E2-7447-8003-D37CD3F6F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90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009EF-11E2-7447-8003-D37CD3F6F5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91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A9906-263B-53E9-14A3-F04D4A266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1EAF5-A2B6-E790-8B7B-716C8749D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D44B6-3489-2881-7491-BCEC4261E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EF876-9703-1340-8DE7-8A0115E9343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A0D5B-BD35-52F3-4B66-7DC73F6F5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C77A4-6EB8-B267-DBE2-3C740F5A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677CF-59B4-D341-B806-5E7BEE169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8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61385-A7CF-50D9-7644-C35093935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8A934-3149-B7E3-6F60-13104DCC0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0681B-5577-CD53-E1D2-0F1E0ED7C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EF876-9703-1340-8DE7-8A0115E9343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954D2-F966-E55D-D123-AD3513AF4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13187-8423-69E5-1120-EA7DA3D04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677CF-59B4-D341-B806-5E7BEE169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0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AC101-B4C4-3C24-9BB6-42B66CFDF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C04F3-04BA-4A1A-341C-9A057A1A1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C2385-04C9-1E2A-6038-5D9BC0C20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EF876-9703-1340-8DE7-8A0115E9343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05D7B-402D-8DB2-D0D7-3CAAD676F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8C68E-DD56-E16C-0726-550E3C108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677CF-59B4-D341-B806-5E7BEE169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37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254AA-3998-4BEC-1993-85E5DD948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D0DC6-2619-123E-101A-9C94F61294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1237D-B4AA-D34D-2C73-7B4F97BAA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39924-1EAB-C84C-7E47-41DC1AFFC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EF876-9703-1340-8DE7-8A0115E9343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E1F05-7DB2-89D5-79D5-A0570C192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BA04E-38F4-1B7E-6FA1-91E652DA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677CF-59B4-D341-B806-5E7BEE169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57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8B6EF-BEC6-26E6-F4E1-ED2F75127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4FE01-4861-2F0B-4391-08CB4F1AB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B57B3-D986-BB09-DD86-599BF71DE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17642B-6AAA-4EBB-BD16-8FA6C8E31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806C61-D8D5-C991-93C9-2160C85F9E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665BD7-284B-5CB7-0FF4-45A2BBF91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EF876-9703-1340-8DE7-8A0115E9343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EC9DBB-8B08-C3AB-6F09-41F598D6D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6404F0-2636-7B61-93C6-A874C42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677CF-59B4-D341-B806-5E7BEE169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7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63280-A2CC-5690-5C32-7D1EA967D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E7381-0212-DEF3-97E8-1051E4993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EF876-9703-1340-8DE7-8A0115E9343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3B6A7A-03AD-9534-7ACF-4334128FA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F4595-D36B-7639-CA67-712311588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677CF-59B4-D341-B806-5E7BEE169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64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275F55-809C-5737-FE78-C0F7349C2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EF876-9703-1340-8DE7-8A0115E9343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0BCC82-B69C-79B1-BCB8-089199685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4D264-BAE3-F557-6449-AD70889C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677CF-59B4-D341-B806-5E7BEE169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86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BAA39-F9D7-FB3C-DB48-1C3F71C22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F66C-5869-990E-116B-CAB7D3A1D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D39BB-70D5-0991-EB91-ABE4CDB5C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EA861-7C4A-C1BB-EF7F-2ADD661D7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EF876-9703-1340-8DE7-8A0115E9343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7BCDF-CCED-0B66-F034-4905CBA56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005C8-7885-3100-CF0D-A012C2ED7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677CF-59B4-D341-B806-5E7BEE169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755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8C755-A19D-20ED-FA14-068878C4E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327D48-3A85-95D0-E18C-75285D4CC6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AA05B-FE74-254A-2F09-34110B190A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1CD96-EC3E-D853-638B-246B6798D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EF876-9703-1340-8DE7-8A0115E9343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5B974-6F5D-C3E9-1851-255F0E99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58A05-3AB6-5FC3-5B36-1FA64E237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677CF-59B4-D341-B806-5E7BEE169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23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30E50-FFCA-7B44-13A3-615813474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BBF9A-E0DD-9B82-376A-756361A67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7D982-E153-7E89-BA02-6BC93D2EB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EF876-9703-1340-8DE7-8A0115E9343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E3932-8D95-F94D-CDC5-1B7064B22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0D427-D1A5-5347-9A07-CEE9E51FC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677CF-59B4-D341-B806-5E7BEE169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35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1925-D747-E733-7F50-ABCD835947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FED94C-22B5-FF16-88BE-6C9FED701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814BF-C1D9-E313-15E5-4C13CFCC0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EF876-9703-1340-8DE7-8A0115E9343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CCE69-E90C-6039-6B3C-820895AA6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4DED0-BDE1-9059-FFB9-45A967DE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677CF-59B4-D341-B806-5E7BEE169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29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E9218D-0478-076C-4956-86E50F7EB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AFF9C-3122-0572-3F6B-E3C32F432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67369-FC43-54CA-1B54-2E83D8ACF0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DEF876-9703-1340-8DE7-8A0115E9343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47B33-E430-41F8-E2FE-55597362BE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C9B33-26D8-0DE6-5F2C-4398B4F072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C677CF-59B4-D341-B806-5E7BEE169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320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27556D-8265-6472-048A-8696057ECB48}"/>
              </a:ext>
            </a:extLst>
          </p:cNvPr>
          <p:cNvSpPr txBox="1"/>
          <p:nvPr/>
        </p:nvSpPr>
        <p:spPr>
          <a:xfrm>
            <a:off x="1458376" y="922451"/>
            <a:ext cx="1697562" cy="7694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/>
              <a:t>Raw </a:t>
            </a:r>
            <a:r>
              <a:rPr lang="en-US" sz="1100" b="1" dirty="0" err="1"/>
              <a:t>fastas</a:t>
            </a:r>
            <a:r>
              <a:rPr lang="en-US" sz="1100" b="1" dirty="0"/>
              <a:t> from RIVM </a:t>
            </a:r>
          </a:p>
          <a:p>
            <a:r>
              <a:rPr lang="en-US" sz="1100" dirty="0"/>
              <a:t>1303 </a:t>
            </a:r>
            <a:r>
              <a:rPr lang="en-US" sz="1100" dirty="0" err="1"/>
              <a:t>fastas</a:t>
            </a:r>
            <a:endParaRPr lang="en-US" sz="1100" dirty="0"/>
          </a:p>
          <a:p>
            <a:r>
              <a:rPr lang="en-US" sz="1100" dirty="0"/>
              <a:t>705 – </a:t>
            </a:r>
            <a:r>
              <a:rPr lang="en-US" sz="1100" dirty="0" err="1"/>
              <a:t>flyes</a:t>
            </a:r>
            <a:endParaRPr lang="en-US" sz="1100" dirty="0"/>
          </a:p>
          <a:p>
            <a:r>
              <a:rPr lang="en-US" sz="1100" dirty="0"/>
              <a:t>598 – </a:t>
            </a:r>
            <a:r>
              <a:rPr lang="en-US" sz="1100" dirty="0" err="1"/>
              <a:t>Longcyclers</a:t>
            </a:r>
            <a:endParaRPr 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7B1AD6-391C-4FE9-850E-7FF1983E7B37}"/>
              </a:ext>
            </a:extLst>
          </p:cNvPr>
          <p:cNvSpPr txBox="1"/>
          <p:nvPr/>
        </p:nvSpPr>
        <p:spPr>
          <a:xfrm>
            <a:off x="3933562" y="929322"/>
            <a:ext cx="1697562" cy="7694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/>
              <a:t>Metadata linked </a:t>
            </a:r>
            <a:r>
              <a:rPr lang="en-US" sz="1100" b="1" dirty="0" err="1"/>
              <a:t>fastas</a:t>
            </a:r>
            <a:r>
              <a:rPr lang="en-US" sz="1100" b="1" dirty="0"/>
              <a:t> </a:t>
            </a:r>
          </a:p>
          <a:p>
            <a:r>
              <a:rPr lang="en-US" sz="1100" dirty="0"/>
              <a:t>1295 </a:t>
            </a:r>
            <a:r>
              <a:rPr lang="en-US" sz="1100" dirty="0" err="1"/>
              <a:t>fastas</a:t>
            </a:r>
            <a:endParaRPr lang="en-US" sz="1100" dirty="0"/>
          </a:p>
          <a:p>
            <a:r>
              <a:rPr lang="en-US" sz="1100" dirty="0"/>
              <a:t>(8 Unlinked/unexpected via meta data)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296B27-8197-46DC-087C-4758E3DA9835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155938" y="1307172"/>
            <a:ext cx="777624" cy="6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B3255BE-5A41-A34F-2DB3-0700B16F1A25}"/>
              </a:ext>
            </a:extLst>
          </p:cNvPr>
          <p:cNvSpPr txBox="1"/>
          <p:nvPr/>
        </p:nvSpPr>
        <p:spPr>
          <a:xfrm>
            <a:off x="6408748" y="915580"/>
            <a:ext cx="1697562" cy="7694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/>
              <a:t>QC passed assemblies </a:t>
            </a:r>
          </a:p>
          <a:p>
            <a:r>
              <a:rPr lang="en-US" sz="1100" dirty="0"/>
              <a:t>1211</a:t>
            </a:r>
          </a:p>
          <a:p>
            <a:r>
              <a:rPr lang="en-US" sz="1100" dirty="0"/>
              <a:t>665 </a:t>
            </a:r>
            <a:r>
              <a:rPr lang="en-US" sz="1100" dirty="0" err="1"/>
              <a:t>flye</a:t>
            </a:r>
            <a:r>
              <a:rPr lang="en-US" sz="1100" dirty="0"/>
              <a:t> </a:t>
            </a:r>
          </a:p>
          <a:p>
            <a:r>
              <a:rPr lang="en-US" sz="1100" dirty="0"/>
              <a:t>546 </a:t>
            </a:r>
            <a:r>
              <a:rPr lang="en-US" sz="1100" dirty="0" err="1"/>
              <a:t>longcycler</a:t>
            </a:r>
            <a:endParaRPr lang="en-US" sz="11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74EEF2C-3ACE-801E-BC44-58F56E7EF4D4}"/>
              </a:ext>
            </a:extLst>
          </p:cNvPr>
          <p:cNvCxnSpPr>
            <a:cxnSpLocks/>
          </p:cNvCxnSpPr>
          <p:nvPr/>
        </p:nvCxnSpPr>
        <p:spPr>
          <a:xfrm>
            <a:off x="5631124" y="1300301"/>
            <a:ext cx="777624" cy="6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07CC4B9-48A5-F24C-62AE-D2A43E8DAA86}"/>
              </a:ext>
            </a:extLst>
          </p:cNvPr>
          <p:cNvSpPr txBox="1"/>
          <p:nvPr/>
        </p:nvSpPr>
        <p:spPr>
          <a:xfrm>
            <a:off x="1739258" y="2412233"/>
            <a:ext cx="1944555" cy="14465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/>
              <a:t>Clinical data</a:t>
            </a:r>
          </a:p>
          <a:p>
            <a:r>
              <a:rPr lang="en-US" sz="1100" dirty="0"/>
              <a:t>583 clinical rows</a:t>
            </a:r>
          </a:p>
          <a:p>
            <a:r>
              <a:rPr lang="en-US" sz="1100" b="1" dirty="0"/>
              <a:t>UTI statuses constructed</a:t>
            </a:r>
          </a:p>
          <a:p>
            <a:r>
              <a:rPr lang="en-US" sz="1100" dirty="0"/>
              <a:t>Urine culture support determined </a:t>
            </a:r>
          </a:p>
          <a:p>
            <a:r>
              <a:rPr lang="en-US" sz="1100" dirty="0"/>
              <a:t>18 UTIs</a:t>
            </a:r>
          </a:p>
          <a:p>
            <a:r>
              <a:rPr lang="en-US" sz="1100" dirty="0"/>
              <a:t>565 </a:t>
            </a:r>
            <a:r>
              <a:rPr lang="en-US" sz="1100" dirty="0" err="1"/>
              <a:t>Not_UTI</a:t>
            </a:r>
            <a:r>
              <a:rPr lang="en-US" sz="1100" b="1" dirty="0"/>
              <a:t> </a:t>
            </a:r>
          </a:p>
          <a:p>
            <a:endParaRPr 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1E59A0-0512-BE94-9221-6792907DE5A7}"/>
              </a:ext>
            </a:extLst>
          </p:cNvPr>
          <p:cNvSpPr txBox="1"/>
          <p:nvPr/>
        </p:nvSpPr>
        <p:spPr>
          <a:xfrm>
            <a:off x="9107691" y="2315358"/>
            <a:ext cx="1697562" cy="161582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/>
              <a:t>Screen virulence genes</a:t>
            </a:r>
          </a:p>
          <a:p>
            <a:r>
              <a:rPr lang="en-US" sz="1100" dirty="0"/>
              <a:t>(</a:t>
            </a:r>
            <a:r>
              <a:rPr lang="en-US" sz="1100" dirty="0" err="1"/>
              <a:t>fasta</a:t>
            </a:r>
            <a:r>
              <a:rPr lang="en-US" sz="1100" dirty="0"/>
              <a:t> -&gt; presence absence VF features) </a:t>
            </a:r>
          </a:p>
          <a:p>
            <a:r>
              <a:rPr lang="en-US" sz="1100" b="1" dirty="0"/>
              <a:t> </a:t>
            </a:r>
          </a:p>
          <a:p>
            <a:r>
              <a:rPr lang="en-US" sz="1100" dirty="0"/>
              <a:t>556 Genomes </a:t>
            </a:r>
          </a:p>
          <a:p>
            <a:r>
              <a:rPr lang="en-US" sz="1100" dirty="0"/>
              <a:t>Each checked for VF gene</a:t>
            </a:r>
          </a:p>
          <a:p>
            <a:r>
              <a:rPr lang="en-US" sz="1100" dirty="0"/>
              <a:t>227 VF genes</a:t>
            </a:r>
          </a:p>
          <a:p>
            <a:endParaRPr lang="en-US" sz="11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B2FC500-7C3C-E615-24D8-25F76B5B207A}"/>
              </a:ext>
            </a:extLst>
          </p:cNvPr>
          <p:cNvCxnSpPr>
            <a:cxnSpLocks/>
          </p:cNvCxnSpPr>
          <p:nvPr/>
        </p:nvCxnSpPr>
        <p:spPr>
          <a:xfrm>
            <a:off x="8143098" y="1300300"/>
            <a:ext cx="530629" cy="137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A92FA2-5E8F-A48B-96D9-D9435455B5F9}"/>
              </a:ext>
            </a:extLst>
          </p:cNvPr>
          <p:cNvCxnSpPr>
            <a:cxnSpLocks/>
          </p:cNvCxnSpPr>
          <p:nvPr/>
        </p:nvCxnSpPr>
        <p:spPr>
          <a:xfrm>
            <a:off x="3683813" y="2660994"/>
            <a:ext cx="9074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D9B4EE2-C78F-8921-D415-4EA874FD83CC}"/>
              </a:ext>
            </a:extLst>
          </p:cNvPr>
          <p:cNvSpPr txBox="1"/>
          <p:nvPr/>
        </p:nvSpPr>
        <p:spPr>
          <a:xfrm>
            <a:off x="8763208" y="954051"/>
            <a:ext cx="1697562" cy="7694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/>
              <a:t>Choose an assembly per visit </a:t>
            </a:r>
          </a:p>
          <a:p>
            <a:r>
              <a:rPr lang="en-US" sz="1100" dirty="0"/>
              <a:t>532 </a:t>
            </a:r>
            <a:r>
              <a:rPr lang="en-US" sz="1100" dirty="0" err="1"/>
              <a:t>Longcycler</a:t>
            </a:r>
            <a:endParaRPr lang="en-US" sz="1100" dirty="0"/>
          </a:p>
          <a:p>
            <a:r>
              <a:rPr lang="en-US" sz="1100" dirty="0"/>
              <a:t>24 </a:t>
            </a:r>
            <a:r>
              <a:rPr lang="en-US" sz="1100" dirty="0" err="1"/>
              <a:t>flye</a:t>
            </a:r>
            <a:endParaRPr lang="en-US" sz="11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4ACCC77-43D5-1511-DCF8-07F540E29AB4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9956472" y="1691892"/>
            <a:ext cx="0" cy="623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CDAA8E3-69E1-828F-B4EA-5B5792147ED1}"/>
              </a:ext>
            </a:extLst>
          </p:cNvPr>
          <p:cNvSpPr txBox="1"/>
          <p:nvPr/>
        </p:nvSpPr>
        <p:spPr>
          <a:xfrm>
            <a:off x="4684810" y="2315358"/>
            <a:ext cx="1697562" cy="9387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/>
              <a:t>Join Genomes to clinical status</a:t>
            </a:r>
          </a:p>
          <a:p>
            <a:r>
              <a:rPr lang="en-US" sz="1100" dirty="0"/>
              <a:t>556 VF screened visits.</a:t>
            </a:r>
          </a:p>
          <a:p>
            <a:r>
              <a:rPr lang="en-US" sz="1100" dirty="0"/>
              <a:t>17 UTIs </a:t>
            </a:r>
          </a:p>
          <a:p>
            <a:r>
              <a:rPr lang="en-US" sz="1100" dirty="0"/>
              <a:t>539 </a:t>
            </a:r>
            <a:r>
              <a:rPr lang="en-US" sz="1100" dirty="0" err="1"/>
              <a:t>Not_UTI</a:t>
            </a:r>
            <a:endParaRPr lang="en-US" sz="11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34FC3C2-1DCA-013A-2047-3FD42CE74CB8}"/>
              </a:ext>
            </a:extLst>
          </p:cNvPr>
          <p:cNvCxnSpPr>
            <a:cxnSpLocks/>
          </p:cNvCxnSpPr>
          <p:nvPr/>
        </p:nvCxnSpPr>
        <p:spPr>
          <a:xfrm flipH="1">
            <a:off x="6408748" y="2940735"/>
            <a:ext cx="26989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96C9238-3D91-E226-0B17-25839B3C6FCD}"/>
              </a:ext>
            </a:extLst>
          </p:cNvPr>
          <p:cNvCxnSpPr>
            <a:cxnSpLocks/>
          </p:cNvCxnSpPr>
          <p:nvPr/>
        </p:nvCxnSpPr>
        <p:spPr>
          <a:xfrm flipH="1">
            <a:off x="5533591" y="3585994"/>
            <a:ext cx="3564472" cy="4956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F54F1B0-B773-ED9C-F2A8-C293C970F53D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5533591" y="3254077"/>
            <a:ext cx="0" cy="10081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E4C0928-E065-0B0E-3E59-C4778F3F70C3}"/>
              </a:ext>
            </a:extLst>
          </p:cNvPr>
          <p:cNvCxnSpPr>
            <a:cxnSpLocks/>
          </p:cNvCxnSpPr>
          <p:nvPr/>
        </p:nvCxnSpPr>
        <p:spPr>
          <a:xfrm flipV="1">
            <a:off x="2036959" y="4162753"/>
            <a:ext cx="7965954" cy="152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710A2D5-2BA5-6C3A-B8C3-F023D70E9D79}"/>
              </a:ext>
            </a:extLst>
          </p:cNvPr>
          <p:cNvCxnSpPr/>
          <p:nvPr/>
        </p:nvCxnSpPr>
        <p:spPr>
          <a:xfrm>
            <a:off x="2036959" y="4315153"/>
            <a:ext cx="0" cy="315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BD506D1-AC6D-8855-92C2-3182826B46CF}"/>
              </a:ext>
            </a:extLst>
          </p:cNvPr>
          <p:cNvSpPr txBox="1"/>
          <p:nvPr/>
        </p:nvSpPr>
        <p:spPr>
          <a:xfrm>
            <a:off x="1345865" y="4630442"/>
            <a:ext cx="1697562" cy="12772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/>
              <a:t>MLST lineage analysis </a:t>
            </a:r>
          </a:p>
          <a:p>
            <a:r>
              <a:rPr lang="en-US" sz="1100" dirty="0"/>
              <a:t>556</a:t>
            </a:r>
          </a:p>
          <a:p>
            <a:r>
              <a:rPr lang="en-US" sz="1100" dirty="0"/>
              <a:t>Used to assign bacterial STs + lineage </a:t>
            </a:r>
          </a:p>
          <a:p>
            <a:r>
              <a:rPr lang="en-US" sz="1100" dirty="0"/>
              <a:t>533 typed rows (made it through QC)</a:t>
            </a:r>
          </a:p>
          <a:p>
            <a:r>
              <a:rPr lang="en-US" sz="1100" dirty="0"/>
              <a:t>83 unique STs 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F2F98DD-9D84-4B5B-3E34-7A9A00170A17}"/>
              </a:ext>
            </a:extLst>
          </p:cNvPr>
          <p:cNvCxnSpPr/>
          <p:nvPr/>
        </p:nvCxnSpPr>
        <p:spPr>
          <a:xfrm>
            <a:off x="3933562" y="4315152"/>
            <a:ext cx="0" cy="315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5786821-4BD4-CDFD-75A5-FEC6670655C3}"/>
              </a:ext>
            </a:extLst>
          </p:cNvPr>
          <p:cNvSpPr txBox="1"/>
          <p:nvPr/>
        </p:nvSpPr>
        <p:spPr>
          <a:xfrm>
            <a:off x="3288732" y="4619123"/>
            <a:ext cx="1697562" cy="9387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/>
              <a:t>Core SNP analysis </a:t>
            </a:r>
          </a:p>
          <a:p>
            <a:r>
              <a:rPr lang="en-US" sz="1100" dirty="0"/>
              <a:t>556</a:t>
            </a:r>
          </a:p>
          <a:p>
            <a:r>
              <a:rPr lang="en-US" sz="1100" dirty="0"/>
              <a:t>Genomes used to compare how genetically similar isolates are 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BC01209-0EEC-8F7C-09A1-FE7D4E1220C8}"/>
              </a:ext>
            </a:extLst>
          </p:cNvPr>
          <p:cNvCxnSpPr/>
          <p:nvPr/>
        </p:nvCxnSpPr>
        <p:spPr>
          <a:xfrm>
            <a:off x="5902887" y="4303834"/>
            <a:ext cx="0" cy="315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597F0E31-80A5-99E5-3AB8-A6B15F862C5C}"/>
              </a:ext>
            </a:extLst>
          </p:cNvPr>
          <p:cNvSpPr txBox="1"/>
          <p:nvPr/>
        </p:nvSpPr>
        <p:spPr>
          <a:xfrm>
            <a:off x="5301969" y="4644690"/>
            <a:ext cx="1697562" cy="11079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 err="1"/>
              <a:t>Panaroo</a:t>
            </a:r>
            <a:r>
              <a:rPr lang="en-US" sz="1100" b="1" dirty="0"/>
              <a:t> pangenome </a:t>
            </a:r>
          </a:p>
          <a:p>
            <a:r>
              <a:rPr lang="en-US" sz="1100" dirty="0"/>
              <a:t>556</a:t>
            </a:r>
          </a:p>
          <a:p>
            <a:r>
              <a:rPr lang="en-US" sz="1100" dirty="0"/>
              <a:t>27,409 pan-genome genes</a:t>
            </a:r>
          </a:p>
          <a:p>
            <a:r>
              <a:rPr lang="en-US" sz="1100" dirty="0"/>
              <a:t>Tracks shared accessory genes beyond VF list 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EDE54AE-D135-376E-0D5E-D3F8F10D1ED0}"/>
              </a:ext>
            </a:extLst>
          </p:cNvPr>
          <p:cNvCxnSpPr/>
          <p:nvPr/>
        </p:nvCxnSpPr>
        <p:spPr>
          <a:xfrm>
            <a:off x="10018196" y="4188445"/>
            <a:ext cx="0" cy="315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350E5BA2-4060-BB98-315B-D5BFBF7084D9}"/>
              </a:ext>
            </a:extLst>
          </p:cNvPr>
          <p:cNvSpPr txBox="1"/>
          <p:nvPr/>
        </p:nvSpPr>
        <p:spPr>
          <a:xfrm>
            <a:off x="8498200" y="4534484"/>
            <a:ext cx="2168217" cy="9387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/>
              <a:t>VF summaries and model</a:t>
            </a:r>
          </a:p>
          <a:p>
            <a:r>
              <a:rPr lang="en-US" sz="1100" dirty="0"/>
              <a:t>556</a:t>
            </a:r>
          </a:p>
          <a:p>
            <a:r>
              <a:rPr lang="en-US" sz="1100" dirty="0"/>
              <a:t>VF genes grouped into 32 modules and 7 categories 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38799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ED6319-4657-4A5D-14C8-2651EF9A3F3D}"/>
              </a:ext>
            </a:extLst>
          </p:cNvPr>
          <p:cNvSpPr txBox="1"/>
          <p:nvPr/>
        </p:nvSpPr>
        <p:spPr>
          <a:xfrm>
            <a:off x="1199408" y="748145"/>
            <a:ext cx="2541319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Phase 0 – Data foundation </a:t>
            </a:r>
          </a:p>
          <a:p>
            <a:r>
              <a:rPr lang="en-US" dirty="0"/>
              <a:t> This phase turns raw clinical exports into the primary `UTI` vs `</a:t>
            </a:r>
            <a:r>
              <a:rPr lang="en-US" dirty="0" err="1"/>
              <a:t>Not_UTI</a:t>
            </a:r>
            <a:r>
              <a:rPr lang="en-US" dirty="0"/>
              <a:t>`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C743195-B9DF-FD97-2BEE-DF76A3DB8EB4}"/>
              </a:ext>
            </a:extLst>
          </p:cNvPr>
          <p:cNvCxnSpPr>
            <a:stCxn id="4" idx="3"/>
          </p:cNvCxnSpPr>
          <p:nvPr/>
        </p:nvCxnSpPr>
        <p:spPr>
          <a:xfrm flipV="1">
            <a:off x="3740727" y="1615044"/>
            <a:ext cx="1211283" cy="10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E55D205-A1C5-3F46-CF9F-06EFF1D542C7}"/>
              </a:ext>
            </a:extLst>
          </p:cNvPr>
          <p:cNvSpPr txBox="1"/>
          <p:nvPr/>
        </p:nvSpPr>
        <p:spPr>
          <a:xfrm>
            <a:off x="5011386" y="766694"/>
            <a:ext cx="2541319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Phase 1 – WGS Processing</a:t>
            </a:r>
          </a:p>
          <a:p>
            <a:r>
              <a:rPr lang="en-US" dirty="0"/>
              <a:t> QC summaries</a:t>
            </a:r>
          </a:p>
          <a:p>
            <a:r>
              <a:rPr lang="en-US" dirty="0"/>
              <a:t>SNP distances</a:t>
            </a:r>
          </a:p>
          <a:p>
            <a:r>
              <a:rPr lang="en-US" dirty="0"/>
              <a:t>Pangenome outputs</a:t>
            </a:r>
          </a:p>
          <a:p>
            <a:r>
              <a:rPr lang="en-US" dirty="0"/>
              <a:t>VF gene matrices </a:t>
            </a:r>
          </a:p>
          <a:p>
            <a:r>
              <a:rPr lang="en-US" dirty="0"/>
              <a:t>MLST lineage calls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9F0AD5-1875-8A19-EBF9-119B95A09E32}"/>
              </a:ext>
            </a:extLst>
          </p:cNvPr>
          <p:cNvCxnSpPr/>
          <p:nvPr/>
        </p:nvCxnSpPr>
        <p:spPr>
          <a:xfrm flipV="1">
            <a:off x="7552705" y="1749399"/>
            <a:ext cx="1211283" cy="10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A22D9A-2E3E-9943-A43E-21CD69F6AE65}"/>
              </a:ext>
            </a:extLst>
          </p:cNvPr>
          <p:cNvSpPr txBox="1"/>
          <p:nvPr/>
        </p:nvSpPr>
        <p:spPr>
          <a:xfrm>
            <a:off x="8823364" y="766694"/>
            <a:ext cx="2541319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Phase 1b – Additional plots + exploration</a:t>
            </a:r>
          </a:p>
          <a:p>
            <a:r>
              <a:rPr lang="en-US" dirty="0"/>
              <a:t> Explains data but not core statistical engine </a:t>
            </a:r>
          </a:p>
          <a:p>
            <a:r>
              <a:rPr lang="en-US" dirty="0"/>
              <a:t>Generates descriptive views of: </a:t>
            </a:r>
          </a:p>
          <a:p>
            <a:r>
              <a:rPr lang="en-US" dirty="0"/>
              <a:t>Gene</a:t>
            </a:r>
          </a:p>
          <a:p>
            <a:r>
              <a:rPr lang="en-US" dirty="0"/>
              <a:t>MLST </a:t>
            </a:r>
          </a:p>
          <a:p>
            <a:r>
              <a:rPr lang="en-US" dirty="0"/>
              <a:t>Plasmid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1F3CFB-2C70-DE8F-BFBF-E6F95834C1FA}"/>
              </a:ext>
            </a:extLst>
          </p:cNvPr>
          <p:cNvCxnSpPr>
            <a:cxnSpLocks/>
          </p:cNvCxnSpPr>
          <p:nvPr/>
        </p:nvCxnSpPr>
        <p:spPr>
          <a:xfrm>
            <a:off x="9854539" y="3362281"/>
            <a:ext cx="0" cy="556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7B9EFAF-5AF4-E73D-E5FA-7B20613A7E0B}"/>
              </a:ext>
            </a:extLst>
          </p:cNvPr>
          <p:cNvSpPr txBox="1"/>
          <p:nvPr/>
        </p:nvSpPr>
        <p:spPr>
          <a:xfrm>
            <a:off x="9035140" y="3918857"/>
            <a:ext cx="2541319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Phase 2 – Comparative genomics </a:t>
            </a:r>
          </a:p>
          <a:p>
            <a:r>
              <a:rPr lang="en-US" dirty="0"/>
              <a:t> joins clinical status, VF profiles, SNP distances, and lineage data</a:t>
            </a:r>
          </a:p>
          <a:p>
            <a:r>
              <a:rPr lang="en-US" dirty="0"/>
              <a:t>into strain comparisons and formal genotype-phenotype models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99F1F2D-EFA9-A91B-552F-6F72D610EF58}"/>
              </a:ext>
            </a:extLst>
          </p:cNvPr>
          <p:cNvCxnSpPr>
            <a:cxnSpLocks/>
          </p:cNvCxnSpPr>
          <p:nvPr/>
        </p:nvCxnSpPr>
        <p:spPr>
          <a:xfrm flipH="1">
            <a:off x="8395855" y="4951595"/>
            <a:ext cx="5996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6E91C8D-9726-E76F-BC28-73742A639359}"/>
              </a:ext>
            </a:extLst>
          </p:cNvPr>
          <p:cNvSpPr txBox="1"/>
          <p:nvPr/>
        </p:nvSpPr>
        <p:spPr>
          <a:xfrm>
            <a:off x="5854536" y="3944176"/>
            <a:ext cx="2541319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Phase 3 – Longitudinal and Mechanism</a:t>
            </a:r>
          </a:p>
          <a:p>
            <a:r>
              <a:rPr lang="en-US" dirty="0"/>
              <a:t> reconstructs participant timelines and studies transition mechanisms,</a:t>
            </a:r>
          </a:p>
          <a:p>
            <a:r>
              <a:rPr lang="en-US" dirty="0"/>
              <a:t>especially phenotype switches and within-host evolution.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3EF7D43-ACFF-4263-46E8-5E9F99F327B4}"/>
              </a:ext>
            </a:extLst>
          </p:cNvPr>
          <p:cNvCxnSpPr>
            <a:cxnSpLocks/>
          </p:cNvCxnSpPr>
          <p:nvPr/>
        </p:nvCxnSpPr>
        <p:spPr>
          <a:xfrm flipH="1">
            <a:off x="5254837" y="4951595"/>
            <a:ext cx="5996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7577C20-DEDE-F357-904F-13D093D5B001}"/>
              </a:ext>
            </a:extLst>
          </p:cNvPr>
          <p:cNvSpPr txBox="1"/>
          <p:nvPr/>
        </p:nvSpPr>
        <p:spPr>
          <a:xfrm>
            <a:off x="2713518" y="2921929"/>
            <a:ext cx="2541319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Phase 4 – VF Deep Analysis and Final Reporting</a:t>
            </a:r>
          </a:p>
          <a:p>
            <a:r>
              <a:rPr lang="en-US" dirty="0"/>
              <a:t> builds the current VF interpretation layer: cross-sectional,</a:t>
            </a:r>
          </a:p>
          <a:p>
            <a:r>
              <a:rPr lang="en-US" dirty="0"/>
              <a:t>longitudinal, lineage, module, score, transition, mechanism, robustness,</a:t>
            </a:r>
          </a:p>
          <a:p>
            <a:r>
              <a:rPr lang="en-US" dirty="0"/>
              <a:t>statistical sensitivity, final tables, final figures, and validation checks</a:t>
            </a:r>
          </a:p>
        </p:txBody>
      </p:sp>
    </p:spTree>
    <p:extLst>
      <p:ext uri="{BB962C8B-B14F-4D97-AF65-F5344CB8AC3E}">
        <p14:creationId xmlns:p14="http://schemas.microsoft.com/office/powerpoint/2010/main" val="1080415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321</Words>
  <Application>Microsoft Macintosh PowerPoint</Application>
  <PresentationFormat>Widescreen</PresentationFormat>
  <Paragraphs>70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Hasan, M.A. (Aamir)</dc:creator>
  <cp:lastModifiedBy>Hasan, M.A. (Aamir)</cp:lastModifiedBy>
  <cp:revision>1</cp:revision>
  <dcterms:created xsi:type="dcterms:W3CDTF">2026-06-12T04:46:52Z</dcterms:created>
  <dcterms:modified xsi:type="dcterms:W3CDTF">2026-06-12T07:45:28Z</dcterms:modified>
</cp:coreProperties>
</file>