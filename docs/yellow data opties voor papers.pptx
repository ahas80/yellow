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12" d="100"/>
          <a:sy n="112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DA89-707A-E3CC-2B3A-E5D5B08DB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8943964-E8BC-9F07-79A5-AD828917D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2F87DA6-0C0E-3E41-237F-5F0F7986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0C9A71-7A39-37EA-B9E0-6E32D256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4884D5-617D-127B-6D99-F5A87E24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448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4378C-6962-19A0-C6B3-3A14FB16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3A590F-D9DC-27E9-283A-52D557366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B64AA7-713F-827B-5A41-7233ADC9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DBAB9A-BBED-D642-1544-3FE5BC84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1E28F1-E90D-C213-FFE8-8605ED8D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9317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0B4FF-CA9C-41A7-D1D4-35A33EF1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63A5406-55A3-760B-4AEB-1F1A3838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E944CD-1408-1896-078C-C68FEF02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CE335AA-EAEF-71EC-3EB8-2D572349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7476BF-B0B7-CFAE-3AFD-6964E9FD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551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EB5BC-056E-CB11-83E9-860BB623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F43825-EE58-9960-313D-FD86EA934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F29095C-CE7F-4BBC-2B96-50C2C8CA0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F9C3ED2-D990-2340-2109-932FE766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2EBC2D0-0953-3368-5E65-F7F54063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82C8B1-2A0A-58CF-11C4-CC37A5E5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28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C8529-3B47-72A5-63AF-02CA12FC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EB7017-D1DD-302A-FC57-E7C970313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33D7F54-8820-2B7C-ECD2-F154F90E3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006C1E4-86B0-D656-FC42-4778432B8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653DD80-0564-C313-5B6F-195E97E25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3AEAD76-7512-2E84-AB73-28B40BC2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D99F8D2-2DA8-49AC-F262-BC07B089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B2EAE75-07C0-6F78-1E99-9F43EED8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70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23E21-2ABA-28C4-6F72-B56F3A56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1EB1EAB-7A11-D159-5CDA-6FB11E55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7CF5DF8-B804-5419-08A3-E2FE70D6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3E9A946-04C8-9B1A-B4B9-90E9857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374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E65A4C2-764A-76E8-AF22-305BB840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A3754B1-9739-CC53-BACD-DF33F3C2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D8C45F-3F57-A8DD-A512-FA9033F25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46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70FF2-75BF-76CA-0324-D4A0D87A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198BC0-8862-1C36-047D-ED6BFE563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7848F1F-AB06-759E-61B0-9E74CA486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C41D111-A900-5592-E38E-F0398539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D4FD529-E63E-E21A-0981-E559A67B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BA918A7-5456-E057-493B-F2139049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298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98E36-373F-F11D-4D4F-23BE5EAC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083FED2-6AE9-0DAE-7685-D632C0395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3E00F52-D4EB-3378-F9CA-FEDBDB568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EB85151-0D32-6B53-FE2E-86414035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8D5DED1-0E40-9059-0D73-524FBB14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E4260BD-E305-2737-F867-BC35C379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0090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DD21B-A071-33A1-C271-20BADC71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E19718C-6E12-C5E5-D541-2B1ADFD21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1D7C91-DC07-F573-805B-1BB666A1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8AEA17A-61E8-F941-E28F-05931FD9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80A45C-95CD-E827-6B12-F6B0DB53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188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949E68A-3E28-E74E-BB01-F9F1C07F3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8F44F64-EA0B-4A53-8427-6E3C1990D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EC8DD84-640C-204E-8AF5-C19C7B5C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165CB1F-87E2-5763-4F15-FDCC4F0B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A9E931B-5585-26FB-38F7-77B52A10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27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F6BB75E-A73E-CF94-36D9-685E9F4D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7A52FFA-43D0-2002-6925-80AB7CD7B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2B6AA6-360A-CB53-1378-240B25D68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300F5-251E-164F-B00F-E5177113EA61}" type="datetimeFigureOut">
              <a:rPr lang="nl-NL" smtClean="0"/>
              <a:t>06-11-2025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6BF684-050B-D09C-BD37-41D75A23C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585258C-A87E-E997-9F30-74AA403E9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AA16A-A56C-E94B-BD94-E0F07561A67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69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i.org/10.1128/spectrum.03128-2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E487B-65CD-B6FB-E490-029642F594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Yellow</a:t>
            </a:r>
            <a:r>
              <a:rPr lang="nl-NL" dirty="0"/>
              <a:t> opties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F3C772-5710-01AC-B25B-EFD389C5D0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100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39D43-4D2F-15E4-50AE-FBB92969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ED4284-2FC6-BCE2-9E10-FECEF908F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4F398D4-C282-C65C-84E9-FD2C51748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26" y="1253331"/>
            <a:ext cx="116279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6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65B369-A0E9-1B80-2717-13F2884F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78E703-C0CA-5143-3262-8E3588B9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5E4F96F-AC2C-1034-7B4B-F52A2B6C6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691515"/>
            <a:ext cx="8782050" cy="576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2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692F1-8086-0A8B-3069-864726EBA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73202"/>
            <a:ext cx="10515600" cy="1325563"/>
          </a:xfrm>
        </p:spPr>
        <p:txBody>
          <a:bodyPr>
            <a:normAutofit/>
          </a:bodyPr>
          <a:lstStyle/>
          <a:p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El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Chaar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M et al . 2024.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Longitudinal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genomic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surveillance of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multidrug-resistant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Escherichia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coli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carriage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critical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care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patients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Microbiol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Spectr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12:e03128-23. 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  <a:hlinkClick r:id="rId2"/>
              </a:rPr>
              <a:t>https://doi.org/10.1128/spectrum.03128-23</a:t>
            </a:r>
            <a:b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</a:b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Colonization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multidrug-resistant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nl-NL" sz="1400" b="0" i="1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Escherichia</a:t>
            </a:r>
            <a:r>
              <a:rPr lang="nl-NL" sz="1400" b="0" i="1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coli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strains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causes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substantial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health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burden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hospitalized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patients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. We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performed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longitudinal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genomics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study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investigate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colonization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resistant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nl-NL" sz="1400" b="0" i="1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E. coli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strains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critically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ill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patients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evolutionary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changes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strain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replacement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events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within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1400" b="0" i="0" dirty="0" err="1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patients</a:t>
            </a:r>
            <a:r>
              <a:rPr lang="nl-NL" sz="1400" b="0" i="0" dirty="0">
                <a:solidFill>
                  <a:srgbClr val="030303"/>
                </a:solidFill>
                <a:effectLst/>
                <a:latin typeface="Arial" panose="020B0604020202020204" pitchFamily="34" charset="0"/>
              </a:rPr>
              <a:t>.</a:t>
            </a:r>
            <a:endParaRPr lang="nl-NL" sz="14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226E01-4896-71B4-F15F-2734B26C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C84F613-82C0-C9E5-060E-A6205D717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50" y="1288228"/>
            <a:ext cx="11383700" cy="531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6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2E638-0CF2-B5A3-4BE0-61EC38A2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E2642F1-E987-38F4-60E1-0C821A481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610" y="4814578"/>
            <a:ext cx="9780270" cy="1619836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005905B9-13B0-2D8E-64B1-A554D7DFB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762"/>
            <a:ext cx="9551670" cy="444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2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BB8E93-B032-AF10-02D2-6A102A04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A </a:t>
            </a:r>
            <a:r>
              <a:rPr lang="nl-NL" sz="2000" dirty="0" err="1"/>
              <a:t>longitudinal</a:t>
            </a:r>
            <a:r>
              <a:rPr lang="nl-NL" sz="2000" dirty="0"/>
              <a:t> </a:t>
            </a:r>
            <a:r>
              <a:rPr lang="nl-NL" sz="2000" dirty="0" err="1"/>
              <a:t>study</a:t>
            </a:r>
            <a:r>
              <a:rPr lang="nl-NL" sz="2000" dirty="0"/>
              <a:t> of dominant E. coli </a:t>
            </a:r>
            <a:r>
              <a:rPr lang="nl-NL" sz="2000" dirty="0" err="1"/>
              <a:t>lineages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antimicrobial</a:t>
            </a:r>
            <a:r>
              <a:rPr lang="nl-NL" sz="2000" dirty="0"/>
              <a:t> </a:t>
            </a:r>
            <a:r>
              <a:rPr lang="nl-NL" sz="2000" dirty="0" err="1"/>
              <a:t>resistance</a:t>
            </a:r>
            <a:r>
              <a:rPr lang="nl-NL" sz="2000" dirty="0"/>
              <a:t> in </a:t>
            </a:r>
            <a:r>
              <a:rPr lang="nl-NL" sz="2000" dirty="0" err="1"/>
              <a:t>the</a:t>
            </a:r>
            <a:r>
              <a:rPr lang="nl-NL" sz="2000" dirty="0"/>
              <a:t> gut of </a:t>
            </a:r>
            <a:r>
              <a:rPr lang="nl-NL" sz="2000" dirty="0" err="1"/>
              <a:t>children</a:t>
            </a:r>
            <a:r>
              <a:rPr lang="nl-NL" sz="2000" dirty="0"/>
              <a:t> living in </a:t>
            </a:r>
            <a:r>
              <a:rPr lang="nl-NL" sz="2000" dirty="0" err="1"/>
              <a:t>an</a:t>
            </a:r>
            <a:r>
              <a:rPr lang="nl-NL" sz="2000" dirty="0"/>
              <a:t> </a:t>
            </a:r>
            <a:r>
              <a:rPr lang="nl-NL" sz="2000" dirty="0" err="1"/>
              <a:t>upper</a:t>
            </a:r>
            <a:r>
              <a:rPr lang="nl-NL" sz="2000" dirty="0"/>
              <a:t> </a:t>
            </a:r>
            <a:r>
              <a:rPr lang="nl-NL" sz="2000" dirty="0" err="1"/>
              <a:t>middle-income</a:t>
            </a:r>
            <a:r>
              <a:rPr lang="nl-NL" sz="2000" dirty="0"/>
              <a:t> country</a:t>
            </a:r>
            <a:br>
              <a:rPr lang="nl-NL" sz="2000" dirty="0"/>
            </a:br>
            <a:r>
              <a:rPr lang="nl-NL" sz="2000" dirty="0"/>
              <a:t>Author links open </a:t>
            </a:r>
            <a:r>
              <a:rPr lang="nl-NL" sz="2000" dirty="0" err="1"/>
              <a:t>overlay</a:t>
            </a:r>
            <a:r>
              <a:rPr lang="nl-NL" sz="2000" dirty="0"/>
              <a:t> panel - Diana Calderón et al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622DA99-FC9F-28A9-C648-5615195D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8AE75F6-6D17-7362-15DD-EDCFE9D5E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09" y="1825624"/>
            <a:ext cx="10832283" cy="378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701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122</Words>
  <Application>Microsoft Macintosh PowerPoint</Application>
  <PresentationFormat>Breedbeeld</PresentationFormat>
  <Paragraphs>3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Kantoorthema</vt:lpstr>
      <vt:lpstr>Yellow opties</vt:lpstr>
      <vt:lpstr>PowerPoint-presentatie</vt:lpstr>
      <vt:lpstr>PowerPoint-presentatie</vt:lpstr>
      <vt:lpstr>El Chaar M et al . 2024. Longitudinal genomic surveillance of multidrug-resistant Escherichia coli carriage in critical care patients. Microbiol Spectr 12:e03128-23. https://doi.org/10.1128/spectrum.03128-23 Colonization with multidrug-resistant Escherichia coli strains causes a substantial health burden in hospitalized patients. We performed a longitudinal genomics study to investigate the colonization of resistant E. coli strains in critically ill patients and to identify evolutionary changes and strain replacement events within patients.</vt:lpstr>
      <vt:lpstr>PowerPoint-presentatie</vt:lpstr>
      <vt:lpstr>A longitudinal study of dominant E. coli lineages and antimicrobial resistance in the gut of children living in an upper middle-income country Author links open overlay panel - Diana Calderón et 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opties</dc:title>
  <dc:creator>Caroline Schneeberger</dc:creator>
  <cp:lastModifiedBy>Caroline Schneeberger</cp:lastModifiedBy>
  <cp:revision>3</cp:revision>
  <dcterms:created xsi:type="dcterms:W3CDTF">2025-11-06T08:17:27Z</dcterms:created>
  <dcterms:modified xsi:type="dcterms:W3CDTF">2025-11-06T08:59:25Z</dcterms:modified>
</cp:coreProperties>
</file>