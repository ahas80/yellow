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7" r:id="rId5"/>
  </p:sldIdLst>
  <p:sldSz cx="30275213" cy="42803763"/>
  <p:notesSz cx="6858000" cy="9144000"/>
  <p:defaultTextStyle>
    <a:defPPr>
      <a:defRPr lang="nl-NL"/>
    </a:defPPr>
    <a:lvl1pPr marL="0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1E5"/>
    <a:srgbClr val="005493"/>
    <a:srgbClr val="FFFF66"/>
    <a:srgbClr val="FF6B00"/>
    <a:srgbClr val="FB7B19"/>
    <a:srgbClr val="004289"/>
    <a:srgbClr val="DA5120"/>
    <a:srgbClr val="0B3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93"/>
    <p:restoredTop sz="94674"/>
  </p:normalViewPr>
  <p:slideViewPr>
    <p:cSldViewPr snapToGrid="0" snapToObjects="1">
      <p:cViewPr>
        <p:scale>
          <a:sx n="20" d="100"/>
          <a:sy n="20" d="100"/>
        </p:scale>
        <p:origin x="2850" y="-246"/>
      </p:cViewPr>
      <p:guideLst>
        <p:guide orient="horz" pos="13482"/>
        <p:guide pos="9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85F70-6985-5047-A14E-F9CE7024D84F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C602F-8306-204A-9D00-C4B1D6172AF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772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C602F-8306-204A-9D00-C4B1D6172AF4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0056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70641" y="13296913"/>
            <a:ext cx="25733931" cy="9175066"/>
          </a:xfrm>
        </p:spPr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4541282" y="24255466"/>
            <a:ext cx="21192649" cy="109387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8535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7071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560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414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267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121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974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0863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726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91534" y="27505385"/>
            <a:ext cx="25733931" cy="8501303"/>
          </a:xfrm>
        </p:spPr>
        <p:txBody>
          <a:bodyPr anchor="t"/>
          <a:lstStyle>
            <a:lvl1pPr algn="l">
              <a:defRPr sz="24965" b="1" cap="all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391534" y="18142064"/>
            <a:ext cx="25733931" cy="9363321"/>
          </a:xfrm>
        </p:spPr>
        <p:txBody>
          <a:bodyPr anchor="b"/>
          <a:lstStyle>
            <a:lvl1pPr marL="0" indent="0">
              <a:buNone/>
              <a:defRPr sz="12482">
                <a:solidFill>
                  <a:schemeClr val="tx1">
                    <a:tint val="75000"/>
                  </a:schemeClr>
                </a:solidFill>
              </a:defRPr>
            </a:lvl1pPr>
            <a:lvl2pPr marL="2853550" indent="0">
              <a:buNone/>
              <a:defRPr sz="11234">
                <a:solidFill>
                  <a:schemeClr val="tx1">
                    <a:tint val="75000"/>
                  </a:schemeClr>
                </a:solidFill>
              </a:defRPr>
            </a:lvl2pPr>
            <a:lvl3pPr marL="5707101" indent="0">
              <a:buNone/>
              <a:defRPr sz="9986">
                <a:solidFill>
                  <a:schemeClr val="tx1">
                    <a:tint val="75000"/>
                  </a:schemeClr>
                </a:solidFill>
              </a:defRPr>
            </a:lvl3pPr>
            <a:lvl4pPr marL="8560651" indent="0">
              <a:buNone/>
              <a:defRPr sz="8737">
                <a:solidFill>
                  <a:schemeClr val="tx1">
                    <a:tint val="75000"/>
                  </a:schemeClr>
                </a:solidFill>
              </a:defRPr>
            </a:lvl4pPr>
            <a:lvl5pPr marL="11414201" indent="0">
              <a:buNone/>
              <a:defRPr sz="8737">
                <a:solidFill>
                  <a:schemeClr val="tx1">
                    <a:tint val="75000"/>
                  </a:schemeClr>
                </a:solidFill>
              </a:defRPr>
            </a:lvl5pPr>
            <a:lvl6pPr marL="14267753" indent="0">
              <a:buNone/>
              <a:defRPr sz="8737">
                <a:solidFill>
                  <a:schemeClr val="tx1">
                    <a:tint val="75000"/>
                  </a:schemeClr>
                </a:solidFill>
              </a:defRPr>
            </a:lvl6pPr>
            <a:lvl7pPr marL="17121303" indent="0">
              <a:buNone/>
              <a:defRPr sz="8737">
                <a:solidFill>
                  <a:schemeClr val="tx1">
                    <a:tint val="75000"/>
                  </a:schemeClr>
                </a:solidFill>
              </a:defRPr>
            </a:lvl7pPr>
            <a:lvl8pPr marL="19974854" indent="0">
              <a:buNone/>
              <a:defRPr sz="8737">
                <a:solidFill>
                  <a:schemeClr val="tx1">
                    <a:tint val="75000"/>
                  </a:schemeClr>
                </a:solidFill>
              </a:defRPr>
            </a:lvl8pPr>
            <a:lvl9pPr marL="22828404" indent="0">
              <a:buNone/>
              <a:defRPr sz="87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58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1513761" y="9987549"/>
            <a:ext cx="13371552" cy="28248505"/>
          </a:xfrm>
        </p:spPr>
        <p:txBody>
          <a:bodyPr/>
          <a:lstStyle>
            <a:lvl1pPr>
              <a:defRPr sz="17476"/>
            </a:lvl1pPr>
            <a:lvl2pPr>
              <a:defRPr sz="14979"/>
            </a:lvl2pPr>
            <a:lvl3pPr>
              <a:defRPr sz="12482"/>
            </a:lvl3pPr>
            <a:lvl4pPr>
              <a:defRPr sz="11234"/>
            </a:lvl4pPr>
            <a:lvl5pPr>
              <a:defRPr sz="11234"/>
            </a:lvl5pPr>
            <a:lvl6pPr>
              <a:defRPr sz="11234"/>
            </a:lvl6pPr>
            <a:lvl7pPr>
              <a:defRPr sz="11234"/>
            </a:lvl7pPr>
            <a:lvl8pPr>
              <a:defRPr sz="11234"/>
            </a:lvl8pPr>
            <a:lvl9pPr>
              <a:defRPr sz="11234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5389901" y="9987549"/>
            <a:ext cx="13371552" cy="28248505"/>
          </a:xfrm>
        </p:spPr>
        <p:txBody>
          <a:bodyPr/>
          <a:lstStyle>
            <a:lvl1pPr>
              <a:defRPr sz="17476"/>
            </a:lvl1pPr>
            <a:lvl2pPr>
              <a:defRPr sz="14979"/>
            </a:lvl2pPr>
            <a:lvl3pPr>
              <a:defRPr sz="12482"/>
            </a:lvl3pPr>
            <a:lvl4pPr>
              <a:defRPr sz="11234"/>
            </a:lvl4pPr>
            <a:lvl5pPr>
              <a:defRPr sz="11234"/>
            </a:lvl5pPr>
            <a:lvl6pPr>
              <a:defRPr sz="11234"/>
            </a:lvl6pPr>
            <a:lvl7pPr>
              <a:defRPr sz="11234"/>
            </a:lvl7pPr>
            <a:lvl8pPr>
              <a:defRPr sz="11234"/>
            </a:lvl8pPr>
            <a:lvl9pPr>
              <a:defRPr sz="11234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605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513761" y="9581308"/>
            <a:ext cx="13376810" cy="3993034"/>
          </a:xfrm>
        </p:spPr>
        <p:txBody>
          <a:bodyPr anchor="b"/>
          <a:lstStyle>
            <a:lvl1pPr marL="0" indent="0">
              <a:buNone/>
              <a:defRPr sz="14979" b="1"/>
            </a:lvl1pPr>
            <a:lvl2pPr marL="2853550" indent="0">
              <a:buNone/>
              <a:defRPr sz="12482" b="1"/>
            </a:lvl2pPr>
            <a:lvl3pPr marL="5707101" indent="0">
              <a:buNone/>
              <a:defRPr sz="11234" b="1"/>
            </a:lvl3pPr>
            <a:lvl4pPr marL="8560651" indent="0">
              <a:buNone/>
              <a:defRPr sz="9986" b="1"/>
            </a:lvl4pPr>
            <a:lvl5pPr marL="11414201" indent="0">
              <a:buNone/>
              <a:defRPr sz="9986" b="1"/>
            </a:lvl5pPr>
            <a:lvl6pPr marL="14267753" indent="0">
              <a:buNone/>
              <a:defRPr sz="9986" b="1"/>
            </a:lvl6pPr>
            <a:lvl7pPr marL="17121303" indent="0">
              <a:buNone/>
              <a:defRPr sz="9986" b="1"/>
            </a:lvl7pPr>
            <a:lvl8pPr marL="19974854" indent="0">
              <a:buNone/>
              <a:defRPr sz="9986" b="1"/>
            </a:lvl8pPr>
            <a:lvl9pPr marL="22828404" indent="0">
              <a:buNone/>
              <a:defRPr sz="9986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513761" y="13574341"/>
            <a:ext cx="13376810" cy="24661708"/>
          </a:xfrm>
        </p:spPr>
        <p:txBody>
          <a:bodyPr/>
          <a:lstStyle>
            <a:lvl1pPr>
              <a:defRPr sz="14979"/>
            </a:lvl1pPr>
            <a:lvl2pPr>
              <a:defRPr sz="12482"/>
            </a:lvl2pPr>
            <a:lvl3pPr>
              <a:defRPr sz="11234"/>
            </a:lvl3pPr>
            <a:lvl4pPr>
              <a:defRPr sz="9986"/>
            </a:lvl4pPr>
            <a:lvl5pPr>
              <a:defRPr sz="9986"/>
            </a:lvl5pPr>
            <a:lvl6pPr>
              <a:defRPr sz="9986"/>
            </a:lvl6pPr>
            <a:lvl7pPr>
              <a:defRPr sz="9986"/>
            </a:lvl7pPr>
            <a:lvl8pPr>
              <a:defRPr sz="9986"/>
            </a:lvl8pPr>
            <a:lvl9pPr>
              <a:defRPr sz="9986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15379389" y="9581308"/>
            <a:ext cx="13382065" cy="3993034"/>
          </a:xfrm>
        </p:spPr>
        <p:txBody>
          <a:bodyPr anchor="b"/>
          <a:lstStyle>
            <a:lvl1pPr marL="0" indent="0">
              <a:buNone/>
              <a:defRPr sz="14979" b="1"/>
            </a:lvl1pPr>
            <a:lvl2pPr marL="2853550" indent="0">
              <a:buNone/>
              <a:defRPr sz="12482" b="1"/>
            </a:lvl2pPr>
            <a:lvl3pPr marL="5707101" indent="0">
              <a:buNone/>
              <a:defRPr sz="11234" b="1"/>
            </a:lvl3pPr>
            <a:lvl4pPr marL="8560651" indent="0">
              <a:buNone/>
              <a:defRPr sz="9986" b="1"/>
            </a:lvl4pPr>
            <a:lvl5pPr marL="11414201" indent="0">
              <a:buNone/>
              <a:defRPr sz="9986" b="1"/>
            </a:lvl5pPr>
            <a:lvl6pPr marL="14267753" indent="0">
              <a:buNone/>
              <a:defRPr sz="9986" b="1"/>
            </a:lvl6pPr>
            <a:lvl7pPr marL="17121303" indent="0">
              <a:buNone/>
              <a:defRPr sz="9986" b="1"/>
            </a:lvl7pPr>
            <a:lvl8pPr marL="19974854" indent="0">
              <a:buNone/>
              <a:defRPr sz="9986" b="1"/>
            </a:lvl8pPr>
            <a:lvl9pPr marL="22828404" indent="0">
              <a:buNone/>
              <a:defRPr sz="9986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15379389" y="13574341"/>
            <a:ext cx="13382065" cy="24661708"/>
          </a:xfrm>
        </p:spPr>
        <p:txBody>
          <a:bodyPr/>
          <a:lstStyle>
            <a:lvl1pPr>
              <a:defRPr sz="14979"/>
            </a:lvl1pPr>
            <a:lvl2pPr>
              <a:defRPr sz="12482"/>
            </a:lvl2pPr>
            <a:lvl3pPr>
              <a:defRPr sz="11234"/>
            </a:lvl3pPr>
            <a:lvl4pPr>
              <a:defRPr sz="9986"/>
            </a:lvl4pPr>
            <a:lvl5pPr>
              <a:defRPr sz="9986"/>
            </a:lvl5pPr>
            <a:lvl6pPr>
              <a:defRPr sz="9986"/>
            </a:lvl6pPr>
            <a:lvl7pPr>
              <a:defRPr sz="9986"/>
            </a:lvl7pPr>
            <a:lvl8pPr>
              <a:defRPr sz="9986"/>
            </a:lvl8pPr>
            <a:lvl9pPr>
              <a:defRPr sz="9986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01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726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903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763" y="1704225"/>
            <a:ext cx="9960336" cy="7252860"/>
          </a:xfrm>
        </p:spPr>
        <p:txBody>
          <a:bodyPr anchor="b"/>
          <a:lstStyle>
            <a:lvl1pPr algn="l">
              <a:defRPr sz="12482" b="1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1836768" y="1704226"/>
            <a:ext cx="16924685" cy="36531827"/>
          </a:xfrm>
        </p:spPr>
        <p:txBody>
          <a:bodyPr/>
          <a:lstStyle>
            <a:lvl1pPr>
              <a:defRPr sz="19973"/>
            </a:lvl1pPr>
            <a:lvl2pPr>
              <a:defRPr sz="17476"/>
            </a:lvl2pPr>
            <a:lvl3pPr>
              <a:defRPr sz="14979"/>
            </a:lvl3pPr>
            <a:lvl4pPr>
              <a:defRPr sz="12482"/>
            </a:lvl4pPr>
            <a:lvl5pPr>
              <a:defRPr sz="12482"/>
            </a:lvl5pPr>
            <a:lvl6pPr>
              <a:defRPr sz="12482"/>
            </a:lvl6pPr>
            <a:lvl7pPr>
              <a:defRPr sz="12482"/>
            </a:lvl7pPr>
            <a:lvl8pPr>
              <a:defRPr sz="12482"/>
            </a:lvl8pPr>
            <a:lvl9pPr>
              <a:defRPr sz="12482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513763" y="8957088"/>
            <a:ext cx="9960336" cy="29278966"/>
          </a:xfrm>
        </p:spPr>
        <p:txBody>
          <a:bodyPr/>
          <a:lstStyle>
            <a:lvl1pPr marL="0" indent="0">
              <a:buNone/>
              <a:defRPr sz="8737"/>
            </a:lvl1pPr>
            <a:lvl2pPr marL="2853550" indent="0">
              <a:buNone/>
              <a:defRPr sz="7490"/>
            </a:lvl2pPr>
            <a:lvl3pPr marL="5707101" indent="0">
              <a:buNone/>
              <a:defRPr sz="6242"/>
            </a:lvl3pPr>
            <a:lvl4pPr marL="8560651" indent="0">
              <a:buNone/>
              <a:defRPr sz="5617"/>
            </a:lvl4pPr>
            <a:lvl5pPr marL="11414201" indent="0">
              <a:buNone/>
              <a:defRPr sz="5617"/>
            </a:lvl5pPr>
            <a:lvl6pPr marL="14267753" indent="0">
              <a:buNone/>
              <a:defRPr sz="5617"/>
            </a:lvl6pPr>
            <a:lvl7pPr marL="17121303" indent="0">
              <a:buNone/>
              <a:defRPr sz="5617"/>
            </a:lvl7pPr>
            <a:lvl8pPr marL="19974854" indent="0">
              <a:buNone/>
              <a:defRPr sz="5617"/>
            </a:lvl8pPr>
            <a:lvl9pPr marL="22828404" indent="0">
              <a:buNone/>
              <a:defRPr sz="5617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740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34154" y="29962634"/>
            <a:ext cx="18165128" cy="3537258"/>
          </a:xfrm>
        </p:spPr>
        <p:txBody>
          <a:bodyPr anchor="b"/>
          <a:lstStyle>
            <a:lvl1pPr algn="l">
              <a:defRPr sz="12482" b="1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934154" y="3824595"/>
            <a:ext cx="18165128" cy="25682258"/>
          </a:xfrm>
        </p:spPr>
        <p:txBody>
          <a:bodyPr/>
          <a:lstStyle>
            <a:lvl1pPr marL="0" indent="0">
              <a:buNone/>
              <a:defRPr sz="19973"/>
            </a:lvl1pPr>
            <a:lvl2pPr marL="2853550" indent="0">
              <a:buNone/>
              <a:defRPr sz="17476"/>
            </a:lvl2pPr>
            <a:lvl3pPr marL="5707101" indent="0">
              <a:buNone/>
              <a:defRPr sz="14979"/>
            </a:lvl3pPr>
            <a:lvl4pPr marL="8560651" indent="0">
              <a:buNone/>
              <a:defRPr sz="12482"/>
            </a:lvl4pPr>
            <a:lvl5pPr marL="11414201" indent="0">
              <a:buNone/>
              <a:defRPr sz="12482"/>
            </a:lvl5pPr>
            <a:lvl6pPr marL="14267753" indent="0">
              <a:buNone/>
              <a:defRPr sz="12482"/>
            </a:lvl6pPr>
            <a:lvl7pPr marL="17121303" indent="0">
              <a:buNone/>
              <a:defRPr sz="12482"/>
            </a:lvl7pPr>
            <a:lvl8pPr marL="19974854" indent="0">
              <a:buNone/>
              <a:defRPr sz="12482"/>
            </a:lvl8pPr>
            <a:lvl9pPr marL="22828404" indent="0">
              <a:buNone/>
              <a:defRPr sz="12482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934154" y="33499892"/>
            <a:ext cx="18165128" cy="5023493"/>
          </a:xfrm>
        </p:spPr>
        <p:txBody>
          <a:bodyPr/>
          <a:lstStyle>
            <a:lvl1pPr marL="0" indent="0">
              <a:buNone/>
              <a:defRPr sz="8737"/>
            </a:lvl1pPr>
            <a:lvl2pPr marL="2853550" indent="0">
              <a:buNone/>
              <a:defRPr sz="7490"/>
            </a:lvl2pPr>
            <a:lvl3pPr marL="5707101" indent="0">
              <a:buNone/>
              <a:defRPr sz="6242"/>
            </a:lvl3pPr>
            <a:lvl4pPr marL="8560651" indent="0">
              <a:buNone/>
              <a:defRPr sz="5617"/>
            </a:lvl4pPr>
            <a:lvl5pPr marL="11414201" indent="0">
              <a:buNone/>
              <a:defRPr sz="5617"/>
            </a:lvl5pPr>
            <a:lvl6pPr marL="14267753" indent="0">
              <a:buNone/>
              <a:defRPr sz="5617"/>
            </a:lvl6pPr>
            <a:lvl7pPr marL="17121303" indent="0">
              <a:buNone/>
              <a:defRPr sz="5617"/>
            </a:lvl7pPr>
            <a:lvl8pPr marL="19974854" indent="0">
              <a:buNone/>
              <a:defRPr sz="5617"/>
            </a:lvl8pPr>
            <a:lvl9pPr marL="22828404" indent="0">
              <a:buNone/>
              <a:defRPr sz="5617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5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249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21949530" y="1714140"/>
            <a:ext cx="6811923" cy="36521914"/>
          </a:xfrm>
        </p:spPr>
        <p:txBody>
          <a:bodyPr vert="eaVert"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1513760" y="1714140"/>
            <a:ext cx="19931182" cy="36521914"/>
          </a:xfrm>
        </p:spPr>
        <p:txBody>
          <a:bodyPr vert="eaVert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237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1513761" y="1714135"/>
            <a:ext cx="27247692" cy="713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513761" y="9987549"/>
            <a:ext cx="27247692" cy="28248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513761" y="39672750"/>
            <a:ext cx="7064217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2E60B-A2E6-EB4E-8227-845A75879DF4}" type="datetimeFigureOut">
              <a:rPr lang="nl-NL" smtClean="0"/>
              <a:t>13-3-2025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0344031" y="39672750"/>
            <a:ext cx="9587151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21697236" y="39672750"/>
            <a:ext cx="7064217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D514F-7F5B-764A-BBC8-956FAF804D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921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853550" rtl="0" eaLnBrk="1" latinLnBrk="0" hangingPunct="1">
        <a:spcBef>
          <a:spcPct val="0"/>
        </a:spcBef>
        <a:buNone/>
        <a:defRPr sz="274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0162" indent="-2140162" algn="l" defTabSz="2853550" rtl="0" eaLnBrk="1" latinLnBrk="0" hangingPunct="1">
        <a:spcBef>
          <a:spcPct val="20000"/>
        </a:spcBef>
        <a:buFont typeface="Arial"/>
        <a:buChar char="•"/>
        <a:defRPr sz="19973" kern="1200">
          <a:solidFill>
            <a:schemeClr val="tx1"/>
          </a:solidFill>
          <a:latin typeface="+mn-lt"/>
          <a:ea typeface="+mn-ea"/>
          <a:cs typeface="+mn-cs"/>
        </a:defRPr>
      </a:lvl1pPr>
      <a:lvl2pPr marL="4637019" indent="-1783469" algn="l" defTabSz="2853550" rtl="0" eaLnBrk="1" latinLnBrk="0" hangingPunct="1">
        <a:spcBef>
          <a:spcPct val="20000"/>
        </a:spcBef>
        <a:buFont typeface="Arial"/>
        <a:buChar char="–"/>
        <a:defRPr sz="17476" kern="1200">
          <a:solidFill>
            <a:schemeClr val="tx1"/>
          </a:solidFill>
          <a:latin typeface="+mn-lt"/>
          <a:ea typeface="+mn-ea"/>
          <a:cs typeface="+mn-cs"/>
        </a:defRPr>
      </a:lvl2pPr>
      <a:lvl3pPr marL="7133876" indent="-1426776" algn="l" defTabSz="2853550" rtl="0" eaLnBrk="1" latinLnBrk="0" hangingPunct="1">
        <a:spcBef>
          <a:spcPct val="20000"/>
        </a:spcBef>
        <a:buFont typeface="Arial"/>
        <a:buChar char="•"/>
        <a:defRPr sz="14979" kern="1200">
          <a:solidFill>
            <a:schemeClr val="tx1"/>
          </a:solidFill>
          <a:latin typeface="+mn-lt"/>
          <a:ea typeface="+mn-ea"/>
          <a:cs typeface="+mn-cs"/>
        </a:defRPr>
      </a:lvl3pPr>
      <a:lvl4pPr marL="9987427" indent="-1426776" algn="l" defTabSz="2853550" rtl="0" eaLnBrk="1" latinLnBrk="0" hangingPunct="1">
        <a:spcBef>
          <a:spcPct val="20000"/>
        </a:spcBef>
        <a:buFont typeface="Arial"/>
        <a:buChar char="–"/>
        <a:defRPr sz="12482" kern="1200">
          <a:solidFill>
            <a:schemeClr val="tx1"/>
          </a:solidFill>
          <a:latin typeface="+mn-lt"/>
          <a:ea typeface="+mn-ea"/>
          <a:cs typeface="+mn-cs"/>
        </a:defRPr>
      </a:lvl4pPr>
      <a:lvl5pPr marL="12840977" indent="-1426776" algn="l" defTabSz="2853550" rtl="0" eaLnBrk="1" latinLnBrk="0" hangingPunct="1">
        <a:spcBef>
          <a:spcPct val="20000"/>
        </a:spcBef>
        <a:buFont typeface="Arial"/>
        <a:buChar char="»"/>
        <a:defRPr sz="12482" kern="1200">
          <a:solidFill>
            <a:schemeClr val="tx1"/>
          </a:solidFill>
          <a:latin typeface="+mn-lt"/>
          <a:ea typeface="+mn-ea"/>
          <a:cs typeface="+mn-cs"/>
        </a:defRPr>
      </a:lvl5pPr>
      <a:lvl6pPr marL="15694527" indent="-1426776" algn="l" defTabSz="2853550" rtl="0" eaLnBrk="1" latinLnBrk="0" hangingPunct="1">
        <a:spcBef>
          <a:spcPct val="20000"/>
        </a:spcBef>
        <a:buFont typeface="Arial"/>
        <a:buChar char="•"/>
        <a:defRPr sz="12482" kern="1200">
          <a:solidFill>
            <a:schemeClr val="tx1"/>
          </a:solidFill>
          <a:latin typeface="+mn-lt"/>
          <a:ea typeface="+mn-ea"/>
          <a:cs typeface="+mn-cs"/>
        </a:defRPr>
      </a:lvl6pPr>
      <a:lvl7pPr marL="18548078" indent="-1426776" algn="l" defTabSz="2853550" rtl="0" eaLnBrk="1" latinLnBrk="0" hangingPunct="1">
        <a:spcBef>
          <a:spcPct val="20000"/>
        </a:spcBef>
        <a:buFont typeface="Arial"/>
        <a:buChar char="•"/>
        <a:defRPr sz="12482" kern="1200">
          <a:solidFill>
            <a:schemeClr val="tx1"/>
          </a:solidFill>
          <a:latin typeface="+mn-lt"/>
          <a:ea typeface="+mn-ea"/>
          <a:cs typeface="+mn-cs"/>
        </a:defRPr>
      </a:lvl7pPr>
      <a:lvl8pPr marL="21401628" indent="-1426776" algn="l" defTabSz="2853550" rtl="0" eaLnBrk="1" latinLnBrk="0" hangingPunct="1">
        <a:spcBef>
          <a:spcPct val="20000"/>
        </a:spcBef>
        <a:buFont typeface="Arial"/>
        <a:buChar char="•"/>
        <a:defRPr sz="12482" kern="1200">
          <a:solidFill>
            <a:schemeClr val="tx1"/>
          </a:solidFill>
          <a:latin typeface="+mn-lt"/>
          <a:ea typeface="+mn-ea"/>
          <a:cs typeface="+mn-cs"/>
        </a:defRPr>
      </a:lvl8pPr>
      <a:lvl9pPr marL="24255180" indent="-1426776" algn="l" defTabSz="2853550" rtl="0" eaLnBrk="1" latinLnBrk="0" hangingPunct="1">
        <a:spcBef>
          <a:spcPct val="20000"/>
        </a:spcBef>
        <a:buFont typeface="Arial"/>
        <a:buChar char="•"/>
        <a:defRPr sz="1248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1pPr>
      <a:lvl2pPr marL="2853550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2pPr>
      <a:lvl3pPr marL="5707101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3pPr>
      <a:lvl4pPr marL="8560651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4pPr>
      <a:lvl5pPr marL="11414201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5pPr>
      <a:lvl6pPr marL="14267753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6pPr>
      <a:lvl7pPr marL="17121303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7pPr>
      <a:lvl8pPr marL="19974854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8pPr>
      <a:lvl9pPr marL="22828404" algn="l" defTabSz="2853550" rtl="0" eaLnBrk="1" latinLnBrk="0" hangingPunct="1">
        <a:defRPr sz="112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4165" y="17405591"/>
            <a:ext cx="13089134" cy="13962726"/>
          </a:xfrm>
          <a:prstGeom prst="rect">
            <a:avLst/>
          </a:prstGeom>
        </p:spPr>
      </p:pic>
      <p:sp>
        <p:nvSpPr>
          <p:cNvPr id="30" name="Afgeronde rechthoek 29"/>
          <p:cNvSpPr/>
          <p:nvPr/>
        </p:nvSpPr>
        <p:spPr>
          <a:xfrm>
            <a:off x="14486021" y="10586021"/>
            <a:ext cx="15325603" cy="4783830"/>
          </a:xfrm>
          <a:prstGeom prst="roundRect">
            <a:avLst/>
          </a:prstGeom>
          <a:solidFill>
            <a:srgbClr val="CED1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Afgeronde rechthoek 1"/>
          <p:cNvSpPr/>
          <p:nvPr/>
        </p:nvSpPr>
        <p:spPr>
          <a:xfrm>
            <a:off x="360947" y="10604045"/>
            <a:ext cx="13883727" cy="4783830"/>
          </a:xfrm>
          <a:prstGeom prst="roundRect">
            <a:avLst/>
          </a:prstGeom>
          <a:solidFill>
            <a:srgbClr val="CED1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038" name="Picture 14" descr="https://www.dtls.nl/wp-content/uploads/2018/07/logo-riv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7200" y="40557958"/>
            <a:ext cx="6762606" cy="2262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ids Universitair Medisch Centrum — Statisfac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993" y="39843868"/>
            <a:ext cx="3509865" cy="350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hthoek 20"/>
          <p:cNvSpPr/>
          <p:nvPr/>
        </p:nvSpPr>
        <p:spPr>
          <a:xfrm>
            <a:off x="0" y="3"/>
            <a:ext cx="30275213" cy="6061301"/>
          </a:xfrm>
          <a:prstGeom prst="rect">
            <a:avLst/>
          </a:prstGeom>
          <a:solidFill>
            <a:srgbClr val="0042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51304" dirty="0"/>
          </a:p>
        </p:txBody>
      </p:sp>
      <p:sp>
        <p:nvSpPr>
          <p:cNvPr id="22" name="Titel 1"/>
          <p:cNvSpPr txBox="1">
            <a:spLocks/>
          </p:cNvSpPr>
          <p:nvPr/>
        </p:nvSpPr>
        <p:spPr>
          <a:xfrm>
            <a:off x="914400" y="1643251"/>
            <a:ext cx="28557415" cy="2774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2853550" rtl="0" eaLnBrk="1" latinLnBrk="0" hangingPunct="1">
              <a:spcBef>
                <a:spcPct val="0"/>
              </a:spcBef>
              <a:buNone/>
              <a:defRPr sz="2746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b="1" dirty="0">
                <a:solidFill>
                  <a:schemeClr val="bg1"/>
                </a:solidFill>
              </a:rPr>
              <a:t>Whole-genome characterisation of </a:t>
            </a:r>
            <a:r>
              <a:rPr lang="en-GB" sz="9600" b="1" i="1" dirty="0">
                <a:solidFill>
                  <a:schemeClr val="bg1"/>
                </a:solidFill>
              </a:rPr>
              <a:t>Escherichia coli</a:t>
            </a:r>
            <a:r>
              <a:rPr lang="en-GB" sz="9600" b="1" dirty="0">
                <a:solidFill>
                  <a:schemeClr val="bg1"/>
                </a:solidFill>
              </a:rPr>
              <a:t> isolates from older women with urinary tract infection and asymptomatic bacteriuria</a:t>
            </a:r>
            <a:endParaRPr lang="nl-NL" sz="9600" dirty="0">
              <a:solidFill>
                <a:schemeClr val="bg1"/>
              </a:solidFill>
            </a:endParaRPr>
          </a:p>
        </p:txBody>
      </p:sp>
      <p:sp>
        <p:nvSpPr>
          <p:cNvPr id="24" name="Subtitel 2"/>
          <p:cNvSpPr txBox="1">
            <a:spLocks/>
          </p:cNvSpPr>
          <p:nvPr/>
        </p:nvSpPr>
        <p:spPr>
          <a:xfrm>
            <a:off x="842554" y="6132272"/>
            <a:ext cx="29432659" cy="425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997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53550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747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07101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4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560651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248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14201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248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4267753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248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7121303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248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9974854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248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2828404" indent="0" algn="ctr" defTabSz="2853550" rtl="0" eaLnBrk="1" latinLnBrk="0" hangingPunct="1">
              <a:spcBef>
                <a:spcPct val="20000"/>
              </a:spcBef>
              <a:buFont typeface="Arial"/>
              <a:buNone/>
              <a:defRPr sz="1248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nl-NL" sz="8000" b="1" dirty="0" smtClean="0">
                <a:solidFill>
                  <a:srgbClr val="FF6B00"/>
                </a:solidFill>
              </a:rPr>
              <a:t>M. Mulder</a:t>
            </a:r>
            <a:r>
              <a:rPr lang="nl-NL" sz="8000" b="1" baseline="30000" dirty="0" smtClean="0">
                <a:solidFill>
                  <a:srgbClr val="FF6B00"/>
                </a:solidFill>
              </a:rPr>
              <a:t>1</a:t>
            </a:r>
            <a:r>
              <a:rPr lang="nl-NL" sz="8000" b="1" dirty="0" smtClean="0">
                <a:solidFill>
                  <a:srgbClr val="FF6B00"/>
                </a:solidFill>
              </a:rPr>
              <a:t>, M.P. Bilsen</a:t>
            </a:r>
            <a:r>
              <a:rPr lang="nl-NL" sz="8000" b="1" baseline="30000" dirty="0" smtClean="0">
                <a:solidFill>
                  <a:srgbClr val="FF6B00"/>
                </a:solidFill>
              </a:rPr>
              <a:t>2</a:t>
            </a:r>
            <a:r>
              <a:rPr lang="nl-NL" sz="8000" b="1" dirty="0" smtClean="0">
                <a:solidFill>
                  <a:srgbClr val="FF6B00"/>
                </a:solidFill>
              </a:rPr>
              <a:t>, M.T. van der Beek</a:t>
            </a:r>
            <a:r>
              <a:rPr lang="nl-NL" sz="8000" b="1" baseline="30000" dirty="0" smtClean="0">
                <a:solidFill>
                  <a:srgbClr val="FF6B00"/>
                </a:solidFill>
              </a:rPr>
              <a:t>2</a:t>
            </a:r>
            <a:r>
              <a:rPr lang="nl-NL" sz="8000" b="1" baseline="-25000" dirty="0" smtClean="0">
                <a:solidFill>
                  <a:srgbClr val="FF6B00"/>
                </a:solidFill>
              </a:rPr>
              <a:t>,</a:t>
            </a:r>
            <a:r>
              <a:rPr lang="nl-NL" sz="8000" b="1" dirty="0" smtClean="0">
                <a:solidFill>
                  <a:srgbClr val="FF6B00"/>
                </a:solidFill>
              </a:rPr>
              <a:t> A.P.A Hendrickx</a:t>
            </a:r>
            <a:r>
              <a:rPr lang="nl-NL" sz="8000" b="1" baseline="30000" dirty="0" smtClean="0">
                <a:solidFill>
                  <a:srgbClr val="FF6B00"/>
                </a:solidFill>
              </a:rPr>
              <a:t>3</a:t>
            </a:r>
            <a:r>
              <a:rPr lang="nl-NL" sz="8000" b="1" dirty="0" smtClean="0">
                <a:solidFill>
                  <a:srgbClr val="FF6B00"/>
                </a:solidFill>
              </a:rPr>
              <a:t>, M.M.C. Lambregts</a:t>
            </a:r>
            <a:r>
              <a:rPr lang="nl-NL" sz="8000" b="1" baseline="30000" dirty="0" smtClean="0">
                <a:solidFill>
                  <a:srgbClr val="FF6B00"/>
                </a:solidFill>
              </a:rPr>
              <a:t>2</a:t>
            </a:r>
            <a:r>
              <a:rPr lang="nl-NL" sz="8000" b="1" dirty="0" smtClean="0">
                <a:solidFill>
                  <a:srgbClr val="FF6B00"/>
                </a:solidFill>
              </a:rPr>
              <a:t>, </a:t>
            </a:r>
          </a:p>
          <a:p>
            <a:pPr algn="l"/>
            <a:r>
              <a:rPr lang="nl-NL" sz="8000" b="1" dirty="0" smtClean="0">
                <a:solidFill>
                  <a:srgbClr val="FF6B00"/>
                </a:solidFill>
              </a:rPr>
              <a:t>C. Schneeberger-van der Linden</a:t>
            </a:r>
            <a:r>
              <a:rPr lang="nl-NL" sz="8000" b="1" baseline="30000" dirty="0" smtClean="0">
                <a:solidFill>
                  <a:srgbClr val="FF6B00"/>
                </a:solidFill>
              </a:rPr>
              <a:t>4</a:t>
            </a:r>
            <a:endParaRPr lang="nl-NL" sz="8000" b="1" dirty="0" smtClean="0">
              <a:solidFill>
                <a:srgbClr val="FF6B00"/>
              </a:solidFill>
            </a:endParaRPr>
          </a:p>
          <a:p>
            <a:pPr algn="l"/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1.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Department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of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Medical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Microbiology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,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Infectious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diseases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and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Infection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control, Maastricht UMC+, The Netherlands. </a:t>
            </a:r>
          </a:p>
          <a:p>
            <a:pPr algn="l"/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2. Leiden University Center of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Infectious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Diseases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(LUCID), Leiden University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Medical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Center, Leiden, The Netherlands</a:t>
            </a:r>
          </a:p>
          <a:p>
            <a:pPr algn="l"/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3. </a:t>
            </a:r>
            <a:r>
              <a:rPr lang="nl-NL" sz="4300" dirty="0">
                <a:solidFill>
                  <a:srgbClr val="FF6B00"/>
                </a:solidFill>
                <a:latin typeface="TheSans LP5 Plain"/>
                <a:cs typeface="TheSans LP5 Plain"/>
              </a:rPr>
              <a:t>Center </a:t>
            </a:r>
            <a:r>
              <a:rPr lang="nl-NL" sz="4300" dirty="0" err="1">
                <a:solidFill>
                  <a:srgbClr val="FF6B00"/>
                </a:solidFill>
                <a:latin typeface="TheSans LP5 Plain"/>
                <a:cs typeface="TheSans LP5 Plain"/>
              </a:rPr>
              <a:t>for</a:t>
            </a:r>
            <a:r>
              <a:rPr lang="nl-NL" sz="4300" dirty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>
                <a:solidFill>
                  <a:srgbClr val="FF6B00"/>
                </a:solidFill>
                <a:latin typeface="TheSans LP5 Plain"/>
                <a:cs typeface="TheSans LP5 Plain"/>
              </a:rPr>
              <a:t>Infectious</a:t>
            </a:r>
            <a:r>
              <a:rPr lang="nl-NL" sz="4300" dirty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>
                <a:solidFill>
                  <a:srgbClr val="FF6B00"/>
                </a:solidFill>
                <a:latin typeface="TheSans LP5 Plain"/>
                <a:cs typeface="TheSans LP5 Plain"/>
              </a:rPr>
              <a:t>Disease</a:t>
            </a:r>
            <a:r>
              <a:rPr lang="nl-NL" sz="4300" dirty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Control, National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Institute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for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Public Health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and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the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Environment (RIVM), Bilthoven, The Netherlands. </a:t>
            </a:r>
          </a:p>
          <a:p>
            <a:pPr algn="l"/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4.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Infectious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Diseases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in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Primary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Care, </a:t>
            </a:r>
            <a:r>
              <a:rPr lang="nl-NL" sz="4300" dirty="0" err="1" smtClean="0">
                <a:solidFill>
                  <a:srgbClr val="FF6B00"/>
                </a:solidFill>
                <a:latin typeface="TheSans LP5 Plain"/>
                <a:cs typeface="TheSans LP5 Plain"/>
              </a:rPr>
              <a:t>Nivel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, Utrecht, The Netherlands. </a:t>
            </a:r>
          </a:p>
          <a:p>
            <a:pPr algn="l"/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Contact: Caroline Schneeberger-van der Linden </a:t>
            </a:r>
            <a:r>
              <a:rPr lang="nl-NL" sz="4300" u="sng" dirty="0" smtClean="0">
                <a:solidFill>
                  <a:srgbClr val="0070C0"/>
                </a:solidFill>
                <a:latin typeface="TheSans LP5 Plain"/>
                <a:cs typeface="TheSans LP5 Plain"/>
              </a:rPr>
              <a:t>C.Schneeberger@nivel.nl</a:t>
            </a:r>
            <a:r>
              <a:rPr lang="nl-NL" sz="4300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, Marlies Mulder </a:t>
            </a:r>
            <a:r>
              <a:rPr lang="nl-NL" sz="4300" u="sng" dirty="0" smtClean="0">
                <a:solidFill>
                  <a:srgbClr val="0070C0"/>
                </a:solidFill>
                <a:latin typeface="TheSans LP5 Plain"/>
                <a:cs typeface="TheSans LP5 Plain"/>
              </a:rPr>
              <a:t>marlies.mulder@mumc.nl</a:t>
            </a:r>
            <a:r>
              <a:rPr lang="nl-NL" sz="4300" u="sng" dirty="0" smtClean="0">
                <a:solidFill>
                  <a:srgbClr val="FF6B00"/>
                </a:solidFill>
                <a:latin typeface="TheSans LP5 Plain"/>
                <a:cs typeface="TheSans LP5 Plain"/>
              </a:rPr>
              <a:t> </a:t>
            </a:r>
          </a:p>
        </p:txBody>
      </p:sp>
      <p:cxnSp>
        <p:nvCxnSpPr>
          <p:cNvPr id="25" name="Rechte verbindingslijn 24"/>
          <p:cNvCxnSpPr/>
          <p:nvPr/>
        </p:nvCxnSpPr>
        <p:spPr>
          <a:xfrm>
            <a:off x="-256132" y="40377498"/>
            <a:ext cx="30791656" cy="0"/>
          </a:xfrm>
          <a:prstGeom prst="line">
            <a:avLst/>
          </a:prstGeom>
          <a:ln w="76200">
            <a:solidFill>
              <a:srgbClr val="0054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ubtitel 2"/>
          <p:cNvSpPr txBox="1">
            <a:spLocks/>
          </p:cNvSpPr>
          <p:nvPr/>
        </p:nvSpPr>
        <p:spPr>
          <a:xfrm>
            <a:off x="-14654068" y="37385658"/>
            <a:ext cx="52399146" cy="25890859"/>
          </a:xfrm>
          <a:prstGeom prst="rect">
            <a:avLst/>
          </a:prstGeom>
        </p:spPr>
        <p:txBody>
          <a:bodyPr vert="horz" lIns="570718" tIns="285359" rIns="570718" bIns="285359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nl-NL" sz="9362" dirty="0">
              <a:solidFill>
                <a:srgbClr val="DA5120"/>
              </a:solidFill>
              <a:latin typeface="TheSans LP5 Plain"/>
              <a:cs typeface="TheSans LP5 Plain"/>
            </a:endParaRPr>
          </a:p>
        </p:txBody>
      </p:sp>
      <p:sp>
        <p:nvSpPr>
          <p:cNvPr id="27" name="Subtitel 2"/>
          <p:cNvSpPr txBox="1">
            <a:spLocks/>
          </p:cNvSpPr>
          <p:nvPr/>
        </p:nvSpPr>
        <p:spPr>
          <a:xfrm>
            <a:off x="7397352" y="79519229"/>
            <a:ext cx="11715887" cy="1672305"/>
          </a:xfrm>
          <a:prstGeom prst="rect">
            <a:avLst/>
          </a:prstGeom>
        </p:spPr>
        <p:txBody>
          <a:bodyPr vert="horz" lIns="570718" tIns="285359" rIns="570718" bIns="285359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nl-NL" sz="9362" dirty="0">
              <a:solidFill>
                <a:srgbClr val="DA5120"/>
              </a:solidFill>
              <a:latin typeface="TheSans LP5 Plain"/>
              <a:cs typeface="TheSans LP5 Plain"/>
            </a:endParaRPr>
          </a:p>
        </p:txBody>
      </p:sp>
      <p:sp>
        <p:nvSpPr>
          <p:cNvPr id="9" name="Tekstvak 8"/>
          <p:cNvSpPr txBox="1"/>
          <p:nvPr/>
        </p:nvSpPr>
        <p:spPr>
          <a:xfrm>
            <a:off x="33457115" y="40568560"/>
            <a:ext cx="7619456" cy="6052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/>
          </a:p>
        </p:txBody>
      </p:sp>
      <p:pic>
        <p:nvPicPr>
          <p:cNvPr id="18" name="Afbeelding 2" descr="LOGO UM_MUMC+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221" y="40893897"/>
            <a:ext cx="9293665" cy="932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5446221" y="41663931"/>
            <a:ext cx="137096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nl-NL" sz="3200" b="1" dirty="0">
                <a:solidFill>
                  <a:srgbClr val="0300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Faculty of Health, Medicine and Life Sciences</a:t>
            </a:r>
            <a:endParaRPr lang="en-US" altLang="nl-NL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" name="Picture 2" descr="Human resources - Free business ic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685" y="15828344"/>
            <a:ext cx="2070048" cy="207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ivel | Zorginnovati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1669" y="40557958"/>
            <a:ext cx="2530445" cy="189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Afbeelding 33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14" y="32308803"/>
            <a:ext cx="10670060" cy="7027991"/>
          </a:xfrm>
          <a:prstGeom prst="rect">
            <a:avLst/>
          </a:prstGeom>
        </p:spPr>
      </p:pic>
      <p:pic>
        <p:nvPicPr>
          <p:cNvPr id="35" name="Afbeelding 34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864" y="33368719"/>
            <a:ext cx="4284801" cy="5722347"/>
          </a:xfrm>
          <a:prstGeom prst="rect">
            <a:avLst/>
          </a:prstGeom>
        </p:spPr>
      </p:pic>
      <p:pic>
        <p:nvPicPr>
          <p:cNvPr id="1040" name="Picture 16" descr="Losse plakletter / letter sticker - Standaard Vraagteken: ?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53" y="11509954"/>
            <a:ext cx="2752399" cy="275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kstvak 10"/>
          <p:cNvSpPr txBox="1"/>
          <p:nvPr/>
        </p:nvSpPr>
        <p:spPr>
          <a:xfrm>
            <a:off x="3682306" y="10904221"/>
            <a:ext cx="1034924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Do pathogen-related </a:t>
            </a:r>
            <a:r>
              <a:rPr lang="en-GB" sz="4400" dirty="0"/>
              <a:t>factors related to </a:t>
            </a:r>
            <a:r>
              <a:rPr lang="en-GB" sz="4400" i="1" dirty="0"/>
              <a:t>E. coli</a:t>
            </a:r>
            <a:r>
              <a:rPr lang="en-GB" sz="4400" dirty="0"/>
              <a:t> differ between older women with UTI and those with </a:t>
            </a:r>
            <a:r>
              <a:rPr lang="en-GB" sz="4400" dirty="0" smtClean="0"/>
              <a:t>ASB? </a:t>
            </a:r>
          </a:p>
          <a:p>
            <a:endParaRPr lang="en-GB" sz="4400" dirty="0" smtClean="0"/>
          </a:p>
          <a:p>
            <a:r>
              <a:rPr lang="en-GB" sz="4400" dirty="0" smtClean="0"/>
              <a:t>Is there persistence </a:t>
            </a:r>
            <a:r>
              <a:rPr lang="en-GB" sz="4400" dirty="0"/>
              <a:t>of genetically the same </a:t>
            </a:r>
            <a:r>
              <a:rPr lang="en-GB" sz="4400" i="1" dirty="0"/>
              <a:t>E. coli </a:t>
            </a:r>
            <a:r>
              <a:rPr lang="en-GB" sz="4400" dirty="0"/>
              <a:t>in these older </a:t>
            </a:r>
            <a:r>
              <a:rPr lang="en-GB" sz="4400" dirty="0" smtClean="0"/>
              <a:t>women with ASB?</a:t>
            </a:r>
            <a:endParaRPr lang="nl-NL" sz="4400" dirty="0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6221" y="33415841"/>
            <a:ext cx="2140331" cy="1773417"/>
          </a:xfrm>
          <a:prstGeom prst="rect">
            <a:avLst/>
          </a:prstGeom>
        </p:spPr>
      </p:pic>
      <p:pic>
        <p:nvPicPr>
          <p:cNvPr id="1042" name="Picture 18" descr="Losse plakletter / letter sticker | Uitroepteken | ! | Stickey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9671" y="11495132"/>
            <a:ext cx="2752399" cy="275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kstvak 37"/>
          <p:cNvSpPr txBox="1"/>
          <p:nvPr/>
        </p:nvSpPr>
        <p:spPr>
          <a:xfrm>
            <a:off x="17722155" y="10746556"/>
            <a:ext cx="1221327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In both groups many different sequence types (ST). </a:t>
            </a:r>
          </a:p>
          <a:p>
            <a:endParaRPr lang="en-GB" sz="1000" dirty="0" smtClean="0"/>
          </a:p>
          <a:p>
            <a:r>
              <a:rPr lang="en-GB" sz="4400" dirty="0" smtClean="0"/>
              <a:t>Some differences in individual putative </a:t>
            </a:r>
            <a:r>
              <a:rPr lang="en-GB" sz="4400" dirty="0" err="1" smtClean="0"/>
              <a:t>urovirulence</a:t>
            </a:r>
            <a:r>
              <a:rPr lang="en-GB" sz="4400" dirty="0" smtClean="0"/>
              <a:t> factors (PUFs), but no significant difference in the number of virulence factors. </a:t>
            </a:r>
          </a:p>
          <a:p>
            <a:endParaRPr lang="en-GB" sz="1000" dirty="0" smtClean="0"/>
          </a:p>
          <a:p>
            <a:r>
              <a:rPr lang="en-GB" sz="4400" dirty="0" smtClean="0"/>
              <a:t>Genetically similar </a:t>
            </a:r>
            <a:r>
              <a:rPr lang="en-GB" sz="4400" i="1" dirty="0" smtClean="0"/>
              <a:t>E. coli </a:t>
            </a:r>
            <a:r>
              <a:rPr lang="en-GB" sz="4400" dirty="0" smtClean="0"/>
              <a:t>isolates in two consecutive samples (2-4 weeks apart) </a:t>
            </a:r>
            <a:r>
              <a:rPr lang="en-GB" sz="4400" smtClean="0"/>
              <a:t>of women </a:t>
            </a:r>
            <a:r>
              <a:rPr lang="en-GB" sz="4400" dirty="0" smtClean="0"/>
              <a:t>with ASB. 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3594909" y="15788754"/>
            <a:ext cx="258769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600" dirty="0" smtClean="0"/>
              <a:t>46 </a:t>
            </a:r>
            <a:r>
              <a:rPr lang="nl-NL" sz="3600" dirty="0" err="1" smtClean="0"/>
              <a:t>Women</a:t>
            </a:r>
            <a:r>
              <a:rPr lang="nl-NL" sz="3600" dirty="0" smtClean="0"/>
              <a:t> ≥65 </a:t>
            </a:r>
            <a:r>
              <a:rPr lang="nl-NL" sz="3600" dirty="0" err="1" smtClean="0"/>
              <a:t>years</a:t>
            </a:r>
            <a:r>
              <a:rPr lang="nl-NL" sz="3600" dirty="0" smtClean="0"/>
              <a:t> (31 UTI </a:t>
            </a:r>
            <a:r>
              <a:rPr lang="nl-NL" sz="3600" dirty="0" err="1" smtClean="0"/>
              <a:t>patients</a:t>
            </a:r>
            <a:r>
              <a:rPr lang="nl-NL" sz="3600" dirty="0" smtClean="0"/>
              <a:t> (≥ 2 new-</a:t>
            </a:r>
            <a:r>
              <a:rPr lang="nl-NL" sz="3600" dirty="0" err="1" smtClean="0"/>
              <a:t>onset</a:t>
            </a:r>
            <a:r>
              <a:rPr lang="nl-NL" sz="3600" dirty="0" smtClean="0"/>
              <a:t> </a:t>
            </a:r>
            <a:r>
              <a:rPr lang="nl-NL" sz="3600" dirty="0" err="1" smtClean="0"/>
              <a:t>lower</a:t>
            </a:r>
            <a:r>
              <a:rPr lang="nl-NL" sz="3600" dirty="0" smtClean="0"/>
              <a:t> </a:t>
            </a:r>
            <a:r>
              <a:rPr lang="nl-NL" sz="3600" dirty="0" err="1" smtClean="0"/>
              <a:t>urinary</a:t>
            </a:r>
            <a:r>
              <a:rPr lang="nl-NL" sz="3600" dirty="0" smtClean="0"/>
              <a:t> </a:t>
            </a:r>
            <a:r>
              <a:rPr lang="nl-NL" sz="3600" dirty="0" err="1" smtClean="0"/>
              <a:t>tract</a:t>
            </a:r>
            <a:r>
              <a:rPr lang="nl-NL" sz="3600" dirty="0" smtClean="0"/>
              <a:t> </a:t>
            </a:r>
            <a:r>
              <a:rPr lang="nl-NL" sz="3600" dirty="0" err="1" smtClean="0"/>
              <a:t>symptoms</a:t>
            </a:r>
            <a:r>
              <a:rPr lang="nl-NL" sz="3600" dirty="0" smtClean="0"/>
              <a:t>, </a:t>
            </a:r>
            <a:r>
              <a:rPr lang="nl-NL" sz="3600" dirty="0" err="1" smtClean="0"/>
              <a:t>pyuria</a:t>
            </a:r>
            <a:r>
              <a:rPr lang="nl-NL" sz="3600" dirty="0" smtClean="0"/>
              <a:t> </a:t>
            </a:r>
            <a:r>
              <a:rPr lang="nl-NL" sz="3600" dirty="0" err="1" smtClean="0"/>
              <a:t>and</a:t>
            </a:r>
            <a:r>
              <a:rPr lang="nl-NL" sz="3600" dirty="0" smtClean="0"/>
              <a:t> </a:t>
            </a:r>
            <a:r>
              <a:rPr lang="nl-NL" sz="3600" dirty="0" err="1" smtClean="0"/>
              <a:t>bacteruria</a:t>
            </a:r>
            <a:r>
              <a:rPr lang="nl-NL" sz="3600" dirty="0" smtClean="0"/>
              <a:t>) </a:t>
            </a:r>
            <a:r>
              <a:rPr lang="nl-NL" sz="3600" dirty="0" err="1" smtClean="0"/>
              <a:t>and</a:t>
            </a:r>
            <a:r>
              <a:rPr lang="nl-NL" sz="3600" dirty="0" smtClean="0"/>
              <a:t> 15 ASB </a:t>
            </a:r>
            <a:r>
              <a:rPr lang="nl-NL" sz="3600" dirty="0" err="1" smtClean="0"/>
              <a:t>patients</a:t>
            </a:r>
            <a:r>
              <a:rPr lang="nl-NL" sz="3600" dirty="0" smtClean="0"/>
              <a:t> (</a:t>
            </a:r>
            <a:r>
              <a:rPr lang="nl-NL" sz="3600" i="1" dirty="0" smtClean="0"/>
              <a:t>E. coli</a:t>
            </a:r>
            <a:r>
              <a:rPr lang="nl-NL" sz="3600" dirty="0" smtClean="0"/>
              <a:t> ≥ 10</a:t>
            </a:r>
            <a:r>
              <a:rPr lang="nl-NL" sz="3600" baseline="30000" dirty="0" smtClean="0"/>
              <a:t>4</a:t>
            </a:r>
            <a:r>
              <a:rPr lang="nl-NL" sz="3600" dirty="0" smtClean="0"/>
              <a:t> CFU/</a:t>
            </a:r>
            <a:r>
              <a:rPr lang="nl-NL" sz="3600" dirty="0" err="1" smtClean="0"/>
              <a:t>mL</a:t>
            </a:r>
            <a:r>
              <a:rPr lang="nl-NL" sz="3600" dirty="0" smtClean="0"/>
              <a:t> in </a:t>
            </a:r>
            <a:r>
              <a:rPr lang="nl-NL" sz="3600" dirty="0" err="1" smtClean="0"/>
              <a:t>two</a:t>
            </a:r>
            <a:r>
              <a:rPr lang="nl-NL" sz="3600" dirty="0" smtClean="0"/>
              <a:t> </a:t>
            </a:r>
            <a:r>
              <a:rPr lang="nl-NL" sz="3600" dirty="0" err="1" smtClean="0"/>
              <a:t>consecutive</a:t>
            </a:r>
            <a:r>
              <a:rPr lang="nl-NL" sz="3600" dirty="0" smtClean="0"/>
              <a:t> samples. </a:t>
            </a:r>
          </a:p>
          <a:p>
            <a:r>
              <a:rPr lang="nl-NL" sz="3600" dirty="0" err="1" smtClean="0"/>
              <a:t>Genetical</a:t>
            </a:r>
            <a:r>
              <a:rPr lang="nl-NL" sz="3600" dirty="0" smtClean="0"/>
              <a:t> analysis of E. coli </a:t>
            </a:r>
            <a:r>
              <a:rPr lang="nl-NL" sz="3600" dirty="0" err="1" smtClean="0"/>
              <a:t>isolates</a:t>
            </a:r>
            <a:r>
              <a:rPr lang="nl-NL" sz="3600" dirty="0" smtClean="0"/>
              <a:t> (ST,  Clermont type, </a:t>
            </a:r>
            <a:r>
              <a:rPr lang="nl-NL" sz="3600" dirty="0" err="1" smtClean="0"/>
              <a:t>PUFs</a:t>
            </a:r>
            <a:r>
              <a:rPr lang="nl-NL" sz="3600" dirty="0" smtClean="0"/>
              <a:t>)</a:t>
            </a:r>
            <a:endParaRPr lang="nl-NL" sz="3600" dirty="0"/>
          </a:p>
        </p:txBody>
      </p:sp>
      <p:graphicFrame>
        <p:nvGraphicFramePr>
          <p:cNvPr id="17" name="Tabel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72798"/>
              </p:ext>
            </p:extLst>
          </p:nvPr>
        </p:nvGraphicFramePr>
        <p:xfrm>
          <a:off x="1076679" y="19655272"/>
          <a:ext cx="11462658" cy="1213188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642971">
                  <a:extLst>
                    <a:ext uri="{9D8B030D-6E8A-4147-A177-3AD203B41FA5}">
                      <a16:colId xmlns:a16="http://schemas.microsoft.com/office/drawing/2014/main" val="32494421"/>
                    </a:ext>
                  </a:extLst>
                </a:gridCol>
                <a:gridCol w="3475015">
                  <a:extLst>
                    <a:ext uri="{9D8B030D-6E8A-4147-A177-3AD203B41FA5}">
                      <a16:colId xmlns:a16="http://schemas.microsoft.com/office/drawing/2014/main" val="904729593"/>
                    </a:ext>
                  </a:extLst>
                </a:gridCol>
                <a:gridCol w="2554871">
                  <a:extLst>
                    <a:ext uri="{9D8B030D-6E8A-4147-A177-3AD203B41FA5}">
                      <a16:colId xmlns:a16="http://schemas.microsoft.com/office/drawing/2014/main" val="3591169710"/>
                    </a:ext>
                  </a:extLst>
                </a:gridCol>
                <a:gridCol w="2789801">
                  <a:extLst>
                    <a:ext uri="{9D8B030D-6E8A-4147-A177-3AD203B41FA5}">
                      <a16:colId xmlns:a16="http://schemas.microsoft.com/office/drawing/2014/main" val="4289977397"/>
                    </a:ext>
                  </a:extLst>
                </a:gridCol>
              </a:tblGrid>
              <a:tr h="7760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solidFill>
                            <a:schemeClr val="bg1"/>
                          </a:solidFill>
                          <a:effectLst/>
                        </a:rPr>
                        <a:t>ST type</a:t>
                      </a:r>
                      <a:endParaRPr lang="nl-NL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solidFill>
                            <a:schemeClr val="bg1"/>
                          </a:solidFill>
                          <a:effectLst/>
                        </a:rPr>
                        <a:t>Overall, </a:t>
                      </a:r>
                      <a:endParaRPr lang="nl-NL" sz="2400" dirty="0" smtClean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smtClean="0">
                          <a:solidFill>
                            <a:schemeClr val="bg1"/>
                          </a:solidFill>
                          <a:effectLst/>
                        </a:rPr>
                        <a:t>n </a:t>
                      </a:r>
                      <a:r>
                        <a:rPr lang="nl-NL" sz="2400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nl-NL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solidFill>
                            <a:schemeClr val="bg1"/>
                          </a:solidFill>
                          <a:effectLst/>
                        </a:rPr>
                        <a:t>UTI, </a:t>
                      </a:r>
                      <a:endParaRPr lang="nl-NL" sz="2400" dirty="0" smtClean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smtClean="0">
                          <a:solidFill>
                            <a:schemeClr val="bg1"/>
                          </a:solidFill>
                          <a:effectLst/>
                        </a:rPr>
                        <a:t>n </a:t>
                      </a:r>
                      <a:r>
                        <a:rPr lang="nl-NL" sz="2400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nl-NL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solidFill>
                            <a:schemeClr val="bg1"/>
                          </a:solidFill>
                          <a:effectLst/>
                        </a:rPr>
                        <a:t>ASB, </a:t>
                      </a:r>
                      <a:endParaRPr lang="nl-NL" sz="2400" dirty="0" smtClean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smtClean="0">
                          <a:solidFill>
                            <a:schemeClr val="bg1"/>
                          </a:solidFill>
                          <a:effectLst/>
                        </a:rPr>
                        <a:t>n </a:t>
                      </a:r>
                      <a:r>
                        <a:rPr lang="nl-NL" sz="2400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nl-NL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35746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10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2 (4.3)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2 (6.5)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0 (0)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638293595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12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2 (4.3)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(3.2)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(6.7)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866054181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59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2 (4.3)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2 (6.5)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0 (0)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424266102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69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4 (8.7)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2 (6.5)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2 (13.3)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899725585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73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4 (8.7)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3 (9.7)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(6.7)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097068918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88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(3.2)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0 (0)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004691510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91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(2.2)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(6.7)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189142240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95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3 (6.5)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(3.2)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2 (13.3)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551693411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127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(2.2)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(3.2)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520626603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131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2 (4.3)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0 (0)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2 (13.3)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834584093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141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4 (8.7)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4 (12.9)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6923537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162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0 (0)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(6.7)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72646662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174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(2.2)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(3.2)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8577964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349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2 (4.3)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2 (6.5)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459368243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357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(3.2)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450040386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538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(6.7)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569128803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569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(3.2)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(0.0)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574021595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602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(3.2)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226541314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636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(3.2)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117987572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963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 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(6.7)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200751238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998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2 (4.3)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2 (6.5)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4106544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1049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(3.2)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810445722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1193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(6.7)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896213431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1444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(3.2)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058537757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2521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 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(3.2)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177513545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4360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(3.2)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780942373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5420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0 (0)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(6.7)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381529514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8464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(3.2)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823742458"/>
                  </a:ext>
                </a:extLst>
              </a:tr>
              <a:tr h="3792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undefined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1 (2.2)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0 (0)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1 (6.7)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363364817"/>
                  </a:ext>
                </a:extLst>
              </a:tr>
            </a:tbl>
          </a:graphicData>
        </a:graphic>
      </p:graphicFrame>
      <p:graphicFrame>
        <p:nvGraphicFramePr>
          <p:cNvPr id="29" name="Tabel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414245"/>
              </p:ext>
            </p:extLst>
          </p:nvPr>
        </p:nvGraphicFramePr>
        <p:xfrm>
          <a:off x="13275498" y="27137462"/>
          <a:ext cx="16536126" cy="1293632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414047">
                  <a:extLst>
                    <a:ext uri="{9D8B030D-6E8A-4147-A177-3AD203B41FA5}">
                      <a16:colId xmlns:a16="http://schemas.microsoft.com/office/drawing/2014/main" val="2658052730"/>
                    </a:ext>
                  </a:extLst>
                </a:gridCol>
                <a:gridCol w="7897971">
                  <a:extLst>
                    <a:ext uri="{9D8B030D-6E8A-4147-A177-3AD203B41FA5}">
                      <a16:colId xmlns:a16="http://schemas.microsoft.com/office/drawing/2014/main" val="733529312"/>
                    </a:ext>
                  </a:extLst>
                </a:gridCol>
                <a:gridCol w="2310760">
                  <a:extLst>
                    <a:ext uri="{9D8B030D-6E8A-4147-A177-3AD203B41FA5}">
                      <a16:colId xmlns:a16="http://schemas.microsoft.com/office/drawing/2014/main" val="2420392087"/>
                    </a:ext>
                  </a:extLst>
                </a:gridCol>
                <a:gridCol w="2494611">
                  <a:extLst>
                    <a:ext uri="{9D8B030D-6E8A-4147-A177-3AD203B41FA5}">
                      <a16:colId xmlns:a16="http://schemas.microsoft.com/office/drawing/2014/main" val="1882150186"/>
                    </a:ext>
                  </a:extLst>
                </a:gridCol>
                <a:gridCol w="2418737">
                  <a:extLst>
                    <a:ext uri="{9D8B030D-6E8A-4147-A177-3AD203B41FA5}">
                      <a16:colId xmlns:a16="http://schemas.microsoft.com/office/drawing/2014/main" val="581650056"/>
                    </a:ext>
                  </a:extLst>
                </a:gridCol>
              </a:tblGrid>
              <a:tr h="4130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smtClean="0">
                          <a:solidFill>
                            <a:schemeClr val="bg1"/>
                          </a:solidFill>
                          <a:effectLst/>
                        </a:rPr>
                        <a:t>PUF</a:t>
                      </a:r>
                      <a:endParaRPr lang="nl-NL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solidFill>
                            <a:schemeClr val="bg1"/>
                          </a:solidFill>
                          <a:effectLst/>
                        </a:rPr>
                        <a:t>PUF </a:t>
                      </a:r>
                      <a:r>
                        <a:rPr lang="nl-NL" sz="2400" dirty="0" err="1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nl-NL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solidFill>
                            <a:schemeClr val="bg1"/>
                          </a:solidFill>
                          <a:effectLst/>
                        </a:rPr>
                        <a:t>Overall, n (%)</a:t>
                      </a:r>
                      <a:endParaRPr lang="nl-NL" sz="2400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solidFill>
                            <a:schemeClr val="bg1"/>
                          </a:solidFill>
                          <a:effectLst/>
                        </a:rPr>
                        <a:t>UTI </a:t>
                      </a:r>
                      <a:r>
                        <a:rPr lang="nl-NL" sz="2400" i="0" dirty="0" err="1">
                          <a:solidFill>
                            <a:schemeClr val="bg1"/>
                          </a:solidFill>
                          <a:effectLst/>
                        </a:rPr>
                        <a:t>group</a:t>
                      </a:r>
                      <a:r>
                        <a:rPr lang="nl-NL" sz="2400" i="0" dirty="0">
                          <a:solidFill>
                            <a:schemeClr val="bg1"/>
                          </a:solidFill>
                          <a:effectLst/>
                        </a:rPr>
                        <a:t>, n  (%)</a:t>
                      </a:r>
                      <a:endParaRPr lang="nl-NL" sz="2400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solidFill>
                            <a:schemeClr val="bg1"/>
                          </a:solidFill>
                          <a:effectLst/>
                        </a:rPr>
                        <a:t>ASB </a:t>
                      </a:r>
                      <a:r>
                        <a:rPr lang="nl-NL" sz="2400" i="0" dirty="0" err="1">
                          <a:solidFill>
                            <a:schemeClr val="bg1"/>
                          </a:solidFill>
                          <a:effectLst/>
                        </a:rPr>
                        <a:t>group</a:t>
                      </a:r>
                      <a:r>
                        <a:rPr lang="nl-NL" sz="2400" i="0" dirty="0">
                          <a:solidFill>
                            <a:schemeClr val="bg1"/>
                          </a:solidFill>
                          <a:effectLst/>
                        </a:rPr>
                        <a:t>, n  (%)</a:t>
                      </a:r>
                      <a:endParaRPr lang="nl-NL" sz="2400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957594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bmaE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Blood group M-specific </a:t>
                      </a:r>
                      <a:r>
                        <a:rPr lang="en-US" sz="2400" dirty="0" err="1">
                          <a:effectLst/>
                        </a:rPr>
                        <a:t>adhesin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0 (0)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0 (0)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0 (0)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748708949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cdtB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Cytolethal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distending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toxin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 (2)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 (3)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 0 (0)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504204164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chuA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Heme</a:t>
                      </a:r>
                      <a:r>
                        <a:rPr lang="nl-NL" sz="2400" dirty="0">
                          <a:effectLst/>
                        </a:rPr>
                        <a:t> binding </a:t>
                      </a:r>
                      <a:r>
                        <a:rPr lang="nl-NL" sz="2400" dirty="0" err="1">
                          <a:effectLst/>
                        </a:rPr>
                        <a:t>outer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membrane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37 (80)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24 (77)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13 (87)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741358375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cnf1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Cytotoxic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necrotizing</a:t>
                      </a:r>
                      <a:r>
                        <a:rPr lang="nl-NL" sz="2400" dirty="0">
                          <a:effectLst/>
                        </a:rPr>
                        <a:t> factor 1 (</a:t>
                      </a:r>
                      <a:r>
                        <a:rPr lang="nl-NL" sz="2400" dirty="0" err="1">
                          <a:effectLst/>
                        </a:rPr>
                        <a:t>toxin</a:t>
                      </a:r>
                      <a:r>
                        <a:rPr lang="nl-NL" sz="2400" dirty="0">
                          <a:effectLst/>
                        </a:rPr>
                        <a:t>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12 (26)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10 (32)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2 (13)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909962007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cvaC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Colicin</a:t>
                      </a:r>
                      <a:r>
                        <a:rPr lang="nl-NL" sz="2400" dirty="0">
                          <a:effectLst/>
                        </a:rPr>
                        <a:t> V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6 (13)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5 (16)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 (7)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040637285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draB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Dr</a:t>
                      </a:r>
                      <a:r>
                        <a:rPr lang="nl-NL" sz="2400" dirty="0">
                          <a:effectLst/>
                        </a:rPr>
                        <a:t> antigen-</a:t>
                      </a:r>
                      <a:r>
                        <a:rPr lang="nl-NL" sz="2400" dirty="0" err="1">
                          <a:effectLst/>
                        </a:rPr>
                        <a:t>specific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adhesin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0 (0)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0 (0)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0 (0)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121406463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feoB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Ferrous</a:t>
                      </a:r>
                      <a:r>
                        <a:rPr lang="nl-NL" sz="2400" dirty="0">
                          <a:effectLst/>
                        </a:rPr>
                        <a:t> iron transport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46 (100)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31 (100)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15 (100)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164571807"/>
                  </a:ext>
                </a:extLst>
              </a:tr>
              <a:tr h="6942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fimH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D-mannose–specific </a:t>
                      </a:r>
                      <a:r>
                        <a:rPr lang="en-US" sz="2400" dirty="0" err="1">
                          <a:effectLst/>
                        </a:rPr>
                        <a:t>adhesin</a:t>
                      </a:r>
                      <a:r>
                        <a:rPr lang="en-US" sz="2400" dirty="0">
                          <a:effectLst/>
                        </a:rPr>
                        <a:t>, lining the superficial bladder epithelium. 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46 (100)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31 (100)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15 (100)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530072619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focH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F1C </a:t>
                      </a:r>
                      <a:r>
                        <a:rPr lang="nl-NL" sz="2400" dirty="0" err="1">
                          <a:effectLst/>
                        </a:rPr>
                        <a:t>pili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adhesin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12 (26)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9 (29)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3 (20)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12794833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fyuA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Yersiniabactin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siderophore</a:t>
                      </a:r>
                      <a:r>
                        <a:rPr lang="nl-NL" sz="2400" dirty="0">
                          <a:effectLst/>
                        </a:rPr>
                        <a:t> receptor 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36 (78)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23 (74)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 13 (87)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360339681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hek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Auto-aggregating </a:t>
                      </a:r>
                      <a:r>
                        <a:rPr lang="en-US" sz="2400" dirty="0" err="1">
                          <a:effectLst/>
                        </a:rPr>
                        <a:t>adhesin</a:t>
                      </a:r>
                      <a:r>
                        <a:rPr lang="en-US" sz="2400" dirty="0">
                          <a:effectLst/>
                        </a:rPr>
                        <a:t> and </a:t>
                      </a:r>
                      <a:r>
                        <a:rPr lang="en-US" sz="2400" dirty="0" err="1">
                          <a:effectLst/>
                        </a:rPr>
                        <a:t>invasin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17 (37)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13 (42)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4 (27)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216573139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hlyA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>
                          <a:effectLst/>
                        </a:rPr>
                        <a:t>a-</a:t>
                      </a:r>
                      <a:r>
                        <a:rPr lang="nl-NL" sz="2400" dirty="0" err="1">
                          <a:effectLst/>
                        </a:rPr>
                        <a:t>Hemolysin</a:t>
                      </a:r>
                      <a:r>
                        <a:rPr lang="nl-NL" sz="2400" dirty="0">
                          <a:effectLst/>
                        </a:rPr>
                        <a:t> (</a:t>
                      </a:r>
                      <a:r>
                        <a:rPr lang="nl-NL" sz="2400" dirty="0" err="1">
                          <a:effectLst/>
                        </a:rPr>
                        <a:t>toxin</a:t>
                      </a:r>
                      <a:r>
                        <a:rPr lang="nl-NL" sz="2400" dirty="0">
                          <a:effectLst/>
                        </a:rPr>
                        <a:t>)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14 (30)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 11 (35)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 3(20)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198462715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ibeA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Invasion of brain endothelium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10 (22)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7 (23)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3 (20)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69848088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iha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Nonhemagglutinin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adhesin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10 (22)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4 (13)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6 (40)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457809669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ireA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Iron-regulated element (siderophore receptor)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4 (9)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3 (10)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 (7)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947885921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iroN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Salmochelin siderophore receptor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23 (50)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17 (55)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6 (40)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004918623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irp2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Yersinia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biosynthetic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protein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36 (78)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23 (74)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 13 (87)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449978774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iucc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dirty="0" err="1">
                          <a:effectLst/>
                        </a:rPr>
                        <a:t>Aerobactin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biosynthetic</a:t>
                      </a:r>
                      <a:r>
                        <a:rPr lang="nl-NL" sz="2400" dirty="0">
                          <a:effectLst/>
                        </a:rPr>
                        <a:t> </a:t>
                      </a:r>
                      <a:r>
                        <a:rPr lang="nl-NL" sz="2400" dirty="0" err="1">
                          <a:effectLst/>
                        </a:rPr>
                        <a:t>protein</a:t>
                      </a:r>
                      <a:endParaRPr lang="nl-N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14 (30)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7 (23)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7 (47)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436394572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iutA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Ferric aerobactin receptor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4 (9)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3 (10)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 (7)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842550744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malX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Marker of pathogenicity-associated island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29 (63)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19 (61)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10 (67)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14805474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ompT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Outer membrane protein T (protease)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39 (85)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25 (81)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14 (93)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195219914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papG2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 pili adhesin - Pyelonephritis-associated papG variant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16 (35)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11 (35)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5 (33)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172531268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PapG3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 pili adhesin - Cystitis-associated papG variant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16 (35)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11 (35)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5 (33)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670372934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picU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Protein involved in Intestinal Colonization -  serine protease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8 (17)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6 (19)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2 (13)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074494208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sat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Secreted autotransporter toxin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9 (20)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4 (13)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5 (33)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230571905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sfaH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S pili adhesin (marker for sfa operon)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11 (24)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10 (32)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 (7)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549246394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sitA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Periplasmic iron transport 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38 (83)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24 (77)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 14 (93)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663467541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traT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Temperature-sensitive hemagglutinin - serine protease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21 (46)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13 (42)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8 (53)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190836719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tsH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Surface exclusion (toxin)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26 (57)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18 (58)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 8 (53)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310415052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usp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Uropathogenic-Specific Protein (bacteriocin)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30 (65)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20 (65)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10 (67)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899217902"/>
                  </a:ext>
                </a:extLst>
              </a:tr>
              <a:tr h="358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>
                          <a:effectLst/>
                        </a:rPr>
                        <a:t>vat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Vacolating autotransporter - serine protease (toxin)</a:t>
                      </a:r>
                      <a:endParaRPr lang="nl-N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>
                          <a:effectLst/>
                        </a:rPr>
                        <a:t>26 (57)</a:t>
                      </a:r>
                      <a:endParaRPr lang="nl-NL" sz="240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18 (58)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nl-NL" sz="2400" i="0" dirty="0">
                          <a:effectLst/>
                        </a:rPr>
                        <a:t>8 (53)</a:t>
                      </a:r>
                      <a:endParaRPr lang="nl-NL" sz="240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509272556"/>
                  </a:ext>
                </a:extLst>
              </a:tr>
            </a:tbl>
          </a:graphicData>
        </a:graphic>
      </p:graphicFrame>
      <p:cxnSp>
        <p:nvCxnSpPr>
          <p:cNvPr id="28" name="Rechte verbindingslijn 27"/>
          <p:cNvCxnSpPr/>
          <p:nvPr/>
        </p:nvCxnSpPr>
        <p:spPr>
          <a:xfrm>
            <a:off x="-202721" y="10395834"/>
            <a:ext cx="30791656" cy="0"/>
          </a:xfrm>
          <a:prstGeom prst="line">
            <a:avLst/>
          </a:prstGeom>
          <a:ln w="76200">
            <a:solidFill>
              <a:srgbClr val="0054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kstvak 2"/>
          <p:cNvSpPr txBox="1"/>
          <p:nvPr/>
        </p:nvSpPr>
        <p:spPr>
          <a:xfrm>
            <a:off x="1076679" y="18967291"/>
            <a:ext cx="9213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b="1" dirty="0" err="1" smtClean="0"/>
              <a:t>Sequence</a:t>
            </a:r>
            <a:r>
              <a:rPr lang="nl-NL" sz="3200" b="1" dirty="0" smtClean="0"/>
              <a:t> </a:t>
            </a:r>
            <a:r>
              <a:rPr lang="nl-NL" sz="3200" b="1" dirty="0" smtClean="0"/>
              <a:t>type</a:t>
            </a:r>
            <a:endParaRPr lang="nl-NL" sz="3200" b="1" dirty="0"/>
          </a:p>
        </p:txBody>
      </p:sp>
      <p:sp>
        <p:nvSpPr>
          <p:cNvPr id="33" name="Tekstvak 32"/>
          <p:cNvSpPr txBox="1"/>
          <p:nvPr/>
        </p:nvSpPr>
        <p:spPr>
          <a:xfrm>
            <a:off x="13234247" y="26428767"/>
            <a:ext cx="9213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b="1" dirty="0" err="1" smtClean="0"/>
              <a:t>Putative</a:t>
            </a:r>
            <a:r>
              <a:rPr lang="nl-NL" sz="3200" b="1" dirty="0" smtClean="0"/>
              <a:t> </a:t>
            </a:r>
            <a:r>
              <a:rPr lang="nl-NL" sz="3200" b="1" dirty="0" err="1" smtClean="0"/>
              <a:t>urovirulence</a:t>
            </a:r>
            <a:r>
              <a:rPr lang="nl-NL" sz="3200" b="1" dirty="0" smtClean="0"/>
              <a:t> factors</a:t>
            </a:r>
            <a:endParaRPr lang="nl-NL" sz="3200" b="1" dirty="0"/>
          </a:p>
        </p:txBody>
      </p:sp>
      <p:sp>
        <p:nvSpPr>
          <p:cNvPr id="32" name="Tekstvak 31"/>
          <p:cNvSpPr txBox="1"/>
          <p:nvPr/>
        </p:nvSpPr>
        <p:spPr>
          <a:xfrm>
            <a:off x="13275498" y="17966931"/>
            <a:ext cx="69066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err="1"/>
              <a:t>wgMLST</a:t>
            </a:r>
            <a:r>
              <a:rPr lang="en-GB" sz="3200" b="1" dirty="0"/>
              <a:t>-based minimum spanning tree of </a:t>
            </a:r>
            <a:r>
              <a:rPr lang="en-GB" sz="3200" b="1" i="1" dirty="0"/>
              <a:t>E. coli</a:t>
            </a:r>
            <a:r>
              <a:rPr lang="en-GB" sz="3200" b="1" dirty="0"/>
              <a:t> isolates analysed in this study</a:t>
            </a:r>
            <a:endParaRPr lang="nl-NL" sz="3200" b="1" dirty="0"/>
          </a:p>
        </p:txBody>
      </p:sp>
    </p:spTree>
    <p:extLst>
      <p:ext uri="{BB962C8B-B14F-4D97-AF65-F5344CB8AC3E}">
        <p14:creationId xmlns:p14="http://schemas.microsoft.com/office/powerpoint/2010/main" val="79986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6A7144D079A04BAAB0B27412C0EF06" ma:contentTypeVersion="13" ma:contentTypeDescription="Een nieuw document maken." ma:contentTypeScope="" ma:versionID="4164bf1856e7b2a78515908db31c86dc">
  <xsd:schema xmlns:xsd="http://www.w3.org/2001/XMLSchema" xmlns:xs="http://www.w3.org/2001/XMLSchema" xmlns:p="http://schemas.microsoft.com/office/2006/metadata/properties" xmlns:ns2="5e8ebf0a-7e9d-44b4-8c01-020dc19fb389" xmlns:ns3="f8cb6481-c2d5-4066-975f-f03106c95971" targetNamespace="http://schemas.microsoft.com/office/2006/metadata/properties" ma:root="true" ma:fieldsID="1309ea2a24204208f4ee14465b555b0a" ns2:_="" ns3:_="">
    <xsd:import namespace="5e8ebf0a-7e9d-44b4-8c01-020dc19fb389"/>
    <xsd:import namespace="f8cb6481-c2d5-4066-975f-f03106c959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ebf0a-7e9d-44b4-8c01-020dc19fb3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a3fee81e-aadb-4897-98b8-5093116888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cb6481-c2d5-4066-975f-f03106c9597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111dc04-1438-4f0f-b496-469954a7cfc4}" ma:internalName="TaxCatchAll" ma:showField="CatchAllData" ma:web="f8cb6481-c2d5-4066-975f-f03106c959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cb6481-c2d5-4066-975f-f03106c95971" xsi:nil="true"/>
    <lcf76f155ced4ddcb4097134ff3c332f xmlns="5e8ebf0a-7e9d-44b4-8c01-020dc19fb38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3A07DE-A40D-4264-A68A-3A55807611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8ebf0a-7e9d-44b4-8c01-020dc19fb389"/>
    <ds:schemaRef ds:uri="f8cb6481-c2d5-4066-975f-f03106c959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1B8C02-0808-4273-912B-B97B773DAD69}">
  <ds:schemaRefs>
    <ds:schemaRef ds:uri="http://purl.org/dc/elements/1.1/"/>
    <ds:schemaRef ds:uri="http://schemas.microsoft.com/office/2006/metadata/properties"/>
    <ds:schemaRef ds:uri="5e8ebf0a-7e9d-44b4-8c01-020dc19fb389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f8cb6481-c2d5-4066-975f-f03106c9597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65BC9E8-2D07-4EAF-B879-71592DF804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1258</Words>
  <Application>Microsoft Office PowerPoint</Application>
  <PresentationFormat>Aangepast</PresentationFormat>
  <Paragraphs>306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TheSans LP5 Plain</vt:lpstr>
      <vt:lpstr>Times New Roman</vt:lpstr>
      <vt:lpstr>Office-thema</vt:lpstr>
      <vt:lpstr>PowerPoint-presentatie</vt:lpstr>
    </vt:vector>
  </TitlesOfParts>
  <Company>AZM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Drukkerij Drukkerij</dc:creator>
  <cp:lastModifiedBy>Mulder, M. (Marlies)</cp:lastModifiedBy>
  <cp:revision>80</cp:revision>
  <cp:lastPrinted>2017-02-06T08:45:03Z</cp:lastPrinted>
  <dcterms:created xsi:type="dcterms:W3CDTF">2017-01-16T09:47:40Z</dcterms:created>
  <dcterms:modified xsi:type="dcterms:W3CDTF">2025-03-13T10:47:26Z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0x010100DC6A7144D079A04BAAB0B27412C0EF06</vt:lpwstr>
  </property>
</Properties>
</file>