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16"/>
  </p:notesMasterIdLst>
  <p:sldIdLst>
    <p:sldId id="256" r:id="rId2"/>
    <p:sldId id="268" r:id="rId3"/>
    <p:sldId id="265" r:id="rId4"/>
    <p:sldId id="266" r:id="rId5"/>
    <p:sldId id="259" r:id="rId6"/>
    <p:sldId id="257" r:id="rId7"/>
    <p:sldId id="261" r:id="rId8"/>
    <p:sldId id="264" r:id="rId9"/>
    <p:sldId id="258" r:id="rId10"/>
    <p:sldId id="263" r:id="rId11"/>
    <p:sldId id="270" r:id="rId12"/>
    <p:sldId id="269" r:id="rId13"/>
    <p:sldId id="260" r:id="rId14"/>
    <p:sldId id="262" r:id="rId15"/>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62877" autoAdjust="0"/>
  </p:normalViewPr>
  <p:slideViewPr>
    <p:cSldViewPr snapToGrid="0">
      <p:cViewPr varScale="1">
        <p:scale>
          <a:sx n="77" d="100"/>
          <a:sy n="77" d="100"/>
        </p:scale>
        <p:origin x="2496" y="184"/>
      </p:cViewPr>
      <p:guideLst/>
    </p:cSldViewPr>
  </p:slideViewPr>
  <p:notesTextViewPr>
    <p:cViewPr>
      <p:scale>
        <a:sx n="300" d="100"/>
        <a:sy n="3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0E764F-C76B-4766-9161-37F55AD2ABB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CCE004B-FE7B-4094-8F22-A17CC978B477}">
      <dgm:prSet/>
      <dgm:spPr/>
      <dgm:t>
        <a:bodyPr/>
        <a:lstStyle/>
        <a:p>
          <a:r>
            <a:rPr lang="en-US" dirty="0"/>
            <a:t>Extraintestinal Escherichia coli (</a:t>
          </a:r>
          <a:r>
            <a:rPr lang="en-US" dirty="0" err="1"/>
            <a:t>ExPEC</a:t>
          </a:r>
          <a:r>
            <a:rPr lang="en-US" dirty="0"/>
            <a:t>), a heterogeneous group </a:t>
          </a:r>
          <a:r>
            <a:rPr lang="nl-NL" dirty="0" err="1"/>
            <a:t>defined</a:t>
          </a:r>
          <a:r>
            <a:rPr lang="nl-NL" dirty="0"/>
            <a:t> </a:t>
          </a:r>
          <a:r>
            <a:rPr lang="nl-NL" dirty="0" err="1"/>
            <a:t>by</a:t>
          </a:r>
          <a:r>
            <a:rPr lang="nl-NL" dirty="0"/>
            <a:t> </a:t>
          </a:r>
          <a:r>
            <a:rPr lang="nl-NL" dirty="0" err="1"/>
            <a:t>isolation</a:t>
          </a:r>
          <a:r>
            <a:rPr lang="nl-NL" dirty="0"/>
            <a:t> </a:t>
          </a:r>
          <a:r>
            <a:rPr lang="nl-NL" dirty="0" err="1"/>
            <a:t>from</a:t>
          </a:r>
          <a:r>
            <a:rPr lang="nl-NL" dirty="0"/>
            <a:t> </a:t>
          </a:r>
          <a:r>
            <a:rPr lang="nl-NL" dirty="0" err="1"/>
            <a:t>infections</a:t>
          </a:r>
          <a:r>
            <a:rPr lang="nl-NL" dirty="0"/>
            <a:t> </a:t>
          </a:r>
          <a:r>
            <a:rPr lang="nl-NL" dirty="0" err="1"/>
            <a:t>outside</a:t>
          </a:r>
          <a:r>
            <a:rPr lang="nl-NL" dirty="0"/>
            <a:t> </a:t>
          </a:r>
          <a:r>
            <a:rPr lang="nl-NL" dirty="0" err="1"/>
            <a:t>the</a:t>
          </a:r>
          <a:r>
            <a:rPr lang="nl-NL" dirty="0"/>
            <a:t> </a:t>
          </a:r>
          <a:r>
            <a:rPr lang="nl-NL" dirty="0" err="1"/>
            <a:t>intestinal</a:t>
          </a:r>
          <a:r>
            <a:rPr lang="nl-NL" dirty="0"/>
            <a:t> </a:t>
          </a:r>
          <a:r>
            <a:rPr lang="nl-NL" dirty="0" err="1"/>
            <a:t>tract</a:t>
          </a:r>
          <a:endParaRPr lang="en-US" dirty="0"/>
        </a:p>
      </dgm:t>
    </dgm:pt>
    <dgm:pt modelId="{6DF3E55E-6FC8-470E-9F93-18645B598ED1}" type="parTrans" cxnId="{41B3D3D3-876C-47FD-987D-19641D94A770}">
      <dgm:prSet/>
      <dgm:spPr/>
      <dgm:t>
        <a:bodyPr/>
        <a:lstStyle/>
        <a:p>
          <a:endParaRPr lang="en-US"/>
        </a:p>
      </dgm:t>
    </dgm:pt>
    <dgm:pt modelId="{857D59DF-B6D4-4D69-9A7E-888291A12300}" type="sibTrans" cxnId="{41B3D3D3-876C-47FD-987D-19641D94A770}">
      <dgm:prSet/>
      <dgm:spPr/>
      <dgm:t>
        <a:bodyPr/>
        <a:lstStyle/>
        <a:p>
          <a:endParaRPr lang="en-US"/>
        </a:p>
      </dgm:t>
    </dgm:pt>
    <dgm:pt modelId="{DAB49542-4E94-412F-A158-920D2A85C848}">
      <dgm:prSet/>
      <dgm:spPr/>
      <dgm:t>
        <a:bodyPr/>
        <a:lstStyle/>
        <a:p>
          <a:r>
            <a:rPr lang="nl-NL" dirty="0" err="1"/>
            <a:t>uropathogenic</a:t>
          </a:r>
          <a:r>
            <a:rPr lang="nl-NL" dirty="0"/>
            <a:t> E. coli (UPEC)</a:t>
          </a:r>
          <a:endParaRPr lang="en-US" dirty="0"/>
        </a:p>
      </dgm:t>
    </dgm:pt>
    <dgm:pt modelId="{46663BA3-BF16-4968-AEC4-86F3685730FA}" type="parTrans" cxnId="{37B4BEC5-D76C-4AB6-AB1C-FC55A4DC0077}">
      <dgm:prSet/>
      <dgm:spPr/>
      <dgm:t>
        <a:bodyPr/>
        <a:lstStyle/>
        <a:p>
          <a:endParaRPr lang="en-US"/>
        </a:p>
      </dgm:t>
    </dgm:pt>
    <dgm:pt modelId="{1B90F9C7-4D23-4721-A390-E426905A7D5E}" type="sibTrans" cxnId="{37B4BEC5-D76C-4AB6-AB1C-FC55A4DC0077}">
      <dgm:prSet/>
      <dgm:spPr/>
      <dgm:t>
        <a:bodyPr/>
        <a:lstStyle/>
        <a:p>
          <a:endParaRPr lang="en-US"/>
        </a:p>
      </dgm:t>
    </dgm:pt>
    <dgm:pt modelId="{3563C320-6CD4-4200-AB59-8DB84CC7B990}">
      <dgm:prSet/>
      <dgm:spPr/>
      <dgm:t>
        <a:bodyPr/>
        <a:lstStyle/>
        <a:p>
          <a:r>
            <a:rPr lang="nl-NL" dirty="0" err="1"/>
            <a:t>avian-pathogenic</a:t>
          </a:r>
          <a:r>
            <a:rPr lang="nl-NL" dirty="0"/>
            <a:t> E. coli (APEC)</a:t>
          </a:r>
          <a:endParaRPr lang="en-US" dirty="0"/>
        </a:p>
      </dgm:t>
    </dgm:pt>
    <dgm:pt modelId="{2669E4CE-B9D4-46BA-8B73-8B3FC7115D35}" type="parTrans" cxnId="{0ED5A250-48B0-4280-8C1E-E80120BCC346}">
      <dgm:prSet/>
      <dgm:spPr/>
      <dgm:t>
        <a:bodyPr/>
        <a:lstStyle/>
        <a:p>
          <a:endParaRPr lang="en-US"/>
        </a:p>
      </dgm:t>
    </dgm:pt>
    <dgm:pt modelId="{7A6D05A5-D7DC-4168-B016-1A91523E83B5}" type="sibTrans" cxnId="{0ED5A250-48B0-4280-8C1E-E80120BCC346}">
      <dgm:prSet/>
      <dgm:spPr/>
      <dgm:t>
        <a:bodyPr/>
        <a:lstStyle/>
        <a:p>
          <a:endParaRPr lang="en-US"/>
        </a:p>
      </dgm:t>
    </dgm:pt>
    <dgm:pt modelId="{FBE2B33F-7BA3-466C-9F73-FDB9D64A07B4}">
      <dgm:prSet/>
      <dgm:spPr/>
      <dgm:t>
        <a:bodyPr/>
        <a:lstStyle/>
        <a:p>
          <a:r>
            <a:rPr lang="nl-NL" dirty="0" err="1"/>
            <a:t>neonatal</a:t>
          </a:r>
          <a:r>
            <a:rPr lang="nl-NL" dirty="0"/>
            <a:t> meningitis E. coli (NMEC)</a:t>
          </a:r>
          <a:endParaRPr lang="en-US" dirty="0"/>
        </a:p>
      </dgm:t>
    </dgm:pt>
    <dgm:pt modelId="{BA65D509-71B6-401B-AFFE-9DEFB331F8BE}" type="parTrans" cxnId="{CF88349A-BD92-42AB-A2D0-969CCEC7DB2A}">
      <dgm:prSet/>
      <dgm:spPr/>
      <dgm:t>
        <a:bodyPr/>
        <a:lstStyle/>
        <a:p>
          <a:endParaRPr lang="en-US"/>
        </a:p>
      </dgm:t>
    </dgm:pt>
    <dgm:pt modelId="{75573534-F414-450E-B256-5CD01AF56CA1}" type="sibTrans" cxnId="{CF88349A-BD92-42AB-A2D0-969CCEC7DB2A}">
      <dgm:prSet/>
      <dgm:spPr/>
      <dgm:t>
        <a:bodyPr/>
        <a:lstStyle/>
        <a:p>
          <a:endParaRPr lang="en-US"/>
        </a:p>
      </dgm:t>
    </dgm:pt>
    <dgm:pt modelId="{4C081800-4A71-4529-9C7E-BA62E6B544D4}">
      <dgm:prSet/>
      <dgm:spPr/>
      <dgm:t>
        <a:bodyPr/>
        <a:lstStyle/>
        <a:p>
          <a:r>
            <a:rPr lang="en-US" dirty="0"/>
            <a:t>GENES</a:t>
          </a:r>
        </a:p>
      </dgm:t>
    </dgm:pt>
    <dgm:pt modelId="{997E7727-5179-40D7-A875-3B9E76388D0A}" type="parTrans" cxnId="{9EA8D21D-1289-484C-8181-3A1FAB0A0567}">
      <dgm:prSet/>
      <dgm:spPr/>
      <dgm:t>
        <a:bodyPr/>
        <a:lstStyle/>
        <a:p>
          <a:endParaRPr lang="en-US"/>
        </a:p>
      </dgm:t>
    </dgm:pt>
    <dgm:pt modelId="{2568BE5D-5169-4D43-8165-7F6760D4712C}" type="sibTrans" cxnId="{9EA8D21D-1289-484C-8181-3A1FAB0A0567}">
      <dgm:prSet/>
      <dgm:spPr/>
      <dgm:t>
        <a:bodyPr/>
        <a:lstStyle/>
        <a:p>
          <a:endParaRPr lang="en-US"/>
        </a:p>
      </dgm:t>
    </dgm:pt>
    <dgm:pt modelId="{FC811ECE-ED2D-406F-BE93-CE6E4FFA1B11}">
      <dgm:prSet/>
      <dgm:spPr/>
      <dgm:t>
        <a:bodyPr/>
        <a:lstStyle/>
        <a:p>
          <a:r>
            <a:rPr lang="en-US" b="1" dirty="0"/>
            <a:t>Vat </a:t>
          </a:r>
          <a:r>
            <a:rPr lang="en-US" dirty="0"/>
            <a:t>= an autotransporter serine protease toxin; </a:t>
          </a:r>
        </a:p>
      </dgm:t>
    </dgm:pt>
    <dgm:pt modelId="{9FFD6929-23C7-4D6F-9C43-8F73BCD603CF}" type="parTrans" cxnId="{8B6E9F44-2140-44E8-AC9A-C7CC64C93CBC}">
      <dgm:prSet/>
      <dgm:spPr/>
      <dgm:t>
        <a:bodyPr/>
        <a:lstStyle/>
        <a:p>
          <a:endParaRPr lang="en-US"/>
        </a:p>
      </dgm:t>
    </dgm:pt>
    <dgm:pt modelId="{D707166D-DA2D-47D0-B511-FB58D755C8E0}" type="sibTrans" cxnId="{8B6E9F44-2140-44E8-AC9A-C7CC64C93CBC}">
      <dgm:prSet/>
      <dgm:spPr/>
      <dgm:t>
        <a:bodyPr/>
        <a:lstStyle/>
        <a:p>
          <a:endParaRPr lang="en-US"/>
        </a:p>
      </dgm:t>
    </dgm:pt>
    <dgm:pt modelId="{54516B91-103C-43DE-880A-41E1D4AAF1A1}">
      <dgm:prSet/>
      <dgm:spPr/>
      <dgm:t>
        <a:bodyPr/>
        <a:lstStyle/>
        <a:p>
          <a:r>
            <a:rPr lang="en-US" b="1" dirty="0" err="1"/>
            <a:t>fyuA</a:t>
          </a:r>
          <a:r>
            <a:rPr lang="en-US" b="1" dirty="0"/>
            <a:t> </a:t>
          </a:r>
          <a:r>
            <a:rPr lang="en-US" dirty="0"/>
            <a:t>= </a:t>
          </a:r>
          <a:r>
            <a:rPr lang="en-US" dirty="0" err="1"/>
            <a:t>yersiniabactin</a:t>
          </a:r>
          <a:r>
            <a:rPr lang="en-US" dirty="0"/>
            <a:t> receptor; </a:t>
          </a:r>
        </a:p>
      </dgm:t>
    </dgm:pt>
    <dgm:pt modelId="{FB91447B-836D-40BF-B38E-99E0E751F971}" type="parTrans" cxnId="{14791346-797C-4CD6-9427-616A9BD6D979}">
      <dgm:prSet/>
      <dgm:spPr/>
      <dgm:t>
        <a:bodyPr/>
        <a:lstStyle/>
        <a:p>
          <a:endParaRPr lang="en-US"/>
        </a:p>
      </dgm:t>
    </dgm:pt>
    <dgm:pt modelId="{02B7BC5F-5944-461B-AF89-A081053BD34C}" type="sibTrans" cxnId="{14791346-797C-4CD6-9427-616A9BD6D979}">
      <dgm:prSet/>
      <dgm:spPr/>
      <dgm:t>
        <a:bodyPr/>
        <a:lstStyle/>
        <a:p>
          <a:endParaRPr lang="en-US"/>
        </a:p>
      </dgm:t>
    </dgm:pt>
    <dgm:pt modelId="{1FD2D6DA-5AB2-4F87-94F5-DC742A5D4BA6}">
      <dgm:prSet/>
      <dgm:spPr/>
      <dgm:t>
        <a:bodyPr/>
        <a:lstStyle/>
        <a:p>
          <a:r>
            <a:rPr lang="en-US" b="1" dirty="0" err="1"/>
            <a:t>chuA</a:t>
          </a:r>
          <a:r>
            <a:rPr lang="en-US" b="1" dirty="0"/>
            <a:t> </a:t>
          </a:r>
          <a:r>
            <a:rPr lang="en-US" dirty="0"/>
            <a:t>= a heme binding protein</a:t>
          </a:r>
        </a:p>
      </dgm:t>
    </dgm:pt>
    <dgm:pt modelId="{5F4B5B86-8F75-458A-9EAE-5738CB83D031}" type="parTrans" cxnId="{C6243808-C967-43D7-8BC2-8BE59F36D737}">
      <dgm:prSet/>
      <dgm:spPr/>
      <dgm:t>
        <a:bodyPr/>
        <a:lstStyle/>
        <a:p>
          <a:endParaRPr lang="en-US"/>
        </a:p>
      </dgm:t>
    </dgm:pt>
    <dgm:pt modelId="{0A895251-776B-467A-9125-19696E50BA1D}" type="sibTrans" cxnId="{C6243808-C967-43D7-8BC2-8BE59F36D737}">
      <dgm:prSet/>
      <dgm:spPr/>
      <dgm:t>
        <a:bodyPr/>
        <a:lstStyle/>
        <a:p>
          <a:endParaRPr lang="en-US"/>
        </a:p>
      </dgm:t>
    </dgm:pt>
    <dgm:pt modelId="{E458B2D2-9A36-49C2-98B9-3D75BCAF5860}">
      <dgm:prSet/>
      <dgm:spPr/>
      <dgm:t>
        <a:bodyPr/>
        <a:lstStyle/>
        <a:p>
          <a:r>
            <a:rPr lang="en-US" b="1"/>
            <a:t>yfcV</a:t>
          </a:r>
          <a:r>
            <a:rPr lang="en-US"/>
            <a:t> = major subunit of a putative chaperoneusher fimbria</a:t>
          </a:r>
        </a:p>
      </dgm:t>
    </dgm:pt>
    <dgm:pt modelId="{1ABB3CAF-4A50-4EFF-9091-FB4421C8FC1F}" type="parTrans" cxnId="{5CE1BE30-5AEE-4719-B257-D9F242077A9F}">
      <dgm:prSet/>
      <dgm:spPr/>
      <dgm:t>
        <a:bodyPr/>
        <a:lstStyle/>
        <a:p>
          <a:endParaRPr lang="en-US"/>
        </a:p>
      </dgm:t>
    </dgm:pt>
    <dgm:pt modelId="{6DE7EDD1-6A8B-411D-940C-29A4C9C4D741}" type="sibTrans" cxnId="{5CE1BE30-5AEE-4719-B257-D9F242077A9F}">
      <dgm:prSet/>
      <dgm:spPr/>
      <dgm:t>
        <a:bodyPr/>
        <a:lstStyle/>
        <a:p>
          <a:endParaRPr lang="en-US"/>
        </a:p>
      </dgm:t>
    </dgm:pt>
    <dgm:pt modelId="{B27E8999-234D-4AB8-8D6A-3C87F1644394}">
      <dgm:prSet/>
      <dgm:spPr/>
      <dgm:t>
        <a:bodyPr/>
        <a:lstStyle/>
        <a:p>
          <a:r>
            <a:rPr lang="en-US" dirty="0"/>
            <a:t>E. coli isolates that encode these four genes are correlated with carriage of a high number of other virulence factors, are able to colonize the bladder in higher numbers than strains lacking these genes &amp; are nearly 10 times more likely to represent UPEC or NMEC strains than fecal commensal strains.</a:t>
          </a:r>
        </a:p>
      </dgm:t>
    </dgm:pt>
    <dgm:pt modelId="{7F366077-680F-44A1-8A35-4419E1634661}" type="parTrans" cxnId="{70A64A71-9283-457E-BEE8-3C541C239571}">
      <dgm:prSet/>
      <dgm:spPr/>
      <dgm:t>
        <a:bodyPr/>
        <a:lstStyle/>
        <a:p>
          <a:endParaRPr lang="en-US"/>
        </a:p>
      </dgm:t>
    </dgm:pt>
    <dgm:pt modelId="{A72D83E4-CE1D-42B5-A332-BC4A1E61494E}" type="sibTrans" cxnId="{70A64A71-9283-457E-BEE8-3C541C239571}">
      <dgm:prSet/>
      <dgm:spPr/>
      <dgm:t>
        <a:bodyPr/>
        <a:lstStyle/>
        <a:p>
          <a:endParaRPr lang="en-US"/>
        </a:p>
      </dgm:t>
    </dgm:pt>
    <dgm:pt modelId="{77EE6AE1-5FC7-4A73-AA43-72C5DD5C981B}">
      <dgm:prSet/>
      <dgm:spPr/>
      <dgm:t>
        <a:bodyPr/>
        <a:lstStyle/>
        <a:p>
          <a:r>
            <a:rPr lang="en-US" dirty="0"/>
            <a:t>Human intestinal isolates that encode all 4 predictor genes express them during exponential growth in human urine &amp; colonize the bladder in the mouse model of ascending UTI in higher numbers than human commensal strains that do not encode the four predictor genes (P0.02), suggesting that the presence of the predictors correlates with </a:t>
          </a:r>
          <a:r>
            <a:rPr lang="en-US" dirty="0" err="1"/>
            <a:t>uropathogenic</a:t>
          </a:r>
          <a:r>
            <a:rPr lang="en-US" dirty="0"/>
            <a:t> potential.</a:t>
          </a:r>
        </a:p>
      </dgm:t>
    </dgm:pt>
    <dgm:pt modelId="{0B24DA23-6582-4257-BB09-7A97F777EC7B}" type="parTrans" cxnId="{5CC19C43-4C05-4000-981B-D21CD908744A}">
      <dgm:prSet/>
      <dgm:spPr/>
      <dgm:t>
        <a:bodyPr/>
        <a:lstStyle/>
        <a:p>
          <a:endParaRPr lang="en-US"/>
        </a:p>
      </dgm:t>
    </dgm:pt>
    <dgm:pt modelId="{5DC7002E-A2CB-4EDE-B7FB-07CE309ECCEB}" type="sibTrans" cxnId="{5CC19C43-4C05-4000-981B-D21CD908744A}">
      <dgm:prSet/>
      <dgm:spPr/>
      <dgm:t>
        <a:bodyPr/>
        <a:lstStyle/>
        <a:p>
          <a:endParaRPr lang="en-US"/>
        </a:p>
      </dgm:t>
    </dgm:pt>
    <dgm:pt modelId="{B2D6119C-BBC3-47E3-A97B-046981DD1283}" type="pres">
      <dgm:prSet presAssocID="{C70E764F-C76B-4766-9161-37F55AD2ABB2}" presName="root" presStyleCnt="0">
        <dgm:presLayoutVars>
          <dgm:dir/>
          <dgm:resizeHandles val="exact"/>
        </dgm:presLayoutVars>
      </dgm:prSet>
      <dgm:spPr/>
    </dgm:pt>
    <dgm:pt modelId="{2680A883-1CF0-4E32-AF0C-303238355B27}" type="pres">
      <dgm:prSet presAssocID="{1CCE004B-FE7B-4094-8F22-A17CC978B477}" presName="compNode" presStyleCnt="0"/>
      <dgm:spPr/>
    </dgm:pt>
    <dgm:pt modelId="{6DC926A0-84CA-4706-96C4-FACA3EA309A0}" type="pres">
      <dgm:prSet presAssocID="{1CCE004B-FE7B-4094-8F22-A17CC978B477}" presName="bgRect" presStyleLbl="bgShp" presStyleIdx="0" presStyleCnt="4"/>
      <dgm:spPr/>
    </dgm:pt>
    <dgm:pt modelId="{00765E24-0BD7-48B7-BDBD-279CEADD8D01}" type="pres">
      <dgm:prSet presAssocID="{1CCE004B-FE7B-4094-8F22-A17CC978B47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ag"/>
        </a:ext>
      </dgm:extLst>
    </dgm:pt>
    <dgm:pt modelId="{36F3A6CB-9420-4F65-AE8E-FD9AC4EA1561}" type="pres">
      <dgm:prSet presAssocID="{1CCE004B-FE7B-4094-8F22-A17CC978B477}" presName="spaceRect" presStyleCnt="0"/>
      <dgm:spPr/>
    </dgm:pt>
    <dgm:pt modelId="{86C0EDA1-1F1E-41DA-B410-E90C33F9A0F5}" type="pres">
      <dgm:prSet presAssocID="{1CCE004B-FE7B-4094-8F22-A17CC978B477}" presName="parTx" presStyleLbl="revTx" presStyleIdx="0" presStyleCnt="6">
        <dgm:presLayoutVars>
          <dgm:chMax val="0"/>
          <dgm:chPref val="0"/>
        </dgm:presLayoutVars>
      </dgm:prSet>
      <dgm:spPr/>
    </dgm:pt>
    <dgm:pt modelId="{5FD01E80-EAE8-4AD3-8AB8-595BD1A953F6}" type="pres">
      <dgm:prSet presAssocID="{1CCE004B-FE7B-4094-8F22-A17CC978B477}" presName="desTx" presStyleLbl="revTx" presStyleIdx="1" presStyleCnt="6">
        <dgm:presLayoutVars/>
      </dgm:prSet>
      <dgm:spPr/>
    </dgm:pt>
    <dgm:pt modelId="{5385658F-373B-425D-9C59-33118631E765}" type="pres">
      <dgm:prSet presAssocID="{857D59DF-B6D4-4D69-9A7E-888291A12300}" presName="sibTrans" presStyleCnt="0"/>
      <dgm:spPr/>
    </dgm:pt>
    <dgm:pt modelId="{B3249ABD-7115-4A66-A2DB-D55EF87B89E7}" type="pres">
      <dgm:prSet presAssocID="{4C081800-4A71-4529-9C7E-BA62E6B544D4}" presName="compNode" presStyleCnt="0"/>
      <dgm:spPr/>
    </dgm:pt>
    <dgm:pt modelId="{E8BB257D-0297-41BF-A130-616AB7543594}" type="pres">
      <dgm:prSet presAssocID="{4C081800-4A71-4529-9C7E-BA62E6B544D4}" presName="bgRect" presStyleLbl="bgShp" presStyleIdx="1" presStyleCnt="4" custLinFactNeighborX="-2443" custLinFactNeighborY="1330"/>
      <dgm:spPr/>
    </dgm:pt>
    <dgm:pt modelId="{30D72248-5042-4144-8FCE-0E832FACADAD}" type="pres">
      <dgm:prSet presAssocID="{4C081800-4A71-4529-9C7E-BA62E6B544D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NA"/>
        </a:ext>
      </dgm:extLst>
    </dgm:pt>
    <dgm:pt modelId="{9F24D5C5-F942-4091-9B5E-EEF7BF2F05EE}" type="pres">
      <dgm:prSet presAssocID="{4C081800-4A71-4529-9C7E-BA62E6B544D4}" presName="spaceRect" presStyleCnt="0"/>
      <dgm:spPr/>
    </dgm:pt>
    <dgm:pt modelId="{D48C2711-25CF-46F9-96AC-0DE32B468066}" type="pres">
      <dgm:prSet presAssocID="{4C081800-4A71-4529-9C7E-BA62E6B544D4}" presName="parTx" presStyleLbl="revTx" presStyleIdx="2" presStyleCnt="6">
        <dgm:presLayoutVars>
          <dgm:chMax val="0"/>
          <dgm:chPref val="0"/>
        </dgm:presLayoutVars>
      </dgm:prSet>
      <dgm:spPr/>
    </dgm:pt>
    <dgm:pt modelId="{B3C4B9FA-1FD1-403C-82FD-C97A9A905A89}" type="pres">
      <dgm:prSet presAssocID="{4C081800-4A71-4529-9C7E-BA62E6B544D4}" presName="desTx" presStyleLbl="revTx" presStyleIdx="3" presStyleCnt="6" custScaleX="155743" custLinFactNeighborX="-43511" custLinFactNeighborY="-1540">
        <dgm:presLayoutVars/>
      </dgm:prSet>
      <dgm:spPr/>
    </dgm:pt>
    <dgm:pt modelId="{9CC3A1CB-D635-4460-99A5-CC43DFE9C714}" type="pres">
      <dgm:prSet presAssocID="{2568BE5D-5169-4D43-8165-7F6760D4712C}" presName="sibTrans" presStyleCnt="0"/>
      <dgm:spPr/>
    </dgm:pt>
    <dgm:pt modelId="{C44690B0-E9C4-44B1-A30D-615026497708}" type="pres">
      <dgm:prSet presAssocID="{B27E8999-234D-4AB8-8D6A-3C87F1644394}" presName="compNode" presStyleCnt="0"/>
      <dgm:spPr/>
    </dgm:pt>
    <dgm:pt modelId="{03760203-97DA-46F7-B843-343148F5C6AB}" type="pres">
      <dgm:prSet presAssocID="{B27E8999-234D-4AB8-8D6A-3C87F1644394}" presName="bgRect" presStyleLbl="bgShp" presStyleIdx="2" presStyleCnt="4"/>
      <dgm:spPr/>
    </dgm:pt>
    <dgm:pt modelId="{22BD6BEC-1AE3-4291-9026-B39683931F59}" type="pres">
      <dgm:prSet presAssocID="{B27E8999-234D-4AB8-8D6A-3C87F164439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nger Print"/>
        </a:ext>
      </dgm:extLst>
    </dgm:pt>
    <dgm:pt modelId="{B73018D6-7D87-4474-A219-5B2D78C62B9A}" type="pres">
      <dgm:prSet presAssocID="{B27E8999-234D-4AB8-8D6A-3C87F1644394}" presName="spaceRect" presStyleCnt="0"/>
      <dgm:spPr/>
    </dgm:pt>
    <dgm:pt modelId="{8BE0BDF0-B1B2-49EF-93FE-16E67C64E0BA}" type="pres">
      <dgm:prSet presAssocID="{B27E8999-234D-4AB8-8D6A-3C87F1644394}" presName="parTx" presStyleLbl="revTx" presStyleIdx="4" presStyleCnt="6">
        <dgm:presLayoutVars>
          <dgm:chMax val="0"/>
          <dgm:chPref val="0"/>
        </dgm:presLayoutVars>
      </dgm:prSet>
      <dgm:spPr/>
    </dgm:pt>
    <dgm:pt modelId="{ECA8A9A7-623B-47C5-83FB-6CE305794635}" type="pres">
      <dgm:prSet presAssocID="{A72D83E4-CE1D-42B5-A332-BC4A1E61494E}" presName="sibTrans" presStyleCnt="0"/>
      <dgm:spPr/>
    </dgm:pt>
    <dgm:pt modelId="{6E503E80-45BA-4F3D-A269-F1ECB8118CFF}" type="pres">
      <dgm:prSet presAssocID="{77EE6AE1-5FC7-4A73-AA43-72C5DD5C981B}" presName="compNode" presStyleCnt="0"/>
      <dgm:spPr/>
    </dgm:pt>
    <dgm:pt modelId="{CE63FB56-372C-4DCD-BB6C-84723662E79D}" type="pres">
      <dgm:prSet presAssocID="{77EE6AE1-5FC7-4A73-AA43-72C5DD5C981B}" presName="bgRect" presStyleLbl="bgShp" presStyleIdx="3" presStyleCnt="4"/>
      <dgm:spPr/>
    </dgm:pt>
    <dgm:pt modelId="{333A7573-7563-4257-996E-98111760CFFA}" type="pres">
      <dgm:prSet presAssocID="{77EE6AE1-5FC7-4A73-AA43-72C5DD5C981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at"/>
        </a:ext>
      </dgm:extLst>
    </dgm:pt>
    <dgm:pt modelId="{DB3209E8-36E9-425E-A282-C9E4416D7D37}" type="pres">
      <dgm:prSet presAssocID="{77EE6AE1-5FC7-4A73-AA43-72C5DD5C981B}" presName="spaceRect" presStyleCnt="0"/>
      <dgm:spPr/>
    </dgm:pt>
    <dgm:pt modelId="{D2026C22-B1B4-46D7-A3DE-26EAB24F2D02}" type="pres">
      <dgm:prSet presAssocID="{77EE6AE1-5FC7-4A73-AA43-72C5DD5C981B}" presName="parTx" presStyleLbl="revTx" presStyleIdx="5" presStyleCnt="6">
        <dgm:presLayoutVars>
          <dgm:chMax val="0"/>
          <dgm:chPref val="0"/>
        </dgm:presLayoutVars>
      </dgm:prSet>
      <dgm:spPr/>
    </dgm:pt>
  </dgm:ptLst>
  <dgm:cxnLst>
    <dgm:cxn modelId="{C6243808-C967-43D7-8BC2-8BE59F36D737}" srcId="{4C081800-4A71-4529-9C7E-BA62E6B544D4}" destId="{1FD2D6DA-5AB2-4F87-94F5-DC742A5D4BA6}" srcOrd="2" destOrd="0" parTransId="{5F4B5B86-8F75-458A-9EAE-5738CB83D031}" sibTransId="{0A895251-776B-467A-9125-19696E50BA1D}"/>
    <dgm:cxn modelId="{47C4221A-BDD5-4D3F-83CC-D4C14DC709A0}" type="presOf" srcId="{4C081800-4A71-4529-9C7E-BA62E6B544D4}" destId="{D48C2711-25CF-46F9-96AC-0DE32B468066}" srcOrd="0" destOrd="0" presId="urn:microsoft.com/office/officeart/2018/2/layout/IconVerticalSolidList"/>
    <dgm:cxn modelId="{9EA8D21D-1289-484C-8181-3A1FAB0A0567}" srcId="{C70E764F-C76B-4766-9161-37F55AD2ABB2}" destId="{4C081800-4A71-4529-9C7E-BA62E6B544D4}" srcOrd="1" destOrd="0" parTransId="{997E7727-5179-40D7-A875-3B9E76388D0A}" sibTransId="{2568BE5D-5169-4D43-8165-7F6760D4712C}"/>
    <dgm:cxn modelId="{FAA54421-B88C-4503-A05F-EB9454397E79}" type="presOf" srcId="{FBE2B33F-7BA3-466C-9F73-FDB9D64A07B4}" destId="{5FD01E80-EAE8-4AD3-8AB8-595BD1A953F6}" srcOrd="0" destOrd="2" presId="urn:microsoft.com/office/officeart/2018/2/layout/IconVerticalSolidList"/>
    <dgm:cxn modelId="{5CE1BE30-5AEE-4719-B257-D9F242077A9F}" srcId="{4C081800-4A71-4529-9C7E-BA62E6B544D4}" destId="{E458B2D2-9A36-49C2-98B9-3D75BCAF5860}" srcOrd="3" destOrd="0" parTransId="{1ABB3CAF-4A50-4EFF-9091-FB4421C8FC1F}" sibTransId="{6DE7EDD1-6A8B-411D-940C-29A4C9C4D741}"/>
    <dgm:cxn modelId="{5CC19C43-4C05-4000-981B-D21CD908744A}" srcId="{C70E764F-C76B-4766-9161-37F55AD2ABB2}" destId="{77EE6AE1-5FC7-4A73-AA43-72C5DD5C981B}" srcOrd="3" destOrd="0" parTransId="{0B24DA23-6582-4257-BB09-7A97F777EC7B}" sibTransId="{5DC7002E-A2CB-4EDE-B7FB-07CE309ECCEB}"/>
    <dgm:cxn modelId="{8B6E9F44-2140-44E8-AC9A-C7CC64C93CBC}" srcId="{4C081800-4A71-4529-9C7E-BA62E6B544D4}" destId="{FC811ECE-ED2D-406F-BE93-CE6E4FFA1B11}" srcOrd="0" destOrd="0" parTransId="{9FFD6929-23C7-4D6F-9C43-8F73BCD603CF}" sibTransId="{D707166D-DA2D-47D0-B511-FB58D755C8E0}"/>
    <dgm:cxn modelId="{FB1D9A45-A300-4629-9B13-52319E593957}" type="presOf" srcId="{DAB49542-4E94-412F-A158-920D2A85C848}" destId="{5FD01E80-EAE8-4AD3-8AB8-595BD1A953F6}" srcOrd="0" destOrd="0" presId="urn:microsoft.com/office/officeart/2018/2/layout/IconVerticalSolidList"/>
    <dgm:cxn modelId="{14791346-797C-4CD6-9427-616A9BD6D979}" srcId="{4C081800-4A71-4529-9C7E-BA62E6B544D4}" destId="{54516B91-103C-43DE-880A-41E1D4AAF1A1}" srcOrd="1" destOrd="0" parTransId="{FB91447B-836D-40BF-B38E-99E0E751F971}" sibTransId="{02B7BC5F-5944-461B-AF89-A081053BD34C}"/>
    <dgm:cxn modelId="{2E51EA48-A41A-40E5-AD72-58CCF5084253}" type="presOf" srcId="{E458B2D2-9A36-49C2-98B9-3D75BCAF5860}" destId="{B3C4B9FA-1FD1-403C-82FD-C97A9A905A89}" srcOrd="0" destOrd="3" presId="urn:microsoft.com/office/officeart/2018/2/layout/IconVerticalSolidList"/>
    <dgm:cxn modelId="{0ED5A250-48B0-4280-8C1E-E80120BCC346}" srcId="{1CCE004B-FE7B-4094-8F22-A17CC978B477}" destId="{3563C320-6CD4-4200-AB59-8DB84CC7B990}" srcOrd="1" destOrd="0" parTransId="{2669E4CE-B9D4-46BA-8B73-8B3FC7115D35}" sibTransId="{7A6D05A5-D7DC-4168-B016-1A91523E83B5}"/>
    <dgm:cxn modelId="{70A64A71-9283-457E-BEE8-3C541C239571}" srcId="{C70E764F-C76B-4766-9161-37F55AD2ABB2}" destId="{B27E8999-234D-4AB8-8D6A-3C87F1644394}" srcOrd="2" destOrd="0" parTransId="{7F366077-680F-44A1-8A35-4419E1634661}" sibTransId="{A72D83E4-CE1D-42B5-A332-BC4A1E61494E}"/>
    <dgm:cxn modelId="{6E1FD978-80A6-477E-A12D-BE0CD97B9ABC}" type="presOf" srcId="{FC811ECE-ED2D-406F-BE93-CE6E4FFA1B11}" destId="{B3C4B9FA-1FD1-403C-82FD-C97A9A905A89}" srcOrd="0" destOrd="0" presId="urn:microsoft.com/office/officeart/2018/2/layout/IconVerticalSolidList"/>
    <dgm:cxn modelId="{8C462A7B-45EB-40B0-A157-5E78E4EEA8AE}" type="presOf" srcId="{C70E764F-C76B-4766-9161-37F55AD2ABB2}" destId="{B2D6119C-BBC3-47E3-A97B-046981DD1283}" srcOrd="0" destOrd="0" presId="urn:microsoft.com/office/officeart/2018/2/layout/IconVerticalSolidList"/>
    <dgm:cxn modelId="{03A71A98-B0CD-43D8-B764-BB20D8983E13}" type="presOf" srcId="{54516B91-103C-43DE-880A-41E1D4AAF1A1}" destId="{B3C4B9FA-1FD1-403C-82FD-C97A9A905A89}" srcOrd="0" destOrd="1" presId="urn:microsoft.com/office/officeart/2018/2/layout/IconVerticalSolidList"/>
    <dgm:cxn modelId="{CF88349A-BD92-42AB-A2D0-969CCEC7DB2A}" srcId="{1CCE004B-FE7B-4094-8F22-A17CC978B477}" destId="{FBE2B33F-7BA3-466C-9F73-FDB9D64A07B4}" srcOrd="2" destOrd="0" parTransId="{BA65D509-71B6-401B-AFFE-9DEFB331F8BE}" sibTransId="{75573534-F414-450E-B256-5CD01AF56CA1}"/>
    <dgm:cxn modelId="{EEF8189C-2F9B-437C-9A56-31B8DCE361B0}" type="presOf" srcId="{1CCE004B-FE7B-4094-8F22-A17CC978B477}" destId="{86C0EDA1-1F1E-41DA-B410-E90C33F9A0F5}" srcOrd="0" destOrd="0" presId="urn:microsoft.com/office/officeart/2018/2/layout/IconVerticalSolidList"/>
    <dgm:cxn modelId="{53D939A2-166D-46EC-BF6D-0ABC68C6C6DD}" type="presOf" srcId="{77EE6AE1-5FC7-4A73-AA43-72C5DD5C981B}" destId="{D2026C22-B1B4-46D7-A3DE-26EAB24F2D02}" srcOrd="0" destOrd="0" presId="urn:microsoft.com/office/officeart/2018/2/layout/IconVerticalSolidList"/>
    <dgm:cxn modelId="{2E6DFAC4-2799-429C-B8C8-5EFBBCAC630F}" type="presOf" srcId="{3563C320-6CD4-4200-AB59-8DB84CC7B990}" destId="{5FD01E80-EAE8-4AD3-8AB8-595BD1A953F6}" srcOrd="0" destOrd="1" presId="urn:microsoft.com/office/officeart/2018/2/layout/IconVerticalSolidList"/>
    <dgm:cxn modelId="{37B4BEC5-D76C-4AB6-AB1C-FC55A4DC0077}" srcId="{1CCE004B-FE7B-4094-8F22-A17CC978B477}" destId="{DAB49542-4E94-412F-A158-920D2A85C848}" srcOrd="0" destOrd="0" parTransId="{46663BA3-BF16-4968-AEC4-86F3685730FA}" sibTransId="{1B90F9C7-4D23-4721-A390-E426905A7D5E}"/>
    <dgm:cxn modelId="{28F662D1-F44F-4EE5-857B-24C832583DBD}" type="presOf" srcId="{1FD2D6DA-5AB2-4F87-94F5-DC742A5D4BA6}" destId="{B3C4B9FA-1FD1-403C-82FD-C97A9A905A89}" srcOrd="0" destOrd="2" presId="urn:microsoft.com/office/officeart/2018/2/layout/IconVerticalSolidList"/>
    <dgm:cxn modelId="{41B3D3D3-876C-47FD-987D-19641D94A770}" srcId="{C70E764F-C76B-4766-9161-37F55AD2ABB2}" destId="{1CCE004B-FE7B-4094-8F22-A17CC978B477}" srcOrd="0" destOrd="0" parTransId="{6DF3E55E-6FC8-470E-9F93-18645B598ED1}" sibTransId="{857D59DF-B6D4-4D69-9A7E-888291A12300}"/>
    <dgm:cxn modelId="{10A066F1-6B08-41EC-AEDA-9B4564EEA7D2}" type="presOf" srcId="{B27E8999-234D-4AB8-8D6A-3C87F1644394}" destId="{8BE0BDF0-B1B2-49EF-93FE-16E67C64E0BA}" srcOrd="0" destOrd="0" presId="urn:microsoft.com/office/officeart/2018/2/layout/IconVerticalSolidList"/>
    <dgm:cxn modelId="{C8EF0DAC-5F90-44DF-B515-4CD8A3AAB455}" type="presParOf" srcId="{B2D6119C-BBC3-47E3-A97B-046981DD1283}" destId="{2680A883-1CF0-4E32-AF0C-303238355B27}" srcOrd="0" destOrd="0" presId="urn:microsoft.com/office/officeart/2018/2/layout/IconVerticalSolidList"/>
    <dgm:cxn modelId="{7019265E-6DCE-4FA6-A702-C734B73AFAA3}" type="presParOf" srcId="{2680A883-1CF0-4E32-AF0C-303238355B27}" destId="{6DC926A0-84CA-4706-96C4-FACA3EA309A0}" srcOrd="0" destOrd="0" presId="urn:microsoft.com/office/officeart/2018/2/layout/IconVerticalSolidList"/>
    <dgm:cxn modelId="{46C10823-8788-4E51-AF25-5E6EBE591EA5}" type="presParOf" srcId="{2680A883-1CF0-4E32-AF0C-303238355B27}" destId="{00765E24-0BD7-48B7-BDBD-279CEADD8D01}" srcOrd="1" destOrd="0" presId="urn:microsoft.com/office/officeart/2018/2/layout/IconVerticalSolidList"/>
    <dgm:cxn modelId="{5D39C1F6-424C-4B86-B346-E39949D056BF}" type="presParOf" srcId="{2680A883-1CF0-4E32-AF0C-303238355B27}" destId="{36F3A6CB-9420-4F65-AE8E-FD9AC4EA1561}" srcOrd="2" destOrd="0" presId="urn:microsoft.com/office/officeart/2018/2/layout/IconVerticalSolidList"/>
    <dgm:cxn modelId="{7DD4C51F-4A2A-4731-B93F-D83DF0B865D6}" type="presParOf" srcId="{2680A883-1CF0-4E32-AF0C-303238355B27}" destId="{86C0EDA1-1F1E-41DA-B410-E90C33F9A0F5}" srcOrd="3" destOrd="0" presId="urn:microsoft.com/office/officeart/2018/2/layout/IconVerticalSolidList"/>
    <dgm:cxn modelId="{C345E2F7-9188-4629-8C94-022AAB9A2D3F}" type="presParOf" srcId="{2680A883-1CF0-4E32-AF0C-303238355B27}" destId="{5FD01E80-EAE8-4AD3-8AB8-595BD1A953F6}" srcOrd="4" destOrd="0" presId="urn:microsoft.com/office/officeart/2018/2/layout/IconVerticalSolidList"/>
    <dgm:cxn modelId="{4B5E825E-2CBF-4374-BC71-61D25A1847C0}" type="presParOf" srcId="{B2D6119C-BBC3-47E3-A97B-046981DD1283}" destId="{5385658F-373B-425D-9C59-33118631E765}" srcOrd="1" destOrd="0" presId="urn:microsoft.com/office/officeart/2018/2/layout/IconVerticalSolidList"/>
    <dgm:cxn modelId="{EEDC90F6-AAA8-4F43-9DA5-CE2710916700}" type="presParOf" srcId="{B2D6119C-BBC3-47E3-A97B-046981DD1283}" destId="{B3249ABD-7115-4A66-A2DB-D55EF87B89E7}" srcOrd="2" destOrd="0" presId="urn:microsoft.com/office/officeart/2018/2/layout/IconVerticalSolidList"/>
    <dgm:cxn modelId="{E5C01043-309C-4167-96D7-13488A19F9FF}" type="presParOf" srcId="{B3249ABD-7115-4A66-A2DB-D55EF87B89E7}" destId="{E8BB257D-0297-41BF-A130-616AB7543594}" srcOrd="0" destOrd="0" presId="urn:microsoft.com/office/officeart/2018/2/layout/IconVerticalSolidList"/>
    <dgm:cxn modelId="{A0ADE6E2-8F73-4FCD-9C05-30B66D54AEA9}" type="presParOf" srcId="{B3249ABD-7115-4A66-A2DB-D55EF87B89E7}" destId="{30D72248-5042-4144-8FCE-0E832FACADAD}" srcOrd="1" destOrd="0" presId="urn:microsoft.com/office/officeart/2018/2/layout/IconVerticalSolidList"/>
    <dgm:cxn modelId="{F1040D8F-99BE-47C0-95C0-2E0E425ABB25}" type="presParOf" srcId="{B3249ABD-7115-4A66-A2DB-D55EF87B89E7}" destId="{9F24D5C5-F942-4091-9B5E-EEF7BF2F05EE}" srcOrd="2" destOrd="0" presId="urn:microsoft.com/office/officeart/2018/2/layout/IconVerticalSolidList"/>
    <dgm:cxn modelId="{D232A358-73B6-416B-BB25-992EDEA8DCBC}" type="presParOf" srcId="{B3249ABD-7115-4A66-A2DB-D55EF87B89E7}" destId="{D48C2711-25CF-46F9-96AC-0DE32B468066}" srcOrd="3" destOrd="0" presId="urn:microsoft.com/office/officeart/2018/2/layout/IconVerticalSolidList"/>
    <dgm:cxn modelId="{3168368E-DD93-4B77-A9C7-88A7214F0E80}" type="presParOf" srcId="{B3249ABD-7115-4A66-A2DB-D55EF87B89E7}" destId="{B3C4B9FA-1FD1-403C-82FD-C97A9A905A89}" srcOrd="4" destOrd="0" presId="urn:microsoft.com/office/officeart/2018/2/layout/IconVerticalSolidList"/>
    <dgm:cxn modelId="{E441176B-0B26-4694-87B5-4E0E7BFE1B66}" type="presParOf" srcId="{B2D6119C-BBC3-47E3-A97B-046981DD1283}" destId="{9CC3A1CB-D635-4460-99A5-CC43DFE9C714}" srcOrd="3" destOrd="0" presId="urn:microsoft.com/office/officeart/2018/2/layout/IconVerticalSolidList"/>
    <dgm:cxn modelId="{3359377A-828F-435B-9720-472B56F3D387}" type="presParOf" srcId="{B2D6119C-BBC3-47E3-A97B-046981DD1283}" destId="{C44690B0-E9C4-44B1-A30D-615026497708}" srcOrd="4" destOrd="0" presId="urn:microsoft.com/office/officeart/2018/2/layout/IconVerticalSolidList"/>
    <dgm:cxn modelId="{8DB350AE-C1AB-4340-BFE0-5C53E06E2E2B}" type="presParOf" srcId="{C44690B0-E9C4-44B1-A30D-615026497708}" destId="{03760203-97DA-46F7-B843-343148F5C6AB}" srcOrd="0" destOrd="0" presId="urn:microsoft.com/office/officeart/2018/2/layout/IconVerticalSolidList"/>
    <dgm:cxn modelId="{4A06A082-9B7C-43E6-8A9B-580BE0254F53}" type="presParOf" srcId="{C44690B0-E9C4-44B1-A30D-615026497708}" destId="{22BD6BEC-1AE3-4291-9026-B39683931F59}" srcOrd="1" destOrd="0" presId="urn:microsoft.com/office/officeart/2018/2/layout/IconVerticalSolidList"/>
    <dgm:cxn modelId="{2759CECC-D2C6-4FCC-B756-0040278D3903}" type="presParOf" srcId="{C44690B0-E9C4-44B1-A30D-615026497708}" destId="{B73018D6-7D87-4474-A219-5B2D78C62B9A}" srcOrd="2" destOrd="0" presId="urn:microsoft.com/office/officeart/2018/2/layout/IconVerticalSolidList"/>
    <dgm:cxn modelId="{6EAB6030-38E4-4521-B7BF-5DE14850CA0E}" type="presParOf" srcId="{C44690B0-E9C4-44B1-A30D-615026497708}" destId="{8BE0BDF0-B1B2-49EF-93FE-16E67C64E0BA}" srcOrd="3" destOrd="0" presId="urn:microsoft.com/office/officeart/2018/2/layout/IconVerticalSolidList"/>
    <dgm:cxn modelId="{F51A21CC-5251-42A2-B0A1-D7BA094112E0}" type="presParOf" srcId="{B2D6119C-BBC3-47E3-A97B-046981DD1283}" destId="{ECA8A9A7-623B-47C5-83FB-6CE305794635}" srcOrd="5" destOrd="0" presId="urn:microsoft.com/office/officeart/2018/2/layout/IconVerticalSolidList"/>
    <dgm:cxn modelId="{BEA469F5-880D-47EB-9775-BBB1F729CB39}" type="presParOf" srcId="{B2D6119C-BBC3-47E3-A97B-046981DD1283}" destId="{6E503E80-45BA-4F3D-A269-F1ECB8118CFF}" srcOrd="6" destOrd="0" presId="urn:microsoft.com/office/officeart/2018/2/layout/IconVerticalSolidList"/>
    <dgm:cxn modelId="{F682BF4C-5226-46EB-83ED-318DA10A3692}" type="presParOf" srcId="{6E503E80-45BA-4F3D-A269-F1ECB8118CFF}" destId="{CE63FB56-372C-4DCD-BB6C-84723662E79D}" srcOrd="0" destOrd="0" presId="urn:microsoft.com/office/officeart/2018/2/layout/IconVerticalSolidList"/>
    <dgm:cxn modelId="{0D779020-D0BF-49A4-926F-45974C6D3EAB}" type="presParOf" srcId="{6E503E80-45BA-4F3D-A269-F1ECB8118CFF}" destId="{333A7573-7563-4257-996E-98111760CFFA}" srcOrd="1" destOrd="0" presId="urn:microsoft.com/office/officeart/2018/2/layout/IconVerticalSolidList"/>
    <dgm:cxn modelId="{495732DA-C56B-4381-A60F-044FB79C192F}" type="presParOf" srcId="{6E503E80-45BA-4F3D-A269-F1ECB8118CFF}" destId="{DB3209E8-36E9-425E-A282-C9E4416D7D37}" srcOrd="2" destOrd="0" presId="urn:microsoft.com/office/officeart/2018/2/layout/IconVerticalSolidList"/>
    <dgm:cxn modelId="{F9FB7663-3374-48D9-9F40-2044AF0536B1}" type="presParOf" srcId="{6E503E80-45BA-4F3D-A269-F1ECB8118CFF}" destId="{D2026C22-B1B4-46D7-A3DE-26EAB24F2D0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926A0-84CA-4706-96C4-FACA3EA309A0}">
      <dsp:nvSpPr>
        <dsp:cNvPr id="0" name=""/>
        <dsp:cNvSpPr/>
      </dsp:nvSpPr>
      <dsp:spPr>
        <a:xfrm>
          <a:off x="-388844" y="10560"/>
          <a:ext cx="7742583" cy="11104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765E24-0BD7-48B7-BDBD-279CEADD8D01}">
      <dsp:nvSpPr>
        <dsp:cNvPr id="0" name=""/>
        <dsp:cNvSpPr/>
      </dsp:nvSpPr>
      <dsp:spPr>
        <a:xfrm>
          <a:off x="-52937" y="260407"/>
          <a:ext cx="611933" cy="61073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C0EDA1-1F1E-41DA-B410-E90C33F9A0F5}">
      <dsp:nvSpPr>
        <dsp:cNvPr id="0" name=""/>
        <dsp:cNvSpPr/>
      </dsp:nvSpPr>
      <dsp:spPr>
        <a:xfrm>
          <a:off x="894901" y="10560"/>
          <a:ext cx="3484162" cy="1179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866" tIns="124866" rIns="124866" bIns="124866" numCol="1" spcCol="1270" anchor="ctr" anchorCtr="0">
          <a:noAutofit/>
        </a:bodyPr>
        <a:lstStyle/>
        <a:p>
          <a:pPr marL="0" lvl="0" indent="0" algn="l" defTabSz="622300">
            <a:lnSpc>
              <a:spcPct val="90000"/>
            </a:lnSpc>
            <a:spcBef>
              <a:spcPct val="0"/>
            </a:spcBef>
            <a:spcAft>
              <a:spcPct val="35000"/>
            </a:spcAft>
            <a:buNone/>
          </a:pPr>
          <a:r>
            <a:rPr lang="en-US" sz="1400" kern="1200" dirty="0"/>
            <a:t>Extraintestinal Escherichia coli (</a:t>
          </a:r>
          <a:r>
            <a:rPr lang="en-US" sz="1400" kern="1200" dirty="0" err="1"/>
            <a:t>ExPEC</a:t>
          </a:r>
          <a:r>
            <a:rPr lang="en-US" sz="1400" kern="1200" dirty="0"/>
            <a:t>), a heterogeneous group </a:t>
          </a:r>
          <a:r>
            <a:rPr lang="nl-NL" sz="1400" kern="1200" dirty="0" err="1"/>
            <a:t>defined</a:t>
          </a:r>
          <a:r>
            <a:rPr lang="nl-NL" sz="1400" kern="1200" dirty="0"/>
            <a:t> </a:t>
          </a:r>
          <a:r>
            <a:rPr lang="nl-NL" sz="1400" kern="1200" dirty="0" err="1"/>
            <a:t>by</a:t>
          </a:r>
          <a:r>
            <a:rPr lang="nl-NL" sz="1400" kern="1200" dirty="0"/>
            <a:t> </a:t>
          </a:r>
          <a:r>
            <a:rPr lang="nl-NL" sz="1400" kern="1200" dirty="0" err="1"/>
            <a:t>isolation</a:t>
          </a:r>
          <a:r>
            <a:rPr lang="nl-NL" sz="1400" kern="1200" dirty="0"/>
            <a:t> </a:t>
          </a:r>
          <a:r>
            <a:rPr lang="nl-NL" sz="1400" kern="1200" dirty="0" err="1"/>
            <a:t>from</a:t>
          </a:r>
          <a:r>
            <a:rPr lang="nl-NL" sz="1400" kern="1200" dirty="0"/>
            <a:t> </a:t>
          </a:r>
          <a:r>
            <a:rPr lang="nl-NL" sz="1400" kern="1200" dirty="0" err="1"/>
            <a:t>infections</a:t>
          </a:r>
          <a:r>
            <a:rPr lang="nl-NL" sz="1400" kern="1200" dirty="0"/>
            <a:t> </a:t>
          </a:r>
          <a:r>
            <a:rPr lang="nl-NL" sz="1400" kern="1200" dirty="0" err="1"/>
            <a:t>outside</a:t>
          </a:r>
          <a:r>
            <a:rPr lang="nl-NL" sz="1400" kern="1200" dirty="0"/>
            <a:t> </a:t>
          </a:r>
          <a:r>
            <a:rPr lang="nl-NL" sz="1400" kern="1200" dirty="0" err="1"/>
            <a:t>the</a:t>
          </a:r>
          <a:r>
            <a:rPr lang="nl-NL" sz="1400" kern="1200" dirty="0"/>
            <a:t> </a:t>
          </a:r>
          <a:r>
            <a:rPr lang="nl-NL" sz="1400" kern="1200" dirty="0" err="1"/>
            <a:t>intestinal</a:t>
          </a:r>
          <a:r>
            <a:rPr lang="nl-NL" sz="1400" kern="1200" dirty="0"/>
            <a:t> </a:t>
          </a:r>
          <a:r>
            <a:rPr lang="nl-NL" sz="1400" kern="1200" dirty="0" err="1"/>
            <a:t>tract</a:t>
          </a:r>
          <a:endParaRPr lang="en-US" sz="1400" kern="1200" dirty="0"/>
        </a:p>
      </dsp:txBody>
      <dsp:txXfrm>
        <a:off x="894901" y="10560"/>
        <a:ext cx="3484162" cy="1179835"/>
      </dsp:txXfrm>
    </dsp:sp>
    <dsp:sp modelId="{5FD01E80-EAE8-4AD3-8AB8-595BD1A953F6}">
      <dsp:nvSpPr>
        <dsp:cNvPr id="0" name=""/>
        <dsp:cNvSpPr/>
      </dsp:nvSpPr>
      <dsp:spPr>
        <a:xfrm>
          <a:off x="4379064" y="10560"/>
          <a:ext cx="2934479" cy="1178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744" tIns="124744" rIns="124744" bIns="124744" numCol="1" spcCol="1270" anchor="ctr" anchorCtr="0">
          <a:noAutofit/>
        </a:bodyPr>
        <a:lstStyle/>
        <a:p>
          <a:pPr marL="0" lvl="0" indent="0" algn="l" defTabSz="488950">
            <a:lnSpc>
              <a:spcPct val="90000"/>
            </a:lnSpc>
            <a:spcBef>
              <a:spcPct val="0"/>
            </a:spcBef>
            <a:spcAft>
              <a:spcPct val="35000"/>
            </a:spcAft>
            <a:buNone/>
          </a:pPr>
          <a:r>
            <a:rPr lang="nl-NL" sz="1100" kern="1200" dirty="0" err="1"/>
            <a:t>uropathogenic</a:t>
          </a:r>
          <a:r>
            <a:rPr lang="nl-NL" sz="1100" kern="1200" dirty="0"/>
            <a:t> E. coli (UPEC)</a:t>
          </a:r>
          <a:endParaRPr lang="en-US" sz="1100" kern="1200" dirty="0"/>
        </a:p>
        <a:p>
          <a:pPr marL="0" lvl="0" indent="0" algn="l" defTabSz="488950">
            <a:lnSpc>
              <a:spcPct val="90000"/>
            </a:lnSpc>
            <a:spcBef>
              <a:spcPct val="0"/>
            </a:spcBef>
            <a:spcAft>
              <a:spcPct val="35000"/>
            </a:spcAft>
            <a:buNone/>
          </a:pPr>
          <a:r>
            <a:rPr lang="nl-NL" sz="1100" kern="1200" dirty="0" err="1"/>
            <a:t>avian-pathogenic</a:t>
          </a:r>
          <a:r>
            <a:rPr lang="nl-NL" sz="1100" kern="1200" dirty="0"/>
            <a:t> E. coli (APEC)</a:t>
          </a:r>
          <a:endParaRPr lang="en-US" sz="1100" kern="1200" dirty="0"/>
        </a:p>
        <a:p>
          <a:pPr marL="0" lvl="0" indent="0" algn="l" defTabSz="488950">
            <a:lnSpc>
              <a:spcPct val="90000"/>
            </a:lnSpc>
            <a:spcBef>
              <a:spcPct val="0"/>
            </a:spcBef>
            <a:spcAft>
              <a:spcPct val="35000"/>
            </a:spcAft>
            <a:buNone/>
          </a:pPr>
          <a:r>
            <a:rPr lang="nl-NL" sz="1100" kern="1200" dirty="0" err="1"/>
            <a:t>neonatal</a:t>
          </a:r>
          <a:r>
            <a:rPr lang="nl-NL" sz="1100" kern="1200" dirty="0"/>
            <a:t> meningitis E. coli (NMEC)</a:t>
          </a:r>
          <a:endParaRPr lang="en-US" sz="1100" kern="1200" dirty="0"/>
        </a:p>
      </dsp:txBody>
      <dsp:txXfrm>
        <a:off x="4379064" y="10560"/>
        <a:ext cx="2934479" cy="1178683"/>
      </dsp:txXfrm>
    </dsp:sp>
    <dsp:sp modelId="{E8BB257D-0297-41BF-A130-616AB7543594}">
      <dsp:nvSpPr>
        <dsp:cNvPr id="0" name=""/>
        <dsp:cNvSpPr/>
      </dsp:nvSpPr>
      <dsp:spPr>
        <a:xfrm>
          <a:off x="-388844" y="1500123"/>
          <a:ext cx="7742583" cy="11104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D72248-5042-4144-8FCE-0E832FACADAD}">
      <dsp:nvSpPr>
        <dsp:cNvPr id="0" name=""/>
        <dsp:cNvSpPr/>
      </dsp:nvSpPr>
      <dsp:spPr>
        <a:xfrm>
          <a:off x="-52937" y="1735202"/>
          <a:ext cx="611933" cy="6107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8C2711-25CF-46F9-96AC-0DE32B468066}">
      <dsp:nvSpPr>
        <dsp:cNvPr id="0" name=""/>
        <dsp:cNvSpPr/>
      </dsp:nvSpPr>
      <dsp:spPr>
        <a:xfrm>
          <a:off x="894901" y="1485355"/>
          <a:ext cx="3484162" cy="1179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866" tIns="124866" rIns="124866" bIns="124866" numCol="1" spcCol="1270" anchor="ctr" anchorCtr="0">
          <a:noAutofit/>
        </a:bodyPr>
        <a:lstStyle/>
        <a:p>
          <a:pPr marL="0" lvl="0" indent="0" algn="l" defTabSz="622300">
            <a:lnSpc>
              <a:spcPct val="90000"/>
            </a:lnSpc>
            <a:spcBef>
              <a:spcPct val="0"/>
            </a:spcBef>
            <a:spcAft>
              <a:spcPct val="35000"/>
            </a:spcAft>
            <a:buNone/>
          </a:pPr>
          <a:r>
            <a:rPr lang="en-US" sz="1400" kern="1200" dirty="0"/>
            <a:t>GENES</a:t>
          </a:r>
        </a:p>
      </dsp:txBody>
      <dsp:txXfrm>
        <a:off x="894901" y="1485355"/>
        <a:ext cx="3484162" cy="1179835"/>
      </dsp:txXfrm>
    </dsp:sp>
    <dsp:sp modelId="{B3C4B9FA-1FD1-403C-82FD-C97A9A905A89}">
      <dsp:nvSpPr>
        <dsp:cNvPr id="0" name=""/>
        <dsp:cNvSpPr/>
      </dsp:nvSpPr>
      <dsp:spPr>
        <a:xfrm>
          <a:off x="2284359" y="1467203"/>
          <a:ext cx="4570246" cy="1178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744" tIns="124744" rIns="124744" bIns="124744" numCol="1" spcCol="1270" anchor="ctr" anchorCtr="0">
          <a:noAutofit/>
        </a:bodyPr>
        <a:lstStyle/>
        <a:p>
          <a:pPr marL="0" lvl="0" indent="0" algn="l" defTabSz="488950">
            <a:lnSpc>
              <a:spcPct val="90000"/>
            </a:lnSpc>
            <a:spcBef>
              <a:spcPct val="0"/>
            </a:spcBef>
            <a:spcAft>
              <a:spcPct val="35000"/>
            </a:spcAft>
            <a:buNone/>
          </a:pPr>
          <a:r>
            <a:rPr lang="en-US" sz="1100" b="1" kern="1200" dirty="0"/>
            <a:t>Vat </a:t>
          </a:r>
          <a:r>
            <a:rPr lang="en-US" sz="1100" kern="1200" dirty="0"/>
            <a:t>= an autotransporter serine protease toxin; </a:t>
          </a:r>
        </a:p>
        <a:p>
          <a:pPr marL="0" lvl="0" indent="0" algn="l" defTabSz="488950">
            <a:lnSpc>
              <a:spcPct val="90000"/>
            </a:lnSpc>
            <a:spcBef>
              <a:spcPct val="0"/>
            </a:spcBef>
            <a:spcAft>
              <a:spcPct val="35000"/>
            </a:spcAft>
            <a:buNone/>
          </a:pPr>
          <a:r>
            <a:rPr lang="en-US" sz="1100" b="1" kern="1200" dirty="0" err="1"/>
            <a:t>fyuA</a:t>
          </a:r>
          <a:r>
            <a:rPr lang="en-US" sz="1100" b="1" kern="1200" dirty="0"/>
            <a:t> </a:t>
          </a:r>
          <a:r>
            <a:rPr lang="en-US" sz="1100" kern="1200" dirty="0"/>
            <a:t>= </a:t>
          </a:r>
          <a:r>
            <a:rPr lang="en-US" sz="1100" kern="1200" dirty="0" err="1"/>
            <a:t>yersiniabactin</a:t>
          </a:r>
          <a:r>
            <a:rPr lang="en-US" sz="1100" kern="1200" dirty="0"/>
            <a:t> receptor; </a:t>
          </a:r>
        </a:p>
        <a:p>
          <a:pPr marL="0" lvl="0" indent="0" algn="l" defTabSz="488950">
            <a:lnSpc>
              <a:spcPct val="90000"/>
            </a:lnSpc>
            <a:spcBef>
              <a:spcPct val="0"/>
            </a:spcBef>
            <a:spcAft>
              <a:spcPct val="35000"/>
            </a:spcAft>
            <a:buNone/>
          </a:pPr>
          <a:r>
            <a:rPr lang="en-US" sz="1100" b="1" kern="1200" dirty="0" err="1"/>
            <a:t>chuA</a:t>
          </a:r>
          <a:r>
            <a:rPr lang="en-US" sz="1100" b="1" kern="1200" dirty="0"/>
            <a:t> </a:t>
          </a:r>
          <a:r>
            <a:rPr lang="en-US" sz="1100" kern="1200" dirty="0"/>
            <a:t>= a heme binding protein</a:t>
          </a:r>
        </a:p>
        <a:p>
          <a:pPr marL="0" lvl="0" indent="0" algn="l" defTabSz="488950">
            <a:lnSpc>
              <a:spcPct val="90000"/>
            </a:lnSpc>
            <a:spcBef>
              <a:spcPct val="0"/>
            </a:spcBef>
            <a:spcAft>
              <a:spcPct val="35000"/>
            </a:spcAft>
            <a:buNone/>
          </a:pPr>
          <a:r>
            <a:rPr lang="en-US" sz="1100" b="1" kern="1200"/>
            <a:t>yfcV</a:t>
          </a:r>
          <a:r>
            <a:rPr lang="en-US" sz="1100" kern="1200"/>
            <a:t> = major subunit of a putative chaperoneusher fimbria</a:t>
          </a:r>
        </a:p>
      </dsp:txBody>
      <dsp:txXfrm>
        <a:off x="2284359" y="1467203"/>
        <a:ext cx="4570246" cy="1178683"/>
      </dsp:txXfrm>
    </dsp:sp>
    <dsp:sp modelId="{03760203-97DA-46F7-B843-343148F5C6AB}">
      <dsp:nvSpPr>
        <dsp:cNvPr id="0" name=""/>
        <dsp:cNvSpPr/>
      </dsp:nvSpPr>
      <dsp:spPr>
        <a:xfrm>
          <a:off x="-388844" y="2960149"/>
          <a:ext cx="7742583" cy="11104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BD6BEC-1AE3-4291-9026-B39683931F59}">
      <dsp:nvSpPr>
        <dsp:cNvPr id="0" name=""/>
        <dsp:cNvSpPr/>
      </dsp:nvSpPr>
      <dsp:spPr>
        <a:xfrm>
          <a:off x="-52937" y="3209997"/>
          <a:ext cx="611933" cy="61073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E0BDF0-B1B2-49EF-93FE-16E67C64E0BA}">
      <dsp:nvSpPr>
        <dsp:cNvPr id="0" name=""/>
        <dsp:cNvSpPr/>
      </dsp:nvSpPr>
      <dsp:spPr>
        <a:xfrm>
          <a:off x="894901" y="2960149"/>
          <a:ext cx="6418641" cy="1179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866" tIns="124866" rIns="124866" bIns="124866" numCol="1" spcCol="1270" anchor="ctr" anchorCtr="0">
          <a:noAutofit/>
        </a:bodyPr>
        <a:lstStyle/>
        <a:p>
          <a:pPr marL="0" lvl="0" indent="0" algn="l" defTabSz="622300">
            <a:lnSpc>
              <a:spcPct val="90000"/>
            </a:lnSpc>
            <a:spcBef>
              <a:spcPct val="0"/>
            </a:spcBef>
            <a:spcAft>
              <a:spcPct val="35000"/>
            </a:spcAft>
            <a:buNone/>
          </a:pPr>
          <a:r>
            <a:rPr lang="en-US" sz="1400" kern="1200" dirty="0"/>
            <a:t>E. coli isolates that encode these four genes are correlated with carriage of a high number of other virulence factors, are able to colonize the bladder in higher numbers than strains lacking these genes &amp; are nearly 10 times more likely to represent UPEC or NMEC strains than fecal commensal strains.</a:t>
          </a:r>
        </a:p>
      </dsp:txBody>
      <dsp:txXfrm>
        <a:off x="894901" y="2960149"/>
        <a:ext cx="6418641" cy="1179835"/>
      </dsp:txXfrm>
    </dsp:sp>
    <dsp:sp modelId="{CE63FB56-372C-4DCD-BB6C-84723662E79D}">
      <dsp:nvSpPr>
        <dsp:cNvPr id="0" name=""/>
        <dsp:cNvSpPr/>
      </dsp:nvSpPr>
      <dsp:spPr>
        <a:xfrm>
          <a:off x="-388844" y="4434944"/>
          <a:ext cx="7742583" cy="111043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3A7573-7563-4257-996E-98111760CFFA}">
      <dsp:nvSpPr>
        <dsp:cNvPr id="0" name=""/>
        <dsp:cNvSpPr/>
      </dsp:nvSpPr>
      <dsp:spPr>
        <a:xfrm>
          <a:off x="-52937" y="4684792"/>
          <a:ext cx="611933" cy="61073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2026C22-B1B4-46D7-A3DE-26EAB24F2D02}">
      <dsp:nvSpPr>
        <dsp:cNvPr id="0" name=""/>
        <dsp:cNvSpPr/>
      </dsp:nvSpPr>
      <dsp:spPr>
        <a:xfrm>
          <a:off x="894901" y="4434944"/>
          <a:ext cx="6418641" cy="11798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4866" tIns="124866" rIns="124866" bIns="124866" numCol="1" spcCol="1270" anchor="ctr" anchorCtr="0">
          <a:noAutofit/>
        </a:bodyPr>
        <a:lstStyle/>
        <a:p>
          <a:pPr marL="0" lvl="0" indent="0" algn="l" defTabSz="622300">
            <a:lnSpc>
              <a:spcPct val="90000"/>
            </a:lnSpc>
            <a:spcBef>
              <a:spcPct val="0"/>
            </a:spcBef>
            <a:spcAft>
              <a:spcPct val="35000"/>
            </a:spcAft>
            <a:buNone/>
          </a:pPr>
          <a:r>
            <a:rPr lang="en-US" sz="1400" kern="1200" dirty="0"/>
            <a:t>Human intestinal isolates that encode all 4 predictor genes express them during exponential growth in human urine &amp; colonize the bladder in the mouse model of ascending UTI in higher numbers than human commensal strains that do not encode the four predictor genes (P0.02), suggesting that the presence of the predictors correlates with </a:t>
          </a:r>
          <a:r>
            <a:rPr lang="en-US" sz="1400" kern="1200" dirty="0" err="1"/>
            <a:t>uropathogenic</a:t>
          </a:r>
          <a:r>
            <a:rPr lang="en-US" sz="1400" kern="1200" dirty="0"/>
            <a:t> potential.</a:t>
          </a:r>
        </a:p>
      </dsp:txBody>
      <dsp:txXfrm>
        <a:off x="894901" y="4434944"/>
        <a:ext cx="6418641" cy="11798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8E72BC-987B-4D12-9A33-80F56D6A96ED}" type="datetimeFigureOut">
              <a:rPr lang="nl-NL" smtClean="0"/>
              <a:t>28-11-2024</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60AD39-AF1C-44E8-8EBF-3499C3E4E111}" type="slidenum">
              <a:rPr lang="nl-NL" smtClean="0"/>
              <a:t>‹#›</a:t>
            </a:fld>
            <a:endParaRPr lang="nl-NL"/>
          </a:p>
        </p:txBody>
      </p:sp>
    </p:spTree>
    <p:extLst>
      <p:ext uri="{BB962C8B-B14F-4D97-AF65-F5344CB8AC3E}">
        <p14:creationId xmlns:p14="http://schemas.microsoft.com/office/powerpoint/2010/main" val="763459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i.org/10.3389/fcimb.2016.00014"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lgn="l"/>
            <a:r>
              <a:rPr lang="en-US" b="0" i="0" dirty="0">
                <a:solidFill>
                  <a:srgbClr val="282828"/>
                </a:solidFill>
                <a:effectLst/>
                <a:latin typeface="MuseoSans"/>
              </a:rPr>
              <a:t>Front. Cell. Infect. </a:t>
            </a:r>
            <a:r>
              <a:rPr lang="en-US" b="0" i="0" dirty="0" err="1">
                <a:solidFill>
                  <a:srgbClr val="282828"/>
                </a:solidFill>
                <a:effectLst/>
                <a:latin typeface="MuseoSans"/>
              </a:rPr>
              <a:t>Microbiol</a:t>
            </a:r>
            <a:r>
              <a:rPr lang="en-US" b="0" i="0" dirty="0">
                <a:solidFill>
                  <a:srgbClr val="282828"/>
                </a:solidFill>
                <a:effectLst/>
                <a:latin typeface="MuseoSans"/>
              </a:rPr>
              <a:t>., 08 February 2016</a:t>
            </a:r>
          </a:p>
          <a:p>
            <a:pPr algn="l"/>
            <a:r>
              <a:rPr lang="en-US" b="0" i="0" dirty="0">
                <a:solidFill>
                  <a:srgbClr val="282828"/>
                </a:solidFill>
                <a:effectLst/>
                <a:latin typeface="MuseoSans"/>
              </a:rPr>
              <a:t>Sec. Molecular Bacterial Pathogenesis</a:t>
            </a:r>
          </a:p>
          <a:p>
            <a:pPr algn="l"/>
            <a:r>
              <a:rPr lang="en-US" b="0" i="0" dirty="0">
                <a:solidFill>
                  <a:srgbClr val="282828"/>
                </a:solidFill>
                <a:effectLst/>
                <a:latin typeface="MuseoSans"/>
              </a:rPr>
              <a:t>Volume 6 - 2016 | </a:t>
            </a:r>
            <a:r>
              <a:rPr lang="en-US" b="0" i="0" u="none" strike="noStrike" dirty="0">
                <a:solidFill>
                  <a:srgbClr val="282828"/>
                </a:solidFill>
                <a:effectLst/>
                <a:latin typeface="MuseoSans"/>
                <a:hlinkClick r:id="rId3"/>
              </a:rPr>
              <a:t>https://doi.org/10.3389/fcimb.2016.00014</a:t>
            </a:r>
            <a:endParaRPr lang="en-US" b="0" i="0" dirty="0">
              <a:solidFill>
                <a:srgbClr val="282828"/>
              </a:solidFill>
              <a:effectLst/>
              <a:latin typeface="MuseoSans"/>
            </a:endParaRPr>
          </a:p>
          <a:p>
            <a:endParaRPr lang="nl-NL" dirty="0"/>
          </a:p>
        </p:txBody>
      </p:sp>
      <p:sp>
        <p:nvSpPr>
          <p:cNvPr id="4" name="Tijdelijke aanduiding voor dianummer 3"/>
          <p:cNvSpPr>
            <a:spLocks noGrp="1"/>
          </p:cNvSpPr>
          <p:nvPr>
            <p:ph type="sldNum" sz="quarter" idx="5"/>
          </p:nvPr>
        </p:nvSpPr>
        <p:spPr/>
        <p:txBody>
          <a:bodyPr/>
          <a:lstStyle/>
          <a:p>
            <a:fld id="{2A60AD39-AF1C-44E8-8EBF-3499C3E4E111}" type="slidenum">
              <a:rPr lang="nl-NL" smtClean="0"/>
              <a:t>3</a:t>
            </a:fld>
            <a:endParaRPr lang="nl-NL"/>
          </a:p>
        </p:txBody>
      </p:sp>
    </p:spTree>
    <p:extLst>
      <p:ext uri="{BB962C8B-B14F-4D97-AF65-F5344CB8AC3E}">
        <p14:creationId xmlns:p14="http://schemas.microsoft.com/office/powerpoint/2010/main" val="1547323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Ognenovska</a:t>
            </a:r>
            <a:r>
              <a:rPr lang="nl-NL" dirty="0"/>
              <a:t>, S.; </a:t>
            </a:r>
            <a:r>
              <a:rPr lang="nl-NL" dirty="0" err="1"/>
              <a:t>Mukerjee</a:t>
            </a:r>
            <a:r>
              <a:rPr lang="nl-NL" dirty="0"/>
              <a:t>, C.; </a:t>
            </a:r>
            <a:r>
              <a:rPr lang="nl-NL" dirty="0" err="1"/>
              <a:t>Sanderson</a:t>
            </a:r>
            <a:r>
              <a:rPr lang="nl-NL" dirty="0"/>
              <a:t>-Smith, M.; Moore, K.H.; Mansfield, K.J. </a:t>
            </a:r>
            <a:r>
              <a:rPr lang="nl-NL" dirty="0" err="1"/>
              <a:t>Virulence</a:t>
            </a:r>
            <a:r>
              <a:rPr lang="nl-NL" dirty="0"/>
              <a:t> </a:t>
            </a:r>
            <a:r>
              <a:rPr lang="nl-NL" dirty="0" err="1"/>
              <a:t>Mechanisms</a:t>
            </a:r>
            <a:r>
              <a:rPr lang="nl-NL" dirty="0"/>
              <a:t> of Common </a:t>
            </a:r>
            <a:r>
              <a:rPr lang="nl-NL" dirty="0" err="1"/>
              <a:t>Uropathogens</a:t>
            </a:r>
            <a:r>
              <a:rPr lang="nl-NL" dirty="0"/>
              <a:t> </a:t>
            </a:r>
            <a:r>
              <a:rPr lang="nl-NL" dirty="0" err="1"/>
              <a:t>and</a:t>
            </a:r>
            <a:r>
              <a:rPr lang="nl-NL" dirty="0"/>
              <a:t> </a:t>
            </a:r>
            <a:r>
              <a:rPr lang="nl-NL" dirty="0" err="1"/>
              <a:t>Their</a:t>
            </a:r>
            <a:r>
              <a:rPr lang="nl-NL" dirty="0"/>
              <a:t> </a:t>
            </a:r>
            <a:r>
              <a:rPr lang="nl-NL" dirty="0" err="1"/>
              <a:t>Intracellular</a:t>
            </a:r>
            <a:r>
              <a:rPr lang="nl-NL" dirty="0"/>
              <a:t> </a:t>
            </a:r>
            <a:r>
              <a:rPr lang="nl-NL" dirty="0" err="1"/>
              <a:t>Localisation</a:t>
            </a:r>
            <a:r>
              <a:rPr lang="nl-NL" dirty="0"/>
              <a:t> </a:t>
            </a:r>
            <a:r>
              <a:rPr lang="nl-NL" dirty="0" err="1"/>
              <a:t>within</a:t>
            </a:r>
            <a:r>
              <a:rPr lang="nl-NL" dirty="0"/>
              <a:t> </a:t>
            </a:r>
            <a:r>
              <a:rPr lang="nl-NL" dirty="0" err="1"/>
              <a:t>Urothelial</a:t>
            </a:r>
            <a:r>
              <a:rPr lang="nl-NL" dirty="0"/>
              <a:t> </a:t>
            </a:r>
            <a:r>
              <a:rPr lang="nl-NL" dirty="0" err="1"/>
              <a:t>Cells</a:t>
            </a:r>
            <a:r>
              <a:rPr lang="nl-NL" dirty="0"/>
              <a:t>. </a:t>
            </a:r>
            <a:r>
              <a:rPr lang="nl-NL" dirty="0" err="1"/>
              <a:t>Pathogens</a:t>
            </a:r>
            <a:r>
              <a:rPr lang="nl-NL" dirty="0"/>
              <a:t> 2022, 11, 926. https:// doi.org/10.3390/pathogens11080926</a:t>
            </a:r>
            <a:r>
              <a:rPr lang="en-US" dirty="0"/>
              <a:t>Figure 1. E. coli (A–C), E. faecalis (D–F), and GBS (G–I) invasion of an exfoliated urothelial cell from women with refractory DO. Cells were fluorescently stained and subsequently imaged using confocal microscopy. (A,D,G) Orthogonal views were obtained to </a:t>
            </a:r>
            <a:r>
              <a:rPr lang="en-US" dirty="0" err="1"/>
              <a:t>visualise</a:t>
            </a:r>
            <a:r>
              <a:rPr lang="en-US" dirty="0"/>
              <a:t> the location of all structures relative to the urothelial cell membrane. The white dashed line indicates the sampled YZ section whilst the yellow dashed line indicates the XZ section. (B,E,H) A line was drawn across a slice image occurring mid-way through the Z-stack. The intensity of fluorescence of each stain along the line was measured and depicted as a plot profile (C,F,I). The yellow arrow indicates the line and direction of the plot profile analysis whilst the </a:t>
            </a:r>
            <a:r>
              <a:rPr lang="en-US" dirty="0" err="1"/>
              <a:t>coloured</a:t>
            </a:r>
            <a:r>
              <a:rPr lang="en-US" dirty="0"/>
              <a:t> asterisks denote the objects the line passed through: entry and exit of the urothelial cell membrane (red), confirmed intracellular bacteria (green), and the urothelial cell nuclei (blue). Note, for E. coli (panel (A,B)) and GBS (panel (G,H)), the green staining showing intracellular bacteria was subdued. Although clearly visible when viewed in isolation, when all three channels were viewed together (as shown in the panels) the nuclear stain (blue) overwhelmed the green staining of the bacteria. Scale bars: 10 µm.</a:t>
            </a:r>
            <a:endParaRPr lang="nl-NL" dirty="0"/>
          </a:p>
        </p:txBody>
      </p:sp>
      <p:sp>
        <p:nvSpPr>
          <p:cNvPr id="4" name="Tijdelijke aanduiding voor dianummer 3"/>
          <p:cNvSpPr>
            <a:spLocks noGrp="1"/>
          </p:cNvSpPr>
          <p:nvPr>
            <p:ph type="sldNum" sz="quarter" idx="5"/>
          </p:nvPr>
        </p:nvSpPr>
        <p:spPr/>
        <p:txBody>
          <a:bodyPr/>
          <a:lstStyle/>
          <a:p>
            <a:fld id="{2A60AD39-AF1C-44E8-8EBF-3499C3E4E111}" type="slidenum">
              <a:rPr lang="nl-NL" smtClean="0"/>
              <a:t>4</a:t>
            </a:fld>
            <a:endParaRPr lang="nl-NL"/>
          </a:p>
        </p:txBody>
      </p:sp>
    </p:spTree>
    <p:extLst>
      <p:ext uri="{BB962C8B-B14F-4D97-AF65-F5344CB8AC3E}">
        <p14:creationId xmlns:p14="http://schemas.microsoft.com/office/powerpoint/2010/main" val="4259669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b="0" i="0" dirty="0" err="1">
                <a:solidFill>
                  <a:srgbClr val="222222"/>
                </a:solidFill>
                <a:effectLst/>
                <a:latin typeface="Arial" panose="020B0604020202020204" pitchFamily="34" charset="0"/>
              </a:rPr>
              <a:t>Overview</a:t>
            </a:r>
            <a:r>
              <a:rPr lang="nl-NL" b="0" i="0" dirty="0">
                <a:solidFill>
                  <a:srgbClr val="222222"/>
                </a:solidFill>
                <a:effectLst/>
                <a:latin typeface="Arial" panose="020B0604020202020204" pitchFamily="34" charset="0"/>
              </a:rPr>
              <a:t> of </a:t>
            </a:r>
            <a:r>
              <a:rPr lang="nl-NL" b="0" i="0" dirty="0" err="1">
                <a:solidFill>
                  <a:srgbClr val="222222"/>
                </a:solidFill>
                <a:effectLst/>
                <a:latin typeface="Arial" panose="020B0604020202020204" pitchFamily="34" charset="0"/>
              </a:rPr>
              <a:t>nursing</a:t>
            </a:r>
            <a:r>
              <a:rPr lang="nl-NL" b="0" i="0" dirty="0">
                <a:solidFill>
                  <a:srgbClr val="222222"/>
                </a:solidFill>
                <a:effectLst/>
                <a:latin typeface="Arial" panose="020B0604020202020204" pitchFamily="34" charset="0"/>
              </a:rPr>
              <a:t> home </a:t>
            </a:r>
            <a:r>
              <a:rPr lang="nl-NL" b="0" i="0" dirty="0" err="1">
                <a:solidFill>
                  <a:srgbClr val="222222"/>
                </a:solidFill>
                <a:effectLst/>
                <a:latin typeface="Arial" panose="020B0604020202020204" pitchFamily="34" charset="0"/>
              </a:rPr>
              <a:t>residents</a:t>
            </a:r>
            <a:r>
              <a:rPr lang="nl-NL" b="0" i="0" dirty="0">
                <a:solidFill>
                  <a:srgbClr val="222222"/>
                </a:solidFill>
                <a:effectLst/>
                <a:latin typeface="Arial" panose="020B0604020202020204" pitchFamily="34" charset="0"/>
              </a:rPr>
              <a:t> (7 </a:t>
            </a:r>
            <a:r>
              <a:rPr lang="nl-NL" b="0" i="0" dirty="0" err="1">
                <a:solidFill>
                  <a:srgbClr val="222222"/>
                </a:solidFill>
                <a:effectLst/>
                <a:latin typeface="Arial" panose="020B0604020202020204" pitchFamily="34" charset="0"/>
              </a:rPr>
              <a:t>unique</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individuals</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with</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recurrent</a:t>
            </a:r>
            <a:r>
              <a:rPr lang="nl-NL" b="0" i="0" dirty="0">
                <a:solidFill>
                  <a:srgbClr val="222222"/>
                </a:solidFill>
                <a:effectLst/>
                <a:latin typeface="Arial" panose="020B0604020202020204" pitchFamily="34" charset="0"/>
              </a:rPr>
              <a:t> UTI </a:t>
            </a:r>
            <a:r>
              <a:rPr lang="nl-NL" b="0" i="0" dirty="0" err="1">
                <a:solidFill>
                  <a:srgbClr val="222222"/>
                </a:solidFill>
                <a:effectLst/>
                <a:latin typeface="Arial" panose="020B0604020202020204" pitchFamily="34" charset="0"/>
              </a:rPr>
              <a:t>caused</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by</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same-strain</a:t>
            </a:r>
            <a:r>
              <a:rPr lang="nl-NL" b="0" i="0" dirty="0">
                <a:solidFill>
                  <a:srgbClr val="222222"/>
                </a:solidFill>
                <a:effectLst/>
                <a:latin typeface="Arial" panose="020B0604020202020204" pitchFamily="34" charset="0"/>
              </a:rPr>
              <a:t> </a:t>
            </a:r>
            <a:r>
              <a:rPr lang="nl-NL" b="0" i="1" dirty="0">
                <a:solidFill>
                  <a:srgbClr val="222222"/>
                </a:solidFill>
                <a:effectLst/>
                <a:latin typeface="Arial" panose="020B0604020202020204" pitchFamily="34" charset="0"/>
              </a:rPr>
              <a:t>E. coli</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identified</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based</a:t>
            </a:r>
            <a:r>
              <a:rPr lang="nl-NL" b="0" i="0" dirty="0">
                <a:solidFill>
                  <a:srgbClr val="222222"/>
                </a:solidFill>
                <a:effectLst/>
                <a:latin typeface="Arial" panose="020B0604020202020204" pitchFamily="34" charset="0"/>
              </a:rPr>
              <a:t> on SNP analysis. Box </a:t>
            </a:r>
            <a:r>
              <a:rPr lang="nl-NL" b="0" i="0" dirty="0" err="1">
                <a:solidFill>
                  <a:srgbClr val="222222"/>
                </a:solidFill>
                <a:effectLst/>
                <a:latin typeface="Arial" panose="020B0604020202020204" pitchFamily="34" charset="0"/>
              </a:rPr>
              <a:t>color</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represents</a:t>
            </a:r>
            <a:r>
              <a:rPr lang="nl-NL" b="0" i="0" dirty="0">
                <a:solidFill>
                  <a:srgbClr val="222222"/>
                </a:solidFill>
                <a:effectLst/>
                <a:latin typeface="Arial" panose="020B0604020202020204" pitchFamily="34" charset="0"/>
              </a:rPr>
              <a:t> </a:t>
            </a:r>
            <a:r>
              <a:rPr lang="nl-NL" b="0" i="1" dirty="0">
                <a:solidFill>
                  <a:srgbClr val="222222"/>
                </a:solidFill>
                <a:effectLst/>
                <a:latin typeface="Arial" panose="020B0604020202020204" pitchFamily="34" charset="0"/>
              </a:rPr>
              <a:t>E. coli</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sequence</a:t>
            </a:r>
            <a:r>
              <a:rPr lang="nl-NL" b="0" i="0" dirty="0">
                <a:solidFill>
                  <a:srgbClr val="222222"/>
                </a:solidFill>
                <a:effectLst/>
                <a:latin typeface="Arial" panose="020B0604020202020204" pitchFamily="34" charset="0"/>
              </a:rPr>
              <a:t> type </a:t>
            </a:r>
            <a:r>
              <a:rPr lang="nl-NL" b="0" i="0" dirty="0" err="1">
                <a:solidFill>
                  <a:srgbClr val="222222"/>
                </a:solidFill>
                <a:effectLst/>
                <a:latin typeface="Arial" panose="020B0604020202020204" pitchFamily="34" charset="0"/>
              </a:rPr>
              <a:t>identified</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the</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same</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color</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reflects</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the</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same</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strain</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STxxx</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represents</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sequence</a:t>
            </a:r>
            <a:r>
              <a:rPr lang="nl-NL" b="0" i="0" dirty="0">
                <a:solidFill>
                  <a:srgbClr val="222222"/>
                </a:solidFill>
                <a:effectLst/>
                <a:latin typeface="Arial" panose="020B0604020202020204" pitchFamily="34" charset="0"/>
              </a:rPr>
              <a:t> type. No box </a:t>
            </a:r>
            <a:r>
              <a:rPr lang="nl-NL" b="0" i="0" dirty="0" err="1">
                <a:solidFill>
                  <a:srgbClr val="222222"/>
                </a:solidFill>
                <a:effectLst/>
                <a:latin typeface="Arial" panose="020B0604020202020204" pitchFamily="34" charset="0"/>
              </a:rPr>
              <a:t>indicates</a:t>
            </a:r>
            <a:r>
              <a:rPr lang="nl-NL" b="0" i="0" dirty="0">
                <a:solidFill>
                  <a:srgbClr val="222222"/>
                </a:solidFill>
                <a:effectLst/>
                <a:latin typeface="Arial" panose="020B0604020202020204" pitchFamily="34" charset="0"/>
              </a:rPr>
              <a:t>: no urine culture </a:t>
            </a:r>
            <a:r>
              <a:rPr lang="nl-NL" b="0" i="0" dirty="0" err="1">
                <a:solidFill>
                  <a:srgbClr val="222222"/>
                </a:solidFill>
                <a:effectLst/>
                <a:latin typeface="Arial" panose="020B0604020202020204" pitchFamily="34" charset="0"/>
              </a:rPr>
              <a:t>result</a:t>
            </a:r>
            <a:r>
              <a:rPr lang="nl-NL" b="0" i="0" dirty="0">
                <a:solidFill>
                  <a:srgbClr val="222222"/>
                </a:solidFill>
                <a:effectLst/>
                <a:latin typeface="Arial" panose="020B0604020202020204" pitchFamily="34" charset="0"/>
              </a:rPr>
              <a:t>/</a:t>
            </a:r>
            <a:r>
              <a:rPr lang="nl-NL" b="0" i="0" dirty="0" err="1">
                <a:solidFill>
                  <a:srgbClr val="222222"/>
                </a:solidFill>
                <a:effectLst/>
                <a:latin typeface="Arial" panose="020B0604020202020204" pitchFamily="34" charset="0"/>
              </a:rPr>
              <a:t>isolate</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available</a:t>
            </a:r>
            <a:r>
              <a:rPr lang="nl-NL" b="0" i="0" dirty="0">
                <a:solidFill>
                  <a:srgbClr val="222222"/>
                </a:solidFill>
                <a:effectLst/>
                <a:latin typeface="Arial" panose="020B0604020202020204" pitchFamily="34" charset="0"/>
              </a:rPr>
              <a:t>. Green </a:t>
            </a:r>
            <a:r>
              <a:rPr lang="nl-NL" b="0" i="0" dirty="0" err="1">
                <a:solidFill>
                  <a:srgbClr val="222222"/>
                </a:solidFill>
                <a:effectLst/>
                <a:latin typeface="Arial" panose="020B0604020202020204" pitchFamily="34" charset="0"/>
              </a:rPr>
              <a:t>pill</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indicates</a:t>
            </a:r>
            <a:r>
              <a:rPr lang="nl-NL" b="0" i="0" dirty="0">
                <a:solidFill>
                  <a:srgbClr val="222222"/>
                </a:solidFill>
                <a:effectLst/>
                <a:latin typeface="Arial" panose="020B0604020202020204" pitchFamily="34" charset="0"/>
              </a:rPr>
              <a:t> a </a:t>
            </a:r>
            <a:r>
              <a:rPr lang="nl-NL" b="0" i="0" dirty="0" err="1">
                <a:solidFill>
                  <a:srgbClr val="222222"/>
                </a:solidFill>
                <a:effectLst/>
                <a:latin typeface="Arial" panose="020B0604020202020204" pitchFamily="34" charset="0"/>
              </a:rPr>
              <a:t>susceptible</a:t>
            </a:r>
            <a:r>
              <a:rPr lang="nl-NL" b="0" i="0" dirty="0">
                <a:solidFill>
                  <a:srgbClr val="222222"/>
                </a:solidFill>
                <a:effectLst/>
                <a:latin typeface="Arial" panose="020B0604020202020204" pitchFamily="34" charset="0"/>
              </a:rPr>
              <a:t> </a:t>
            </a:r>
            <a:r>
              <a:rPr lang="nl-NL" b="0" i="1" dirty="0">
                <a:solidFill>
                  <a:srgbClr val="222222"/>
                </a:solidFill>
                <a:effectLst/>
                <a:latin typeface="Arial" panose="020B0604020202020204" pitchFamily="34" charset="0"/>
              </a:rPr>
              <a:t>E. coli</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strain</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for</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antibiotic</a:t>
            </a:r>
            <a:r>
              <a:rPr lang="nl-NL" b="0" i="0" dirty="0">
                <a:solidFill>
                  <a:srgbClr val="222222"/>
                </a:solidFill>
                <a:effectLst/>
                <a:latin typeface="Arial" panose="020B0604020202020204" pitchFamily="34" charset="0"/>
              </a:rPr>
              <a:t> treatment </a:t>
            </a:r>
            <a:r>
              <a:rPr lang="nl-NL" b="0" i="0" dirty="0" err="1">
                <a:solidFill>
                  <a:srgbClr val="222222"/>
                </a:solidFill>
                <a:effectLst/>
                <a:latin typeface="Arial" panose="020B0604020202020204" pitchFamily="34" charset="0"/>
              </a:rPr>
              <a:t>prescribed</a:t>
            </a:r>
            <a:r>
              <a:rPr lang="nl-NL" b="0" i="0" dirty="0">
                <a:solidFill>
                  <a:srgbClr val="222222"/>
                </a:solidFill>
                <a:effectLst/>
                <a:latin typeface="Arial" panose="020B0604020202020204" pitchFamily="34" charset="0"/>
              </a:rPr>
              <a:t>; red </a:t>
            </a:r>
            <a:r>
              <a:rPr lang="nl-NL" b="0" i="0" dirty="0" err="1">
                <a:solidFill>
                  <a:srgbClr val="222222"/>
                </a:solidFill>
                <a:effectLst/>
                <a:latin typeface="Arial" panose="020B0604020202020204" pitchFamily="34" charset="0"/>
              </a:rPr>
              <a:t>pill</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indicates</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resistant</a:t>
            </a:r>
            <a:r>
              <a:rPr lang="nl-NL" b="0" i="0" dirty="0">
                <a:solidFill>
                  <a:srgbClr val="222222"/>
                </a:solidFill>
                <a:effectLst/>
                <a:latin typeface="Arial" panose="020B0604020202020204" pitchFamily="34" charset="0"/>
              </a:rPr>
              <a:t> </a:t>
            </a:r>
            <a:r>
              <a:rPr lang="nl-NL" b="0" i="1" dirty="0">
                <a:solidFill>
                  <a:srgbClr val="222222"/>
                </a:solidFill>
                <a:effectLst/>
                <a:latin typeface="Arial" panose="020B0604020202020204" pitchFamily="34" charset="0"/>
              </a:rPr>
              <a:t>E. coli</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strains</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for</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antibiotic</a:t>
            </a:r>
            <a:r>
              <a:rPr lang="nl-NL" b="0" i="0" dirty="0">
                <a:solidFill>
                  <a:srgbClr val="222222"/>
                </a:solidFill>
                <a:effectLst/>
                <a:latin typeface="Arial" panose="020B0604020202020204" pitchFamily="34" charset="0"/>
              </a:rPr>
              <a:t> treatment </a:t>
            </a:r>
            <a:r>
              <a:rPr lang="nl-NL" b="0" i="0" dirty="0" err="1">
                <a:solidFill>
                  <a:srgbClr val="222222"/>
                </a:solidFill>
                <a:effectLst/>
                <a:latin typeface="Arial" panose="020B0604020202020204" pitchFamily="34" charset="0"/>
              </a:rPr>
              <a:t>prescribed</a:t>
            </a:r>
            <a:r>
              <a:rPr lang="nl-NL" b="0" i="0" dirty="0">
                <a:solidFill>
                  <a:srgbClr val="222222"/>
                </a:solidFill>
                <a:effectLst/>
                <a:latin typeface="Arial" panose="020B0604020202020204" pitchFamily="34" charset="0"/>
              </a:rPr>
              <a:t>. Black </a:t>
            </a:r>
            <a:r>
              <a:rPr lang="nl-NL" b="0" i="0" dirty="0" err="1">
                <a:solidFill>
                  <a:srgbClr val="222222"/>
                </a:solidFill>
                <a:effectLst/>
                <a:latin typeface="Arial" panose="020B0604020202020204" pitchFamily="34" charset="0"/>
              </a:rPr>
              <a:t>pill</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indicates</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antibiotic</a:t>
            </a:r>
            <a:r>
              <a:rPr lang="nl-NL" b="0" i="0" dirty="0">
                <a:solidFill>
                  <a:srgbClr val="222222"/>
                </a:solidFill>
                <a:effectLst/>
                <a:latin typeface="Arial" panose="020B0604020202020204" pitchFamily="34" charset="0"/>
              </a:rPr>
              <a:t> treatment </a:t>
            </a:r>
            <a:r>
              <a:rPr lang="nl-NL" b="0" i="0" dirty="0" err="1">
                <a:solidFill>
                  <a:srgbClr val="222222"/>
                </a:solidFill>
                <a:effectLst/>
                <a:latin typeface="Arial" panose="020B0604020202020204" pitchFamily="34" charset="0"/>
              </a:rPr>
              <a:t>with</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lacking</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susceptibility</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testing</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results</a:t>
            </a:r>
            <a:r>
              <a:rPr lang="nl-NL" b="0" i="0" dirty="0">
                <a:solidFill>
                  <a:srgbClr val="222222"/>
                </a:solidFill>
                <a:effectLst/>
                <a:latin typeface="Arial" panose="020B0604020202020204" pitchFamily="34" charset="0"/>
              </a:rPr>
              <a:t>. </a:t>
            </a:r>
            <a:r>
              <a:rPr lang="nl-NL" b="0" i="0" dirty="0" err="1">
                <a:solidFill>
                  <a:srgbClr val="222222"/>
                </a:solidFill>
                <a:effectLst/>
                <a:latin typeface="Arial" panose="020B0604020202020204" pitchFamily="34" charset="0"/>
              </a:rPr>
              <a:t>amox</a:t>
            </a:r>
            <a:r>
              <a:rPr lang="nl-NL" b="0" i="0" dirty="0">
                <a:solidFill>
                  <a:srgbClr val="222222"/>
                </a:solidFill>
                <a:effectLst/>
                <a:latin typeface="Arial" panose="020B0604020202020204" pitchFamily="34" charset="0"/>
              </a:rPr>
              <a:t>/</a:t>
            </a:r>
            <a:r>
              <a:rPr lang="nl-NL" b="0" i="0" dirty="0" err="1">
                <a:solidFill>
                  <a:srgbClr val="222222"/>
                </a:solidFill>
                <a:effectLst/>
                <a:latin typeface="Arial" panose="020B0604020202020204" pitchFamily="34" charset="0"/>
              </a:rPr>
              <a:t>cla</a:t>
            </a:r>
            <a:r>
              <a:rPr lang="nl-NL" b="0" i="0" dirty="0">
                <a:solidFill>
                  <a:srgbClr val="222222"/>
                </a:solidFill>
                <a:effectLst/>
                <a:latin typeface="Arial" panose="020B0604020202020204" pitchFamily="34" charset="0"/>
              </a:rPr>
              <a:t> = </a:t>
            </a:r>
            <a:r>
              <a:rPr lang="nl-NL" b="0" i="0" dirty="0" err="1">
                <a:solidFill>
                  <a:srgbClr val="222222"/>
                </a:solidFill>
                <a:effectLst/>
                <a:latin typeface="Arial" panose="020B0604020202020204" pitchFamily="34" charset="0"/>
              </a:rPr>
              <a:t>amoxicillin</a:t>
            </a:r>
            <a:r>
              <a:rPr lang="nl-NL" b="0" i="0" dirty="0">
                <a:solidFill>
                  <a:srgbClr val="222222"/>
                </a:solidFill>
                <a:effectLst/>
                <a:latin typeface="Arial" panose="020B0604020202020204" pitchFamily="34" charset="0"/>
              </a:rPr>
              <a:t>–</a:t>
            </a:r>
            <a:r>
              <a:rPr lang="nl-NL" b="0" i="0" dirty="0" err="1">
                <a:solidFill>
                  <a:srgbClr val="222222"/>
                </a:solidFill>
                <a:effectLst/>
                <a:latin typeface="Arial" panose="020B0604020202020204" pitchFamily="34" charset="0"/>
              </a:rPr>
              <a:t>clavulanic</a:t>
            </a:r>
            <a:r>
              <a:rPr lang="nl-NL" b="0" i="0" dirty="0">
                <a:solidFill>
                  <a:srgbClr val="222222"/>
                </a:solidFill>
                <a:effectLst/>
                <a:latin typeface="Arial" panose="020B0604020202020204" pitchFamily="34" charset="0"/>
              </a:rPr>
              <a:t> acid; </a:t>
            </a:r>
            <a:r>
              <a:rPr lang="nl-NL" b="0" i="0" dirty="0" err="1">
                <a:solidFill>
                  <a:srgbClr val="222222"/>
                </a:solidFill>
                <a:effectLst/>
                <a:latin typeface="Arial" panose="020B0604020202020204" pitchFamily="34" charset="0"/>
              </a:rPr>
              <a:t>nit</a:t>
            </a:r>
            <a:r>
              <a:rPr lang="nl-NL" b="0" i="0" dirty="0">
                <a:solidFill>
                  <a:srgbClr val="222222"/>
                </a:solidFill>
                <a:effectLst/>
                <a:latin typeface="Arial" panose="020B0604020202020204" pitchFamily="34" charset="0"/>
              </a:rPr>
              <a:t> = </a:t>
            </a:r>
            <a:r>
              <a:rPr lang="nl-NL" b="0" i="0" dirty="0" err="1">
                <a:solidFill>
                  <a:srgbClr val="222222"/>
                </a:solidFill>
                <a:effectLst/>
                <a:latin typeface="Arial" panose="020B0604020202020204" pitchFamily="34" charset="0"/>
              </a:rPr>
              <a:t>nitrofurantoin</a:t>
            </a:r>
            <a:r>
              <a:rPr lang="nl-NL" b="0" i="0" dirty="0">
                <a:solidFill>
                  <a:srgbClr val="222222"/>
                </a:solidFill>
                <a:effectLst/>
                <a:latin typeface="Arial" panose="020B0604020202020204" pitchFamily="34" charset="0"/>
              </a:rPr>
              <a:t>; ST = </a:t>
            </a:r>
            <a:r>
              <a:rPr lang="nl-NL" b="0" i="0" dirty="0" err="1">
                <a:solidFill>
                  <a:srgbClr val="222222"/>
                </a:solidFill>
                <a:effectLst/>
                <a:latin typeface="Arial" panose="020B0604020202020204" pitchFamily="34" charset="0"/>
              </a:rPr>
              <a:t>sequence</a:t>
            </a:r>
            <a:r>
              <a:rPr lang="nl-NL" b="0" i="0" dirty="0">
                <a:solidFill>
                  <a:srgbClr val="222222"/>
                </a:solidFill>
                <a:effectLst/>
                <a:latin typeface="Arial" panose="020B0604020202020204" pitchFamily="34" charset="0"/>
              </a:rPr>
              <a:t> type; T0 = </a:t>
            </a:r>
            <a:r>
              <a:rPr lang="nl-NL" b="0" i="0" dirty="0" err="1">
                <a:solidFill>
                  <a:srgbClr val="222222"/>
                </a:solidFill>
                <a:effectLst/>
                <a:latin typeface="Arial" panose="020B0604020202020204" pitchFamily="34" charset="0"/>
              </a:rPr>
              <a:t>day</a:t>
            </a:r>
            <a:r>
              <a:rPr lang="nl-NL" b="0" i="0" dirty="0">
                <a:solidFill>
                  <a:srgbClr val="222222"/>
                </a:solidFill>
                <a:effectLst/>
                <a:latin typeface="Arial" panose="020B0604020202020204" pitchFamily="34" charset="0"/>
              </a:rPr>
              <a:t> of </a:t>
            </a:r>
            <a:r>
              <a:rPr lang="nl-NL" b="0" i="0" dirty="0" err="1">
                <a:solidFill>
                  <a:srgbClr val="222222"/>
                </a:solidFill>
                <a:effectLst/>
                <a:latin typeface="Arial" panose="020B0604020202020204" pitchFamily="34" charset="0"/>
              </a:rPr>
              <a:t>the</a:t>
            </a:r>
            <a:r>
              <a:rPr lang="nl-NL" b="0" i="0" dirty="0">
                <a:solidFill>
                  <a:srgbClr val="222222"/>
                </a:solidFill>
                <a:effectLst/>
                <a:latin typeface="Arial" panose="020B0604020202020204" pitchFamily="34" charset="0"/>
              </a:rPr>
              <a:t> index UT.</a:t>
            </a:r>
          </a:p>
          <a:p>
            <a:endParaRPr lang="nl-NL" b="0" i="0" dirty="0">
              <a:solidFill>
                <a:srgbClr val="222222"/>
              </a:solidFill>
              <a:effectLst/>
              <a:latin typeface="Arial" panose="020B0604020202020204" pitchFamily="34" charset="0"/>
            </a:endParaRPr>
          </a:p>
          <a:p>
            <a:endParaRPr lang="nl-NL"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Introduction: Recurrent urinary tract infections (</a:t>
            </a:r>
            <a:r>
              <a:rPr lang="en-US" b="0" i="0" dirty="0" err="1">
                <a:solidFill>
                  <a:srgbClr val="222222"/>
                </a:solidFill>
                <a:effectLst/>
                <a:latin typeface="Arial" panose="020B0604020202020204" pitchFamily="34" charset="0"/>
              </a:rPr>
              <a:t>rUTI</a:t>
            </a:r>
            <a:r>
              <a:rPr lang="en-US" b="0" i="0" dirty="0">
                <a:solidFill>
                  <a:srgbClr val="222222"/>
                </a:solidFill>
                <a:effectLst/>
                <a:latin typeface="Arial" panose="020B0604020202020204" pitchFamily="34" charset="0"/>
              </a:rPr>
              <a:t>) largely contribute to antibiotic use in older adults. Understanding the genetic characteristics of </a:t>
            </a:r>
            <a:r>
              <a:rPr lang="en-US" b="0" i="1" dirty="0">
                <a:solidFill>
                  <a:srgbClr val="222222"/>
                </a:solidFill>
                <a:effectLst/>
                <a:latin typeface="Arial" panose="020B0604020202020204" pitchFamily="34" charset="0"/>
              </a:rPr>
              <a:t>Escherichia coli (E.coli)</a:t>
            </a:r>
            <a:r>
              <a:rPr lang="en-US" b="0" i="0" dirty="0">
                <a:solidFill>
                  <a:srgbClr val="222222"/>
                </a:solidFill>
                <a:effectLst/>
                <a:latin typeface="Arial" panose="020B0604020202020204" pitchFamily="34" charset="0"/>
              </a:rPr>
              <a:t> is needed to identify patients at risk for recurrence. The aim of this study was to obtain a greater understanding of the genetics of </a:t>
            </a:r>
            <a:r>
              <a:rPr lang="en-US" b="0" i="1" dirty="0">
                <a:solidFill>
                  <a:srgbClr val="222222"/>
                </a:solidFill>
                <a:effectLst/>
                <a:latin typeface="Arial" panose="020B0604020202020204" pitchFamily="34" charset="0"/>
              </a:rPr>
              <a:t>E. coli</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rUTI</a:t>
            </a:r>
            <a:r>
              <a:rPr lang="en-US" b="0" i="0" dirty="0">
                <a:solidFill>
                  <a:srgbClr val="222222"/>
                </a:solidFill>
                <a:effectLst/>
                <a:latin typeface="Arial" panose="020B0604020202020204" pitchFamily="34" charset="0"/>
              </a:rPr>
              <a:t> in nursing home residents. Methods: This is a secondary analysis of a multicenter Dutch nursing home study (PROGRESS). </a:t>
            </a:r>
            <a:r>
              <a:rPr lang="en-US" b="0" i="1" dirty="0">
                <a:solidFill>
                  <a:srgbClr val="222222"/>
                </a:solidFill>
                <a:effectLst/>
                <a:latin typeface="Arial" panose="020B0604020202020204" pitchFamily="34" charset="0"/>
              </a:rPr>
              <a:t>E. coli</a:t>
            </a:r>
            <a:r>
              <a:rPr lang="en-US" b="0" i="0" dirty="0">
                <a:solidFill>
                  <a:srgbClr val="222222"/>
                </a:solidFill>
                <a:effectLst/>
                <a:latin typeface="Arial" panose="020B0604020202020204" pitchFamily="34" charset="0"/>
              </a:rPr>
              <a:t> strains from residents with a suspected UTI and positive urine culture were analyzed using antimicrobial susceptibility testing and whole-genome sequencing (WGS). Same-strain recurrences were identified by single-nucleotide polymorphism (SNP) analysis. Result: In total, 121 </a:t>
            </a:r>
            <a:r>
              <a:rPr lang="en-US" b="0" i="1" dirty="0">
                <a:solidFill>
                  <a:srgbClr val="222222"/>
                </a:solidFill>
                <a:effectLst/>
                <a:latin typeface="Arial" panose="020B0604020202020204" pitchFamily="34" charset="0"/>
              </a:rPr>
              <a:t>E. coli</a:t>
            </a:r>
            <a:r>
              <a:rPr lang="en-US" b="0" i="0" dirty="0">
                <a:solidFill>
                  <a:srgbClr val="222222"/>
                </a:solidFill>
                <a:effectLst/>
                <a:latin typeface="Arial" panose="020B0604020202020204" pitchFamily="34" charset="0"/>
              </a:rPr>
              <a:t> strains were analyzed using WGS, of which 54 belonged to a </a:t>
            </a:r>
            <a:r>
              <a:rPr lang="en-US" b="0" i="0" dirty="0" err="1">
                <a:solidFill>
                  <a:srgbClr val="222222"/>
                </a:solidFill>
                <a:effectLst/>
                <a:latin typeface="Arial" panose="020B0604020202020204" pitchFamily="34" charset="0"/>
              </a:rPr>
              <a:t>rUTI</a:t>
            </a:r>
            <a:r>
              <a:rPr lang="en-US" b="0" i="0" dirty="0">
                <a:solidFill>
                  <a:srgbClr val="222222"/>
                </a:solidFill>
                <a:effectLst/>
                <a:latin typeface="Arial" panose="020B0604020202020204" pitchFamily="34" charset="0"/>
              </a:rPr>
              <a:t> episode. One third of </a:t>
            </a:r>
            <a:r>
              <a:rPr lang="en-US" b="0" i="1" dirty="0">
                <a:solidFill>
                  <a:srgbClr val="222222"/>
                </a:solidFill>
                <a:effectLst/>
                <a:latin typeface="Arial" panose="020B0604020202020204" pitchFamily="34" charset="0"/>
              </a:rPr>
              <a:t>E. coli</a:t>
            </a: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rUTI</a:t>
            </a:r>
            <a:r>
              <a:rPr lang="en-US" b="0" i="0" dirty="0">
                <a:solidFill>
                  <a:srgbClr val="222222"/>
                </a:solidFill>
                <a:effectLst/>
                <a:latin typeface="Arial" panose="020B0604020202020204" pitchFamily="34" charset="0"/>
              </a:rPr>
              <a:t> episodes were caused by the same strain (</a:t>
            </a:r>
            <a:r>
              <a:rPr lang="en-US" b="0" i="1" dirty="0">
                <a:solidFill>
                  <a:srgbClr val="222222"/>
                </a:solidFill>
                <a:effectLst/>
                <a:latin typeface="Arial" panose="020B0604020202020204" pitchFamily="34" charset="0"/>
              </a:rPr>
              <a:t>n</a:t>
            </a:r>
            <a:r>
              <a:rPr lang="en-US" b="0" i="0" dirty="0">
                <a:solidFill>
                  <a:srgbClr val="222222"/>
                </a:solidFill>
                <a:effectLst/>
                <a:latin typeface="Arial" panose="020B0604020202020204" pitchFamily="34" charset="0"/>
              </a:rPr>
              <a:t> = 18, 33.3%). Same-strain recurrence occurred anywhere between 30 and 434 days after the index UTI, caused by sequence types (ST): ST12, ST23, ST73, ST131, ST453, ST538 and ST2522, in seven nursing home residents. In both single UTI and </a:t>
            </a:r>
            <a:r>
              <a:rPr lang="en-US" b="0" i="0" dirty="0" err="1">
                <a:solidFill>
                  <a:srgbClr val="222222"/>
                </a:solidFill>
                <a:effectLst/>
                <a:latin typeface="Arial" panose="020B0604020202020204" pitchFamily="34" charset="0"/>
              </a:rPr>
              <a:t>rUTI</a:t>
            </a:r>
            <a:r>
              <a:rPr lang="en-US" b="0" i="0" dirty="0">
                <a:solidFill>
                  <a:srgbClr val="222222"/>
                </a:solidFill>
                <a:effectLst/>
                <a:latin typeface="Arial" panose="020B0604020202020204" pitchFamily="34" charset="0"/>
              </a:rPr>
              <a:t>, antimicrobial resistance rates were low. Conclusion: Recurrent UTI in nursing home residents are caused by same-strain </a:t>
            </a:r>
            <a:r>
              <a:rPr lang="en-US" b="0" i="1" dirty="0">
                <a:solidFill>
                  <a:srgbClr val="222222"/>
                </a:solidFill>
                <a:effectLst/>
                <a:latin typeface="Arial" panose="020B0604020202020204" pitchFamily="34" charset="0"/>
              </a:rPr>
              <a:t>E. coli</a:t>
            </a:r>
            <a:r>
              <a:rPr lang="en-US" b="0" i="0" dirty="0">
                <a:solidFill>
                  <a:srgbClr val="222222"/>
                </a:solidFill>
                <a:effectLst/>
                <a:latin typeface="Arial" panose="020B0604020202020204" pitchFamily="34" charset="0"/>
              </a:rPr>
              <a:t> as well as due to different </a:t>
            </a:r>
            <a:r>
              <a:rPr lang="en-US" b="0" i="1" dirty="0">
                <a:solidFill>
                  <a:srgbClr val="222222"/>
                </a:solidFill>
                <a:effectLst/>
                <a:latin typeface="Arial" panose="020B0604020202020204" pitchFamily="34" charset="0"/>
              </a:rPr>
              <a:t>E. coli</a:t>
            </a:r>
            <a:r>
              <a:rPr lang="en-US" b="0" i="0" dirty="0">
                <a:solidFill>
                  <a:srgbClr val="222222"/>
                </a:solidFill>
                <a:effectLst/>
                <a:latin typeface="Arial" panose="020B0604020202020204" pitchFamily="34" charset="0"/>
              </a:rPr>
              <a:t> strains or other </a:t>
            </a:r>
            <a:r>
              <a:rPr lang="en-US" b="0" i="0" dirty="0" err="1">
                <a:solidFill>
                  <a:srgbClr val="222222"/>
                </a:solidFill>
                <a:effectLst/>
                <a:latin typeface="Arial" panose="020B0604020202020204" pitchFamily="34" charset="0"/>
              </a:rPr>
              <a:t>uropathogens</a:t>
            </a:r>
            <a:r>
              <a:rPr lang="en-US" b="0" i="0" dirty="0">
                <a:solidFill>
                  <a:srgbClr val="222222"/>
                </a:solidFill>
                <a:effectLst/>
                <a:latin typeface="Arial" panose="020B0604020202020204" pitchFamily="34" charset="0"/>
              </a:rPr>
              <a:t>. Same-strain recurrence can occur over 400 days after the index UTI, suggesting that some strains have the ability to colonize the bladder or gut for longer periods.</a:t>
            </a:r>
            <a:endParaRPr lang="nl-NL" dirty="0"/>
          </a:p>
        </p:txBody>
      </p:sp>
      <p:sp>
        <p:nvSpPr>
          <p:cNvPr id="4" name="Tijdelijke aanduiding voor dianummer 3"/>
          <p:cNvSpPr>
            <a:spLocks noGrp="1"/>
          </p:cNvSpPr>
          <p:nvPr>
            <p:ph type="sldNum" sz="quarter" idx="5"/>
          </p:nvPr>
        </p:nvSpPr>
        <p:spPr/>
        <p:txBody>
          <a:bodyPr/>
          <a:lstStyle/>
          <a:p>
            <a:fld id="{2A60AD39-AF1C-44E8-8EBF-3499C3E4E111}" type="slidenum">
              <a:rPr lang="nl-NL" smtClean="0"/>
              <a:t>5</a:t>
            </a:fld>
            <a:endParaRPr lang="nl-NL"/>
          </a:p>
        </p:txBody>
      </p:sp>
    </p:spTree>
    <p:extLst>
      <p:ext uri="{BB962C8B-B14F-4D97-AF65-F5344CB8AC3E}">
        <p14:creationId xmlns:p14="http://schemas.microsoft.com/office/powerpoint/2010/main" val="34687380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FFFFFF"/>
                </a:solidFill>
                <a:effectLst/>
                <a:latin typeface="BlinkMacSystemFont"/>
              </a:rPr>
              <a:t>Figure 1. </a:t>
            </a:r>
            <a:r>
              <a:rPr lang="en-US" b="0" i="0" dirty="0" err="1">
                <a:solidFill>
                  <a:srgbClr val="FFFFFF"/>
                </a:solidFill>
                <a:effectLst/>
                <a:latin typeface="BlinkMacSystemFont"/>
              </a:rPr>
              <a:t>wgMLST</a:t>
            </a:r>
            <a:r>
              <a:rPr lang="en-US" b="0" i="0" dirty="0">
                <a:solidFill>
                  <a:srgbClr val="FFFFFF"/>
                </a:solidFill>
                <a:effectLst/>
                <a:latin typeface="BlinkMacSystemFont"/>
              </a:rPr>
              <a:t> tree of 394 </a:t>
            </a:r>
            <a:r>
              <a:rPr lang="en-US" b="0" i="0" dirty="0" err="1">
                <a:solidFill>
                  <a:srgbClr val="FFFFFF"/>
                </a:solidFill>
                <a:effectLst/>
                <a:latin typeface="BlinkMacSystemFont"/>
              </a:rPr>
              <a:t>carbapenemase</a:t>
            </a:r>
            <a:r>
              <a:rPr lang="en-US" b="0" i="0" dirty="0">
                <a:solidFill>
                  <a:srgbClr val="FFFFFF"/>
                </a:solidFill>
                <a:effectLst/>
                <a:latin typeface="BlinkMacSystemFont"/>
              </a:rPr>
              <a:t>-producing </a:t>
            </a:r>
            <a:r>
              <a:rPr lang="en-US" b="0" i="1" dirty="0">
                <a:solidFill>
                  <a:srgbClr val="FFFFFF"/>
                </a:solidFill>
                <a:effectLst/>
                <a:latin typeface="BlinkMacSystemFont"/>
              </a:rPr>
              <a:t>E. coli</a:t>
            </a:r>
            <a:r>
              <a:rPr lang="en-US" b="0" i="0" dirty="0">
                <a:solidFill>
                  <a:srgbClr val="FFFFFF"/>
                </a:solidFill>
                <a:effectLst/>
                <a:latin typeface="BlinkMacSystemFont"/>
              </a:rPr>
              <a:t> isolates showing a genetic cluster of OXA-244-producing </a:t>
            </a:r>
            <a:r>
              <a:rPr lang="en-US" b="0" i="1" dirty="0">
                <a:solidFill>
                  <a:srgbClr val="FFFFFF"/>
                </a:solidFill>
                <a:effectLst/>
                <a:latin typeface="BlinkMacSystemFont"/>
              </a:rPr>
              <a:t>E. coli</a:t>
            </a:r>
            <a:r>
              <a:rPr lang="en-US" b="0" i="0" dirty="0">
                <a:solidFill>
                  <a:srgbClr val="FFFFFF"/>
                </a:solidFill>
                <a:effectLst/>
                <a:latin typeface="BlinkMacSystemFont"/>
              </a:rPr>
              <a:t> ST38. (a) Minimum spanning tree of </a:t>
            </a:r>
            <a:r>
              <a:rPr lang="en-US" b="0" i="0" dirty="0" err="1">
                <a:solidFill>
                  <a:srgbClr val="FFFFFF"/>
                </a:solidFill>
                <a:effectLst/>
                <a:latin typeface="BlinkMacSystemFont"/>
              </a:rPr>
              <a:t>carbapenemase</a:t>
            </a:r>
            <a:r>
              <a:rPr lang="en-US" b="0" i="0" dirty="0">
                <a:solidFill>
                  <a:srgbClr val="FFFFFF"/>
                </a:solidFill>
                <a:effectLst/>
                <a:latin typeface="BlinkMacSystemFont"/>
              </a:rPr>
              <a:t>-producing </a:t>
            </a:r>
            <a:r>
              <a:rPr lang="en-US" b="0" i="1" dirty="0">
                <a:solidFill>
                  <a:srgbClr val="FFFFFF"/>
                </a:solidFill>
                <a:effectLst/>
                <a:latin typeface="BlinkMacSystemFont"/>
              </a:rPr>
              <a:t>E. coli</a:t>
            </a:r>
            <a:r>
              <a:rPr lang="en-US" b="0" i="0" dirty="0">
                <a:solidFill>
                  <a:srgbClr val="FFFFFF"/>
                </a:solidFill>
                <a:effectLst/>
                <a:latin typeface="BlinkMacSystemFont"/>
              </a:rPr>
              <a:t> from the Dutch national surveillance with EcoCluster-023 indicated with a green halo and Clermont phylotypes in multiple </a:t>
            </a:r>
            <a:r>
              <a:rPr lang="en-US" b="0" i="0" dirty="0" err="1">
                <a:solidFill>
                  <a:srgbClr val="FFFFFF"/>
                </a:solidFill>
                <a:effectLst/>
                <a:latin typeface="BlinkMacSystemFont"/>
              </a:rPr>
              <a:t>colours.</a:t>
            </a:r>
            <a:r>
              <a:rPr lang="en-US" b="0" i="1" dirty="0" err="1">
                <a:solidFill>
                  <a:srgbClr val="FFFFFF"/>
                </a:solidFill>
                <a:effectLst/>
                <a:latin typeface="BlinkMacSystemFont"/>
              </a:rPr>
              <a:t>E</a:t>
            </a:r>
            <a:r>
              <a:rPr lang="en-US" b="0" i="1" dirty="0">
                <a:solidFill>
                  <a:srgbClr val="FFFFFF"/>
                </a:solidFill>
                <a:effectLst/>
                <a:latin typeface="BlinkMacSystemFont"/>
              </a:rPr>
              <a:t>. coli</a:t>
            </a:r>
            <a:r>
              <a:rPr lang="en-US" b="0" i="0" dirty="0">
                <a:solidFill>
                  <a:srgbClr val="FFFFFF"/>
                </a:solidFill>
                <a:effectLst/>
                <a:latin typeface="BlinkMacSystemFont"/>
              </a:rPr>
              <a:t> ST38 isolates are encircled. Inset: percentage of urine-retrieved isolates per Clermont phylotype. Statistical significance is indicated, </a:t>
            </a:r>
            <a:r>
              <a:rPr lang="en-US" b="0" i="1" dirty="0">
                <a:solidFill>
                  <a:srgbClr val="FFFFFF"/>
                </a:solidFill>
                <a:effectLst/>
                <a:latin typeface="BlinkMacSystemFont"/>
              </a:rPr>
              <a:t>ns</a:t>
            </a:r>
            <a:r>
              <a:rPr lang="en-US" b="0" i="0" dirty="0">
                <a:solidFill>
                  <a:srgbClr val="FFFFFF"/>
                </a:solidFill>
                <a:effectLst/>
                <a:latin typeface="BlinkMacSystemFont"/>
              </a:rPr>
              <a:t> = not significant. (b) Genetic relationship between EcoCluster-023 isolates (marked green) is indicated by allelic differences, each circle represents an isolate and a large circle represents &gt;1 isolate. The year of isolation is marked in the circles. Isolation from urine is indicated in yellow, while rectal swabs are indicated in red. The minimum spanning tree was based on an in-house </a:t>
            </a:r>
            <a:r>
              <a:rPr lang="en-US" b="0" i="1" dirty="0">
                <a:solidFill>
                  <a:srgbClr val="FFFFFF"/>
                </a:solidFill>
                <a:effectLst/>
                <a:latin typeface="BlinkMacSystemFont"/>
              </a:rPr>
              <a:t>E. coli</a:t>
            </a:r>
            <a:r>
              <a:rPr lang="en-US" b="0" i="0" dirty="0">
                <a:solidFill>
                  <a:srgbClr val="FFFFFF"/>
                </a:solidFill>
                <a:effectLst/>
                <a:latin typeface="BlinkMacSystemFont"/>
              </a:rPr>
              <a:t> </a:t>
            </a:r>
            <a:r>
              <a:rPr lang="en-US" b="0" i="0" dirty="0" err="1">
                <a:solidFill>
                  <a:srgbClr val="FFFFFF"/>
                </a:solidFill>
                <a:effectLst/>
                <a:latin typeface="BlinkMacSystemFont"/>
              </a:rPr>
              <a:t>wgMLST</a:t>
            </a:r>
            <a:r>
              <a:rPr lang="en-US" b="0" i="0" dirty="0">
                <a:solidFill>
                  <a:srgbClr val="FFFFFF"/>
                </a:solidFill>
                <a:effectLst/>
                <a:latin typeface="BlinkMacSystemFont"/>
              </a:rPr>
              <a:t> as described previously. The </a:t>
            </a:r>
            <a:r>
              <a:rPr lang="en-US" b="0" i="0" dirty="0" err="1">
                <a:solidFill>
                  <a:srgbClr val="FFFFFF"/>
                </a:solidFill>
                <a:effectLst/>
                <a:latin typeface="BlinkMacSystemFont"/>
              </a:rPr>
              <a:t>wgMLST</a:t>
            </a:r>
            <a:r>
              <a:rPr lang="en-US" b="0" i="0" dirty="0">
                <a:solidFill>
                  <a:srgbClr val="FFFFFF"/>
                </a:solidFill>
                <a:effectLst/>
                <a:latin typeface="BlinkMacSystemFont"/>
              </a:rPr>
              <a:t> cluster was defined as ≥2 isolates of which the genetic distance was  ≤25 alleles (25/4503,  ≤0.55% different). (c) Molecular characteristics of EcoCluster-023 isolates. Plasmid-localized antimicrobial resistance (AMR) genes are indicated in blue, chromosomal in red, </a:t>
            </a:r>
            <a:r>
              <a:rPr lang="en-US" b="0" i="0" dirty="0" err="1">
                <a:solidFill>
                  <a:srgbClr val="FFFFFF"/>
                </a:solidFill>
                <a:effectLst/>
                <a:latin typeface="BlinkMacSystemFont"/>
              </a:rPr>
              <a:t>uropathogenicity</a:t>
            </a:r>
            <a:r>
              <a:rPr lang="en-US" b="0" i="0" dirty="0">
                <a:solidFill>
                  <a:srgbClr val="FFFFFF"/>
                </a:solidFill>
                <a:effectLst/>
                <a:latin typeface="BlinkMacSystemFont"/>
              </a:rPr>
              <a:t> factors in yellow, other virulence and AMR determinants in black. Asterisks indicate genes implicated in </a:t>
            </a:r>
            <a:r>
              <a:rPr lang="en-US" b="0" i="0" dirty="0" err="1">
                <a:solidFill>
                  <a:srgbClr val="FFFFFF"/>
                </a:solidFill>
                <a:effectLst/>
                <a:latin typeface="BlinkMacSystemFont"/>
              </a:rPr>
              <a:t>uropathogenicity</a:t>
            </a:r>
            <a:r>
              <a:rPr lang="en-US" b="0" i="0" dirty="0">
                <a:solidFill>
                  <a:srgbClr val="FFFFFF"/>
                </a:solidFill>
                <a:effectLst/>
                <a:latin typeface="BlinkMacSystemFont"/>
              </a:rPr>
              <a:t> from </a:t>
            </a:r>
            <a:r>
              <a:rPr lang="en-US" b="0" i="0" dirty="0" err="1">
                <a:solidFill>
                  <a:srgbClr val="FFFFFF"/>
                </a:solidFill>
                <a:effectLst/>
                <a:latin typeface="BlinkMacSystemFont"/>
              </a:rPr>
              <a:t>Spurbeck</a:t>
            </a:r>
            <a:r>
              <a:rPr lang="en-US" b="0" i="0" dirty="0">
                <a:solidFill>
                  <a:srgbClr val="FFFFFF"/>
                </a:solidFill>
                <a:effectLst/>
                <a:latin typeface="BlinkMacSystemFont"/>
              </a:rPr>
              <a:t> </a:t>
            </a:r>
            <a:r>
              <a:rPr lang="en-US" b="0" i="1" dirty="0">
                <a:solidFill>
                  <a:srgbClr val="FFFFFF"/>
                </a:solidFill>
                <a:effectLst/>
                <a:latin typeface="BlinkMacSystemFont"/>
              </a:rPr>
              <a:t>et al.</a:t>
            </a:r>
            <a:r>
              <a:rPr lang="en-US" b="0" i="0" dirty="0">
                <a:solidFill>
                  <a:srgbClr val="FFFFFF"/>
                </a:solidFill>
                <a:effectLst/>
                <a:latin typeface="BlinkMacSystemFont"/>
              </a:rPr>
              <a:t> (d) Number of PUFs per isolate plotted per Clermont phylogroup. Kruskal–Wallis non-parametric test was performed using GraphPad Prism 9.0 (</a:t>
            </a:r>
            <a:r>
              <a:rPr lang="en-US" b="0" i="1" dirty="0">
                <a:solidFill>
                  <a:srgbClr val="FFFFFF"/>
                </a:solidFill>
                <a:effectLst/>
                <a:latin typeface="BlinkMacSystemFont"/>
              </a:rPr>
              <a:t>P</a:t>
            </a:r>
            <a:r>
              <a:rPr lang="en-US" b="0" i="0" dirty="0">
                <a:solidFill>
                  <a:srgbClr val="FFFFFF"/>
                </a:solidFill>
                <a:effectLst/>
                <a:latin typeface="BlinkMacSystemFont"/>
              </a:rPr>
              <a:t> &lt; 0.0001) and statistical significance indicated by an * and in Table S1.</a:t>
            </a:r>
          </a:p>
          <a:p>
            <a:endParaRPr lang="nl-NL" dirty="0"/>
          </a:p>
        </p:txBody>
      </p:sp>
      <p:sp>
        <p:nvSpPr>
          <p:cNvPr id="4" name="Tijdelijke aanduiding voor dianummer 3"/>
          <p:cNvSpPr>
            <a:spLocks noGrp="1"/>
          </p:cNvSpPr>
          <p:nvPr>
            <p:ph type="sldNum" sz="quarter" idx="5"/>
          </p:nvPr>
        </p:nvSpPr>
        <p:spPr/>
        <p:txBody>
          <a:bodyPr/>
          <a:lstStyle/>
          <a:p>
            <a:fld id="{2A60AD39-AF1C-44E8-8EBF-3499C3E4E111}" type="slidenum">
              <a:rPr lang="nl-NL" smtClean="0"/>
              <a:t>9</a:t>
            </a:fld>
            <a:endParaRPr lang="nl-NL"/>
          </a:p>
        </p:txBody>
      </p:sp>
    </p:spTree>
    <p:extLst>
      <p:ext uri="{BB962C8B-B14F-4D97-AF65-F5344CB8AC3E}">
        <p14:creationId xmlns:p14="http://schemas.microsoft.com/office/powerpoint/2010/main" val="4289533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2A60AD39-AF1C-44E8-8EBF-3499C3E4E111}" type="slidenum">
              <a:rPr lang="nl-NL" smtClean="0"/>
              <a:t>10</a:t>
            </a:fld>
            <a:endParaRPr lang="nl-NL"/>
          </a:p>
        </p:txBody>
      </p:sp>
    </p:spTree>
    <p:extLst>
      <p:ext uri="{BB962C8B-B14F-4D97-AF65-F5344CB8AC3E}">
        <p14:creationId xmlns:p14="http://schemas.microsoft.com/office/powerpoint/2010/main" val="2940984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2A60AD39-AF1C-44E8-8EBF-3499C3E4E111}" type="slidenum">
              <a:rPr lang="nl-NL" smtClean="0"/>
              <a:t>11</a:t>
            </a:fld>
            <a:endParaRPr lang="nl-NL"/>
          </a:p>
        </p:txBody>
      </p:sp>
    </p:spTree>
    <p:extLst>
      <p:ext uri="{BB962C8B-B14F-4D97-AF65-F5344CB8AC3E}">
        <p14:creationId xmlns:p14="http://schemas.microsoft.com/office/powerpoint/2010/main" val="27010171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2A60AD39-AF1C-44E8-8EBF-3499C3E4E111}" type="slidenum">
              <a:rPr lang="nl-NL" smtClean="0"/>
              <a:t>12</a:t>
            </a:fld>
            <a:endParaRPr lang="nl-NL"/>
          </a:p>
        </p:txBody>
      </p:sp>
    </p:spTree>
    <p:extLst>
      <p:ext uri="{BB962C8B-B14F-4D97-AF65-F5344CB8AC3E}">
        <p14:creationId xmlns:p14="http://schemas.microsoft.com/office/powerpoint/2010/main" val="2864263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lgn="l"/>
            <a:r>
              <a:rPr lang="en-US" b="0" i="0" dirty="0">
                <a:solidFill>
                  <a:srgbClr val="000000"/>
                </a:solidFill>
                <a:effectLst/>
                <a:latin typeface="Times New Roman" panose="02020603050405020304" pitchFamily="18" charset="0"/>
              </a:rPr>
              <a:t>Introduction: Diagnosing urinary tract infection (UTI) in older women is complicated due to the high prevalence of asymptomatic bacteriuria (ASB). Our primary aim was to evaluate whether pathogen-related factors differ between older women with UTI and ASB. Additionally, we aimed to gain more insight into the persistence of Escherichia coli in ASB and the concordance between genotypic and phenotypic resistance of these clinical stains.</a:t>
            </a:r>
          </a:p>
          <a:p>
            <a:pPr algn="l"/>
            <a:r>
              <a:rPr lang="en-US" b="0" i="0" dirty="0">
                <a:solidFill>
                  <a:srgbClr val="000000"/>
                </a:solidFill>
                <a:effectLst/>
                <a:latin typeface="Times New Roman" panose="02020603050405020304" pitchFamily="18" charset="0"/>
              </a:rPr>
              <a:t>Methods: In this exploratory study, stored E. coli isolates of 46 participants of a larger case-control study were </a:t>
            </a:r>
            <a:r>
              <a:rPr lang="en-US" b="0" i="0" dirty="0" err="1">
                <a:solidFill>
                  <a:srgbClr val="000000"/>
                </a:solidFill>
                <a:effectLst/>
                <a:latin typeface="Times New Roman" panose="02020603050405020304" pitchFamily="18" charset="0"/>
              </a:rPr>
              <a:t>analysed</a:t>
            </a:r>
            <a:r>
              <a:rPr lang="en-US" b="0" i="0" dirty="0">
                <a:solidFill>
                  <a:srgbClr val="000000"/>
                </a:solidFill>
                <a:effectLst/>
                <a:latin typeface="Times New Roman" panose="02020603050405020304" pitchFamily="18" charset="0"/>
              </a:rPr>
              <a:t>. This study included women aged ³ 65 years with UTI (³ 2 new-onset lower urinary tract symptoms, pyuria, and bacteriuria) or ASB (E. coli ³ 104 CFU/mL in 2 consecutive samples) from the community and long-term care facilities. Whole-genome sequencing was used to identify previously described putative urinary factors (PUFs), antimicrobial resistance genes, and to determine </a:t>
            </a:r>
            <a:r>
              <a:rPr lang="en-US" b="0" i="0" dirty="0" err="1">
                <a:solidFill>
                  <a:srgbClr val="000000"/>
                </a:solidFill>
                <a:effectLst/>
                <a:latin typeface="Times New Roman" panose="02020603050405020304" pitchFamily="18" charset="0"/>
              </a:rPr>
              <a:t>multilocus</a:t>
            </a:r>
            <a:r>
              <a:rPr lang="en-US" b="0" i="0" dirty="0">
                <a:solidFill>
                  <a:srgbClr val="000000"/>
                </a:solidFill>
                <a:effectLst/>
                <a:latin typeface="Times New Roman" panose="02020603050405020304" pitchFamily="18" charset="0"/>
              </a:rPr>
              <a:t> sequence typing (MLST) sequence type (ST) and Clermont phylotype. Phenotypic susceptibility was tested according to EUCAST standards.</a:t>
            </a:r>
          </a:p>
          <a:p>
            <a:pPr algn="l"/>
            <a:r>
              <a:rPr lang="en-US" b="0" i="0" dirty="0">
                <a:solidFill>
                  <a:srgbClr val="000000"/>
                </a:solidFill>
                <a:effectLst/>
                <a:latin typeface="Times New Roman" panose="02020603050405020304" pitchFamily="18" charset="0"/>
              </a:rPr>
              <a:t>Results: A total of 31 isolates from UTI patients and 30 paired isolates from 15 ASB patients were </a:t>
            </a:r>
            <a:r>
              <a:rPr lang="en-US" b="0" i="0" dirty="0" err="1">
                <a:solidFill>
                  <a:srgbClr val="000000"/>
                </a:solidFill>
                <a:effectLst/>
                <a:latin typeface="Times New Roman" panose="02020603050405020304" pitchFamily="18" charset="0"/>
              </a:rPr>
              <a:t>analysed</a:t>
            </a:r>
            <a:r>
              <a:rPr lang="en-US" b="0" i="0" dirty="0">
                <a:solidFill>
                  <a:srgbClr val="000000"/>
                </a:solidFill>
                <a:effectLst/>
                <a:latin typeface="Times New Roman" panose="02020603050405020304" pitchFamily="18" charset="0"/>
              </a:rPr>
              <a:t>. We found no significant differences in ST types, the number of PUFs, or Clermont phylotypes between UTI and ASB isolates. All patients in the ASB group carried genetically similar E. coli isolates in two consecutive samples (obtained within 2-4 weeks). Antimicrobial resistance in the isolates was generally low, but phenotypic resistance to beta-lactam antibiotics, aminoglycosides, and sulfamethoxazole-trimethoprim could be well inferred from the presence of specific resistance genes.</a:t>
            </a:r>
          </a:p>
          <a:p>
            <a:pPr algn="l"/>
            <a:r>
              <a:rPr lang="en-US" b="0" i="0" dirty="0">
                <a:solidFill>
                  <a:srgbClr val="000000"/>
                </a:solidFill>
                <a:effectLst/>
                <a:latin typeface="Times New Roman" panose="02020603050405020304" pitchFamily="18" charset="0"/>
              </a:rPr>
              <a:t>Discussion: Our study showed that patients with ASB persistently carried similar E. coli isolates. We could not demonstrate that isolates from the UTI group were different or had more virulence factors than those from the ASB group. Despite the limited sample size, our findings suggest that host susceptibility may play a role in the older female population.</a:t>
            </a:r>
          </a:p>
          <a:p>
            <a:endParaRPr lang="nl-NL" dirty="0"/>
          </a:p>
        </p:txBody>
      </p:sp>
      <p:sp>
        <p:nvSpPr>
          <p:cNvPr id="4" name="Tijdelijke aanduiding voor dianummer 3"/>
          <p:cNvSpPr>
            <a:spLocks noGrp="1"/>
          </p:cNvSpPr>
          <p:nvPr>
            <p:ph type="sldNum" sz="quarter" idx="5"/>
          </p:nvPr>
        </p:nvSpPr>
        <p:spPr/>
        <p:txBody>
          <a:bodyPr/>
          <a:lstStyle/>
          <a:p>
            <a:fld id="{2A60AD39-AF1C-44E8-8EBF-3499C3E4E111}" type="slidenum">
              <a:rPr lang="nl-NL" smtClean="0"/>
              <a:t>13</a:t>
            </a:fld>
            <a:endParaRPr lang="nl-NL"/>
          </a:p>
        </p:txBody>
      </p:sp>
    </p:spTree>
    <p:extLst>
      <p:ext uri="{BB962C8B-B14F-4D97-AF65-F5344CB8AC3E}">
        <p14:creationId xmlns:p14="http://schemas.microsoft.com/office/powerpoint/2010/main" val="1252787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0666DC1-CD27-4874-9484-9D06C59FE4D0}"/>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77579F-F417-47C2-AC03-911CCED021DB}"/>
              </a:ext>
            </a:extLst>
          </p:cNvPr>
          <p:cNvSpPr>
            <a:spLocks noGrp="1"/>
          </p:cNvSpPr>
          <p:nvPr>
            <p:ph type="ctrTitle"/>
          </p:nvPr>
        </p:nvSpPr>
        <p:spPr>
          <a:xfrm>
            <a:off x="484552" y="447675"/>
            <a:ext cx="8397511" cy="2714625"/>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643E600-28DA-4780-9E00-2E12F74FF621}"/>
              </a:ext>
            </a:extLst>
          </p:cNvPr>
          <p:cNvSpPr>
            <a:spLocks noGrp="1"/>
          </p:cNvSpPr>
          <p:nvPr>
            <p:ph type="subTitle" idx="1"/>
          </p:nvPr>
        </p:nvSpPr>
        <p:spPr>
          <a:xfrm>
            <a:off x="484552" y="3602037"/>
            <a:ext cx="8397511" cy="2460625"/>
          </a:xfrm>
        </p:spPr>
        <p:txBody>
          <a:bodyPr>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0E6F1DC-ADFB-42C9-AB34-FCB38C8123FC}"/>
              </a:ext>
            </a:extLst>
          </p:cNvPr>
          <p:cNvSpPr>
            <a:spLocks noGrp="1"/>
          </p:cNvSpPr>
          <p:nvPr>
            <p:ph type="dt" sz="half" idx="10"/>
          </p:nvPr>
        </p:nvSpPr>
        <p:spPr/>
        <p:txBody>
          <a:bodyPr/>
          <a:lstStyle/>
          <a:p>
            <a:fld id="{92538219-6E45-4D12-B767-46F92D5844D4}" type="datetime1">
              <a:rPr lang="en-US" smtClean="0"/>
              <a:t>11/28/24</a:t>
            </a:fld>
            <a:endParaRPr lang="en-US"/>
          </a:p>
        </p:txBody>
      </p:sp>
      <p:sp>
        <p:nvSpPr>
          <p:cNvPr id="5" name="Footer Placeholder 4">
            <a:extLst>
              <a:ext uri="{FF2B5EF4-FFF2-40B4-BE49-F238E27FC236}">
                <a16:creationId xmlns:a16="http://schemas.microsoft.com/office/drawing/2014/main" id="{EE799E6D-BBA8-4A15-94DA-DBE8A4FDE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803C82-8719-4FAC-94BF-2A91335FB58A}"/>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663740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9CF16-986E-4D90-AA40-CDB46E23320D}"/>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A6F14DA-A783-43BC-8F15-95408B89D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58C48B6-C394-452A-94D9-D4802755D841}"/>
              </a:ext>
            </a:extLst>
          </p:cNvPr>
          <p:cNvSpPr>
            <a:spLocks noGrp="1"/>
          </p:cNvSpPr>
          <p:nvPr>
            <p:ph type="dt" sz="half" idx="10"/>
          </p:nvPr>
        </p:nvSpPr>
        <p:spPr/>
        <p:txBody>
          <a:bodyPr/>
          <a:lstStyle/>
          <a:p>
            <a:fld id="{8BB296A2-D8F0-4E17-BFD0-A6C902250D59}" type="datetime1">
              <a:rPr lang="en-US" smtClean="0"/>
              <a:t>11/28/24</a:t>
            </a:fld>
            <a:endParaRPr lang="en-US"/>
          </a:p>
        </p:txBody>
      </p:sp>
      <p:sp>
        <p:nvSpPr>
          <p:cNvPr id="5" name="Footer Placeholder 4">
            <a:extLst>
              <a:ext uri="{FF2B5EF4-FFF2-40B4-BE49-F238E27FC236}">
                <a16:creationId xmlns:a16="http://schemas.microsoft.com/office/drawing/2014/main" id="{43858A8A-3DD0-41C8-9F48-F4309FA195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706C92-7C02-4D34-B3E5-D549A7A36BD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424625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66F9FA-E6B8-4CFC-B3F1-0C075546EE33}"/>
              </a:ext>
            </a:extLst>
          </p:cNvPr>
          <p:cNvSpPr/>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16F270-B2AA-4935-885F-5924B1F63A3E}"/>
              </a:ext>
            </a:extLst>
          </p:cNvPr>
          <p:cNvSpPr>
            <a:spLocks noGrp="1"/>
          </p:cNvSpPr>
          <p:nvPr>
            <p:ph type="title"/>
          </p:nvPr>
        </p:nvSpPr>
        <p:spPr>
          <a:xfrm>
            <a:off x="484552" y="457200"/>
            <a:ext cx="10862898" cy="272415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22658E-3D87-4D5A-A602-847153CC4845}"/>
              </a:ext>
            </a:extLst>
          </p:cNvPr>
          <p:cNvSpPr>
            <a:spLocks noGrp="1"/>
          </p:cNvSpPr>
          <p:nvPr>
            <p:ph type="body" idx="1"/>
          </p:nvPr>
        </p:nvSpPr>
        <p:spPr>
          <a:xfrm>
            <a:off x="484552" y="3695701"/>
            <a:ext cx="10862898" cy="2393950"/>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AB1D84-A229-45B1-BD42-0DC0CE9F8DE9}"/>
              </a:ext>
            </a:extLst>
          </p:cNvPr>
          <p:cNvSpPr>
            <a:spLocks noGrp="1"/>
          </p:cNvSpPr>
          <p:nvPr>
            <p:ph type="dt" sz="half" idx="10"/>
          </p:nvPr>
        </p:nvSpPr>
        <p:spPr/>
        <p:txBody>
          <a:bodyPr/>
          <a:lstStyle/>
          <a:p>
            <a:fld id="{D9108C9C-1ACB-4C84-A002-C7E0E45B937A}" type="datetime1">
              <a:rPr lang="en-US" smtClean="0"/>
              <a:t>11/28/24</a:t>
            </a:fld>
            <a:endParaRPr lang="en-US"/>
          </a:p>
        </p:txBody>
      </p:sp>
      <p:sp>
        <p:nvSpPr>
          <p:cNvPr id="5" name="Footer Placeholder 4">
            <a:extLst>
              <a:ext uri="{FF2B5EF4-FFF2-40B4-BE49-F238E27FC236}">
                <a16:creationId xmlns:a16="http://schemas.microsoft.com/office/drawing/2014/main" id="{2664EEF4-D461-49D7-8F24-8BFE2444B6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4055A-7488-4646-9E88-692036EA22DE}"/>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191439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F1F74-ED26-4F8B-BF51-3533D8404E5A}"/>
              </a:ext>
            </a:extLst>
          </p:cNvPr>
          <p:cNvSpPr>
            <a:spLocks noGrp="1"/>
          </p:cNvSpPr>
          <p:nvPr>
            <p:ph type="title"/>
          </p:nvPr>
        </p:nvSpPr>
        <p:spPr>
          <a:xfrm>
            <a:off x="484552" y="365760"/>
            <a:ext cx="11264536" cy="168751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1D2D7-7F18-43E0-9B2E-3FCD83CC83BC}"/>
              </a:ext>
            </a:extLst>
          </p:cNvPr>
          <p:cNvSpPr>
            <a:spLocks noGrp="1"/>
          </p:cNvSpPr>
          <p:nvPr>
            <p:ph sz="half" idx="1"/>
          </p:nvPr>
        </p:nvSpPr>
        <p:spPr>
          <a:xfrm>
            <a:off x="48455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FCBBB66-EB7D-4F8C-9C78-1D1C88846469}"/>
              </a:ext>
            </a:extLst>
          </p:cNvPr>
          <p:cNvSpPr>
            <a:spLocks noGrp="1"/>
          </p:cNvSpPr>
          <p:nvPr>
            <p:ph sz="half" idx="2"/>
          </p:nvPr>
        </p:nvSpPr>
        <p:spPr>
          <a:xfrm>
            <a:off x="6270162" y="2552699"/>
            <a:ext cx="5323703" cy="3624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7A684E6-393D-4587-AA45-E6734FB47AEC}"/>
              </a:ext>
            </a:extLst>
          </p:cNvPr>
          <p:cNvSpPr>
            <a:spLocks noGrp="1"/>
          </p:cNvSpPr>
          <p:nvPr>
            <p:ph type="dt" sz="half" idx="10"/>
          </p:nvPr>
        </p:nvSpPr>
        <p:spPr/>
        <p:txBody>
          <a:bodyPr/>
          <a:lstStyle/>
          <a:p>
            <a:fld id="{F49AF2A5-B297-4977-9E5B-4D3050E23689}" type="datetime1">
              <a:rPr lang="en-US" smtClean="0"/>
              <a:t>11/28/24</a:t>
            </a:fld>
            <a:endParaRPr lang="en-US"/>
          </a:p>
        </p:txBody>
      </p:sp>
      <p:sp>
        <p:nvSpPr>
          <p:cNvPr id="6" name="Footer Placeholder 5">
            <a:extLst>
              <a:ext uri="{FF2B5EF4-FFF2-40B4-BE49-F238E27FC236}">
                <a16:creationId xmlns:a16="http://schemas.microsoft.com/office/drawing/2014/main" id="{0A1D8EE0-0333-4ABC-AE18-10DD5071C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452369-A8F0-4709-8372-B420A67DB7C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916049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1592-4621-4D72-BC2D-F2C439F81B81}"/>
              </a:ext>
            </a:extLst>
          </p:cNvPr>
          <p:cNvSpPr>
            <a:spLocks noGrp="1"/>
          </p:cNvSpPr>
          <p:nvPr>
            <p:ph type="title"/>
          </p:nvPr>
        </p:nvSpPr>
        <p:spPr>
          <a:xfrm>
            <a:off x="484552" y="365759"/>
            <a:ext cx="10870836" cy="169164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4B823F5-0A90-4666-BE88-2BE0D0A61603}"/>
              </a:ext>
            </a:extLst>
          </p:cNvPr>
          <p:cNvSpPr>
            <a:spLocks noGrp="1"/>
          </p:cNvSpPr>
          <p:nvPr>
            <p:ph type="body" idx="1"/>
          </p:nvPr>
        </p:nvSpPr>
        <p:spPr>
          <a:xfrm>
            <a:off x="484552" y="2436473"/>
            <a:ext cx="5332026"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EC6A7C-6260-463D-B3FD-71A07ACD0669}"/>
              </a:ext>
            </a:extLst>
          </p:cNvPr>
          <p:cNvSpPr>
            <a:spLocks noGrp="1"/>
          </p:cNvSpPr>
          <p:nvPr>
            <p:ph sz="half" idx="2"/>
          </p:nvPr>
        </p:nvSpPr>
        <p:spPr>
          <a:xfrm>
            <a:off x="484552" y="3409051"/>
            <a:ext cx="5332026"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F2AF8D-90ED-4512-9423-C91BF73A99B2}"/>
              </a:ext>
            </a:extLst>
          </p:cNvPr>
          <p:cNvSpPr>
            <a:spLocks noGrp="1"/>
          </p:cNvSpPr>
          <p:nvPr>
            <p:ph type="body" sz="quarter" idx="3"/>
          </p:nvPr>
        </p:nvSpPr>
        <p:spPr>
          <a:xfrm>
            <a:off x="6270162" y="2436473"/>
            <a:ext cx="5358285"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D838EA-E20D-4CC3-83C2-AFE0DE9F7376}"/>
              </a:ext>
            </a:extLst>
          </p:cNvPr>
          <p:cNvSpPr>
            <a:spLocks noGrp="1"/>
          </p:cNvSpPr>
          <p:nvPr>
            <p:ph sz="quarter" idx="4"/>
          </p:nvPr>
        </p:nvSpPr>
        <p:spPr>
          <a:xfrm>
            <a:off x="6270162" y="3409051"/>
            <a:ext cx="5358285" cy="27806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3603F8A-08E1-4160-9B7E-E0CA4BF8EC3C}"/>
              </a:ext>
            </a:extLst>
          </p:cNvPr>
          <p:cNvSpPr>
            <a:spLocks noGrp="1"/>
          </p:cNvSpPr>
          <p:nvPr>
            <p:ph type="dt" sz="half" idx="10"/>
          </p:nvPr>
        </p:nvSpPr>
        <p:spPr/>
        <p:txBody>
          <a:bodyPr/>
          <a:lstStyle/>
          <a:p>
            <a:fld id="{70127434-4794-409A-9547-04789BA47588}" type="datetime1">
              <a:rPr lang="en-US" smtClean="0"/>
              <a:t>11/28/24</a:t>
            </a:fld>
            <a:endParaRPr lang="en-US"/>
          </a:p>
        </p:txBody>
      </p:sp>
      <p:sp>
        <p:nvSpPr>
          <p:cNvPr id="8" name="Footer Placeholder 7">
            <a:extLst>
              <a:ext uri="{FF2B5EF4-FFF2-40B4-BE49-F238E27FC236}">
                <a16:creationId xmlns:a16="http://schemas.microsoft.com/office/drawing/2014/main" id="{118291AB-3C5C-4BE1-9E50-02F4893363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96E64-CD6C-4CF7-8624-FA4AE9760EEB}"/>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262485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562B3-06A0-4F2F-96EC-A062DAE2FE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FC0095-49F0-4A83-AE8C-9D13E15C2BD8}"/>
              </a:ext>
            </a:extLst>
          </p:cNvPr>
          <p:cNvSpPr>
            <a:spLocks noGrp="1"/>
          </p:cNvSpPr>
          <p:nvPr>
            <p:ph type="dt" sz="half" idx="10"/>
          </p:nvPr>
        </p:nvSpPr>
        <p:spPr/>
        <p:txBody>
          <a:bodyPr/>
          <a:lstStyle/>
          <a:p>
            <a:fld id="{85658635-357A-4E3D-B824-A5CEFDB8449C}" type="datetime1">
              <a:rPr lang="en-US" smtClean="0"/>
              <a:t>11/28/24</a:t>
            </a:fld>
            <a:endParaRPr lang="en-US"/>
          </a:p>
        </p:txBody>
      </p:sp>
      <p:sp>
        <p:nvSpPr>
          <p:cNvPr id="4" name="Footer Placeholder 3">
            <a:extLst>
              <a:ext uri="{FF2B5EF4-FFF2-40B4-BE49-F238E27FC236}">
                <a16:creationId xmlns:a16="http://schemas.microsoft.com/office/drawing/2014/main" id="{61824898-D4EA-497A-8FC8-43E0D0213B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4821F6-2C08-450C-A18C-702D7384292F}"/>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426206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FFE119-5FCA-4D9C-9C07-1B81A0BF3BFF}"/>
              </a:ext>
            </a:extLst>
          </p:cNvPr>
          <p:cNvSpPr>
            <a:spLocks noGrp="1"/>
          </p:cNvSpPr>
          <p:nvPr>
            <p:ph type="dt" sz="half" idx="10"/>
          </p:nvPr>
        </p:nvSpPr>
        <p:spPr/>
        <p:txBody>
          <a:bodyPr/>
          <a:lstStyle/>
          <a:p>
            <a:fld id="{7E86FF77-2719-4AD0-8740-0B90FF5D1EFB}" type="datetime1">
              <a:rPr lang="en-US" smtClean="0"/>
              <a:t>11/28/24</a:t>
            </a:fld>
            <a:endParaRPr lang="en-US"/>
          </a:p>
        </p:txBody>
      </p:sp>
      <p:sp>
        <p:nvSpPr>
          <p:cNvPr id="3" name="Footer Placeholder 2">
            <a:extLst>
              <a:ext uri="{FF2B5EF4-FFF2-40B4-BE49-F238E27FC236}">
                <a16:creationId xmlns:a16="http://schemas.microsoft.com/office/drawing/2014/main" id="{2A2C5995-6284-4D7F-AB1C-CA8FE63A78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1E4B0D-9C21-48D0-9438-C473706814B3}"/>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3086530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0AF76DA-8F95-47D9-9EB6-B1EC93437387}"/>
              </a:ext>
            </a:extLst>
          </p:cNvPr>
          <p:cNvGrpSpPr/>
          <p:nvPr/>
        </p:nvGrpSpPr>
        <p:grpSpPr>
          <a:xfrm>
            <a:off x="2" y="0"/>
            <a:ext cx="6095998" cy="6858002"/>
            <a:chOff x="1" y="4563942"/>
            <a:chExt cx="12192005" cy="2294060"/>
          </a:xfrm>
        </p:grpSpPr>
        <p:sp>
          <p:nvSpPr>
            <p:cNvPr id="28" name="Rectangle 27">
              <a:extLst>
                <a:ext uri="{FF2B5EF4-FFF2-40B4-BE49-F238E27FC236}">
                  <a16:creationId xmlns:a16="http://schemas.microsoft.com/office/drawing/2014/main" id="{31355B14-077B-4BA1-962D-6E97D93FFCCC}"/>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230B99F-AC6F-4973-A35E-16C87C38711D}"/>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8E41614-9483-47F8-A429-FB0D1C5AA89A}"/>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B5E91C-3C4F-40A2-BCC6-918D3BEDD24B}"/>
              </a:ext>
            </a:extLst>
          </p:cNvPr>
          <p:cNvSpPr>
            <a:spLocks noGrp="1"/>
          </p:cNvSpPr>
          <p:nvPr>
            <p:ph type="title"/>
          </p:nvPr>
        </p:nvSpPr>
        <p:spPr>
          <a:xfrm>
            <a:off x="484552" y="457200"/>
            <a:ext cx="5287234" cy="1600200"/>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30F113-1C61-4F74-BD5B-727668BBEAFC}"/>
              </a:ext>
            </a:extLst>
          </p:cNvPr>
          <p:cNvSpPr>
            <a:spLocks noGrp="1"/>
          </p:cNvSpPr>
          <p:nvPr>
            <p:ph idx="1"/>
          </p:nvPr>
        </p:nvSpPr>
        <p:spPr>
          <a:xfrm>
            <a:off x="6270162" y="457201"/>
            <a:ext cx="5085226"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10EB228-A180-4DF6-9D5B-2CF86B6B9BB0}"/>
              </a:ext>
            </a:extLst>
          </p:cNvPr>
          <p:cNvSpPr>
            <a:spLocks noGrp="1"/>
          </p:cNvSpPr>
          <p:nvPr>
            <p:ph type="body" sz="half" idx="2"/>
          </p:nvPr>
        </p:nvSpPr>
        <p:spPr>
          <a:xfrm>
            <a:off x="484552" y="2514600"/>
            <a:ext cx="5287234"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913719-D65D-4BAE-97B7-FAE8F39982EF}"/>
              </a:ext>
            </a:extLst>
          </p:cNvPr>
          <p:cNvSpPr>
            <a:spLocks noGrp="1"/>
          </p:cNvSpPr>
          <p:nvPr>
            <p:ph type="dt" sz="half" idx="10"/>
          </p:nvPr>
        </p:nvSpPr>
        <p:spPr/>
        <p:txBody>
          <a:bodyPr/>
          <a:lstStyle/>
          <a:p>
            <a:fld id="{6E441C83-1089-48B9-8B65-293D4C236D35}" type="datetime1">
              <a:rPr lang="en-US" smtClean="0"/>
              <a:t>11/28/24</a:t>
            </a:fld>
            <a:endParaRPr lang="en-US"/>
          </a:p>
        </p:txBody>
      </p:sp>
      <p:sp>
        <p:nvSpPr>
          <p:cNvPr id="6" name="Footer Placeholder 5">
            <a:extLst>
              <a:ext uri="{FF2B5EF4-FFF2-40B4-BE49-F238E27FC236}">
                <a16:creationId xmlns:a16="http://schemas.microsoft.com/office/drawing/2014/main" id="{F747F5BB-DC3C-45D1-A0D2-05168FECA2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344BA3-19DB-4072-9A2C-08C92361AF9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2351802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0A6909D-DC0B-4221-8140-21E981D896AF}"/>
              </a:ext>
            </a:extLst>
          </p:cNvPr>
          <p:cNvGrpSpPr/>
          <p:nvPr/>
        </p:nvGrpSpPr>
        <p:grpSpPr>
          <a:xfrm>
            <a:off x="2" y="0"/>
            <a:ext cx="6095998" cy="6858002"/>
            <a:chOff x="1" y="4563942"/>
            <a:chExt cx="12192005" cy="2294060"/>
          </a:xfrm>
        </p:grpSpPr>
        <p:sp>
          <p:nvSpPr>
            <p:cNvPr id="9" name="Rectangle 8">
              <a:extLst>
                <a:ext uri="{FF2B5EF4-FFF2-40B4-BE49-F238E27FC236}">
                  <a16:creationId xmlns:a16="http://schemas.microsoft.com/office/drawing/2014/main" id="{53D581C2-F39E-4958-A3F3-BB65AB1C5E66}"/>
                </a:ext>
              </a:extLst>
            </p:cNvPr>
            <p:cNvSpPr/>
            <p:nvPr/>
          </p:nvSpPr>
          <p:spPr>
            <a:xfrm>
              <a:off x="10" y="4563942"/>
              <a:ext cx="12191996" cy="22940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FD77040-27EF-4D2C-8D34-32337B0C8544}"/>
                </a:ext>
              </a:extLst>
            </p:cNvPr>
            <p:cNvSpPr/>
            <p:nvPr/>
          </p:nvSpPr>
          <p:spPr>
            <a:xfrm>
              <a:off x="1" y="4563942"/>
              <a:ext cx="12192000" cy="2294060"/>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Rectangle 10">
            <a:extLst>
              <a:ext uri="{FF2B5EF4-FFF2-40B4-BE49-F238E27FC236}">
                <a16:creationId xmlns:a16="http://schemas.microsoft.com/office/drawing/2014/main" id="{E1A26D20-69F8-4BBC-98C0-BEB470AB8284}"/>
              </a:ext>
            </a:extLst>
          </p:cNvPr>
          <p:cNvSpPr/>
          <p:nvPr/>
        </p:nvSpPr>
        <p:spPr>
          <a:xfrm>
            <a:off x="0" y="0"/>
            <a:ext cx="6095999"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47B6BC-4B2A-4001-9634-47473F82701E}"/>
              </a:ext>
            </a:extLst>
          </p:cNvPr>
          <p:cNvSpPr>
            <a:spLocks noGrp="1"/>
          </p:cNvSpPr>
          <p:nvPr>
            <p:ph type="title"/>
          </p:nvPr>
        </p:nvSpPr>
        <p:spPr>
          <a:xfrm>
            <a:off x="484552" y="457200"/>
            <a:ext cx="5211519" cy="1600200"/>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0497D074-2CCB-4AB8-A7A0-7847D3C1EF8A}"/>
              </a:ext>
            </a:extLst>
          </p:cNvPr>
          <p:cNvSpPr>
            <a:spLocks noGrp="1"/>
          </p:cNvSpPr>
          <p:nvPr>
            <p:ph type="pic" idx="1"/>
          </p:nvPr>
        </p:nvSpPr>
        <p:spPr>
          <a:xfrm>
            <a:off x="6270162" y="457201"/>
            <a:ext cx="5085226"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51FB94BD-D906-4213-9F31-1BE17A86F926}"/>
              </a:ext>
            </a:extLst>
          </p:cNvPr>
          <p:cNvSpPr>
            <a:spLocks noGrp="1"/>
          </p:cNvSpPr>
          <p:nvPr>
            <p:ph type="body" sz="half" idx="2"/>
          </p:nvPr>
        </p:nvSpPr>
        <p:spPr>
          <a:xfrm>
            <a:off x="484552" y="2514600"/>
            <a:ext cx="5211519" cy="3354388"/>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B8431-70CB-4E9F-8A49-CDFF18554212}"/>
              </a:ext>
            </a:extLst>
          </p:cNvPr>
          <p:cNvSpPr>
            <a:spLocks noGrp="1"/>
          </p:cNvSpPr>
          <p:nvPr>
            <p:ph type="dt" sz="half" idx="10"/>
          </p:nvPr>
        </p:nvSpPr>
        <p:spPr/>
        <p:txBody>
          <a:bodyPr/>
          <a:lstStyle/>
          <a:p>
            <a:fld id="{D162FE45-CC1E-47DB-8B82-6CF0636FBDB8}" type="datetime1">
              <a:rPr lang="en-US" smtClean="0"/>
              <a:t>11/28/24</a:t>
            </a:fld>
            <a:endParaRPr lang="en-US"/>
          </a:p>
        </p:txBody>
      </p:sp>
      <p:sp>
        <p:nvSpPr>
          <p:cNvPr id="6" name="Footer Placeholder 5">
            <a:extLst>
              <a:ext uri="{FF2B5EF4-FFF2-40B4-BE49-F238E27FC236}">
                <a16:creationId xmlns:a16="http://schemas.microsoft.com/office/drawing/2014/main" id="{ADD2F293-170E-410E-88BF-187A63C5E0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D93A2-588D-43B5-B6FA-0B7892E6E138}"/>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430201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8A33-CB96-4CB1-9941-753BD0824C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3EB269-70DF-4510-A313-336226558E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1EA3CC-B2DC-4E87-826C-B885A7E62819}"/>
              </a:ext>
            </a:extLst>
          </p:cNvPr>
          <p:cNvSpPr>
            <a:spLocks noGrp="1"/>
          </p:cNvSpPr>
          <p:nvPr>
            <p:ph type="dt" sz="half" idx="10"/>
          </p:nvPr>
        </p:nvSpPr>
        <p:spPr/>
        <p:txBody>
          <a:bodyPr/>
          <a:lstStyle/>
          <a:p>
            <a:fld id="{836430B8-6059-41E5-A5DC-C07A76F5859A}" type="datetime1">
              <a:rPr lang="en-US" smtClean="0"/>
              <a:t>11/28/24</a:t>
            </a:fld>
            <a:endParaRPr lang="en-US"/>
          </a:p>
        </p:txBody>
      </p:sp>
      <p:sp>
        <p:nvSpPr>
          <p:cNvPr id="5" name="Footer Placeholder 4">
            <a:extLst>
              <a:ext uri="{FF2B5EF4-FFF2-40B4-BE49-F238E27FC236}">
                <a16:creationId xmlns:a16="http://schemas.microsoft.com/office/drawing/2014/main" id="{7AF37F52-A7C4-4E21-A12A-02546D477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66031F-5A79-48A7-8EDC-DDD9A9E4B9FC}"/>
              </a:ext>
            </a:extLst>
          </p:cNvPr>
          <p:cNvSpPr>
            <a:spLocks noGrp="1"/>
          </p:cNvSpPr>
          <p:nvPr>
            <p:ph type="sldNum" sz="quarter" idx="12"/>
          </p:nvPr>
        </p:nvSpPr>
        <p:spPr/>
        <p:txBody>
          <a:bodyPr/>
          <a:lstStyle/>
          <a:p>
            <a:fld id="{1F646F3F-274D-499B-ABBE-824EB4ABDC3D}" type="slidenum">
              <a:rPr lang="en-US" smtClean="0"/>
              <a:t>‹#›</a:t>
            </a:fld>
            <a:endParaRPr lang="en-US"/>
          </a:p>
        </p:txBody>
      </p:sp>
    </p:spTree>
    <p:extLst>
      <p:ext uri="{BB962C8B-B14F-4D97-AF65-F5344CB8AC3E}">
        <p14:creationId xmlns:p14="http://schemas.microsoft.com/office/powerpoint/2010/main" val="1774626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188483-96C4-4E9C-AA6A-E70005461AEE}"/>
              </a:ext>
            </a:extLst>
          </p:cNvPr>
          <p:cNvSpPr/>
          <p:nvPr/>
        </p:nvSpPr>
        <p:spPr>
          <a:xfrm>
            <a:off x="9144000" y="0"/>
            <a:ext cx="3048000" cy="685466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0E4FCD54-7F0B-446E-9998-93E7BD7CE74D}"/>
              </a:ext>
            </a:extLst>
          </p:cNvPr>
          <p:cNvSpPr>
            <a:spLocks noGrp="1"/>
          </p:cNvSpPr>
          <p:nvPr>
            <p:ph type="title" orient="vert"/>
          </p:nvPr>
        </p:nvSpPr>
        <p:spPr>
          <a:xfrm>
            <a:off x="9534222" y="365125"/>
            <a:ext cx="2238678"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0766238-BBF1-4672-BC09-746C6967E5DF}"/>
              </a:ext>
            </a:extLst>
          </p:cNvPr>
          <p:cNvSpPr>
            <a:spLocks noGrp="1"/>
          </p:cNvSpPr>
          <p:nvPr>
            <p:ph type="body" orient="vert" idx="1"/>
          </p:nvPr>
        </p:nvSpPr>
        <p:spPr>
          <a:xfrm>
            <a:off x="484552" y="365125"/>
            <a:ext cx="8374062"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F8F32A5-B67B-45C1-B454-12E9FBE0C869}"/>
              </a:ext>
            </a:extLst>
          </p:cNvPr>
          <p:cNvSpPr>
            <a:spLocks noGrp="1"/>
          </p:cNvSpPr>
          <p:nvPr>
            <p:ph type="dt" sz="half" idx="10"/>
          </p:nvPr>
        </p:nvSpPr>
        <p:spPr/>
        <p:txBody>
          <a:bodyPr/>
          <a:lstStyle/>
          <a:p>
            <a:fld id="{A09D0CB7-D16E-4358-B7F4-EA4A24554592}" type="datetime1">
              <a:rPr lang="en-US" smtClean="0"/>
              <a:t>11/28/24</a:t>
            </a:fld>
            <a:endParaRPr lang="en-US"/>
          </a:p>
        </p:txBody>
      </p:sp>
      <p:sp>
        <p:nvSpPr>
          <p:cNvPr id="5" name="Footer Placeholder 4">
            <a:extLst>
              <a:ext uri="{FF2B5EF4-FFF2-40B4-BE49-F238E27FC236}">
                <a16:creationId xmlns:a16="http://schemas.microsoft.com/office/drawing/2014/main" id="{48E91896-9441-4636-89D5-84E5932A1EDB}"/>
              </a:ext>
            </a:extLst>
          </p:cNvPr>
          <p:cNvSpPr>
            <a:spLocks noGrp="1"/>
          </p:cNvSpPr>
          <p:nvPr>
            <p:ph type="ftr" sz="quarter" idx="11"/>
          </p:nvPr>
        </p:nvSpPr>
        <p:spPr>
          <a:xfrm>
            <a:off x="3228110" y="6356350"/>
            <a:ext cx="4114800" cy="365125"/>
          </a:xfrm>
        </p:spPr>
        <p:txBody>
          <a:bodyPr/>
          <a:lstStyle/>
          <a:p>
            <a:endParaRPr lang="en-US" dirty="0"/>
          </a:p>
        </p:txBody>
      </p:sp>
      <p:sp>
        <p:nvSpPr>
          <p:cNvPr id="6" name="Slide Number Placeholder 5">
            <a:extLst>
              <a:ext uri="{FF2B5EF4-FFF2-40B4-BE49-F238E27FC236}">
                <a16:creationId xmlns:a16="http://schemas.microsoft.com/office/drawing/2014/main" id="{88937DFE-7F48-4EB0-83BC-A93F342D2618}"/>
              </a:ext>
            </a:extLst>
          </p:cNvPr>
          <p:cNvSpPr>
            <a:spLocks noGrp="1"/>
          </p:cNvSpPr>
          <p:nvPr>
            <p:ph type="sldNum" sz="quarter" idx="12"/>
          </p:nvPr>
        </p:nvSpPr>
        <p:spPr/>
        <p:txBody>
          <a:bodyPr/>
          <a:lstStyle>
            <a:lvl1pPr>
              <a:defRPr>
                <a:solidFill>
                  <a:schemeClr val="bg1">
                    <a:alpha val="80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1053079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A26A151-13BF-4305-A6DC-9DC7C9877195}"/>
              </a:ext>
            </a:extLst>
          </p:cNvPr>
          <p:cNvSpPr/>
          <p:nvPr/>
        </p:nvSpPr>
        <p:spPr>
          <a:xfrm>
            <a:off x="0" y="0"/>
            <a:ext cx="12192000" cy="22911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DEE6AE3-3BCC-4B3B-AC4E-60F91014449A}"/>
              </a:ext>
            </a:extLst>
          </p:cNvPr>
          <p:cNvSpPr>
            <a:spLocks noGrp="1"/>
          </p:cNvSpPr>
          <p:nvPr>
            <p:ph type="title"/>
          </p:nvPr>
        </p:nvSpPr>
        <p:spPr>
          <a:xfrm>
            <a:off x="484552" y="365125"/>
            <a:ext cx="10869248" cy="168751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4CB514A-E7EA-41A8-ADBA-85CA1DF6D349}"/>
              </a:ext>
            </a:extLst>
          </p:cNvPr>
          <p:cNvSpPr>
            <a:spLocks noGrp="1"/>
          </p:cNvSpPr>
          <p:nvPr>
            <p:ph type="body" idx="1"/>
          </p:nvPr>
        </p:nvSpPr>
        <p:spPr>
          <a:xfrm>
            <a:off x="484552" y="2576513"/>
            <a:ext cx="10869248" cy="360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19CB0BD-D6E3-4B3D-BCBB-6FECA5D6323C}"/>
              </a:ext>
            </a:extLst>
          </p:cNvPr>
          <p:cNvSpPr>
            <a:spLocks noGrp="1"/>
          </p:cNvSpPr>
          <p:nvPr>
            <p:ph type="dt" sz="half" idx="2"/>
          </p:nvPr>
        </p:nvSpPr>
        <p:spPr>
          <a:xfrm>
            <a:off x="146221" y="6357208"/>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1FC8E16-3C03-4238-9C6F-B34F3D10F77E}" type="datetime1">
              <a:rPr lang="en-US" smtClean="0"/>
              <a:t>11/28/24</a:t>
            </a:fld>
            <a:endParaRPr lang="en-US" dirty="0"/>
          </a:p>
        </p:txBody>
      </p:sp>
      <p:sp>
        <p:nvSpPr>
          <p:cNvPr id="5" name="Footer Placeholder 4">
            <a:extLst>
              <a:ext uri="{FF2B5EF4-FFF2-40B4-BE49-F238E27FC236}">
                <a16:creationId xmlns:a16="http://schemas.microsoft.com/office/drawing/2014/main" id="{A84147F7-B466-4892-BE27-876F947515C8}"/>
              </a:ext>
            </a:extLst>
          </p:cNvPr>
          <p:cNvSpPr>
            <a:spLocks noGrp="1"/>
          </p:cNvSpPr>
          <p:nvPr>
            <p:ph type="ftr" sz="quarter" idx="3"/>
          </p:nvPr>
        </p:nvSpPr>
        <p:spPr>
          <a:xfrm>
            <a:off x="6270162" y="6356350"/>
            <a:ext cx="411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264B4FE0-65CC-4435-A6AF-150E52F35BB8}"/>
              </a:ext>
            </a:extLst>
          </p:cNvPr>
          <p:cNvSpPr>
            <a:spLocks noGrp="1"/>
          </p:cNvSpPr>
          <p:nvPr>
            <p:ph type="sldNum" sz="quarter" idx="4"/>
          </p:nvPr>
        </p:nvSpPr>
        <p:spPr>
          <a:xfrm>
            <a:off x="10764983" y="6356350"/>
            <a:ext cx="1280796"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F646F3F-274D-499B-ABBE-824EB4ABDC3D}" type="slidenum">
              <a:rPr lang="en-US" smtClean="0"/>
              <a:pPr/>
              <a:t>‹#›</a:t>
            </a:fld>
            <a:endParaRPr lang="en-US" dirty="0"/>
          </a:p>
        </p:txBody>
      </p:sp>
    </p:spTree>
    <p:extLst>
      <p:ext uri="{BB962C8B-B14F-4D97-AF65-F5344CB8AC3E}">
        <p14:creationId xmlns:p14="http://schemas.microsoft.com/office/powerpoint/2010/main" val="874693477"/>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1" r:id="rId6"/>
    <p:sldLayoutId id="2147483737" r:id="rId7"/>
    <p:sldLayoutId id="2147483738" r:id="rId8"/>
    <p:sldLayoutId id="2147483739" r:id="rId9"/>
    <p:sldLayoutId id="2147483740" r:id="rId10"/>
    <p:sldLayoutId id="2147483742" r:id="rId11"/>
  </p:sldLayoutIdLst>
  <p:hf sldNum="0" hdr="0" ftr="0" dt="0"/>
  <p:txStyles>
    <p:titleStyle>
      <a:lvl1pPr algn="l" defTabSz="914400" rtl="0" eaLnBrk="1" latinLnBrk="0" hangingPunct="1">
        <a:lnSpc>
          <a:spcPct val="100000"/>
        </a:lnSpc>
        <a:spcBef>
          <a:spcPct val="0"/>
        </a:spcBef>
        <a:buNone/>
        <a:defRPr sz="5400" kern="1200">
          <a:solidFill>
            <a:schemeClr val="bg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20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4D90D76C-184F-4A96-8FE8-1114F8EE1F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0">
            <a:extLst>
              <a:ext uri="{FF2B5EF4-FFF2-40B4-BE49-F238E27FC236}">
                <a16:creationId xmlns:a16="http://schemas.microsoft.com/office/drawing/2014/main" id="{2F9DE355-E8A7-498B-A6A0-54D03B953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3644" cy="68613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6A7944E2-7DC8-63DA-D93A-8297F234B56E}"/>
              </a:ext>
            </a:extLst>
          </p:cNvPr>
          <p:cNvSpPr>
            <a:spLocks noGrp="1"/>
          </p:cNvSpPr>
          <p:nvPr>
            <p:ph type="ctrTitle"/>
          </p:nvPr>
        </p:nvSpPr>
        <p:spPr>
          <a:xfrm>
            <a:off x="484552" y="1122363"/>
            <a:ext cx="4910841" cy="2387600"/>
          </a:xfrm>
        </p:spPr>
        <p:txBody>
          <a:bodyPr>
            <a:normAutofit fontScale="90000"/>
          </a:bodyPr>
          <a:lstStyle/>
          <a:p>
            <a:pPr>
              <a:lnSpc>
                <a:spcPct val="90000"/>
              </a:lnSpc>
            </a:pPr>
            <a:r>
              <a:rPr lang="en-GB" sz="4400" b="0" i="0" u="none" strike="noStrike" dirty="0">
                <a:effectLst/>
                <a:latin typeface="Segoe UI Web (West European)"/>
              </a:rPr>
              <a:t>Where do E. </a:t>
            </a:r>
            <a:r>
              <a:rPr lang="en-GB" sz="4400" b="0" i="0" u="none" strike="noStrike" dirty="0" err="1">
                <a:effectLst/>
                <a:latin typeface="Segoe UI Web (West European)"/>
              </a:rPr>
              <a:t>colis</a:t>
            </a:r>
            <a:r>
              <a:rPr lang="en-GB" sz="4400" b="0" i="0" u="none" strike="noStrike" dirty="0">
                <a:effectLst/>
                <a:latin typeface="Segoe UI Web (West European)"/>
              </a:rPr>
              <a:t> get the PUF to survive in the bladder?</a:t>
            </a:r>
            <a:endParaRPr lang="nl-NL" sz="23900" dirty="0"/>
          </a:p>
        </p:txBody>
      </p:sp>
      <p:sp>
        <p:nvSpPr>
          <p:cNvPr id="3" name="Ondertitel 2">
            <a:extLst>
              <a:ext uri="{FF2B5EF4-FFF2-40B4-BE49-F238E27FC236}">
                <a16:creationId xmlns:a16="http://schemas.microsoft.com/office/drawing/2014/main" id="{EE5B5495-3F6C-BFF6-ED7F-7D33F97023DD}"/>
              </a:ext>
            </a:extLst>
          </p:cNvPr>
          <p:cNvSpPr>
            <a:spLocks noGrp="1"/>
          </p:cNvSpPr>
          <p:nvPr>
            <p:ph type="subTitle" idx="1"/>
          </p:nvPr>
        </p:nvSpPr>
        <p:spPr>
          <a:xfrm>
            <a:off x="484552" y="3602038"/>
            <a:ext cx="4910841" cy="1655762"/>
          </a:xfrm>
        </p:spPr>
        <p:txBody>
          <a:bodyPr>
            <a:normAutofit/>
          </a:bodyPr>
          <a:lstStyle/>
          <a:p>
            <a:r>
              <a:rPr lang="en-GB" b="0" i="0" u="none" strike="noStrike" dirty="0">
                <a:solidFill>
                  <a:schemeClr val="bg1"/>
                </a:solidFill>
                <a:effectLst/>
                <a:latin typeface="Segoe UI Web (West European)"/>
              </a:rPr>
              <a:t>More insight into putative virulence factors (PUFs)</a:t>
            </a:r>
            <a:endParaRPr lang="nl-NL" dirty="0">
              <a:solidFill>
                <a:schemeClr val="bg1"/>
              </a:solidFill>
            </a:endParaRPr>
          </a:p>
        </p:txBody>
      </p:sp>
      <p:pic>
        <p:nvPicPr>
          <p:cNvPr id="17" name="Picture 3">
            <a:extLst>
              <a:ext uri="{FF2B5EF4-FFF2-40B4-BE49-F238E27FC236}">
                <a16:creationId xmlns:a16="http://schemas.microsoft.com/office/drawing/2014/main" id="{DAF7285C-B3EF-6782-FC63-386BD326E7C6}"/>
              </a:ext>
            </a:extLst>
          </p:cNvPr>
          <p:cNvPicPr>
            <a:picLocks noChangeAspect="1"/>
          </p:cNvPicPr>
          <p:nvPr/>
        </p:nvPicPr>
        <p:blipFill>
          <a:blip r:embed="rId2"/>
          <a:srcRect l="6170" r="34375" b="-1"/>
          <a:stretch/>
        </p:blipFill>
        <p:spPr>
          <a:xfrm>
            <a:off x="6083645" y="10"/>
            <a:ext cx="6108356" cy="6857990"/>
          </a:xfrm>
          <a:prstGeom prst="rect">
            <a:avLst/>
          </a:prstGeom>
        </p:spPr>
      </p:pic>
    </p:spTree>
    <p:extLst>
      <p:ext uri="{BB962C8B-B14F-4D97-AF65-F5344CB8AC3E}">
        <p14:creationId xmlns:p14="http://schemas.microsoft.com/office/powerpoint/2010/main" val="3828726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8">
            <a:extLst>
              <a:ext uri="{FF2B5EF4-FFF2-40B4-BE49-F238E27FC236}">
                <a16:creationId xmlns:a16="http://schemas.microsoft.com/office/drawing/2014/main" id="{317ADF9C-7729-43E0-B44E-3392C2BD0A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0">
            <a:extLst>
              <a:ext uri="{FF2B5EF4-FFF2-40B4-BE49-F238E27FC236}">
                <a16:creationId xmlns:a16="http://schemas.microsoft.com/office/drawing/2014/main" id="{C264CE6C-E4DD-47B0-947A-FE4B1135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08B90D65-58E9-0467-70CA-0FA81A1F8D08}"/>
              </a:ext>
            </a:extLst>
          </p:cNvPr>
          <p:cNvSpPr>
            <a:spLocks noGrp="1"/>
          </p:cNvSpPr>
          <p:nvPr>
            <p:ph type="title"/>
          </p:nvPr>
        </p:nvSpPr>
        <p:spPr>
          <a:xfrm>
            <a:off x="484552" y="365125"/>
            <a:ext cx="5252571" cy="2766449"/>
          </a:xfrm>
        </p:spPr>
        <p:txBody>
          <a:bodyPr>
            <a:normAutofit/>
          </a:bodyPr>
          <a:lstStyle/>
          <a:p>
            <a:r>
              <a:rPr lang="en-US"/>
              <a:t>Low &amp; high virulence definition</a:t>
            </a:r>
            <a:endParaRPr lang="nl-NL" dirty="0"/>
          </a:p>
        </p:txBody>
      </p:sp>
      <p:pic>
        <p:nvPicPr>
          <p:cNvPr id="33" name="Picture 4" descr="Reageerbuisjes met één oranje testbuis met druppels">
            <a:extLst>
              <a:ext uri="{FF2B5EF4-FFF2-40B4-BE49-F238E27FC236}">
                <a16:creationId xmlns:a16="http://schemas.microsoft.com/office/drawing/2014/main" id="{4AFCEDC2-4196-C307-6E05-E36E232C029C}"/>
              </a:ext>
            </a:extLst>
          </p:cNvPr>
          <p:cNvPicPr>
            <a:picLocks noChangeAspect="1"/>
          </p:cNvPicPr>
          <p:nvPr/>
        </p:nvPicPr>
        <p:blipFill>
          <a:blip r:embed="rId2"/>
          <a:srcRect t="9108" b="8474"/>
          <a:stretch/>
        </p:blipFill>
        <p:spPr>
          <a:xfrm>
            <a:off x="20" y="3429000"/>
            <a:ext cx="6095978" cy="3429000"/>
          </a:xfrm>
          <a:prstGeom prst="rect">
            <a:avLst/>
          </a:prstGeom>
        </p:spPr>
      </p:pic>
      <p:sp>
        <p:nvSpPr>
          <p:cNvPr id="34" name="Tijdelijke aanduiding voor inhoud 2">
            <a:extLst>
              <a:ext uri="{FF2B5EF4-FFF2-40B4-BE49-F238E27FC236}">
                <a16:creationId xmlns:a16="http://schemas.microsoft.com/office/drawing/2014/main" id="{76DE1D77-4BDD-3F3F-958F-6BC1BB1BA8A2}"/>
              </a:ext>
            </a:extLst>
          </p:cNvPr>
          <p:cNvSpPr>
            <a:spLocks noGrp="1"/>
          </p:cNvSpPr>
          <p:nvPr>
            <p:ph idx="1"/>
          </p:nvPr>
        </p:nvSpPr>
        <p:spPr>
          <a:xfrm>
            <a:off x="6523702" y="365125"/>
            <a:ext cx="4830097" cy="5811838"/>
          </a:xfrm>
        </p:spPr>
        <p:txBody>
          <a:bodyPr>
            <a:normAutofit/>
          </a:bodyPr>
          <a:lstStyle/>
          <a:p>
            <a:pPr marL="342900" indent="-342900">
              <a:lnSpc>
                <a:spcPct val="110000"/>
              </a:lnSpc>
              <a:buFont typeface="Arial" panose="020B0604020202020204" pitchFamily="34" charset="0"/>
              <a:buChar char="•"/>
            </a:pPr>
            <a:r>
              <a:rPr lang="en-US" sz="1600" dirty="0"/>
              <a:t>To define the difference between low and high virulence we will conduct WGS on a selection of the cultured E. coli. </a:t>
            </a:r>
          </a:p>
          <a:p>
            <a:pPr marL="342900" indent="-342900">
              <a:lnSpc>
                <a:spcPct val="110000"/>
              </a:lnSpc>
              <a:buFont typeface="Arial" panose="020B0604020202020204" pitchFamily="34" charset="0"/>
              <a:buChar char="•"/>
            </a:pPr>
            <a:r>
              <a:rPr lang="en-US" sz="1600" dirty="0"/>
              <a:t>The different identified (virulence) genes and combination of (virulence) genes will be analyzed with a </a:t>
            </a:r>
            <a:r>
              <a:rPr lang="en-US" sz="1600" dirty="0">
                <a:highlight>
                  <a:srgbClr val="FFFF00"/>
                </a:highlight>
              </a:rPr>
              <a:t>multiple regression analyses and/or a principle component analysis</a:t>
            </a:r>
            <a:r>
              <a:rPr lang="en-US" sz="1600" dirty="0"/>
              <a:t>. </a:t>
            </a:r>
          </a:p>
          <a:p>
            <a:pPr marL="342900" indent="-342900">
              <a:lnSpc>
                <a:spcPct val="110000"/>
              </a:lnSpc>
              <a:buFont typeface="Arial" panose="020B0604020202020204" pitchFamily="34" charset="0"/>
              <a:buChar char="•"/>
            </a:pPr>
            <a:r>
              <a:rPr lang="en-US" sz="1600" dirty="0"/>
              <a:t>The goal is to identify (sets of) virulence genes within the genome of the cultured E. coli from NH residents with UTI which could be considered as “</a:t>
            </a:r>
            <a:r>
              <a:rPr lang="en-US" sz="1600" dirty="0">
                <a:highlight>
                  <a:srgbClr val="FFFF00"/>
                </a:highlight>
              </a:rPr>
              <a:t>high virulence</a:t>
            </a:r>
            <a:r>
              <a:rPr lang="en-US" sz="1600" dirty="0"/>
              <a:t>”, while the </a:t>
            </a:r>
            <a:r>
              <a:rPr lang="en-US" sz="1600" dirty="0">
                <a:highlight>
                  <a:srgbClr val="FFFF00"/>
                </a:highlight>
              </a:rPr>
              <a:t>absence </a:t>
            </a:r>
            <a:r>
              <a:rPr lang="en-US" sz="1600" dirty="0"/>
              <a:t>of these (sets of ) virulence genes could be used to define “</a:t>
            </a:r>
            <a:r>
              <a:rPr lang="en-US" sz="1600" dirty="0">
                <a:highlight>
                  <a:srgbClr val="FFFF00"/>
                </a:highlight>
              </a:rPr>
              <a:t>low virulence</a:t>
            </a:r>
            <a:r>
              <a:rPr lang="en-US" sz="1600" dirty="0"/>
              <a:t>”. </a:t>
            </a:r>
          </a:p>
          <a:p>
            <a:pPr marL="342900" indent="-342900">
              <a:lnSpc>
                <a:spcPct val="110000"/>
              </a:lnSpc>
              <a:buFont typeface="Arial" panose="020B0604020202020204" pitchFamily="34" charset="0"/>
              <a:buChar char="•"/>
            </a:pPr>
            <a:r>
              <a:rPr lang="en-US" sz="1600" dirty="0"/>
              <a:t>The exact combination and threshold for “</a:t>
            </a:r>
            <a:r>
              <a:rPr lang="en-US" sz="1600" dirty="0">
                <a:highlight>
                  <a:srgbClr val="FFFF00"/>
                </a:highlight>
              </a:rPr>
              <a:t>high virulence</a:t>
            </a:r>
            <a:r>
              <a:rPr lang="en-US" sz="1600" dirty="0"/>
              <a:t>” has yet to be defined by a workgroup consisting of medical microbiologists and infectiologists </a:t>
            </a:r>
            <a:r>
              <a:rPr lang="en-US" sz="1600" dirty="0">
                <a:highlight>
                  <a:srgbClr val="FFFF00"/>
                </a:highlight>
              </a:rPr>
              <a:t>based on analyses of the study data and review of the literature</a:t>
            </a:r>
            <a:endParaRPr lang="nl-NL" sz="1600" dirty="0">
              <a:highlight>
                <a:srgbClr val="FFFF00"/>
              </a:highlight>
            </a:endParaRPr>
          </a:p>
        </p:txBody>
      </p:sp>
    </p:spTree>
    <p:extLst>
      <p:ext uri="{BB962C8B-B14F-4D97-AF65-F5344CB8AC3E}">
        <p14:creationId xmlns:p14="http://schemas.microsoft.com/office/powerpoint/2010/main" val="3355097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A8EA053-7537-BF35-4B6C-BA4CF094402D}"/>
              </a:ext>
            </a:extLst>
          </p:cNvPr>
          <p:cNvSpPr>
            <a:spLocks noGrp="1"/>
          </p:cNvSpPr>
          <p:nvPr>
            <p:ph type="title"/>
          </p:nvPr>
        </p:nvSpPr>
        <p:spPr/>
        <p:txBody>
          <a:bodyPr/>
          <a:lstStyle/>
          <a:p>
            <a:r>
              <a:rPr lang="nl-NL" dirty="0"/>
              <a:t>Urine</a:t>
            </a:r>
          </a:p>
        </p:txBody>
      </p:sp>
      <p:sp>
        <p:nvSpPr>
          <p:cNvPr id="3" name="Tijdelijke aanduiding voor inhoud 2">
            <a:extLst>
              <a:ext uri="{FF2B5EF4-FFF2-40B4-BE49-F238E27FC236}">
                <a16:creationId xmlns:a16="http://schemas.microsoft.com/office/drawing/2014/main" id="{6C21A325-02E5-6829-B2AA-7E6F15D51DDC}"/>
              </a:ext>
            </a:extLst>
          </p:cNvPr>
          <p:cNvSpPr>
            <a:spLocks noGrp="1"/>
          </p:cNvSpPr>
          <p:nvPr>
            <p:ph idx="1"/>
          </p:nvPr>
        </p:nvSpPr>
        <p:spPr/>
        <p:txBody>
          <a:bodyPr>
            <a:normAutofit/>
          </a:bodyPr>
          <a:lstStyle/>
          <a:p>
            <a:pPr marL="342900" indent="-342900">
              <a:buFont typeface="Arial" panose="020B0604020202020204" pitchFamily="34" charset="0"/>
              <a:buChar char="•"/>
            </a:pPr>
            <a:r>
              <a:rPr lang="en-US" b="0" i="0" dirty="0">
                <a:solidFill>
                  <a:srgbClr val="1B1B1B"/>
                </a:solidFill>
                <a:effectLst/>
                <a:latin typeface="Cambria" panose="02040503050406030204" pitchFamily="18" charset="0"/>
              </a:rPr>
              <a:t>Urine is unique from a microbial perspective and its chemical makeup, distinct from all other bodily fluids</a:t>
            </a:r>
          </a:p>
          <a:p>
            <a:pPr marL="342900" indent="-342900">
              <a:buFont typeface="Arial" panose="020B0604020202020204" pitchFamily="34" charset="0"/>
              <a:buChar char="•"/>
            </a:pPr>
            <a:r>
              <a:rPr lang="en-US" b="0" i="0" dirty="0">
                <a:solidFill>
                  <a:srgbClr val="1B1B1B"/>
                </a:solidFill>
                <a:effectLst/>
                <a:latin typeface="Cambria" panose="02040503050406030204" pitchFamily="18" charset="0"/>
              </a:rPr>
              <a:t>Urine has a low pH and a high osmolality due to the presence of salts and urea</a:t>
            </a:r>
          </a:p>
          <a:p>
            <a:pPr marL="342900" indent="-342900">
              <a:buFont typeface="Arial" panose="020B0604020202020204" pitchFamily="34" charset="0"/>
              <a:buChar char="•"/>
            </a:pPr>
            <a:r>
              <a:rPr lang="en-US" b="0" i="0" dirty="0">
                <a:solidFill>
                  <a:srgbClr val="1B1B1B"/>
                </a:solidFill>
                <a:effectLst/>
                <a:latin typeface="Cambria" panose="02040503050406030204" pitchFamily="18" charset="0"/>
              </a:rPr>
              <a:t>The peptides, proteins, and organic acids present in urine may be metabolized by microbes</a:t>
            </a:r>
          </a:p>
          <a:p>
            <a:pPr marL="342900" indent="-342900">
              <a:buFont typeface="Arial" panose="020B0604020202020204" pitchFamily="34" charset="0"/>
              <a:buChar char="•"/>
            </a:pPr>
            <a:r>
              <a:rPr lang="en-US" b="0" i="0" dirty="0">
                <a:solidFill>
                  <a:srgbClr val="1B1B1B"/>
                </a:solidFill>
                <a:effectLst/>
                <a:latin typeface="Cambria" panose="02040503050406030204" pitchFamily="18" charset="0"/>
              </a:rPr>
              <a:t>Urine is dynamic in flow rate and composition, which changes subject to diet, age, gender and health status, and disease</a:t>
            </a:r>
          </a:p>
          <a:p>
            <a:pPr marL="342900" indent="-342900">
              <a:buFont typeface="Arial" panose="020B0604020202020204" pitchFamily="34" charset="0"/>
              <a:buChar char="•"/>
            </a:pPr>
            <a:r>
              <a:rPr lang="nl-NL" dirty="0">
                <a:solidFill>
                  <a:srgbClr val="282828"/>
                </a:solidFill>
                <a:latin typeface="MuseoSans"/>
              </a:rPr>
              <a:t>Using </a:t>
            </a:r>
            <a:r>
              <a:rPr lang="nl-NL" dirty="0">
                <a:solidFill>
                  <a:srgbClr val="282828"/>
                </a:solidFill>
                <a:latin typeface="MuseoSans"/>
                <a:sym typeface="Wingdings" panose="05000000000000000000" pitchFamily="2" charset="2"/>
              </a:rPr>
              <a:t> </a:t>
            </a:r>
            <a:r>
              <a:rPr lang="nl-NL" dirty="0" err="1">
                <a:solidFill>
                  <a:srgbClr val="282828"/>
                </a:solidFill>
                <a:latin typeface="MuseoSans"/>
              </a:rPr>
              <a:t>S</a:t>
            </a:r>
            <a:r>
              <a:rPr lang="nl-NL" b="0" i="0" dirty="0" err="1">
                <a:solidFill>
                  <a:srgbClr val="282828"/>
                </a:solidFill>
                <a:effectLst/>
                <a:latin typeface="MuseoSans"/>
              </a:rPr>
              <a:t>ynthetic</a:t>
            </a:r>
            <a:r>
              <a:rPr lang="nl-NL" b="0" i="0" dirty="0">
                <a:solidFill>
                  <a:srgbClr val="282828"/>
                </a:solidFill>
                <a:effectLst/>
                <a:latin typeface="MuseoSans"/>
              </a:rPr>
              <a:t> human urine (SHU)</a:t>
            </a:r>
            <a:endParaRPr lang="nl-NL" dirty="0"/>
          </a:p>
        </p:txBody>
      </p:sp>
    </p:spTree>
    <p:extLst>
      <p:ext uri="{BB962C8B-B14F-4D97-AF65-F5344CB8AC3E}">
        <p14:creationId xmlns:p14="http://schemas.microsoft.com/office/powerpoint/2010/main" val="3376375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B1DB0-6E2D-7396-0644-7E946DC35B9A}"/>
              </a:ext>
            </a:extLst>
          </p:cNvPr>
          <p:cNvSpPr>
            <a:spLocks noGrp="1"/>
          </p:cNvSpPr>
          <p:nvPr>
            <p:ph type="title"/>
          </p:nvPr>
        </p:nvSpPr>
        <p:spPr/>
        <p:txBody>
          <a:bodyPr>
            <a:normAutofit/>
          </a:bodyPr>
          <a:lstStyle/>
          <a:p>
            <a:r>
              <a:rPr lang="nl-NL" sz="4000"/>
              <a:t>Bladder (cells)</a:t>
            </a:r>
            <a:br>
              <a:rPr lang="nl-NL" sz="4000"/>
            </a:br>
            <a:r>
              <a:rPr lang="nl-NL" sz="4000"/>
              <a:t>Ognenovska et al</a:t>
            </a:r>
            <a:endParaRPr lang="nl-NL" sz="4000" dirty="0"/>
          </a:p>
        </p:txBody>
      </p:sp>
      <p:pic>
        <p:nvPicPr>
          <p:cNvPr id="5" name="Tijdelijke aanduiding voor inhoud 4">
            <a:extLst>
              <a:ext uri="{FF2B5EF4-FFF2-40B4-BE49-F238E27FC236}">
                <a16:creationId xmlns:a16="http://schemas.microsoft.com/office/drawing/2014/main" id="{C0B3BABA-AAAF-6F9C-B8E2-0F9B610B40B4}"/>
              </a:ext>
            </a:extLst>
          </p:cNvPr>
          <p:cNvPicPr>
            <a:picLocks noGrp="1" noChangeAspect="1"/>
          </p:cNvPicPr>
          <p:nvPr>
            <p:ph idx="1"/>
          </p:nvPr>
        </p:nvPicPr>
        <p:blipFill rotWithShape="1">
          <a:blip r:embed="rId3"/>
          <a:srcRect l="27188" t="39729" r="9089" b="13402"/>
          <a:stretch/>
        </p:blipFill>
        <p:spPr>
          <a:xfrm>
            <a:off x="141584" y="4424302"/>
            <a:ext cx="4445429" cy="1839179"/>
          </a:xfrm>
        </p:spPr>
      </p:pic>
      <p:pic>
        <p:nvPicPr>
          <p:cNvPr id="7" name="Afbeelding 6">
            <a:extLst>
              <a:ext uri="{FF2B5EF4-FFF2-40B4-BE49-F238E27FC236}">
                <a16:creationId xmlns:a16="http://schemas.microsoft.com/office/drawing/2014/main" id="{FFC7A2CC-D670-350B-8D60-D7982B79835D}"/>
              </a:ext>
            </a:extLst>
          </p:cNvPr>
          <p:cNvPicPr>
            <a:picLocks noChangeAspect="1"/>
          </p:cNvPicPr>
          <p:nvPr/>
        </p:nvPicPr>
        <p:blipFill rotWithShape="1">
          <a:blip r:embed="rId4"/>
          <a:srcRect l="20307" t="17229" r="20452" b="9962"/>
          <a:stretch/>
        </p:blipFill>
        <p:spPr>
          <a:xfrm>
            <a:off x="4827684" y="159214"/>
            <a:ext cx="7222732" cy="4993241"/>
          </a:xfrm>
          <a:prstGeom prst="rect">
            <a:avLst/>
          </a:prstGeom>
        </p:spPr>
      </p:pic>
    </p:spTree>
    <p:extLst>
      <p:ext uri="{BB962C8B-B14F-4D97-AF65-F5344CB8AC3E}">
        <p14:creationId xmlns:p14="http://schemas.microsoft.com/office/powerpoint/2010/main" val="3735651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57" name="Rectangle 2056">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1BA69135-4328-23EE-46C5-4CED45E54380}"/>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a:t>PROGRESS</a:t>
            </a:r>
          </a:p>
        </p:txBody>
      </p:sp>
      <p:grpSp>
        <p:nvGrpSpPr>
          <p:cNvPr id="2061" name="Group 2060">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2062" name="Rectangle 2061">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050" name="Picture 2" descr="Afbeelding met tekst, schermopname, lijn, Parallel&#10;&#10;Automatisch gegenereerde beschrijving">
            <a:extLst>
              <a:ext uri="{FF2B5EF4-FFF2-40B4-BE49-F238E27FC236}">
                <a16:creationId xmlns:a16="http://schemas.microsoft.com/office/drawing/2014/main" id="{01771E03-ED28-2EF3-7FD9-56DF7ABAD0F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3646516" y="692235"/>
            <a:ext cx="7908176" cy="53973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7551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0BE66D35-6371-4809-9433-1EBF87915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047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8240633E-329C-80B0-A02C-1185432F36C1}"/>
              </a:ext>
            </a:extLst>
          </p:cNvPr>
          <p:cNvSpPr>
            <a:spLocks noGrp="1"/>
          </p:cNvSpPr>
          <p:nvPr>
            <p:ph type="title"/>
          </p:nvPr>
        </p:nvSpPr>
        <p:spPr>
          <a:xfrm>
            <a:off x="146221" y="397275"/>
            <a:ext cx="2628785" cy="3761257"/>
          </a:xfrm>
        </p:spPr>
        <p:txBody>
          <a:bodyPr vert="horz" lIns="91440" tIns="45720" rIns="91440" bIns="45720" rtlCol="0" anchor="ctr">
            <a:normAutofit/>
          </a:bodyPr>
          <a:lstStyle/>
          <a:p>
            <a:r>
              <a:rPr lang="en-US" sz="3200"/>
              <a:t>Putative virulence factors (PUFs)</a:t>
            </a:r>
          </a:p>
        </p:txBody>
      </p:sp>
      <p:grpSp>
        <p:nvGrpSpPr>
          <p:cNvPr id="16" name="Group 15">
            <a:extLst>
              <a:ext uri="{FF2B5EF4-FFF2-40B4-BE49-F238E27FC236}">
                <a16:creationId xmlns:a16="http://schemas.microsoft.com/office/drawing/2014/main" id="{0EB82B4C-9249-4CFC-A372-7B0FF5E36E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65226"/>
            <a:ext cx="3048003" cy="2292774"/>
            <a:chOff x="6096002" y="-9073"/>
            <a:chExt cx="6095998" cy="6867073"/>
          </a:xfrm>
        </p:grpSpPr>
        <p:sp>
          <p:nvSpPr>
            <p:cNvPr id="17" name="Rectangle 16">
              <a:extLst>
                <a:ext uri="{FF2B5EF4-FFF2-40B4-BE49-F238E27FC236}">
                  <a16:creationId xmlns:a16="http://schemas.microsoft.com/office/drawing/2014/main" id="{41B9437E-0974-4AB4-8491-D8BDD841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CB975E-33D1-4FB0-AA40-C2250AA66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Contour robot">
            <a:extLst>
              <a:ext uri="{FF2B5EF4-FFF2-40B4-BE49-F238E27FC236}">
                <a16:creationId xmlns:a16="http://schemas.microsoft.com/office/drawing/2014/main" id="{2C81118F-52E5-575A-01D2-6AF4640C269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819304" y="609600"/>
            <a:ext cx="5562600" cy="5562600"/>
          </a:xfrm>
          <a:prstGeom prst="rect">
            <a:avLst/>
          </a:prstGeom>
        </p:spPr>
      </p:pic>
    </p:spTree>
    <p:extLst>
      <p:ext uri="{BB962C8B-B14F-4D97-AF65-F5344CB8AC3E}">
        <p14:creationId xmlns:p14="http://schemas.microsoft.com/office/powerpoint/2010/main" val="4283811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268886-44FA-530B-BE9A-30E7B297C442}"/>
              </a:ext>
            </a:extLst>
          </p:cNvPr>
          <p:cNvSpPr>
            <a:spLocks noGrp="1"/>
          </p:cNvSpPr>
          <p:nvPr>
            <p:ph type="title"/>
          </p:nvPr>
        </p:nvSpPr>
        <p:spPr/>
        <p:txBody>
          <a:bodyPr>
            <a:normAutofit/>
          </a:bodyPr>
          <a:lstStyle/>
          <a:p>
            <a:r>
              <a:rPr lang="nl-NL" dirty="0" err="1"/>
              <a:t>Schreiber</a:t>
            </a:r>
            <a:r>
              <a:rPr lang="nl-NL" dirty="0"/>
              <a:t> et al.</a:t>
            </a:r>
            <a:br>
              <a:rPr lang="nl-NL" dirty="0"/>
            </a:br>
            <a:r>
              <a:rPr lang="nl-NL" sz="2200" dirty="0" err="1"/>
              <a:t>Bacterial</a:t>
            </a:r>
            <a:r>
              <a:rPr lang="nl-NL" sz="2200" dirty="0"/>
              <a:t> </a:t>
            </a:r>
            <a:r>
              <a:rPr lang="nl-NL" sz="2200" dirty="0" err="1"/>
              <a:t>virulence</a:t>
            </a:r>
            <a:r>
              <a:rPr lang="nl-NL" sz="2200" dirty="0"/>
              <a:t> </a:t>
            </a:r>
            <a:r>
              <a:rPr lang="nl-NL" sz="2200" dirty="0" err="1"/>
              <a:t>phenotypes</a:t>
            </a:r>
            <a:r>
              <a:rPr lang="nl-NL" sz="2200" dirty="0"/>
              <a:t> of </a:t>
            </a:r>
            <a:r>
              <a:rPr lang="nl-NL" sz="2200" dirty="0" err="1"/>
              <a:t>Escherichia</a:t>
            </a:r>
            <a:r>
              <a:rPr lang="nl-NL" sz="2200" dirty="0"/>
              <a:t> coli </a:t>
            </a:r>
            <a:r>
              <a:rPr lang="nl-NL" sz="2200" dirty="0" err="1"/>
              <a:t>and</a:t>
            </a:r>
            <a:r>
              <a:rPr lang="nl-NL" sz="2200" dirty="0"/>
              <a:t> host </a:t>
            </a:r>
            <a:r>
              <a:rPr lang="nl-NL" sz="2200" dirty="0" err="1"/>
              <a:t>susceptibility</a:t>
            </a:r>
            <a:r>
              <a:rPr lang="nl-NL" sz="2200" dirty="0"/>
              <a:t> </a:t>
            </a:r>
            <a:r>
              <a:rPr lang="nl-NL" sz="2200" dirty="0" err="1"/>
              <a:t>determine</a:t>
            </a:r>
            <a:r>
              <a:rPr lang="nl-NL" sz="2200" dirty="0"/>
              <a:t> risk </a:t>
            </a:r>
            <a:r>
              <a:rPr lang="nl-NL" sz="2200" dirty="0" err="1"/>
              <a:t>for</a:t>
            </a:r>
            <a:r>
              <a:rPr lang="nl-NL" sz="2200" dirty="0"/>
              <a:t> </a:t>
            </a:r>
            <a:r>
              <a:rPr lang="nl-NL" sz="2200" dirty="0" err="1"/>
              <a:t>urinary</a:t>
            </a:r>
            <a:r>
              <a:rPr lang="nl-NL" sz="2200" dirty="0"/>
              <a:t> </a:t>
            </a:r>
            <a:r>
              <a:rPr lang="nl-NL" sz="2200" dirty="0" err="1"/>
              <a:t>tract</a:t>
            </a:r>
            <a:r>
              <a:rPr lang="nl-NL" sz="2200" dirty="0"/>
              <a:t> </a:t>
            </a:r>
            <a:r>
              <a:rPr lang="nl-NL" sz="2200" dirty="0" err="1"/>
              <a:t>infections</a:t>
            </a:r>
            <a:r>
              <a:rPr lang="nl-NL" sz="2200" dirty="0"/>
              <a:t>. </a:t>
            </a:r>
            <a:r>
              <a:rPr lang="nl-NL" sz="2200" dirty="0" err="1"/>
              <a:t>Sci</a:t>
            </a:r>
            <a:r>
              <a:rPr lang="nl-NL" sz="2200" dirty="0"/>
              <a:t> </a:t>
            </a:r>
            <a:r>
              <a:rPr lang="nl-NL" sz="2200" dirty="0" err="1"/>
              <a:t>Transl</a:t>
            </a:r>
            <a:r>
              <a:rPr lang="nl-NL" sz="2200" dirty="0"/>
              <a:t> </a:t>
            </a:r>
            <a:r>
              <a:rPr lang="nl-NL" sz="2200" dirty="0" err="1"/>
              <a:t>Med</a:t>
            </a:r>
            <a:r>
              <a:rPr lang="nl-NL" sz="2200" dirty="0"/>
              <a:t> 2017; 9: eaaf1283. </a:t>
            </a:r>
          </a:p>
        </p:txBody>
      </p:sp>
      <p:sp>
        <p:nvSpPr>
          <p:cNvPr id="3" name="Tijdelijke aanduiding voor inhoud 2">
            <a:extLst>
              <a:ext uri="{FF2B5EF4-FFF2-40B4-BE49-F238E27FC236}">
                <a16:creationId xmlns:a16="http://schemas.microsoft.com/office/drawing/2014/main" id="{A864A77A-A8AC-F547-003F-C1D68805A83A}"/>
              </a:ext>
            </a:extLst>
          </p:cNvPr>
          <p:cNvSpPr>
            <a:spLocks noGrp="1"/>
          </p:cNvSpPr>
          <p:nvPr>
            <p:ph idx="1"/>
          </p:nvPr>
        </p:nvSpPr>
        <p:spPr>
          <a:xfrm>
            <a:off x="484552" y="2576513"/>
            <a:ext cx="11460400" cy="3600450"/>
          </a:xfrm>
        </p:spPr>
        <p:txBody>
          <a:bodyPr>
            <a:normAutofit lnSpcReduction="10000"/>
          </a:bodyPr>
          <a:lstStyle/>
          <a:p>
            <a:r>
              <a:rPr lang="en-US" dirty="0"/>
              <a:t>Despite decades of research using model UPEC strains, universal bacterial features that enable E. coli </a:t>
            </a:r>
            <a:r>
              <a:rPr lang="en-US" dirty="0" err="1"/>
              <a:t>uropathogenesis</a:t>
            </a:r>
            <a:r>
              <a:rPr lang="en-US" dirty="0"/>
              <a:t> remain largely undefined. </a:t>
            </a:r>
          </a:p>
          <a:p>
            <a:r>
              <a:rPr lang="en-US" dirty="0"/>
              <a:t>Carriage of putative </a:t>
            </a:r>
            <a:r>
              <a:rPr lang="en-US" dirty="0" err="1"/>
              <a:t>urovirulence</a:t>
            </a:r>
            <a:r>
              <a:rPr lang="en-US" dirty="0"/>
              <a:t> factors (PUFs) is thought to enhance E. coli </a:t>
            </a:r>
            <a:r>
              <a:rPr lang="en-US" dirty="0" err="1"/>
              <a:t>uropathogenicity</a:t>
            </a:r>
            <a:r>
              <a:rPr lang="en-US" dirty="0"/>
              <a:t> and is used to measure and clinical UPEC strains isolated from different patient populations. </a:t>
            </a:r>
          </a:p>
          <a:p>
            <a:r>
              <a:rPr lang="en-US" dirty="0"/>
              <a:t>PUFs were identified through their enrichment in UTI isolates when compared to non-UTI associated E. coli. </a:t>
            </a:r>
          </a:p>
          <a:p>
            <a:r>
              <a:rPr lang="en-US" dirty="0"/>
              <a:t>While numerous sets of PUFs have been used to assess </a:t>
            </a:r>
            <a:r>
              <a:rPr lang="en-US" dirty="0" err="1"/>
              <a:t>urovirulence</a:t>
            </a:r>
            <a:r>
              <a:rPr lang="en-US" dirty="0"/>
              <a:t> and strains with more PUFs are considered more </a:t>
            </a:r>
            <a:r>
              <a:rPr lang="en-US" dirty="0" err="1"/>
              <a:t>uropathogenic</a:t>
            </a:r>
            <a:r>
              <a:rPr lang="en-US" dirty="0"/>
              <a:t> than strains with fewer PUFs, a direct role in pathogenicity remains to be defined for the majority of PUFs.</a:t>
            </a:r>
            <a:endParaRPr lang="nl-NL" dirty="0"/>
          </a:p>
        </p:txBody>
      </p:sp>
    </p:spTree>
    <p:extLst>
      <p:ext uri="{BB962C8B-B14F-4D97-AF65-F5344CB8AC3E}">
        <p14:creationId xmlns:p14="http://schemas.microsoft.com/office/powerpoint/2010/main" val="1527071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2380A34A-731B-4B77-8D1A-4326EA6123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0">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04799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2305ED9-9BED-4016-87A8-ABBF8C50AD30}"/>
              </a:ext>
            </a:extLst>
          </p:cNvPr>
          <p:cNvSpPr>
            <a:spLocks noGrp="1"/>
          </p:cNvSpPr>
          <p:nvPr>
            <p:ph type="title"/>
          </p:nvPr>
        </p:nvSpPr>
        <p:spPr>
          <a:xfrm>
            <a:off x="146222" y="365125"/>
            <a:ext cx="2689847" cy="3938518"/>
          </a:xfrm>
        </p:spPr>
        <p:txBody>
          <a:bodyPr>
            <a:normAutofit/>
          </a:bodyPr>
          <a:lstStyle/>
          <a:p>
            <a:pPr>
              <a:lnSpc>
                <a:spcPct val="90000"/>
              </a:lnSpc>
            </a:pPr>
            <a:r>
              <a:rPr lang="nl-NL" sz="2500"/>
              <a:t>Spurbeck et al</a:t>
            </a:r>
            <a:br>
              <a:rPr lang="nl-NL" sz="2500"/>
            </a:br>
            <a:r>
              <a:rPr lang="nl-NL" sz="2500"/>
              <a:t>Escherichia coli isolates that carry vat, fyuA, chuA, and yfcV efficiently colonize the urinary tract. Infect Immun 2012; 80: 4115–22. </a:t>
            </a:r>
          </a:p>
        </p:txBody>
      </p:sp>
      <p:grpSp>
        <p:nvGrpSpPr>
          <p:cNvPr id="8" name="Group 12">
            <a:extLst>
              <a:ext uri="{FF2B5EF4-FFF2-40B4-BE49-F238E27FC236}">
                <a16:creationId xmlns:a16="http://schemas.microsoft.com/office/drawing/2014/main" id="{E5CD2E8B-968C-4DDC-9470-260B5DA13D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72778"/>
            <a:ext cx="3047997" cy="2285222"/>
            <a:chOff x="0" y="3438071"/>
            <a:chExt cx="3047997" cy="3429000"/>
          </a:xfrm>
        </p:grpSpPr>
        <p:sp>
          <p:nvSpPr>
            <p:cNvPr id="14" name="Rectangle 13">
              <a:extLst>
                <a:ext uri="{FF2B5EF4-FFF2-40B4-BE49-F238E27FC236}">
                  <a16:creationId xmlns:a16="http://schemas.microsoft.com/office/drawing/2014/main" id="{54940AF6-4BB8-4A24-9BCA-B088F02BD8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 y="3438071"/>
              <a:ext cx="3047991" cy="3429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4AD7D5E-CDD6-4468-9F5F-6802387A9C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447142"/>
              <a:ext cx="3047997" cy="3419929"/>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0" name="Tijdelijke aanduiding voor inhoud 2">
            <a:extLst>
              <a:ext uri="{FF2B5EF4-FFF2-40B4-BE49-F238E27FC236}">
                <a16:creationId xmlns:a16="http://schemas.microsoft.com/office/drawing/2014/main" id="{7850E871-6BE5-E0BF-B1F7-B17D1CD2CDE1}"/>
              </a:ext>
            </a:extLst>
          </p:cNvPr>
          <p:cNvGraphicFramePr>
            <a:graphicFrameLocks noGrp="1"/>
          </p:cNvGraphicFramePr>
          <p:nvPr>
            <p:ph idx="1"/>
            <p:extLst>
              <p:ext uri="{D42A27DB-BD31-4B8C-83A1-F6EECF244321}">
                <p14:modId xmlns:p14="http://schemas.microsoft.com/office/powerpoint/2010/main" val="71314581"/>
              </p:ext>
            </p:extLst>
          </p:nvPr>
        </p:nvGraphicFramePr>
        <p:xfrm>
          <a:off x="3811656" y="551622"/>
          <a:ext cx="7742583" cy="56253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1956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33" name="Rectangle 1032">
            <a:extLst>
              <a:ext uri="{FF2B5EF4-FFF2-40B4-BE49-F238E27FC236}">
                <a16:creationId xmlns:a16="http://schemas.microsoft.com/office/drawing/2014/main" id="{5C8041AD-0A28-47FA-8BFF-56BAAA246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095998"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BBCD2E8-D6A0-A5CE-E3FA-8124077B7B9D}"/>
              </a:ext>
            </a:extLst>
          </p:cNvPr>
          <p:cNvSpPr>
            <a:spLocks noGrp="1"/>
          </p:cNvSpPr>
          <p:nvPr>
            <p:ph type="title"/>
          </p:nvPr>
        </p:nvSpPr>
        <p:spPr>
          <a:xfrm>
            <a:off x="484553" y="397275"/>
            <a:ext cx="5216531" cy="3761257"/>
          </a:xfrm>
        </p:spPr>
        <p:txBody>
          <a:bodyPr vert="horz" lIns="91440" tIns="45720" rIns="91440" bIns="45720" rtlCol="0" anchor="ctr">
            <a:normAutofit/>
          </a:bodyPr>
          <a:lstStyle/>
          <a:p>
            <a:pPr>
              <a:lnSpc>
                <a:spcPct val="90000"/>
              </a:lnSpc>
            </a:pPr>
            <a:r>
              <a:rPr lang="en-US" sz="2600"/>
              <a:t>Mulder M, Notermans DW, Wielders CCH, Bos J, Witteveen S, Ganesh VA, Landman F, de Haan A, Schneeberger-van der Linden C, Hendrickx APA. OXA-48–producing uropathogenic Escherichia coli sequence type 127, the Netherlands, 2015–2022. Emerg Infect Dis. 2023 Dec.</a:t>
            </a:r>
          </a:p>
        </p:txBody>
      </p:sp>
      <p:grpSp>
        <p:nvGrpSpPr>
          <p:cNvPr id="1040" name="Group 1036">
            <a:extLst>
              <a:ext uri="{FF2B5EF4-FFF2-40B4-BE49-F238E27FC236}">
                <a16:creationId xmlns:a16="http://schemas.microsoft.com/office/drawing/2014/main" id="{3409BBD1-8A75-44DA-88E2-3A70470322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573946"/>
            <a:ext cx="6095998" cy="2284054"/>
            <a:chOff x="6096002" y="-9073"/>
            <a:chExt cx="6095998" cy="6867073"/>
          </a:xfrm>
        </p:grpSpPr>
        <p:sp>
          <p:nvSpPr>
            <p:cNvPr id="1041" name="Rectangle 1037">
              <a:extLst>
                <a:ext uri="{FF2B5EF4-FFF2-40B4-BE49-F238E27FC236}">
                  <a16:creationId xmlns:a16="http://schemas.microsoft.com/office/drawing/2014/main" id="{957EEA50-86F1-415A-8F6B-829E2272B5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9073"/>
              <a:ext cx="6095998" cy="686707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1707547F-6B3D-4540-808D-410C9EE344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2" y="-6987"/>
              <a:ext cx="6095998" cy="6864987"/>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26" name="Picture 2">
            <a:extLst>
              <a:ext uri="{FF2B5EF4-FFF2-40B4-BE49-F238E27FC236}">
                <a16:creationId xmlns:a16="http://schemas.microsoft.com/office/drawing/2014/main" id="{4D7AEA75-5641-FD98-91F1-CAFE0D27ABB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501257" y="1068222"/>
            <a:ext cx="5206190" cy="4477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1273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326415-22AC-F7F7-1293-4F6817AD42A6}"/>
              </a:ext>
            </a:extLst>
          </p:cNvPr>
          <p:cNvSpPr>
            <a:spLocks noGrp="1"/>
          </p:cNvSpPr>
          <p:nvPr>
            <p:ph type="title"/>
          </p:nvPr>
        </p:nvSpPr>
        <p:spPr/>
        <p:txBody>
          <a:bodyPr/>
          <a:lstStyle/>
          <a:p>
            <a:endParaRPr lang="nl-NL"/>
          </a:p>
        </p:txBody>
      </p:sp>
      <p:sp>
        <p:nvSpPr>
          <p:cNvPr id="3" name="Tijdelijke aanduiding voor inhoud 2">
            <a:extLst>
              <a:ext uri="{FF2B5EF4-FFF2-40B4-BE49-F238E27FC236}">
                <a16:creationId xmlns:a16="http://schemas.microsoft.com/office/drawing/2014/main" id="{71BD0445-DE46-025E-B72D-BEF0A9810EA5}"/>
              </a:ext>
            </a:extLst>
          </p:cNvPr>
          <p:cNvSpPr>
            <a:spLocks noGrp="1"/>
          </p:cNvSpPr>
          <p:nvPr>
            <p:ph idx="1"/>
          </p:nvPr>
        </p:nvSpPr>
        <p:spPr/>
        <p:txBody>
          <a:bodyPr/>
          <a:lstStyle/>
          <a:p>
            <a:endParaRPr lang="nl-NL" dirty="0"/>
          </a:p>
        </p:txBody>
      </p:sp>
      <p:pic>
        <p:nvPicPr>
          <p:cNvPr id="5" name="Afbeelding 4">
            <a:extLst>
              <a:ext uri="{FF2B5EF4-FFF2-40B4-BE49-F238E27FC236}">
                <a16:creationId xmlns:a16="http://schemas.microsoft.com/office/drawing/2014/main" id="{61D2BDE1-4914-18B1-87F8-DFA28B41C5EC}"/>
              </a:ext>
            </a:extLst>
          </p:cNvPr>
          <p:cNvPicPr>
            <a:picLocks noChangeAspect="1"/>
          </p:cNvPicPr>
          <p:nvPr/>
        </p:nvPicPr>
        <p:blipFill rotWithShape="1">
          <a:blip r:embed="rId3"/>
          <a:srcRect l="2444" t="25018" r="52275" b="5887"/>
          <a:stretch/>
        </p:blipFill>
        <p:spPr>
          <a:xfrm>
            <a:off x="155779" y="66782"/>
            <a:ext cx="5520648" cy="4738581"/>
          </a:xfrm>
          <a:prstGeom prst="rect">
            <a:avLst/>
          </a:prstGeom>
        </p:spPr>
      </p:pic>
      <p:pic>
        <p:nvPicPr>
          <p:cNvPr id="7" name="Afbeelding 6">
            <a:extLst>
              <a:ext uri="{FF2B5EF4-FFF2-40B4-BE49-F238E27FC236}">
                <a16:creationId xmlns:a16="http://schemas.microsoft.com/office/drawing/2014/main" id="{25A85E94-888E-68C8-247B-FFCA4425A9CA}"/>
              </a:ext>
            </a:extLst>
          </p:cNvPr>
          <p:cNvPicPr>
            <a:picLocks noChangeAspect="1"/>
          </p:cNvPicPr>
          <p:nvPr/>
        </p:nvPicPr>
        <p:blipFill rotWithShape="1">
          <a:blip r:embed="rId4"/>
          <a:srcRect l="34720" t="18576" r="4719" b="5324"/>
          <a:stretch/>
        </p:blipFill>
        <p:spPr>
          <a:xfrm>
            <a:off x="4823267" y="1572339"/>
            <a:ext cx="7383694" cy="5218879"/>
          </a:xfrm>
          <a:prstGeom prst="rect">
            <a:avLst/>
          </a:prstGeom>
        </p:spPr>
      </p:pic>
      <p:sp>
        <p:nvSpPr>
          <p:cNvPr id="9" name="Tekstvak 8">
            <a:extLst>
              <a:ext uri="{FF2B5EF4-FFF2-40B4-BE49-F238E27FC236}">
                <a16:creationId xmlns:a16="http://schemas.microsoft.com/office/drawing/2014/main" id="{1DF3D9C4-2508-FEE8-5D94-1FB0B2C9D52C}"/>
              </a:ext>
            </a:extLst>
          </p:cNvPr>
          <p:cNvSpPr txBox="1"/>
          <p:nvPr/>
        </p:nvSpPr>
        <p:spPr>
          <a:xfrm>
            <a:off x="266048" y="4884956"/>
            <a:ext cx="4446950" cy="1815882"/>
          </a:xfrm>
          <a:prstGeom prst="rect">
            <a:avLst/>
          </a:prstGeom>
          <a:noFill/>
        </p:spPr>
        <p:txBody>
          <a:bodyPr wrap="square">
            <a:spAutoFit/>
          </a:bodyPr>
          <a:lstStyle/>
          <a:p>
            <a:r>
              <a:rPr lang="nl-NL" sz="1600" b="0" i="0" dirty="0" err="1">
                <a:solidFill>
                  <a:srgbClr val="1B1B1B"/>
                </a:solidFill>
                <a:effectLst/>
                <a:latin typeface="Cambria" panose="02040503050406030204" pitchFamily="18" charset="0"/>
              </a:rPr>
              <a:t>Molecular</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characteristics</a:t>
            </a:r>
            <a:r>
              <a:rPr lang="nl-NL" sz="1600" b="0" i="0" dirty="0">
                <a:solidFill>
                  <a:srgbClr val="1B1B1B"/>
                </a:solidFill>
                <a:effectLst/>
                <a:latin typeface="Cambria" panose="02040503050406030204" pitchFamily="18" charset="0"/>
              </a:rPr>
              <a:t> of EcoCluster-023 </a:t>
            </a:r>
            <a:r>
              <a:rPr lang="nl-NL" sz="1600" b="0" i="0" dirty="0" err="1">
                <a:solidFill>
                  <a:srgbClr val="1B1B1B"/>
                </a:solidFill>
                <a:effectLst/>
                <a:latin typeface="Cambria" panose="02040503050406030204" pitchFamily="18" charset="0"/>
              </a:rPr>
              <a:t>isolates</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Plasmid-localized</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antimicrobial</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resistance</a:t>
            </a:r>
            <a:r>
              <a:rPr lang="nl-NL" sz="1600" b="0" i="0" dirty="0">
                <a:solidFill>
                  <a:srgbClr val="1B1B1B"/>
                </a:solidFill>
                <a:effectLst/>
                <a:latin typeface="Cambria" panose="02040503050406030204" pitchFamily="18" charset="0"/>
              </a:rPr>
              <a:t> (AMR) </a:t>
            </a:r>
            <a:r>
              <a:rPr lang="nl-NL" sz="1600" b="0" i="0" dirty="0" err="1">
                <a:solidFill>
                  <a:srgbClr val="1B1B1B"/>
                </a:solidFill>
                <a:effectLst/>
                <a:latin typeface="Cambria" panose="02040503050406030204" pitchFamily="18" charset="0"/>
              </a:rPr>
              <a:t>genes</a:t>
            </a:r>
            <a:r>
              <a:rPr lang="nl-NL" sz="1600" b="0" i="0" dirty="0">
                <a:solidFill>
                  <a:srgbClr val="1B1B1B"/>
                </a:solidFill>
                <a:effectLst/>
                <a:latin typeface="Cambria" panose="02040503050406030204" pitchFamily="18" charset="0"/>
              </a:rPr>
              <a:t> are </a:t>
            </a:r>
            <a:r>
              <a:rPr lang="nl-NL" sz="1600" b="0" i="0" dirty="0" err="1">
                <a:solidFill>
                  <a:srgbClr val="1B1B1B"/>
                </a:solidFill>
                <a:effectLst/>
                <a:latin typeface="Cambria" panose="02040503050406030204" pitchFamily="18" charset="0"/>
              </a:rPr>
              <a:t>indicated</a:t>
            </a:r>
            <a:r>
              <a:rPr lang="nl-NL" sz="1600" b="0" i="0" dirty="0">
                <a:solidFill>
                  <a:srgbClr val="1B1B1B"/>
                </a:solidFill>
                <a:effectLst/>
                <a:latin typeface="Cambria" panose="02040503050406030204" pitchFamily="18" charset="0"/>
              </a:rPr>
              <a:t> in blue, </a:t>
            </a:r>
            <a:r>
              <a:rPr lang="nl-NL" sz="1600" b="0" i="0" dirty="0" err="1">
                <a:solidFill>
                  <a:srgbClr val="1B1B1B"/>
                </a:solidFill>
                <a:effectLst/>
                <a:latin typeface="Cambria" panose="02040503050406030204" pitchFamily="18" charset="0"/>
              </a:rPr>
              <a:t>chromosomal</a:t>
            </a:r>
            <a:r>
              <a:rPr lang="nl-NL" sz="1600" b="0" i="0" dirty="0">
                <a:solidFill>
                  <a:srgbClr val="1B1B1B"/>
                </a:solidFill>
                <a:effectLst/>
                <a:latin typeface="Cambria" panose="02040503050406030204" pitchFamily="18" charset="0"/>
              </a:rPr>
              <a:t> in red, </a:t>
            </a:r>
            <a:r>
              <a:rPr lang="nl-NL" sz="1600" b="0" i="0" dirty="0" err="1">
                <a:solidFill>
                  <a:srgbClr val="1B1B1B"/>
                </a:solidFill>
                <a:effectLst/>
                <a:latin typeface="Cambria" panose="02040503050406030204" pitchFamily="18" charset="0"/>
              </a:rPr>
              <a:t>uropathogenicity</a:t>
            </a:r>
            <a:r>
              <a:rPr lang="nl-NL" sz="1600" b="0" i="0" dirty="0">
                <a:solidFill>
                  <a:srgbClr val="1B1B1B"/>
                </a:solidFill>
                <a:effectLst/>
                <a:latin typeface="Cambria" panose="02040503050406030204" pitchFamily="18" charset="0"/>
              </a:rPr>
              <a:t> factors in </a:t>
            </a:r>
            <a:r>
              <a:rPr lang="nl-NL" sz="1600" b="0" i="0" dirty="0" err="1">
                <a:solidFill>
                  <a:srgbClr val="1B1B1B"/>
                </a:solidFill>
                <a:effectLst/>
                <a:latin typeface="Cambria" panose="02040503050406030204" pitchFamily="18" charset="0"/>
              </a:rPr>
              <a:t>yellow</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other</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virulence</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and</a:t>
            </a:r>
            <a:r>
              <a:rPr lang="nl-NL" sz="1600" b="0" i="0" dirty="0">
                <a:solidFill>
                  <a:srgbClr val="1B1B1B"/>
                </a:solidFill>
                <a:effectLst/>
                <a:latin typeface="Cambria" panose="02040503050406030204" pitchFamily="18" charset="0"/>
              </a:rPr>
              <a:t> AMR </a:t>
            </a:r>
            <a:r>
              <a:rPr lang="nl-NL" sz="1600" b="0" i="0" dirty="0" err="1">
                <a:solidFill>
                  <a:srgbClr val="1B1B1B"/>
                </a:solidFill>
                <a:effectLst/>
                <a:latin typeface="Cambria" panose="02040503050406030204" pitchFamily="18" charset="0"/>
              </a:rPr>
              <a:t>determinants</a:t>
            </a:r>
            <a:r>
              <a:rPr lang="nl-NL" sz="1600" b="0" i="0" dirty="0">
                <a:solidFill>
                  <a:srgbClr val="1B1B1B"/>
                </a:solidFill>
                <a:effectLst/>
                <a:latin typeface="Cambria" panose="02040503050406030204" pitchFamily="18" charset="0"/>
              </a:rPr>
              <a:t> in black. </a:t>
            </a:r>
            <a:r>
              <a:rPr lang="nl-NL" sz="1600" b="0" i="0" dirty="0" err="1">
                <a:solidFill>
                  <a:srgbClr val="1B1B1B"/>
                </a:solidFill>
                <a:effectLst/>
                <a:latin typeface="Cambria" panose="02040503050406030204" pitchFamily="18" charset="0"/>
              </a:rPr>
              <a:t>Asterisks</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indicate</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genes</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implicated</a:t>
            </a:r>
            <a:r>
              <a:rPr lang="nl-NL" sz="1600" b="0" i="0" dirty="0">
                <a:solidFill>
                  <a:srgbClr val="1B1B1B"/>
                </a:solidFill>
                <a:effectLst/>
                <a:latin typeface="Cambria" panose="02040503050406030204" pitchFamily="18" charset="0"/>
              </a:rPr>
              <a:t> in </a:t>
            </a:r>
            <a:r>
              <a:rPr lang="nl-NL" sz="1600" b="0" i="0" dirty="0" err="1">
                <a:solidFill>
                  <a:srgbClr val="1B1B1B"/>
                </a:solidFill>
                <a:effectLst/>
                <a:latin typeface="Cambria" panose="02040503050406030204" pitchFamily="18" charset="0"/>
              </a:rPr>
              <a:t>uropathogenicity</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from</a:t>
            </a:r>
            <a:r>
              <a:rPr lang="nl-NL" sz="1600" b="0" i="0" dirty="0">
                <a:solidFill>
                  <a:srgbClr val="1B1B1B"/>
                </a:solidFill>
                <a:effectLst/>
                <a:latin typeface="Cambria" panose="02040503050406030204" pitchFamily="18" charset="0"/>
              </a:rPr>
              <a:t> </a:t>
            </a:r>
            <a:r>
              <a:rPr lang="nl-NL" sz="1600" b="0" i="0" dirty="0" err="1">
                <a:solidFill>
                  <a:srgbClr val="1B1B1B"/>
                </a:solidFill>
                <a:effectLst/>
                <a:latin typeface="Cambria" panose="02040503050406030204" pitchFamily="18" charset="0"/>
              </a:rPr>
              <a:t>Spurbeck</a:t>
            </a:r>
            <a:r>
              <a:rPr lang="nl-NL" sz="1600" b="0" i="0" dirty="0">
                <a:solidFill>
                  <a:srgbClr val="1B1B1B"/>
                </a:solidFill>
                <a:effectLst/>
                <a:latin typeface="Cambria" panose="02040503050406030204" pitchFamily="18" charset="0"/>
              </a:rPr>
              <a:t> </a:t>
            </a:r>
            <a:r>
              <a:rPr lang="nl-NL" sz="1600" b="0" i="1" dirty="0">
                <a:solidFill>
                  <a:srgbClr val="1B1B1B"/>
                </a:solidFill>
                <a:effectLst/>
                <a:latin typeface="Cambria" panose="02040503050406030204" pitchFamily="18" charset="0"/>
              </a:rPr>
              <a:t>et al.</a:t>
            </a:r>
            <a:endParaRPr lang="nl-NL" sz="1600" dirty="0"/>
          </a:p>
        </p:txBody>
      </p:sp>
    </p:spTree>
    <p:extLst>
      <p:ext uri="{BB962C8B-B14F-4D97-AF65-F5344CB8AC3E}">
        <p14:creationId xmlns:p14="http://schemas.microsoft.com/office/powerpoint/2010/main" val="1828833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a:extLst>
              <a:ext uri="{FF2B5EF4-FFF2-40B4-BE49-F238E27FC236}">
                <a16:creationId xmlns:a16="http://schemas.microsoft.com/office/drawing/2014/main" id="{8A2FCF07-6918-45A6-B28F-1025FEBA7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3644" cy="686133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E4DF7646-FC4B-1ED4-F029-EDBDFA6B8887}"/>
              </a:ext>
            </a:extLst>
          </p:cNvPr>
          <p:cNvSpPr>
            <a:spLocks noGrp="1"/>
          </p:cNvSpPr>
          <p:nvPr>
            <p:ph type="title"/>
          </p:nvPr>
        </p:nvSpPr>
        <p:spPr>
          <a:xfrm>
            <a:off x="484188" y="1122363"/>
            <a:ext cx="4908694" cy="2387600"/>
          </a:xfrm>
        </p:spPr>
        <p:txBody>
          <a:bodyPr vert="horz" lIns="91440" tIns="45720" rIns="91440" bIns="45720" rtlCol="0" anchor="ctr">
            <a:normAutofit/>
          </a:bodyPr>
          <a:lstStyle/>
          <a:p>
            <a:r>
              <a:rPr lang="en-US"/>
              <a:t>Vandaag</a:t>
            </a:r>
          </a:p>
        </p:txBody>
      </p:sp>
      <p:pic>
        <p:nvPicPr>
          <p:cNvPr id="5" name="Tijdelijke aanduiding voor inhoud 4" descr="Afbeelding met muur, overdekt, boek, kunst&#10;&#10;Automatisch gegenereerde beschrijving">
            <a:extLst>
              <a:ext uri="{FF2B5EF4-FFF2-40B4-BE49-F238E27FC236}">
                <a16:creationId xmlns:a16="http://schemas.microsoft.com/office/drawing/2014/main" id="{674AB0F9-D46B-3EDD-00EC-48437DE6A22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15415" r="42442" b="-1"/>
          <a:stretch/>
        </p:blipFill>
        <p:spPr>
          <a:xfrm rot="5400000">
            <a:off x="7421655" y="2090988"/>
            <a:ext cx="3432333" cy="6108356"/>
          </a:xfrm>
          <a:prstGeom prst="rect">
            <a:avLst/>
          </a:prstGeom>
        </p:spPr>
      </p:pic>
      <p:pic>
        <p:nvPicPr>
          <p:cNvPr id="7" name="Afbeelding 6" descr="Afbeelding met persoon, Menselijk gezicht, kleding, overdekt&#10;&#10;Automatisch gegenereerde beschrijving">
            <a:extLst>
              <a:ext uri="{FF2B5EF4-FFF2-40B4-BE49-F238E27FC236}">
                <a16:creationId xmlns:a16="http://schemas.microsoft.com/office/drawing/2014/main" id="{7AA79E4B-55FD-876F-130E-910D9A3C51F5}"/>
              </a:ext>
            </a:extLst>
          </p:cNvPr>
          <p:cNvPicPr>
            <a:picLocks noChangeAspect="1"/>
          </p:cNvPicPr>
          <p:nvPr/>
        </p:nvPicPr>
        <p:blipFill>
          <a:blip r:embed="rId4">
            <a:extLst>
              <a:ext uri="{28A0092B-C50C-407E-A947-70E740481C1C}">
                <a14:useLocalDpi xmlns:a14="http://schemas.microsoft.com/office/drawing/2010/main" val="0"/>
              </a:ext>
            </a:extLst>
          </a:blip>
          <a:srcRect t="1206" r="1" b="23873"/>
          <a:stretch/>
        </p:blipFill>
        <p:spPr>
          <a:xfrm>
            <a:off x="6083644" y="10"/>
            <a:ext cx="6108356" cy="3432323"/>
          </a:xfrm>
          <a:prstGeom prst="rect">
            <a:avLst/>
          </a:prstGeom>
        </p:spPr>
      </p:pic>
    </p:spTree>
    <p:extLst>
      <p:ext uri="{BB962C8B-B14F-4D97-AF65-F5344CB8AC3E}">
        <p14:creationId xmlns:p14="http://schemas.microsoft.com/office/powerpoint/2010/main" val="4062472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F67DB8-BF19-29AF-EBC3-BB348F6E4EDA}"/>
              </a:ext>
            </a:extLst>
          </p:cNvPr>
          <p:cNvSpPr>
            <a:spLocks noGrp="1"/>
          </p:cNvSpPr>
          <p:nvPr>
            <p:ph type="title"/>
          </p:nvPr>
        </p:nvSpPr>
        <p:spPr/>
        <p:txBody>
          <a:bodyPr/>
          <a:lstStyle/>
          <a:p>
            <a:endParaRPr lang="nl-NL" dirty="0"/>
          </a:p>
        </p:txBody>
      </p:sp>
      <p:pic>
        <p:nvPicPr>
          <p:cNvPr id="7" name="Content Placeholder 6">
            <a:extLst>
              <a:ext uri="{FF2B5EF4-FFF2-40B4-BE49-F238E27FC236}">
                <a16:creationId xmlns:a16="http://schemas.microsoft.com/office/drawing/2014/main" id="{26147FAE-B0D3-2482-7505-5DB7D76E1DC2}"/>
              </a:ext>
            </a:extLst>
          </p:cNvPr>
          <p:cNvPicPr>
            <a:picLocks noGrp="1" noChangeAspect="1"/>
            <a:extLst>
              <a:ext uri="{51228E76-BA90-4043-B771-695A4F85340A}">
                <alf:liveFeedProps xmlns:alf="http://schemas.microsoft.com/office/drawing/2021/livefeed"/>
              </a:ext>
            </a:extLst>
          </p:cNvPicPr>
          <p:nvPr>
            <p:ph idx="1"/>
          </p:nvPr>
        </p:nvPicPr>
        <p:blipFill>
          <a:blip r:embed="rId3">
            <a:extLst>
              <a:ext uri="{96DAC541-7B7A-43D3-8B79-37D633B846F1}">
                <asvg:svgBlip xmlns:asvg="http://schemas.microsoft.com/office/drawing/2016/SVG/main" r:embed="rId4"/>
              </a:ext>
            </a:extLst>
          </a:blip>
          <a:stretch>
            <a:fillRect/>
          </a:stretch>
        </p:blipFill>
        <p:spPr/>
      </p:pic>
      <p:graphicFrame>
        <p:nvGraphicFramePr>
          <p:cNvPr id="8" name="Tabel 7">
            <a:extLst>
              <a:ext uri="{FF2B5EF4-FFF2-40B4-BE49-F238E27FC236}">
                <a16:creationId xmlns:a16="http://schemas.microsoft.com/office/drawing/2014/main" id="{A2893924-F3AA-3231-91E5-C3D69E7F70AF}"/>
              </a:ext>
            </a:extLst>
          </p:cNvPr>
          <p:cNvGraphicFramePr>
            <a:graphicFrameLocks noGrp="1"/>
          </p:cNvGraphicFramePr>
          <p:nvPr>
            <p:extLst>
              <p:ext uri="{D42A27DB-BD31-4B8C-83A1-F6EECF244321}">
                <p14:modId xmlns:p14="http://schemas.microsoft.com/office/powerpoint/2010/main" val="3580587448"/>
              </p:ext>
            </p:extLst>
          </p:nvPr>
        </p:nvGraphicFramePr>
        <p:xfrm>
          <a:off x="6306941" y="365125"/>
          <a:ext cx="5769952" cy="5734177"/>
        </p:xfrm>
        <a:graphic>
          <a:graphicData uri="http://schemas.openxmlformats.org/drawingml/2006/table">
            <a:tbl>
              <a:tblPr firstRow="1" firstCol="1" bandRow="1">
                <a:tableStyleId>{5C22544A-7EE6-4342-B048-85BDC9FD1C3A}</a:tableStyleId>
              </a:tblPr>
              <a:tblGrid>
                <a:gridCol w="939685">
                  <a:extLst>
                    <a:ext uri="{9D8B030D-6E8A-4147-A177-3AD203B41FA5}">
                      <a16:colId xmlns:a16="http://schemas.microsoft.com/office/drawing/2014/main" val="1081488675"/>
                    </a:ext>
                  </a:extLst>
                </a:gridCol>
                <a:gridCol w="2657485">
                  <a:extLst>
                    <a:ext uri="{9D8B030D-6E8A-4147-A177-3AD203B41FA5}">
                      <a16:colId xmlns:a16="http://schemas.microsoft.com/office/drawing/2014/main" val="1929794556"/>
                    </a:ext>
                  </a:extLst>
                </a:gridCol>
                <a:gridCol w="747433">
                  <a:extLst>
                    <a:ext uri="{9D8B030D-6E8A-4147-A177-3AD203B41FA5}">
                      <a16:colId xmlns:a16="http://schemas.microsoft.com/office/drawing/2014/main" val="730612354"/>
                    </a:ext>
                  </a:extLst>
                </a:gridCol>
                <a:gridCol w="541758">
                  <a:extLst>
                    <a:ext uri="{9D8B030D-6E8A-4147-A177-3AD203B41FA5}">
                      <a16:colId xmlns:a16="http://schemas.microsoft.com/office/drawing/2014/main" val="3738613621"/>
                    </a:ext>
                  </a:extLst>
                </a:gridCol>
                <a:gridCol w="883591">
                  <a:extLst>
                    <a:ext uri="{9D8B030D-6E8A-4147-A177-3AD203B41FA5}">
                      <a16:colId xmlns:a16="http://schemas.microsoft.com/office/drawing/2014/main" val="176726041"/>
                    </a:ext>
                  </a:extLst>
                </a:gridCol>
              </a:tblGrid>
              <a:tr h="400527">
                <a:tc>
                  <a:txBody>
                    <a:bodyPr/>
                    <a:lstStyle/>
                    <a:p>
                      <a:pPr>
                        <a:lnSpc>
                          <a:spcPct val="107000"/>
                        </a:lnSpc>
                        <a:spcAft>
                          <a:spcPts val="800"/>
                        </a:spcAft>
                      </a:pPr>
                      <a:r>
                        <a:rPr lang="nl-NL" sz="1200">
                          <a:effectLst/>
                        </a:rPr>
                        <a:t>PUF abbreviation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dirty="0">
                          <a:effectLst/>
                        </a:rPr>
                        <a:t>Overall, n (%)</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dirty="0">
                          <a:effectLst/>
                        </a:rPr>
                        <a:t>UTI </a:t>
                      </a:r>
                      <a:r>
                        <a:rPr lang="nl-NL" sz="1200" dirty="0" err="1">
                          <a:effectLst/>
                        </a:rPr>
                        <a:t>group</a:t>
                      </a:r>
                      <a:r>
                        <a:rPr lang="nl-NL" sz="1200" dirty="0">
                          <a:effectLst/>
                        </a:rPr>
                        <a:t>, n  (%)</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dirty="0">
                          <a:effectLst/>
                        </a:rPr>
                        <a:t>ASB </a:t>
                      </a:r>
                      <a:r>
                        <a:rPr lang="nl-NL" sz="1200" dirty="0" err="1">
                          <a:effectLst/>
                        </a:rPr>
                        <a:t>group</a:t>
                      </a:r>
                      <a:r>
                        <a:rPr lang="nl-NL" sz="1200" dirty="0">
                          <a:effectLst/>
                        </a:rPr>
                        <a:t>, n  (%)</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715112354"/>
                  </a:ext>
                </a:extLst>
              </a:tr>
              <a:tr h="187992">
                <a:tc>
                  <a:txBody>
                    <a:bodyPr/>
                    <a:lstStyle/>
                    <a:p>
                      <a:pPr>
                        <a:lnSpc>
                          <a:spcPct val="107000"/>
                        </a:lnSpc>
                        <a:spcAft>
                          <a:spcPts val="800"/>
                        </a:spcAft>
                      </a:pPr>
                      <a:r>
                        <a:rPr lang="nl-NL" sz="1200" dirty="0" err="1">
                          <a:effectLst/>
                        </a:rPr>
                        <a:t>iha</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Nonhemagglutinin adhesin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10 (22)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4 (13)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dirty="0">
                          <a:effectLst/>
                        </a:rPr>
                        <a:t>6 (40)</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311888153"/>
                  </a:ext>
                </a:extLst>
              </a:tr>
              <a:tr h="385266">
                <a:tc>
                  <a:txBody>
                    <a:bodyPr/>
                    <a:lstStyle/>
                    <a:p>
                      <a:pPr>
                        <a:lnSpc>
                          <a:spcPct val="107000"/>
                        </a:lnSpc>
                        <a:spcAft>
                          <a:spcPts val="800"/>
                        </a:spcAft>
                      </a:pPr>
                      <a:r>
                        <a:rPr lang="nl-NL" sz="1200">
                          <a:effectLst/>
                        </a:rPr>
                        <a:t>ireA</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Iron-regulated element (siderophore receptor)</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4 (9)</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3 (10)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dirty="0">
                          <a:effectLst/>
                        </a:rPr>
                        <a:t>1 (7)</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827042367"/>
                  </a:ext>
                </a:extLst>
              </a:tr>
              <a:tr h="187992">
                <a:tc>
                  <a:txBody>
                    <a:bodyPr/>
                    <a:lstStyle/>
                    <a:p>
                      <a:pPr>
                        <a:lnSpc>
                          <a:spcPct val="107000"/>
                        </a:lnSpc>
                        <a:spcAft>
                          <a:spcPts val="800"/>
                        </a:spcAft>
                      </a:pPr>
                      <a:r>
                        <a:rPr lang="nl-NL" sz="1200">
                          <a:effectLst/>
                        </a:rPr>
                        <a:t>iroN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Salmochelin siderophore receptor</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23 (50)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17 (55)</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6 (40)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4387945"/>
                  </a:ext>
                </a:extLst>
              </a:tr>
              <a:tr h="187992">
                <a:tc>
                  <a:txBody>
                    <a:bodyPr/>
                    <a:lstStyle/>
                    <a:p>
                      <a:pPr>
                        <a:lnSpc>
                          <a:spcPct val="107000"/>
                        </a:lnSpc>
                        <a:spcAft>
                          <a:spcPts val="800"/>
                        </a:spcAft>
                      </a:pPr>
                      <a:r>
                        <a:rPr lang="nl-NL" sz="1200">
                          <a:effectLst/>
                        </a:rPr>
                        <a:t>irp2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Yersinia biosynthetic protein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ctr"/>
                </a:tc>
                <a:tc>
                  <a:txBody>
                    <a:bodyPr/>
                    <a:lstStyle/>
                    <a:p>
                      <a:pPr algn="r">
                        <a:lnSpc>
                          <a:spcPct val="107000"/>
                        </a:lnSpc>
                        <a:spcAft>
                          <a:spcPts val="800"/>
                        </a:spcAft>
                      </a:pPr>
                      <a:r>
                        <a:rPr lang="nl-NL" sz="1200">
                          <a:effectLst/>
                        </a:rPr>
                        <a:t>36 (78)</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23 (74)</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 13 (87)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3804154773"/>
                  </a:ext>
                </a:extLst>
              </a:tr>
              <a:tr h="187992">
                <a:tc>
                  <a:txBody>
                    <a:bodyPr/>
                    <a:lstStyle/>
                    <a:p>
                      <a:pPr>
                        <a:lnSpc>
                          <a:spcPct val="107000"/>
                        </a:lnSpc>
                        <a:spcAft>
                          <a:spcPts val="800"/>
                        </a:spcAft>
                      </a:pPr>
                      <a:r>
                        <a:rPr lang="nl-NL" sz="1200">
                          <a:effectLst/>
                        </a:rPr>
                        <a:t>iucc</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Aerobactin biosynthetic protein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14 (30)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7 (23)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7 (47)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341691990"/>
                  </a:ext>
                </a:extLst>
              </a:tr>
              <a:tr h="187992">
                <a:tc>
                  <a:txBody>
                    <a:bodyPr/>
                    <a:lstStyle/>
                    <a:p>
                      <a:pPr>
                        <a:lnSpc>
                          <a:spcPct val="107000"/>
                        </a:lnSpc>
                        <a:spcAft>
                          <a:spcPts val="800"/>
                        </a:spcAft>
                      </a:pPr>
                      <a:r>
                        <a:rPr lang="nl-NL" sz="1200">
                          <a:effectLst/>
                        </a:rPr>
                        <a:t>iutA</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Ferric aerobactin receptor</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4 (9)</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3 (10)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 (7)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072243897"/>
                  </a:ext>
                </a:extLst>
              </a:tr>
              <a:tr h="385266">
                <a:tc>
                  <a:txBody>
                    <a:bodyPr/>
                    <a:lstStyle/>
                    <a:p>
                      <a:pPr>
                        <a:lnSpc>
                          <a:spcPct val="107000"/>
                        </a:lnSpc>
                        <a:spcAft>
                          <a:spcPts val="800"/>
                        </a:spcAft>
                      </a:pPr>
                      <a:r>
                        <a:rPr lang="nl-NL" sz="1200">
                          <a:effectLst/>
                        </a:rPr>
                        <a:t>malX</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Marker of pathogenicity-associated island</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ctr"/>
                </a:tc>
                <a:tc>
                  <a:txBody>
                    <a:bodyPr/>
                    <a:lstStyle/>
                    <a:p>
                      <a:pPr algn="r">
                        <a:lnSpc>
                          <a:spcPct val="107000"/>
                        </a:lnSpc>
                        <a:spcAft>
                          <a:spcPts val="800"/>
                        </a:spcAft>
                      </a:pPr>
                      <a:r>
                        <a:rPr lang="nl-NL" sz="1200">
                          <a:effectLst/>
                        </a:rPr>
                        <a:t>29 (63)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19 (61)</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dirty="0">
                          <a:effectLst/>
                        </a:rPr>
                        <a:t>10 (67)</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673207182"/>
                  </a:ext>
                </a:extLst>
              </a:tr>
              <a:tr h="187992">
                <a:tc>
                  <a:txBody>
                    <a:bodyPr/>
                    <a:lstStyle/>
                    <a:p>
                      <a:pPr>
                        <a:lnSpc>
                          <a:spcPct val="107000"/>
                        </a:lnSpc>
                        <a:spcAft>
                          <a:spcPts val="800"/>
                        </a:spcAft>
                      </a:pPr>
                      <a:r>
                        <a:rPr lang="nl-NL" sz="1200">
                          <a:effectLst/>
                        </a:rPr>
                        <a:t>ompT</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Outer membrane protein T (protease)</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39 (85)</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25 (81)</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14 (93)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459931040"/>
                  </a:ext>
                </a:extLst>
              </a:tr>
              <a:tr h="385266">
                <a:tc>
                  <a:txBody>
                    <a:bodyPr/>
                    <a:lstStyle/>
                    <a:p>
                      <a:pPr>
                        <a:lnSpc>
                          <a:spcPct val="107000"/>
                        </a:lnSpc>
                        <a:spcAft>
                          <a:spcPts val="800"/>
                        </a:spcAft>
                      </a:pPr>
                      <a:r>
                        <a:rPr lang="nl-NL" sz="1200">
                          <a:effectLst/>
                        </a:rPr>
                        <a:t>papG2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P pili adhesin - Pyelonephritis-associated papG variant</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ctr"/>
                </a:tc>
                <a:tc>
                  <a:txBody>
                    <a:bodyPr/>
                    <a:lstStyle/>
                    <a:p>
                      <a:pPr algn="r">
                        <a:lnSpc>
                          <a:spcPct val="107000"/>
                        </a:lnSpc>
                        <a:spcAft>
                          <a:spcPts val="800"/>
                        </a:spcAft>
                      </a:pPr>
                      <a:r>
                        <a:rPr lang="nl-NL" sz="1200">
                          <a:effectLst/>
                        </a:rPr>
                        <a:t>16 (35)</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11 (35)</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dirty="0">
                          <a:effectLst/>
                        </a:rPr>
                        <a:t>5 (33)</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820979555"/>
                  </a:ext>
                </a:extLst>
              </a:tr>
              <a:tr h="385266">
                <a:tc>
                  <a:txBody>
                    <a:bodyPr/>
                    <a:lstStyle/>
                    <a:p>
                      <a:pPr>
                        <a:lnSpc>
                          <a:spcPct val="107000"/>
                        </a:lnSpc>
                        <a:spcAft>
                          <a:spcPts val="800"/>
                        </a:spcAft>
                      </a:pPr>
                      <a:r>
                        <a:rPr lang="nl-NL" sz="1200">
                          <a:effectLst/>
                        </a:rPr>
                        <a:t>PapG3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P pili adhesin - Cystitis-associated papG variant</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16 (35)</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11 (35)</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5 (33)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28129880"/>
                  </a:ext>
                </a:extLst>
              </a:tr>
              <a:tr h="385266">
                <a:tc>
                  <a:txBody>
                    <a:bodyPr/>
                    <a:lstStyle/>
                    <a:p>
                      <a:pPr>
                        <a:lnSpc>
                          <a:spcPct val="107000"/>
                        </a:lnSpc>
                        <a:spcAft>
                          <a:spcPts val="800"/>
                        </a:spcAft>
                      </a:pPr>
                      <a:r>
                        <a:rPr lang="nl-NL" sz="1200">
                          <a:effectLst/>
                        </a:rPr>
                        <a:t>picU</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Protein involved in Intestinal Colonization -  serine protease</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8 (17)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6 (19)</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 (13)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895921972"/>
                  </a:ext>
                </a:extLst>
              </a:tr>
              <a:tr h="187992">
                <a:tc>
                  <a:txBody>
                    <a:bodyPr/>
                    <a:lstStyle/>
                    <a:p>
                      <a:pPr>
                        <a:lnSpc>
                          <a:spcPct val="107000"/>
                        </a:lnSpc>
                        <a:spcAft>
                          <a:spcPts val="800"/>
                        </a:spcAft>
                      </a:pPr>
                      <a:r>
                        <a:rPr lang="nl-NL" sz="1200">
                          <a:effectLst/>
                        </a:rPr>
                        <a:t>sat</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Secreted autotransporter toxin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9 (20)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4 (13)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5 (33)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055146980"/>
                  </a:ext>
                </a:extLst>
              </a:tr>
              <a:tr h="187992">
                <a:tc>
                  <a:txBody>
                    <a:bodyPr/>
                    <a:lstStyle/>
                    <a:p>
                      <a:pPr>
                        <a:lnSpc>
                          <a:spcPct val="107000"/>
                        </a:lnSpc>
                        <a:spcAft>
                          <a:spcPts val="800"/>
                        </a:spcAft>
                      </a:pPr>
                      <a:r>
                        <a:rPr lang="nl-NL" sz="1200">
                          <a:effectLst/>
                        </a:rPr>
                        <a:t>SfaH</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S pili adhesin (marker for sfa operon)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ctr"/>
                </a:tc>
                <a:tc>
                  <a:txBody>
                    <a:bodyPr/>
                    <a:lstStyle/>
                    <a:p>
                      <a:pPr algn="r">
                        <a:lnSpc>
                          <a:spcPct val="107000"/>
                        </a:lnSpc>
                        <a:spcAft>
                          <a:spcPts val="800"/>
                        </a:spcAft>
                      </a:pPr>
                      <a:r>
                        <a:rPr lang="nl-NL" sz="1200">
                          <a:effectLst/>
                        </a:rPr>
                        <a:t>11 (24)</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10 (32)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dirty="0">
                          <a:effectLst/>
                        </a:rPr>
                        <a:t>1 (7)</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3971818088"/>
                  </a:ext>
                </a:extLst>
              </a:tr>
              <a:tr h="187992">
                <a:tc>
                  <a:txBody>
                    <a:bodyPr/>
                    <a:lstStyle/>
                    <a:p>
                      <a:pPr>
                        <a:lnSpc>
                          <a:spcPct val="107000"/>
                        </a:lnSpc>
                        <a:spcAft>
                          <a:spcPts val="800"/>
                        </a:spcAft>
                      </a:pPr>
                      <a:r>
                        <a:rPr lang="nl-NL" sz="1200">
                          <a:effectLst/>
                        </a:rPr>
                        <a:t>sitA</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Periplasmic iron transport </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38 (83)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24 (77)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dirty="0">
                          <a:effectLst/>
                        </a:rPr>
                        <a:t> 14 (93)</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4144774274"/>
                  </a:ext>
                </a:extLst>
              </a:tr>
              <a:tr h="385266">
                <a:tc>
                  <a:txBody>
                    <a:bodyPr/>
                    <a:lstStyle/>
                    <a:p>
                      <a:pPr>
                        <a:lnSpc>
                          <a:spcPct val="107000"/>
                        </a:lnSpc>
                        <a:spcAft>
                          <a:spcPts val="800"/>
                        </a:spcAft>
                      </a:pPr>
                      <a:r>
                        <a:rPr lang="nl-NL" sz="1200">
                          <a:effectLst/>
                        </a:rPr>
                        <a:t>traT</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Temperature-sensitive hemagglutinin - serine protease</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21 (46)</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13 (42)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8 (53)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4015726104"/>
                  </a:ext>
                </a:extLst>
              </a:tr>
              <a:tr h="187992">
                <a:tc>
                  <a:txBody>
                    <a:bodyPr/>
                    <a:lstStyle/>
                    <a:p>
                      <a:pPr>
                        <a:lnSpc>
                          <a:spcPct val="107000"/>
                        </a:lnSpc>
                        <a:spcAft>
                          <a:spcPts val="800"/>
                        </a:spcAft>
                      </a:pPr>
                      <a:r>
                        <a:rPr lang="nl-NL" sz="1200">
                          <a:effectLst/>
                        </a:rPr>
                        <a:t>tsH</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Surface exclusion (toxin)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26 (57)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18 (58)</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 8 (53)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385265858"/>
                  </a:ext>
                </a:extLst>
              </a:tr>
              <a:tr h="385266">
                <a:tc>
                  <a:txBody>
                    <a:bodyPr/>
                    <a:lstStyle/>
                    <a:p>
                      <a:pPr>
                        <a:lnSpc>
                          <a:spcPct val="107000"/>
                        </a:lnSpc>
                        <a:spcAft>
                          <a:spcPts val="800"/>
                        </a:spcAft>
                      </a:pPr>
                      <a:r>
                        <a:rPr lang="nl-NL" sz="1200">
                          <a:effectLst/>
                        </a:rPr>
                        <a:t>usp</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Uropathogenic-Specific Protein (bacteriocin)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30 (65)</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20 (65)</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10 (67)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3188955963"/>
                  </a:ext>
                </a:extLst>
              </a:tr>
              <a:tr h="385266">
                <a:tc>
                  <a:txBody>
                    <a:bodyPr/>
                    <a:lstStyle/>
                    <a:p>
                      <a:pPr>
                        <a:lnSpc>
                          <a:spcPct val="107000"/>
                        </a:lnSpc>
                        <a:spcAft>
                          <a:spcPts val="800"/>
                        </a:spcAft>
                      </a:pPr>
                      <a:r>
                        <a:rPr lang="nl-NL" sz="1200">
                          <a:effectLst/>
                        </a:rPr>
                        <a:t>vat</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Vacolating autotransporter - serine protease (toxin)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26 (57)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18 (58)</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dirty="0">
                          <a:effectLst/>
                        </a:rPr>
                        <a:t>8 (53)</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469771227"/>
                  </a:ext>
                </a:extLst>
              </a:tr>
            </a:tbl>
          </a:graphicData>
        </a:graphic>
      </p:graphicFrame>
      <p:sp>
        <p:nvSpPr>
          <p:cNvPr id="9" name="Rectangle 2">
            <a:extLst>
              <a:ext uri="{FF2B5EF4-FFF2-40B4-BE49-F238E27FC236}">
                <a16:creationId xmlns:a16="http://schemas.microsoft.com/office/drawing/2014/main" id="{FF2EAB9A-475F-7898-95B5-91FE284FD74C}"/>
              </a:ext>
            </a:extLst>
          </p:cNvPr>
          <p:cNvSpPr>
            <a:spLocks noChangeArrowheads="1"/>
          </p:cNvSpPr>
          <p:nvPr/>
        </p:nvSpPr>
        <p:spPr bwMode="auto">
          <a:xfrm>
            <a:off x="-4831223" y="2274296"/>
            <a:ext cx="21169773" cy="754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nl-NL"/>
          </a:p>
        </p:txBody>
      </p:sp>
      <p:graphicFrame>
        <p:nvGraphicFramePr>
          <p:cNvPr id="10" name="Tabel 9">
            <a:extLst>
              <a:ext uri="{FF2B5EF4-FFF2-40B4-BE49-F238E27FC236}">
                <a16:creationId xmlns:a16="http://schemas.microsoft.com/office/drawing/2014/main" id="{4838C213-E43E-83B3-6742-83242BE352A1}"/>
              </a:ext>
            </a:extLst>
          </p:cNvPr>
          <p:cNvGraphicFramePr>
            <a:graphicFrameLocks noGrp="1"/>
          </p:cNvGraphicFramePr>
          <p:nvPr>
            <p:extLst>
              <p:ext uri="{D42A27DB-BD31-4B8C-83A1-F6EECF244321}">
                <p14:modId xmlns:p14="http://schemas.microsoft.com/office/powerpoint/2010/main" val="3955873988"/>
              </p:ext>
            </p:extLst>
          </p:nvPr>
        </p:nvGraphicFramePr>
        <p:xfrm>
          <a:off x="152400" y="598488"/>
          <a:ext cx="5549899" cy="5478926"/>
        </p:xfrm>
        <a:graphic>
          <a:graphicData uri="http://schemas.openxmlformats.org/drawingml/2006/table">
            <a:tbl>
              <a:tblPr firstRow="1" firstCol="1" bandRow="1">
                <a:tableStyleId>{5C22544A-7EE6-4342-B048-85BDC9FD1C3A}</a:tableStyleId>
              </a:tblPr>
              <a:tblGrid>
                <a:gridCol w="903848">
                  <a:extLst>
                    <a:ext uri="{9D8B030D-6E8A-4147-A177-3AD203B41FA5}">
                      <a16:colId xmlns:a16="http://schemas.microsoft.com/office/drawing/2014/main" val="1081488675"/>
                    </a:ext>
                  </a:extLst>
                </a:gridCol>
                <a:gridCol w="2556135">
                  <a:extLst>
                    <a:ext uri="{9D8B030D-6E8A-4147-A177-3AD203B41FA5}">
                      <a16:colId xmlns:a16="http://schemas.microsoft.com/office/drawing/2014/main" val="1929794556"/>
                    </a:ext>
                  </a:extLst>
                </a:gridCol>
                <a:gridCol w="718927">
                  <a:extLst>
                    <a:ext uri="{9D8B030D-6E8A-4147-A177-3AD203B41FA5}">
                      <a16:colId xmlns:a16="http://schemas.microsoft.com/office/drawing/2014/main" val="730612354"/>
                    </a:ext>
                  </a:extLst>
                </a:gridCol>
                <a:gridCol w="521096">
                  <a:extLst>
                    <a:ext uri="{9D8B030D-6E8A-4147-A177-3AD203B41FA5}">
                      <a16:colId xmlns:a16="http://schemas.microsoft.com/office/drawing/2014/main" val="3738613621"/>
                    </a:ext>
                  </a:extLst>
                </a:gridCol>
                <a:gridCol w="849893">
                  <a:extLst>
                    <a:ext uri="{9D8B030D-6E8A-4147-A177-3AD203B41FA5}">
                      <a16:colId xmlns:a16="http://schemas.microsoft.com/office/drawing/2014/main" val="176726041"/>
                    </a:ext>
                  </a:extLst>
                </a:gridCol>
              </a:tblGrid>
              <a:tr h="778726">
                <a:tc>
                  <a:txBody>
                    <a:bodyPr/>
                    <a:lstStyle/>
                    <a:p>
                      <a:pPr>
                        <a:lnSpc>
                          <a:spcPct val="107000"/>
                        </a:lnSpc>
                        <a:spcAft>
                          <a:spcPts val="800"/>
                        </a:spcAft>
                      </a:pPr>
                      <a:r>
                        <a:rPr lang="nl-NL" sz="1200" dirty="0">
                          <a:effectLst/>
                        </a:rPr>
                        <a:t>PUF </a:t>
                      </a:r>
                      <a:r>
                        <a:rPr lang="nl-NL" sz="1200" dirty="0" err="1">
                          <a:effectLst/>
                        </a:rPr>
                        <a:t>abbreviation</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PUF description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dirty="0">
                          <a:effectLst/>
                        </a:rPr>
                        <a:t>Overall, n (%)</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dirty="0">
                          <a:effectLst/>
                        </a:rPr>
                        <a:t>UTI </a:t>
                      </a:r>
                      <a:r>
                        <a:rPr lang="nl-NL" sz="1200" dirty="0" err="1">
                          <a:effectLst/>
                        </a:rPr>
                        <a:t>group</a:t>
                      </a:r>
                      <a:r>
                        <a:rPr lang="nl-NL" sz="1200" dirty="0">
                          <a:effectLst/>
                        </a:rPr>
                        <a:t>, n  (%)</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dirty="0">
                          <a:effectLst/>
                        </a:rPr>
                        <a:t>ASB </a:t>
                      </a:r>
                      <a:r>
                        <a:rPr lang="nl-NL" sz="1200" dirty="0" err="1">
                          <a:effectLst/>
                        </a:rPr>
                        <a:t>group</a:t>
                      </a:r>
                      <a:r>
                        <a:rPr lang="nl-NL" sz="1200" dirty="0">
                          <a:effectLst/>
                        </a:rPr>
                        <a:t>, n  (%)</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715112354"/>
                  </a:ext>
                </a:extLst>
              </a:tr>
              <a:tr h="251305">
                <a:tc>
                  <a:txBody>
                    <a:bodyPr/>
                    <a:lstStyle/>
                    <a:p>
                      <a:pPr>
                        <a:lnSpc>
                          <a:spcPct val="107000"/>
                        </a:lnSpc>
                        <a:spcAft>
                          <a:spcPts val="800"/>
                        </a:spcAft>
                      </a:pPr>
                      <a:r>
                        <a:rPr lang="nl-NL" sz="1200">
                          <a:effectLst/>
                        </a:rPr>
                        <a:t>bmaE</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Blood group M-specific adhesin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0 (0)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0 (0)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0 (0)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596632717"/>
                  </a:ext>
                </a:extLst>
              </a:tr>
              <a:tr h="251305">
                <a:tc>
                  <a:txBody>
                    <a:bodyPr/>
                    <a:lstStyle/>
                    <a:p>
                      <a:pPr>
                        <a:lnSpc>
                          <a:spcPct val="107000"/>
                        </a:lnSpc>
                        <a:spcAft>
                          <a:spcPts val="800"/>
                        </a:spcAft>
                      </a:pPr>
                      <a:r>
                        <a:rPr lang="nl-NL" sz="1200">
                          <a:effectLst/>
                        </a:rPr>
                        <a:t>cdtB</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Cytolethal distending toxin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 (2)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 (3)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 0 (0)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4029858552"/>
                  </a:ext>
                </a:extLst>
              </a:tr>
              <a:tr h="251305">
                <a:tc>
                  <a:txBody>
                    <a:bodyPr/>
                    <a:lstStyle/>
                    <a:p>
                      <a:pPr>
                        <a:lnSpc>
                          <a:spcPct val="107000"/>
                        </a:lnSpc>
                        <a:spcAft>
                          <a:spcPts val="800"/>
                        </a:spcAft>
                      </a:pPr>
                      <a:r>
                        <a:rPr lang="nl-NL" sz="1200">
                          <a:effectLst/>
                        </a:rPr>
                        <a:t>chuA</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Heme binding outer membrane</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ctr"/>
                </a:tc>
                <a:tc>
                  <a:txBody>
                    <a:bodyPr/>
                    <a:lstStyle/>
                    <a:p>
                      <a:pPr algn="r">
                        <a:lnSpc>
                          <a:spcPct val="107000"/>
                        </a:lnSpc>
                        <a:spcAft>
                          <a:spcPts val="800"/>
                        </a:spcAft>
                      </a:pPr>
                      <a:r>
                        <a:rPr lang="nl-NL" sz="1200">
                          <a:effectLst/>
                        </a:rPr>
                        <a:t>37 (80)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24 (77)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13 (87)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66730256"/>
                  </a:ext>
                </a:extLst>
              </a:tr>
              <a:tr h="251305">
                <a:tc>
                  <a:txBody>
                    <a:bodyPr/>
                    <a:lstStyle/>
                    <a:p>
                      <a:pPr>
                        <a:lnSpc>
                          <a:spcPct val="107000"/>
                        </a:lnSpc>
                        <a:spcAft>
                          <a:spcPts val="800"/>
                        </a:spcAft>
                      </a:pPr>
                      <a:r>
                        <a:rPr lang="nl-NL" sz="1200">
                          <a:effectLst/>
                        </a:rPr>
                        <a:t>cnf1</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Cytotoxic necrotizing factor 1 (toxin)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12 (26)</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10 (32)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 (13)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610217291"/>
                  </a:ext>
                </a:extLst>
              </a:tr>
              <a:tr h="251305">
                <a:tc>
                  <a:txBody>
                    <a:bodyPr/>
                    <a:lstStyle/>
                    <a:p>
                      <a:pPr>
                        <a:lnSpc>
                          <a:spcPct val="107000"/>
                        </a:lnSpc>
                        <a:spcAft>
                          <a:spcPts val="800"/>
                        </a:spcAft>
                      </a:pPr>
                      <a:r>
                        <a:rPr lang="nl-NL" sz="1200">
                          <a:effectLst/>
                        </a:rPr>
                        <a:t>cvaC</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Colicin V</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6 (13)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5 (16)</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 (7)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823871138"/>
                  </a:ext>
                </a:extLst>
              </a:tr>
              <a:tr h="251305">
                <a:tc>
                  <a:txBody>
                    <a:bodyPr/>
                    <a:lstStyle/>
                    <a:p>
                      <a:pPr>
                        <a:lnSpc>
                          <a:spcPct val="107000"/>
                        </a:lnSpc>
                        <a:spcAft>
                          <a:spcPts val="800"/>
                        </a:spcAft>
                      </a:pPr>
                      <a:r>
                        <a:rPr lang="nl-NL" sz="1200">
                          <a:effectLst/>
                        </a:rPr>
                        <a:t>draB</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Dr antigen-specific adhesin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0 (0)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0 (0)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0 (0)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105136830"/>
                  </a:ext>
                </a:extLst>
              </a:tr>
              <a:tr h="515015">
                <a:tc>
                  <a:txBody>
                    <a:bodyPr/>
                    <a:lstStyle/>
                    <a:p>
                      <a:pPr>
                        <a:lnSpc>
                          <a:spcPct val="107000"/>
                        </a:lnSpc>
                        <a:spcAft>
                          <a:spcPts val="800"/>
                        </a:spcAft>
                      </a:pPr>
                      <a:r>
                        <a:rPr lang="nl-NL" sz="1200">
                          <a:effectLst/>
                        </a:rPr>
                        <a:t>feoB</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Ferrous iron transport</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46 (100)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31 (100)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dirty="0">
                          <a:effectLst/>
                        </a:rPr>
                        <a:t>15 (100)</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894570141"/>
                  </a:ext>
                </a:extLst>
              </a:tr>
              <a:tr h="515015">
                <a:tc>
                  <a:txBody>
                    <a:bodyPr/>
                    <a:lstStyle/>
                    <a:p>
                      <a:pPr>
                        <a:lnSpc>
                          <a:spcPct val="107000"/>
                        </a:lnSpc>
                        <a:spcAft>
                          <a:spcPts val="800"/>
                        </a:spcAft>
                      </a:pPr>
                      <a:r>
                        <a:rPr lang="nl-NL" sz="1200">
                          <a:effectLst/>
                        </a:rPr>
                        <a:t>fimH</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D-mannose–specific adhesin, lining the superficial bladder epithelium. </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ctr"/>
                </a:tc>
                <a:tc>
                  <a:txBody>
                    <a:bodyPr/>
                    <a:lstStyle/>
                    <a:p>
                      <a:pPr algn="r">
                        <a:lnSpc>
                          <a:spcPct val="107000"/>
                        </a:lnSpc>
                        <a:spcAft>
                          <a:spcPts val="800"/>
                        </a:spcAft>
                      </a:pPr>
                      <a:r>
                        <a:rPr lang="nl-NL" sz="1200">
                          <a:effectLst/>
                        </a:rPr>
                        <a:t>46 (100)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31 (100)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15 (100)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3287648443"/>
                  </a:ext>
                </a:extLst>
              </a:tr>
              <a:tr h="251305">
                <a:tc>
                  <a:txBody>
                    <a:bodyPr/>
                    <a:lstStyle/>
                    <a:p>
                      <a:pPr>
                        <a:lnSpc>
                          <a:spcPct val="107000"/>
                        </a:lnSpc>
                        <a:spcAft>
                          <a:spcPts val="800"/>
                        </a:spcAft>
                      </a:pPr>
                      <a:r>
                        <a:rPr lang="nl-NL" sz="1200">
                          <a:effectLst/>
                        </a:rPr>
                        <a:t>focH</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F1C pili adhesin </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12 (26)</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9 (29)</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3 (20)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332870743"/>
                  </a:ext>
                </a:extLst>
              </a:tr>
              <a:tr h="251305">
                <a:tc>
                  <a:txBody>
                    <a:bodyPr/>
                    <a:lstStyle/>
                    <a:p>
                      <a:pPr>
                        <a:lnSpc>
                          <a:spcPct val="107000"/>
                        </a:lnSpc>
                        <a:spcAft>
                          <a:spcPts val="800"/>
                        </a:spcAft>
                      </a:pPr>
                      <a:r>
                        <a:rPr lang="nl-NL" sz="1200">
                          <a:effectLst/>
                        </a:rPr>
                        <a:t>fyuA</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Yersiniabactin siderophore receptor </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ctr"/>
                </a:tc>
                <a:tc>
                  <a:txBody>
                    <a:bodyPr/>
                    <a:lstStyle/>
                    <a:p>
                      <a:pPr algn="r">
                        <a:lnSpc>
                          <a:spcPct val="107000"/>
                        </a:lnSpc>
                        <a:spcAft>
                          <a:spcPts val="800"/>
                        </a:spcAft>
                      </a:pPr>
                      <a:r>
                        <a:rPr lang="nl-NL" sz="1200">
                          <a:effectLst/>
                        </a:rPr>
                        <a:t>36 (78)</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23 (74)</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 13 (87)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1574659919"/>
                  </a:ext>
                </a:extLst>
              </a:tr>
              <a:tr h="251305">
                <a:tc>
                  <a:txBody>
                    <a:bodyPr/>
                    <a:lstStyle/>
                    <a:p>
                      <a:pPr>
                        <a:lnSpc>
                          <a:spcPct val="107000"/>
                        </a:lnSpc>
                        <a:spcAft>
                          <a:spcPts val="800"/>
                        </a:spcAft>
                      </a:pPr>
                      <a:r>
                        <a:rPr lang="nl-NL" sz="1200">
                          <a:effectLst/>
                        </a:rPr>
                        <a:t>hek</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en-US" sz="1200">
                          <a:effectLst/>
                        </a:rPr>
                        <a:t>Auto-aggregating adhesin and invasin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ctr"/>
                </a:tc>
                <a:tc>
                  <a:txBody>
                    <a:bodyPr/>
                    <a:lstStyle/>
                    <a:p>
                      <a:pPr algn="r">
                        <a:lnSpc>
                          <a:spcPct val="107000"/>
                        </a:lnSpc>
                        <a:spcAft>
                          <a:spcPts val="800"/>
                        </a:spcAft>
                      </a:pPr>
                      <a:r>
                        <a:rPr lang="nl-NL" sz="1200">
                          <a:effectLst/>
                        </a:rPr>
                        <a:t>17 (37)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13 (42)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4 (27)</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995516035"/>
                  </a:ext>
                </a:extLst>
              </a:tr>
              <a:tr h="251305">
                <a:tc>
                  <a:txBody>
                    <a:bodyPr/>
                    <a:lstStyle/>
                    <a:p>
                      <a:pPr>
                        <a:lnSpc>
                          <a:spcPct val="107000"/>
                        </a:lnSpc>
                        <a:spcAft>
                          <a:spcPts val="800"/>
                        </a:spcAft>
                      </a:pPr>
                      <a:r>
                        <a:rPr lang="nl-NL" sz="1200">
                          <a:effectLst/>
                        </a:rPr>
                        <a:t>hlyA</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a-Hemolysin (toxin)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ctr"/>
                </a:tc>
                <a:tc>
                  <a:txBody>
                    <a:bodyPr/>
                    <a:lstStyle/>
                    <a:p>
                      <a:pPr algn="r">
                        <a:lnSpc>
                          <a:spcPct val="107000"/>
                        </a:lnSpc>
                        <a:spcAft>
                          <a:spcPts val="800"/>
                        </a:spcAft>
                      </a:pPr>
                      <a:r>
                        <a:rPr lang="nl-NL" sz="1200">
                          <a:effectLst/>
                        </a:rPr>
                        <a:t>14 (30)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 11 (35)</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 3(20)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553420546"/>
                  </a:ext>
                </a:extLst>
              </a:tr>
              <a:tr h="251305">
                <a:tc>
                  <a:txBody>
                    <a:bodyPr/>
                    <a:lstStyle/>
                    <a:p>
                      <a:pPr>
                        <a:lnSpc>
                          <a:spcPct val="107000"/>
                        </a:lnSpc>
                        <a:spcAft>
                          <a:spcPts val="800"/>
                        </a:spcAft>
                      </a:pPr>
                      <a:r>
                        <a:rPr lang="nl-NL" sz="1200">
                          <a:effectLst/>
                        </a:rPr>
                        <a:t>ibeA</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Invasion of brain endothelium</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10 (22)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7 (23)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3 (20)</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33288376"/>
                  </a:ext>
                </a:extLst>
              </a:tr>
              <a:tr h="251305">
                <a:tc>
                  <a:txBody>
                    <a:bodyPr/>
                    <a:lstStyle/>
                    <a:p>
                      <a:pPr>
                        <a:lnSpc>
                          <a:spcPct val="107000"/>
                        </a:lnSpc>
                        <a:spcAft>
                          <a:spcPts val="800"/>
                        </a:spcAft>
                      </a:pPr>
                      <a:r>
                        <a:rPr lang="nl-NL" sz="1200">
                          <a:effectLst/>
                        </a:rPr>
                        <a:t>iha</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nSpc>
                          <a:spcPct val="107000"/>
                        </a:lnSpc>
                        <a:spcAft>
                          <a:spcPts val="800"/>
                        </a:spcAft>
                      </a:pPr>
                      <a:r>
                        <a:rPr lang="nl-NL" sz="1200">
                          <a:effectLst/>
                        </a:rPr>
                        <a:t>Nonhemagglutinin adhesin</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10 (22)</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a:effectLst/>
                        </a:rPr>
                        <a:t>4 (13)</a:t>
                      </a:r>
                      <a:endParaRPr lang="nl-NL" sz="120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tc>
                  <a:txBody>
                    <a:bodyPr/>
                    <a:lstStyle/>
                    <a:p>
                      <a:pPr algn="r">
                        <a:lnSpc>
                          <a:spcPct val="107000"/>
                        </a:lnSpc>
                        <a:spcAft>
                          <a:spcPts val="800"/>
                        </a:spcAft>
                      </a:pPr>
                      <a:r>
                        <a:rPr lang="nl-NL" sz="1200" dirty="0">
                          <a:effectLst/>
                        </a:rPr>
                        <a:t>6 (40)</a:t>
                      </a:r>
                      <a:endParaRPr lang="nl-NL" sz="1200" dirty="0">
                        <a:effectLst/>
                        <a:latin typeface="Calibri" panose="020F0502020204030204" pitchFamily="34" charset="0"/>
                        <a:ea typeface="Calibri" panose="020F0502020204030204" pitchFamily="34" charset="0"/>
                        <a:cs typeface="Arial" panose="020B0604020202020204" pitchFamily="34" charset="0"/>
                      </a:endParaRPr>
                    </a:p>
                  </a:txBody>
                  <a:tcPr marL="19682" marR="19682" marT="0" marB="0" anchor="b"/>
                </a:tc>
                <a:extLst>
                  <a:ext uri="{0D108BD9-81ED-4DB2-BD59-A6C34878D82A}">
                    <a16:rowId xmlns:a16="http://schemas.microsoft.com/office/drawing/2014/main" val="2311888153"/>
                  </a:ext>
                </a:extLst>
              </a:tr>
            </a:tbl>
          </a:graphicData>
        </a:graphic>
      </p:graphicFrame>
    </p:spTree>
    <p:extLst>
      <p:ext uri="{BB962C8B-B14F-4D97-AF65-F5344CB8AC3E}">
        <p14:creationId xmlns:p14="http://schemas.microsoft.com/office/powerpoint/2010/main" val="1051792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BD657F-E3ED-EAFE-874D-9FB9C1CBBB4D}"/>
              </a:ext>
            </a:extLst>
          </p:cNvPr>
          <p:cNvSpPr>
            <a:spLocks noGrp="1"/>
          </p:cNvSpPr>
          <p:nvPr>
            <p:ph type="title"/>
          </p:nvPr>
        </p:nvSpPr>
        <p:spPr/>
        <p:txBody>
          <a:bodyPr/>
          <a:lstStyle/>
          <a:p>
            <a:r>
              <a:rPr lang="nl-NL" dirty="0"/>
              <a:t>SENIOR</a:t>
            </a:r>
          </a:p>
        </p:txBody>
      </p:sp>
      <p:pic>
        <p:nvPicPr>
          <p:cNvPr id="5" name="Tijdelijke aanduiding voor inhoud 4">
            <a:extLst>
              <a:ext uri="{FF2B5EF4-FFF2-40B4-BE49-F238E27FC236}">
                <a16:creationId xmlns:a16="http://schemas.microsoft.com/office/drawing/2014/main" id="{901A144F-A389-F6B3-5896-3BA93B02F228}"/>
              </a:ext>
            </a:extLst>
          </p:cNvPr>
          <p:cNvPicPr>
            <a:picLocks noGrp="1" noChangeAspect="1"/>
          </p:cNvPicPr>
          <p:nvPr>
            <p:ph idx="1"/>
          </p:nvPr>
        </p:nvPicPr>
        <p:blipFill rotWithShape="1">
          <a:blip r:embed="rId3"/>
          <a:srcRect l="18638" t="28616" r="25211" b="18121"/>
          <a:stretch/>
        </p:blipFill>
        <p:spPr>
          <a:xfrm>
            <a:off x="658448" y="2286000"/>
            <a:ext cx="7666678" cy="4090702"/>
          </a:xfrm>
        </p:spPr>
      </p:pic>
    </p:spTree>
    <p:extLst>
      <p:ext uri="{BB962C8B-B14F-4D97-AF65-F5344CB8AC3E}">
        <p14:creationId xmlns:p14="http://schemas.microsoft.com/office/powerpoint/2010/main" val="3113744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0666DC1-CD27-4874-9484-9D06C59FE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3429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7C20232A-8ACD-49B1-AA46-DBC67EC819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EF3F9A-9717-4ACB-A30D-96694842C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9143999" cy="45739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26C5FCFE-5ECC-CE37-B9A7-7ED73ED2B1CB}"/>
              </a:ext>
            </a:extLst>
          </p:cNvPr>
          <p:cNvSpPr>
            <a:spLocks noGrp="1"/>
          </p:cNvSpPr>
          <p:nvPr>
            <p:ph type="title"/>
          </p:nvPr>
        </p:nvSpPr>
        <p:spPr>
          <a:xfrm>
            <a:off x="484554" y="397275"/>
            <a:ext cx="8206222" cy="3761257"/>
          </a:xfrm>
        </p:spPr>
        <p:txBody>
          <a:bodyPr vert="horz" lIns="91440" tIns="45720" rIns="91440" bIns="45720" rtlCol="0" anchor="ctr">
            <a:normAutofit/>
          </a:bodyPr>
          <a:lstStyle/>
          <a:p>
            <a:r>
              <a:rPr lang="en-US" dirty="0" err="1"/>
              <a:t>Bedankt</a:t>
            </a:r>
            <a:endParaRPr lang="en-US" dirty="0"/>
          </a:p>
        </p:txBody>
      </p:sp>
      <p:grpSp>
        <p:nvGrpSpPr>
          <p:cNvPr id="14" name="Group 13">
            <a:extLst>
              <a:ext uri="{FF2B5EF4-FFF2-40B4-BE49-F238E27FC236}">
                <a16:creationId xmlns:a16="http://schemas.microsoft.com/office/drawing/2014/main" id="{F00FE69B-94F5-4E9F-B0B0-3BA1044F526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43992" y="-2"/>
            <a:ext cx="3048008" cy="6858002"/>
            <a:chOff x="9143992" y="-2"/>
            <a:chExt cx="3048008" cy="6858002"/>
          </a:xfrm>
        </p:grpSpPr>
        <p:sp>
          <p:nvSpPr>
            <p:cNvPr id="15" name="Rectangle 14">
              <a:extLst>
                <a:ext uri="{FF2B5EF4-FFF2-40B4-BE49-F238E27FC236}">
                  <a16:creationId xmlns:a16="http://schemas.microsoft.com/office/drawing/2014/main" id="{AC706FD5-CDF0-4957-A8BE-A9E1AAF96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3998" y="-2"/>
              <a:ext cx="3048002" cy="685800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9673FB2-5B46-4569-AACF-E85CEEE6A9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43992" y="-2"/>
              <a:ext cx="3048003" cy="6858002"/>
            </a:xfrm>
            <a:prstGeom prst="rect">
              <a:avLst/>
            </a:prstGeom>
            <a:solidFill>
              <a:srgbClr val="FFFF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42331668"/>
      </p:ext>
    </p:extLst>
  </p:cSld>
  <p:clrMapOvr>
    <a:masterClrMapping/>
  </p:clrMapOvr>
</p:sld>
</file>

<file path=ppt/theme/theme1.xml><?xml version="1.0" encoding="utf-8"?>
<a:theme xmlns:a="http://schemas.openxmlformats.org/drawingml/2006/main" name="MatrixVTI">
  <a:themeElements>
    <a:clrScheme name="AnalogousFromRegularSeedRightStep">
      <a:dk1>
        <a:srgbClr val="000000"/>
      </a:dk1>
      <a:lt1>
        <a:srgbClr val="FFFFFF"/>
      </a:lt1>
      <a:dk2>
        <a:srgbClr val="3A3621"/>
      </a:dk2>
      <a:lt2>
        <a:srgbClr val="E2E5E8"/>
      </a:lt2>
      <a:accent1>
        <a:srgbClr val="E77B29"/>
      </a:accent1>
      <a:accent2>
        <a:srgbClr val="B9A014"/>
      </a:accent2>
      <a:accent3>
        <a:srgbClr val="88AD1F"/>
      </a:accent3>
      <a:accent4>
        <a:srgbClr val="49BA14"/>
      </a:accent4>
      <a:accent5>
        <a:srgbClr val="21BC31"/>
      </a:accent5>
      <a:accent6>
        <a:srgbClr val="14BA6A"/>
      </a:accent6>
      <a:hlink>
        <a:srgbClr val="3F88BF"/>
      </a:hlink>
      <a:folHlink>
        <a:srgbClr val="7F7F7F"/>
      </a:folHlink>
    </a:clrScheme>
    <a:fontScheme name="Custom 4">
      <a:majorFont>
        <a:latin typeface="Bahnschrif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rixVTI" id="{A2576CCC-A559-4FD4-A542-772649F65A84}" vid="{5CBC41A9-80A0-44C6-90CD-6D8630343525}"/>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7755</TotalTime>
  <Words>2708</Words>
  <Application>Microsoft Macintosh PowerPoint</Application>
  <PresentationFormat>Widescreen</PresentationFormat>
  <Paragraphs>228</Paragraphs>
  <Slides>14</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vt:lpstr>
      <vt:lpstr>Avenir Next LT Pro</vt:lpstr>
      <vt:lpstr>Bahnschrift</vt:lpstr>
      <vt:lpstr>BlinkMacSystemFont</vt:lpstr>
      <vt:lpstr>Calibri</vt:lpstr>
      <vt:lpstr>Cambria</vt:lpstr>
      <vt:lpstr>MuseoSans</vt:lpstr>
      <vt:lpstr>Segoe UI Web (West European)</vt:lpstr>
      <vt:lpstr>Times New Roman</vt:lpstr>
      <vt:lpstr>MatrixVTI</vt:lpstr>
      <vt:lpstr>Where do E. colis get the PUF to survive in the bladder?</vt:lpstr>
      <vt:lpstr>Low &amp; high virulence definition</vt:lpstr>
      <vt:lpstr>Urine</vt:lpstr>
      <vt:lpstr>Bladder (cells) Ognenovska et al</vt:lpstr>
      <vt:lpstr>PROGRESS</vt:lpstr>
      <vt:lpstr>Putative virulence factors (PUFs)</vt:lpstr>
      <vt:lpstr>Schreiber et al. Bacterial virulence phenotypes of Escherichia coli and host susceptibility determine risk for urinary tract infections. Sci Transl Med 2017; 9: eaaf1283. </vt:lpstr>
      <vt:lpstr>Spurbeck et al Escherichia coli isolates that carry vat, fyuA, chuA, and yfcV efficiently colonize the urinary tract. Infect Immun 2012; 80: 4115–22. </vt:lpstr>
      <vt:lpstr>Mulder M, Notermans DW, Wielders CCH, Bos J, Witteveen S, Ganesh VA, Landman F, de Haan A, Schneeberger-van der Linden C, Hendrickx APA. OXA-48–producing uropathogenic Escherichia coli sequence type 127, the Netherlands, 2015–2022. Emerg Infect Dis. 2023 Dec.</vt:lpstr>
      <vt:lpstr>PowerPoint Presentation</vt:lpstr>
      <vt:lpstr>Vandaag</vt:lpstr>
      <vt:lpstr>PowerPoint Presentation</vt:lpstr>
      <vt:lpstr>SENIOR</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Waar halen E. colis de PUF vandaan om te overleven in de blaas? </dc:title>
  <dc:creator>Caroline Schneeberger</dc:creator>
  <cp:lastModifiedBy>Hasan, M.A. (Aamir)</cp:lastModifiedBy>
  <cp:revision>3</cp:revision>
  <dcterms:created xsi:type="dcterms:W3CDTF">2024-11-14T14:26:40Z</dcterms:created>
  <dcterms:modified xsi:type="dcterms:W3CDTF">2024-11-28T07:22:36Z</dcterms:modified>
</cp:coreProperties>
</file>