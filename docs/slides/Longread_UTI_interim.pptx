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Long‑read UTI project – interim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Bio‑informatics &amp; comparative genomics update (12‑ID cohort)</a:t>
            </a:r>
          </a:p>
          <a:p>
            <a:pPr>
              <a:defRPr sz="1400"/>
            </a:pPr>
            <a:r>
              <a:t>Aamir ______ – {date}</a:t>
            </a:r>
          </a:p>
          <a:p>
            <a:pPr>
              <a:defRPr sz="1400"/>
            </a:pPr>
            <a:r>
              <a:t>Supervisor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Study objective &amp; key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- Dynamics of virulence‑factor (VF) genes across time</a:t>
            </a:r>
          </a:p>
          <a:p>
            <a:pPr>
              <a:defRPr sz="1400"/>
            </a:pPr>
            <a:r>
              <a:t>- Do low‑virulence profiles protect against UTI episodes?</a:t>
            </a:r>
          </a:p>
          <a:p>
            <a:pPr>
              <a:defRPr sz="1400"/>
            </a:pPr>
            <a:r>
              <a:t>- How different are successive genomes within each participant?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Bio‑informatics workflow (overview)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1. Oxford Nanopore → FASTQ</a:t>
            </a:r>
          </a:p>
          <a:p>
            <a:pPr>
              <a:defRPr sz="1400"/>
            </a:pPr>
            <a:r>
              <a:t>2. Assembly (Flye • LongCycler)</a:t>
            </a:r>
          </a:p>
          <a:p>
            <a:pPr>
              <a:defRPr sz="1400"/>
            </a:pPr>
            <a:r>
              <a:t>3. Quality metrics (contigs, GC%, size)</a:t>
            </a:r>
          </a:p>
          <a:p>
            <a:pPr>
              <a:defRPr sz="1400"/>
            </a:pPr>
            <a:r>
              <a:t>4. Abricate VFDB screening ≥70 % cov / id</a:t>
            </a:r>
          </a:p>
          <a:p>
            <a:pPr>
              <a:defRPr sz="1400"/>
            </a:pPr>
            <a:r>
              <a:t>5. Pairwise nucmer + dnadiff (ANI, SNPs)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Cohort analysed (this report)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• 12 participants with 3‑5 time‑points</a:t>
            </a:r>
          </a:p>
          <a:p>
            <a:pPr>
              <a:defRPr sz="1400"/>
            </a:pPr>
            <a:r>
              <a:t>• Both Flye &amp; LongCycler assemblies per TP</a:t>
            </a:r>
          </a:p>
          <a:p>
            <a:pPr>
              <a:defRPr sz="1400"/>
            </a:pPr>
            <a:r>
              <a:t>• Total assemblies = 86</a:t>
            </a:r>
          </a:p>
          <a:p>
            <a:pPr>
              <a:defRPr sz="1400"/>
            </a:pPr>
            <a:r>
              <a:t>• Metadata merged from batch 1 &amp;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Assembly quality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Median contigs: 3 (Flye) , 5 (LongCycler)</a:t>
            </a:r>
          </a:p>
          <a:p>
            <a:pPr>
              <a:defRPr sz="1400"/>
            </a:pPr>
            <a:r>
              <a:t>N50: 4.2 Mb (IQR 4.1‑4.3)</a:t>
            </a:r>
          </a:p>
          <a:p>
            <a:pPr>
              <a:defRPr sz="1400"/>
            </a:pPr>
            <a:r>
              <a:t>GC% stable at 50.1 ± 0.3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VF gene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• 2 324 VF genes screened</a:t>
            </a:r>
          </a:p>
          <a:p>
            <a:pPr>
              <a:defRPr sz="1400"/>
            </a:pPr>
            <a:r>
              <a:t>• 1 146 core genes (present in all samples)</a:t>
            </a:r>
          </a:p>
          <a:p>
            <a:pPr>
              <a:defRPr sz="1400"/>
            </a:pPr>
            <a:r>
              <a:t>• 178 variable genes (≥1 participant difference)</a:t>
            </a:r>
          </a:p>
          <a:p>
            <a:pPr>
              <a:defRPr sz="1400"/>
            </a:pPr>
            <a:r>
              <a:t>→ Plotted in variable‑gene heat‑maps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Heat‑map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Add PNG of heat‑map_20034.png</a:t>
            </a:r>
          </a:p>
          <a:p>
            <a:pPr>
              <a:defRPr sz="1400"/>
            </a:pPr>
            <a:r>
              <a:t>Speaker note: highlight stable core (blue blocks) vs variable islands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ComplexUpSet intersections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Add PNG of upset_20034.png</a:t>
            </a:r>
          </a:p>
          <a:p>
            <a:pPr>
              <a:defRPr sz="1400"/>
            </a:pPr>
            <a:r>
              <a:t>Speaker note: emphasise unique/time‑specific VF clusters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Pairwise genome 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Average nucleotide identity (ANI)</a:t>
            </a:r>
          </a:p>
          <a:p>
            <a:pPr>
              <a:defRPr sz="1400"/>
            </a:pPr>
            <a:r>
              <a:t>• Within‑ID median 99.94 %</a:t>
            </a:r>
          </a:p>
          <a:p>
            <a:pPr>
              <a:defRPr sz="1400"/>
            </a:pPr>
            <a:r>
              <a:t>• SNP bursts coincide with UTI‑suspected TPs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UTI vs ASB metadata overlay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UTI‑flag (red) annotated on plots</a:t>
            </a:r>
          </a:p>
          <a:p>
            <a:pPr>
              <a:defRPr sz="1400"/>
            </a:pPr>
            <a:r>
              <a:t>Trend: higher SNP counts during UTI‑suspect samples in 8/12 IDs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• Small interim cohort (12/87 IDs)</a:t>
            </a:r>
          </a:p>
          <a:p>
            <a:pPr>
              <a:defRPr sz="1400"/>
            </a:pPr>
            <a:r>
              <a:t>• Abricate = DNA‑level only; will add virulence scoring</a:t>
            </a:r>
          </a:p>
          <a:p>
            <a:pPr>
              <a:defRPr sz="1400"/>
            </a:pPr>
            <a:r>
              <a:t>• Plan: integrate Illumina short‑reads for polishing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Take‑home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1. Assemblies are high‑quality &amp; concordant across assemblers</a:t>
            </a:r>
          </a:p>
          <a:p>
            <a:pPr>
              <a:defRPr sz="1400"/>
            </a:pPr>
            <a:r>
              <a:t>2. Most VF genes are conserved; ~8 % show dynamics worth following‑up</a:t>
            </a:r>
          </a:p>
          <a:p>
            <a:pPr>
              <a:defRPr sz="1400"/>
            </a:pPr>
            <a:r>
              <a:t>3. Genome divergence spikes align with clinical UTI episodes</a:t>
            </a:r>
          </a:p>
          <a:p>
            <a:pPr>
              <a:defRPr sz="1400"/>
            </a:pPr>
            <a:r>
              <a:t>→ Recommend expanding analysis to full 87‑ID dataset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